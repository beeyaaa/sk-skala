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2" r:id="rId22"/>
    <p:sldId id="259" r:id="rId5"/>
    <p:sldId id="273" r:id="rId23"/>
    <p:sldId id="260" r:id="rId6"/>
    <p:sldId id="274" r:id="rId24"/>
    <p:sldId id="261" r:id="rId7"/>
    <p:sldId id="275" r:id="rId25"/>
    <p:sldId id="278" r:id="rId28"/>
    <p:sldId id="262" r:id="rId8"/>
    <p:sldId id="276" r:id="rId26"/>
    <p:sldId id="263" r:id="rId9"/>
    <p:sldId id="277" r:id="rId27"/>
    <p:sldId id="264" r:id="rId10"/>
    <p:sldId id="271" r:id="rId11"/>
  </p:sldIdLst>
  <p:sldSz cx="18288000" cy="10287000"/>
  <p:notesSz cx="6858000" cy="9144000"/>
  <p:embeddedFontLst>
    <p:embeddedFont>
      <p:font typeface="윤고딕" panose="020B0503000000000000" pitchFamily="34" charset="-127"/>
      <p:regular r:id="rId12"/>
    </p:embeddedFont>
    <p:embeddedFont>
      <p:font typeface="윤고딕 Medium" panose="020B0603000000000000" pitchFamily="34" charset="-127"/>
      <p:regular r:id="rId13"/>
    </p:embeddedFont>
    <p:embeddedFont>
      <p:font typeface="Montserrat Bold" pitchFamily="2" charset="0"/>
      <p:regular r:id="rId14"/>
      <p:bold r:id="rId15"/>
    </p:embeddedFont>
    <p:embeddedFont>
      <p:font typeface="Montserrat Semi-Bold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3" autoAdjust="0"/>
  </p:normalViewPr>
  <p:slideViewPr>
    <p:cSldViewPr>
      <p:cViewPr>
        <p:scale>
          <a:sx n="53" d="100"/>
          <a:sy n="53" d="100"/>
        </p:scale>
        <p:origin x="1992" y="9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  <Relationship Id="rId22" Type="http://schemas.openxmlformats.org/officeDocument/2006/relationships/slide" Target="slides/slide11.xml"/>
  <Relationship Id="rId23" Type="http://schemas.openxmlformats.org/officeDocument/2006/relationships/slide" Target="slides/slide12.xml"/>
  <Relationship Id="rId24" Type="http://schemas.openxmlformats.org/officeDocument/2006/relationships/slide" Target="slides/slide13.xml"/>
  <Relationship Id="rId25" Type="http://schemas.openxmlformats.org/officeDocument/2006/relationships/slide" Target="slides/slide14.xml"/>
  <Relationship Id="rId26" Type="http://schemas.openxmlformats.org/officeDocument/2006/relationships/slide" Target="slides/slide15.xml"/>
  <Relationship Id="rId27" Type="http://schemas.openxmlformats.org/officeDocument/2006/relationships/slide" Target="slides/slide16.xml"/>
  <Relationship Id="rId28" Type="http://schemas.openxmlformats.org/officeDocument/2006/relationships/slide" Target="slides/slide17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0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87541" y="1779860"/>
            <a:ext cx="6032482" cy="603248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710243" y="1779860"/>
            <a:ext cx="6032482" cy="603248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5002229"/>
            <a:ext cx="10956914" cy="764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8"/>
              </a:lnSpc>
            </a:pPr>
            <a:r>
              <a:rPr lang="en-US" sz="4878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기업대출 제출서류 사전검수 서비스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418972"/>
            <a:ext cx="12712945" cy="1377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24"/>
              </a:lnSpc>
            </a:pPr>
            <a:r>
              <a:rPr lang="en-US" sz="8819" b="1" spc="-17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DocuFit.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705595"/>
            <a:ext cx="3899716" cy="55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19"/>
              </a:lnSpc>
            </a:pPr>
            <a:r>
              <a:rPr lang="en-US" sz="3535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판교5 · 홍은비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616209"/>
            <a:ext cx="736824" cy="73682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3659027"/>
            <a:ext cx="736824" cy="73682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4701845"/>
            <a:ext cx="736824" cy="7368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0" y="5744664"/>
            <a:ext cx="736824" cy="73682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0" y="6787482"/>
            <a:ext cx="736824" cy="73682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0" y="7830300"/>
            <a:ext cx="736824" cy="73682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028700" y="962025"/>
            <a:ext cx="488418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7500" b="1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74727" y="2679402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기획 배경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94066" y="2704027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74727" y="3722220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Pain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94066" y="3746845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074727" y="4765039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시스템 액터 정의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4066" y="4789663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74727" y="5807857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UI 흐름도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4066" y="5832481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74727" y="6850675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데이터 모델 설계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4066" y="6875300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74727" y="7893493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API 명세 정의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94066" y="7918118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06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144000" y="8877367"/>
            <a:ext cx="736824" cy="736824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074727" y="8940560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Appendix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94066" y="8965185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기획 배경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Pain Points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시스템 액터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UI 흐름도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데이터 모델 설계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API 명세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Appendix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9760" y="5519721"/>
            <a:ext cx="6088480" cy="644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985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감사합니다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84027" y="4046673"/>
            <a:ext cx="12319947" cy="128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83"/>
              </a:lnSpc>
            </a:pPr>
            <a:r>
              <a:rPr lang="en-US" sz="806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기획 배경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101" name="S102"/>
          <p:cNvSpPr/>
          <p:nvPr/>
        </p:nvSpPr>
        <p:spPr>
          <a:xfrm>
            <a:off x="914400" y="1874520"/>
            <a:ext cx="5303520" cy="5989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03" name="E104"/>
          <p:cNvSpPr/>
          <p:nvPr/>
        </p:nvSpPr>
        <p:spPr>
          <a:xfrm>
            <a:off x="1325880" y="2286000"/>
            <a:ext cx="658368" cy="658368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05" name="T106"/>
          <p:cNvSpPr txBox="1"/>
          <p:nvPr/>
        </p:nvSpPr>
        <p:spPr>
          <a:xfrm>
            <a:off x="1325880" y="2286000"/>
            <a:ext cx="658368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01</a:t>
            </a:r>
          </a:p>
        </p:txBody>
      </p:sp>
      <p:sp>
        <p:nvSpPr>
          <p:cNvPr id="107" name="T108"/>
          <p:cNvSpPr txBox="1"/>
          <p:nvPr/>
        </p:nvSpPr>
        <p:spPr>
          <a:xfrm>
            <a:off x="1325880" y="3172968"/>
            <a:ext cx="4480560" cy="12344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은행은 이미 AI로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여신심사를 바꾸고 있다</a:t>
            </a:r>
          </a:p>
        </p:txBody>
      </p:sp>
      <p:sp>
        <p:nvSpPr>
          <p:cNvPr id="109" name="S110"/>
          <p:cNvSpPr/>
          <p:nvPr/>
        </p:nvSpPr>
        <p:spPr>
          <a:xfrm>
            <a:off x="1325880" y="4690872"/>
            <a:ext cx="91440" cy="91440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11" name="T112"/>
          <p:cNvSpPr txBox="1"/>
          <p:nvPr/>
        </p:nvSpPr>
        <p:spPr>
          <a:xfrm>
            <a:off x="1572768" y="4572000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하나은행 : 기업신용평가 심사의견 작성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30분 → 10초 · 연 2.7만 시간 절감 (26.3)</a:t>
            </a:r>
          </a:p>
        </p:txBody>
      </p:sp>
      <p:sp>
        <p:nvSpPr>
          <p:cNvPr id="113" name="S114"/>
          <p:cNvSpPr/>
          <p:nvPr/>
        </p:nvSpPr>
        <p:spPr>
          <a:xfrm>
            <a:off x="1325880" y="5916168"/>
            <a:ext cx="91440" cy="91440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15" name="T116"/>
          <p:cNvSpPr txBox="1"/>
          <p:nvPr/>
        </p:nvSpPr>
        <p:spPr>
          <a:xfrm>
            <a:off x="1572768" y="5797296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신한은행 : 여신심사지원 Agent 도입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12개 산업군별 분석 엔진 (26.3)</a:t>
            </a:r>
          </a:p>
        </p:txBody>
      </p:sp>
      <p:sp>
        <p:nvSpPr>
          <p:cNvPr id="117" name="S118"/>
          <p:cNvSpPr/>
          <p:nvPr/>
        </p:nvSpPr>
        <p:spPr>
          <a:xfrm>
            <a:off x="1325880" y="7141464"/>
            <a:ext cx="91440" cy="91440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19" name="T120"/>
          <p:cNvSpPr txBox="1"/>
          <p:nvPr/>
        </p:nvSpPr>
        <p:spPr>
          <a:xfrm>
            <a:off x="1572768" y="7022592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은행장 50% 가 하반기 전략으로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'AI 여신심사·평가 고도화' 선정</a:t>
            </a:r>
          </a:p>
        </p:txBody>
      </p:sp>
      <p:sp>
        <p:nvSpPr>
          <p:cNvPr id="121" name="S122"/>
          <p:cNvSpPr/>
          <p:nvPr/>
        </p:nvSpPr>
        <p:spPr>
          <a:xfrm>
            <a:off x="6492240" y="1874520"/>
            <a:ext cx="5303520" cy="5989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23" name="E124"/>
          <p:cNvSpPr/>
          <p:nvPr/>
        </p:nvSpPr>
        <p:spPr>
          <a:xfrm>
            <a:off x="6903720" y="2286000"/>
            <a:ext cx="658368" cy="658368"/>
          </a:xfrm>
          <a:prstGeom prst="ellipse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25" name="T126"/>
          <p:cNvSpPr txBox="1"/>
          <p:nvPr/>
        </p:nvSpPr>
        <p:spPr>
          <a:xfrm>
            <a:off x="6903720" y="2286000"/>
            <a:ext cx="658368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02</a:t>
            </a:r>
          </a:p>
        </p:txBody>
      </p:sp>
      <p:sp>
        <p:nvSpPr>
          <p:cNvPr id="127" name="T128"/>
          <p:cNvSpPr txBox="1"/>
          <p:nvPr/>
        </p:nvSpPr>
        <p:spPr>
          <a:xfrm>
            <a:off x="6903720" y="3172968"/>
            <a:ext cx="4480560" cy="12344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그런데 자동화된 것은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'심사의견 작성'이다</a:t>
            </a:r>
          </a:p>
        </p:txBody>
      </p:sp>
      <p:sp>
        <p:nvSpPr>
          <p:cNvPr id="129" name="S130"/>
          <p:cNvSpPr/>
          <p:nvPr/>
        </p:nvSpPr>
        <p:spPr>
          <a:xfrm>
            <a:off x="6903720" y="4690872"/>
            <a:ext cx="91440" cy="9144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31" name="T132"/>
          <p:cNvSpPr txBox="1"/>
          <p:nvPr/>
        </p:nvSpPr>
        <p:spPr>
          <a:xfrm>
            <a:off x="7150608" y="4572000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서류가 이미 정상 접수된 뒤의 단계</a:t>
            </a:r>
          </a:p>
        </p:txBody>
      </p:sp>
      <p:sp>
        <p:nvSpPr>
          <p:cNvPr id="133" name="S134"/>
          <p:cNvSpPr/>
          <p:nvPr/>
        </p:nvSpPr>
        <p:spPr>
          <a:xfrm>
            <a:off x="6903720" y="5532120"/>
            <a:ext cx="91440" cy="9144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35" name="T136"/>
          <p:cNvSpPr txBox="1"/>
          <p:nvPr/>
        </p:nvSpPr>
        <p:spPr>
          <a:xfrm>
            <a:off x="7150608" y="5413248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서류 접수·검증을 건드린 곳은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수출입은행 한 곳 (26.7 착수)</a:t>
            </a:r>
          </a:p>
        </p:txBody>
      </p:sp>
      <p:sp>
        <p:nvSpPr>
          <p:cNvPr id="137" name="S138"/>
          <p:cNvSpPr/>
          <p:nvPr/>
        </p:nvSpPr>
        <p:spPr>
          <a:xfrm>
            <a:off x="6903720" y="6757416"/>
            <a:ext cx="91440" cy="9144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39" name="T140"/>
          <p:cNvSpPr txBox="1"/>
          <p:nvPr/>
        </p:nvSpPr>
        <p:spPr>
          <a:xfrm>
            <a:off x="7150608" y="6638544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그마저 은행 심사역이 쓰는 내부 도구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'AI는 보조 · 최종 판단은 담당자' 원칙</a:t>
            </a:r>
          </a:p>
        </p:txBody>
      </p:sp>
      <p:sp>
        <p:nvSpPr>
          <p:cNvPr id="141" name="S142"/>
          <p:cNvSpPr/>
          <p:nvPr/>
        </p:nvSpPr>
        <p:spPr>
          <a:xfrm>
            <a:off x="12070080" y="1874520"/>
            <a:ext cx="5303520" cy="5989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43" name="E144"/>
          <p:cNvSpPr/>
          <p:nvPr/>
        </p:nvSpPr>
        <p:spPr>
          <a:xfrm>
            <a:off x="12481560" y="2286000"/>
            <a:ext cx="658368" cy="658368"/>
          </a:xfrm>
          <a:prstGeom prst="ellipse">
            <a:avLst/>
          </a:prstGeom>
          <a:solidFill>
            <a:srgbClr val="F1B61B"/>
          </a:solidFill>
        </p:spPr>
        <p:txBody>
          <a:bodyPr/>
          <a:lstStyle/>
          <a:p/>
        </p:txBody>
      </p:sp>
      <p:sp>
        <p:nvSpPr>
          <p:cNvPr id="145" name="T146"/>
          <p:cNvSpPr txBox="1"/>
          <p:nvPr/>
        </p:nvSpPr>
        <p:spPr>
          <a:xfrm>
            <a:off x="12481560" y="2286000"/>
            <a:ext cx="658368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03</a:t>
            </a:r>
          </a:p>
        </p:txBody>
      </p:sp>
      <p:sp>
        <p:nvSpPr>
          <p:cNvPr id="147" name="T148"/>
          <p:cNvSpPr txBox="1"/>
          <p:nvPr/>
        </p:nvSpPr>
        <p:spPr>
          <a:xfrm>
            <a:off x="12481560" y="3172968"/>
            <a:ext cx="4480560" cy="12344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서류를 만드는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기업 고객은 그대로다</a:t>
            </a:r>
          </a:p>
        </p:txBody>
      </p:sp>
      <p:sp>
        <p:nvSpPr>
          <p:cNvPr id="149" name="S150"/>
          <p:cNvSpPr/>
          <p:nvPr/>
        </p:nvSpPr>
        <p:spPr>
          <a:xfrm>
            <a:off x="12481560" y="4690872"/>
            <a:ext cx="91440" cy="91440"/>
          </a:xfrm>
          <a:prstGeom prst="rect">
            <a:avLst/>
          </a:prstGeom>
          <a:solidFill>
            <a:srgbClr val="F1B61B"/>
          </a:solidFill>
        </p:spPr>
        <p:txBody>
          <a:bodyPr/>
          <a:lstStyle/>
          <a:p/>
        </p:txBody>
      </p:sp>
      <p:sp>
        <p:nvSpPr>
          <p:cNvPr id="151" name="T152"/>
          <p:cNvSpPr txBox="1"/>
          <p:nvPr/>
        </p:nvSpPr>
        <p:spPr>
          <a:xfrm>
            <a:off x="12728448" y="4572000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누락 · 만료 · 불일치를 '반려'로 통보받음</a:t>
            </a:r>
          </a:p>
        </p:txBody>
      </p:sp>
      <p:sp>
        <p:nvSpPr>
          <p:cNvPr id="153" name="S154"/>
          <p:cNvSpPr/>
          <p:nvPr/>
        </p:nvSpPr>
        <p:spPr>
          <a:xfrm>
            <a:off x="12481560" y="5532120"/>
            <a:ext cx="91440" cy="91440"/>
          </a:xfrm>
          <a:prstGeom prst="rect">
            <a:avLst/>
          </a:prstGeom>
          <a:solidFill>
            <a:srgbClr val="F1B61B"/>
          </a:solidFill>
        </p:spPr>
        <p:txBody>
          <a:bodyPr/>
          <a:lstStyle/>
          <a:p/>
        </p:txBody>
      </p:sp>
      <p:sp>
        <p:nvSpPr>
          <p:cNvPr id="155" name="T156"/>
          <p:cNvSpPr txBox="1"/>
          <p:nvPr/>
        </p:nvSpPr>
        <p:spPr>
          <a:xfrm>
            <a:off x="12728448" y="5413248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보완 요청 → 재제출 → 이전본과 재대조</a:t>
            </a:r>
          </a:p>
        </p:txBody>
      </p:sp>
      <p:sp>
        <p:nvSpPr>
          <p:cNvPr id="157" name="S158"/>
          <p:cNvSpPr/>
          <p:nvPr/>
        </p:nvSpPr>
        <p:spPr>
          <a:xfrm>
            <a:off x="12481560" y="6373368"/>
            <a:ext cx="91440" cy="91440"/>
          </a:xfrm>
          <a:prstGeom prst="rect">
            <a:avLst/>
          </a:prstGeom>
          <a:solidFill>
            <a:srgbClr val="F1B61B"/>
          </a:solidFill>
        </p:spPr>
        <p:txBody>
          <a:bodyPr/>
          <a:lstStyle/>
          <a:p/>
        </p:txBody>
      </p:sp>
      <p:sp>
        <p:nvSpPr>
          <p:cNvPr id="159" name="T160"/>
          <p:cNvSpPr txBox="1"/>
          <p:nvPr/>
        </p:nvSpPr>
        <p:spPr>
          <a:xfrm>
            <a:off x="12728448" y="6254496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 자동화는 전부 내부 도구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제출하는 쪽을 위한 도구는 없다</a:t>
            </a:r>
          </a:p>
        </p:txBody>
      </p:sp>
      <p:sp>
        <p:nvSpPr>
          <p:cNvPr id="161" name="S162"/>
          <p:cNvSpPr/>
          <p:nvPr/>
        </p:nvSpPr>
        <p:spPr>
          <a:xfrm>
            <a:off x="914400" y="8183880"/>
            <a:ext cx="16459200" cy="868680"/>
          </a:xfrm>
          <a:prstGeom prst="roundRect">
            <a:avLst>
              <a:gd name="adj" fmla="val 8000"/>
            </a:avLst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63" name="T164"/>
          <p:cNvSpPr txBox="1"/>
          <p:nvPr/>
        </p:nvSpPr>
        <p:spPr>
          <a:xfrm>
            <a:off x="914400" y="8183880"/>
            <a:ext cx="16459200" cy="8686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700" dirty="0">
                <a:solidFill>
                  <a:srgbClr val="FFD3DA"/>
                </a:solidFill>
                <a:latin typeface="윤고딕"/>
                <a:ea typeface="윤고딕"/>
                <a:cs typeface="윤고딕"/>
                <a:sym typeface="윤고딕"/>
              </a:rPr>
              <a:t>비어 있는 자리 : </a:t>
            </a:r>
            <a:r>
              <a:rPr lang="ko-KR" sz="2700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접수 전 단계</a:t>
            </a:r>
            <a:r>
              <a:rPr lang="ko-KR" sz="2700" dirty="0">
                <a:solidFill>
                  <a:srgbClr val="FFD3DA"/>
                </a:solidFill>
                <a:latin typeface="윤고딕"/>
                <a:ea typeface="윤고딕"/>
                <a:cs typeface="윤고딕"/>
                <a:sym typeface="윤고딕"/>
              </a:rPr>
              <a:t>  ·  그리고  </a:t>
            </a:r>
            <a:r>
              <a:rPr lang="ko-KR" sz="2700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기업 고객 쪽</a:t>
            </a:r>
          </a:p>
        </p:txBody>
      </p:sp>
      <p:sp>
        <p:nvSpPr>
          <p:cNvPr id="165" name="T166"/>
          <p:cNvSpPr txBox="1"/>
          <p:nvPr/>
        </p:nvSpPr>
        <p:spPr>
          <a:xfrm>
            <a:off x="914400" y="9253728"/>
            <a:ext cx="1645920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9A958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출처 : 전자신문 · 헤럴드경제(하나은행, 2026.03) / 신한금융 보도자료(2026.03) / 이투데이(수출입은행 2026.07, 은행장 설문)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Pain Points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167" name="T168"/>
          <p:cNvSpPr txBox="1"/>
          <p:nvPr/>
        </p:nvSpPr>
        <p:spPr>
          <a:xfrm>
            <a:off x="914400" y="1874520"/>
            <a:ext cx="731520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윤고딕"/>
                <a:ea typeface="윤고딕"/>
                <a:cs typeface="윤고딕"/>
                <a:sym typeface="윤고딕"/>
              </a:rPr>
              <a:t>Pain point 1</a:t>
            </a: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  (기업 고객 담당자)</a:t>
            </a:r>
          </a:p>
        </p:txBody>
      </p:sp>
      <p:sp>
        <p:nvSpPr>
          <p:cNvPr id="169" name="T170"/>
          <p:cNvSpPr txBox="1"/>
          <p:nvPr/>
        </p:nvSpPr>
        <p:spPr>
          <a:xfrm>
            <a:off x="9326880" y="1874520"/>
            <a:ext cx="804672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EA002C"/>
                </a:solidFill>
                <a:latin typeface="윤고딕"/>
                <a:ea typeface="윤고딕"/>
                <a:cs typeface="윤고딕"/>
                <a:sym typeface="윤고딕"/>
              </a:rPr>
              <a:t>Solution 1</a:t>
            </a:r>
          </a:p>
        </p:txBody>
      </p:sp>
      <p:sp>
        <p:nvSpPr>
          <p:cNvPr id="171" name="S172"/>
          <p:cNvSpPr/>
          <p:nvPr/>
        </p:nvSpPr>
        <p:spPr>
          <a:xfrm>
            <a:off x="914400" y="2331720"/>
            <a:ext cx="7315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73" name="T174"/>
          <p:cNvSpPr txBox="1"/>
          <p:nvPr/>
        </p:nvSpPr>
        <p:spPr>
          <a:xfrm>
            <a:off x="1371600" y="2331720"/>
            <a:ext cx="6400800" cy="15727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무엇이 누락됐고 어떤 값이 어긋나는지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접수 전에는 알 수 없다</a:t>
            </a:r>
          </a:p>
        </p:txBody>
      </p:sp>
      <p:sp>
        <p:nvSpPr>
          <p:cNvPr id="175" name="A176"/>
          <p:cNvSpPr/>
          <p:nvPr/>
        </p:nvSpPr>
        <p:spPr>
          <a:xfrm>
            <a:off x="8549640" y="2916936"/>
            <a:ext cx="868680" cy="411480"/>
          </a:xfrm>
          <a:prstGeom prst="rightArrow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77" name="S178"/>
          <p:cNvSpPr/>
          <p:nvPr/>
        </p:nvSpPr>
        <p:spPr>
          <a:xfrm>
            <a:off x="9326880" y="2331720"/>
            <a:ext cx="8046720" cy="1572768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179" name="T180"/>
          <p:cNvSpPr txBox="1"/>
          <p:nvPr/>
        </p:nvSpPr>
        <p:spPr>
          <a:xfrm>
            <a:off x="9784080" y="2441448"/>
            <a:ext cx="7132320" cy="8686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필수서류 3종 누락 · 납세증명서 유효기간을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업로드 즉시 자동 판정</a:t>
            </a:r>
          </a:p>
        </p:txBody>
      </p:sp>
      <p:sp>
        <p:nvSpPr>
          <p:cNvPr id="181" name="T182"/>
          <p:cNvSpPr txBox="1"/>
          <p:nvPr/>
        </p:nvSpPr>
        <p:spPr>
          <a:xfrm>
            <a:off x="9784080" y="3410712"/>
            <a:ext cx="7132320" cy="3291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A8705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REQ-FUNC-005  ·  MISSING_DOCUMENT / EXPIRED_TAX_CERT</a:t>
            </a:r>
          </a:p>
        </p:txBody>
      </p:sp>
      <p:sp>
        <p:nvSpPr>
          <p:cNvPr id="183" name="T184"/>
          <p:cNvSpPr txBox="1"/>
          <p:nvPr/>
        </p:nvSpPr>
        <p:spPr>
          <a:xfrm>
            <a:off x="914400" y="4361688"/>
            <a:ext cx="731520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윤고딕"/>
                <a:ea typeface="윤고딕"/>
                <a:cs typeface="윤고딕"/>
                <a:sym typeface="윤고딕"/>
              </a:rPr>
              <a:t>Pain point 2</a:t>
            </a: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  (은행 기업금융 담당자)</a:t>
            </a:r>
          </a:p>
        </p:txBody>
      </p:sp>
      <p:sp>
        <p:nvSpPr>
          <p:cNvPr id="185" name="T186"/>
          <p:cNvSpPr txBox="1"/>
          <p:nvPr/>
        </p:nvSpPr>
        <p:spPr>
          <a:xfrm>
            <a:off x="9326880" y="4361688"/>
            <a:ext cx="804672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EA002C"/>
                </a:solidFill>
                <a:latin typeface="윤고딕"/>
                <a:ea typeface="윤고딕"/>
                <a:cs typeface="윤고딕"/>
                <a:sym typeface="윤고딕"/>
              </a:rPr>
              <a:t>Solution 2</a:t>
            </a:r>
          </a:p>
        </p:txBody>
      </p:sp>
      <p:sp>
        <p:nvSpPr>
          <p:cNvPr id="187" name="S188"/>
          <p:cNvSpPr/>
          <p:nvPr/>
        </p:nvSpPr>
        <p:spPr>
          <a:xfrm>
            <a:off x="914400" y="4818888"/>
            <a:ext cx="7315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89" name="T190"/>
          <p:cNvSpPr txBox="1"/>
          <p:nvPr/>
        </p:nvSpPr>
        <p:spPr>
          <a:xfrm>
            <a:off x="1371600" y="4818888"/>
            <a:ext cx="6400800" cy="15727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문서마다 기업명 · 사업자등록번호를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눈으로 대조한다</a:t>
            </a:r>
          </a:p>
        </p:txBody>
      </p:sp>
      <p:sp>
        <p:nvSpPr>
          <p:cNvPr id="191" name="A192"/>
          <p:cNvSpPr/>
          <p:nvPr/>
        </p:nvSpPr>
        <p:spPr>
          <a:xfrm>
            <a:off x="8549640" y="5404104"/>
            <a:ext cx="868680" cy="411480"/>
          </a:xfrm>
          <a:prstGeom prst="rightArrow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93" name="S194"/>
          <p:cNvSpPr/>
          <p:nvPr/>
        </p:nvSpPr>
        <p:spPr>
          <a:xfrm>
            <a:off x="9326880" y="4818888"/>
            <a:ext cx="8046720" cy="1572768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195" name="T196"/>
          <p:cNvSpPr txBox="1"/>
          <p:nvPr/>
        </p:nvSpPr>
        <p:spPr>
          <a:xfrm>
            <a:off x="9784080" y="4928616"/>
            <a:ext cx="7132320" cy="8686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서류 간 기업정보 교차검증 결과를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한 화면에서 원본 · 추출값 · 정정값과 비교</a:t>
            </a:r>
          </a:p>
        </p:txBody>
      </p:sp>
      <p:sp>
        <p:nvSpPr>
          <p:cNvPr id="197" name="T198"/>
          <p:cNvSpPr txBox="1"/>
          <p:nvPr/>
        </p:nvSpPr>
        <p:spPr>
          <a:xfrm>
            <a:off x="9784080" y="5897880"/>
            <a:ext cx="7132320" cy="3291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A8705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REQ-FUNC-005, 009  ·  COMPANY_NAME / BUSINESS_NO 불일치</a:t>
            </a:r>
          </a:p>
        </p:txBody>
      </p:sp>
      <p:sp>
        <p:nvSpPr>
          <p:cNvPr id="199" name="T200"/>
          <p:cNvSpPr txBox="1"/>
          <p:nvPr/>
        </p:nvSpPr>
        <p:spPr>
          <a:xfrm>
            <a:off x="914400" y="6848856"/>
            <a:ext cx="731520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윤고딕"/>
                <a:ea typeface="윤고딕"/>
                <a:cs typeface="윤고딕"/>
                <a:sym typeface="윤고딕"/>
              </a:rPr>
              <a:t>Pain point 3</a:t>
            </a: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  (양측 공통)</a:t>
            </a:r>
          </a:p>
        </p:txBody>
      </p:sp>
      <p:sp>
        <p:nvSpPr>
          <p:cNvPr id="201" name="T202"/>
          <p:cNvSpPr txBox="1"/>
          <p:nvPr/>
        </p:nvSpPr>
        <p:spPr>
          <a:xfrm>
            <a:off x="9326880" y="6848856"/>
            <a:ext cx="804672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EA002C"/>
                </a:solidFill>
                <a:latin typeface="윤고딕"/>
                <a:ea typeface="윤고딕"/>
                <a:cs typeface="윤고딕"/>
                <a:sym typeface="윤고딕"/>
              </a:rPr>
              <a:t>Solution 3</a:t>
            </a:r>
          </a:p>
        </p:txBody>
      </p:sp>
      <p:sp>
        <p:nvSpPr>
          <p:cNvPr id="203" name="S204"/>
          <p:cNvSpPr/>
          <p:nvPr/>
        </p:nvSpPr>
        <p:spPr>
          <a:xfrm>
            <a:off x="914400" y="7306056"/>
            <a:ext cx="7315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05" name="T206"/>
          <p:cNvSpPr txBox="1"/>
          <p:nvPr/>
        </p:nvSpPr>
        <p:spPr>
          <a:xfrm>
            <a:off x="1371600" y="7306056"/>
            <a:ext cx="6400800" cy="15727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보완 · 재제출이 반복되면 최신본과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이전본을 구분하기 어렵다</a:t>
            </a:r>
          </a:p>
        </p:txBody>
      </p:sp>
      <p:sp>
        <p:nvSpPr>
          <p:cNvPr id="207" name="A208"/>
          <p:cNvSpPr/>
          <p:nvPr/>
        </p:nvSpPr>
        <p:spPr>
          <a:xfrm>
            <a:off x="8549640" y="7891272"/>
            <a:ext cx="868680" cy="411480"/>
          </a:xfrm>
          <a:prstGeom prst="rightArrow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209" name="S210"/>
          <p:cNvSpPr/>
          <p:nvPr/>
        </p:nvSpPr>
        <p:spPr>
          <a:xfrm>
            <a:off x="9326880" y="7306056"/>
            <a:ext cx="8046720" cy="1572768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211" name="T212"/>
          <p:cNvSpPr txBox="1"/>
          <p:nvPr/>
        </p:nvSpPr>
        <p:spPr>
          <a:xfrm>
            <a:off x="9784080" y="7415784"/>
            <a:ext cx="7132320" cy="8686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문서 유형별 version_no 관리 ·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OCR 원본값과 정정값을 분리 보존</a:t>
            </a:r>
          </a:p>
        </p:txBody>
      </p:sp>
      <p:sp>
        <p:nvSpPr>
          <p:cNvPr id="213" name="T214"/>
          <p:cNvSpPr txBox="1"/>
          <p:nvPr/>
        </p:nvSpPr>
        <p:spPr>
          <a:xfrm>
            <a:off x="9784080" y="8385048"/>
            <a:ext cx="7132320" cy="3291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A8705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REQ-FUNC-003, 011  ·  REQ-NFN-008</a:t>
            </a:r>
          </a:p>
        </p:txBody>
      </p:sp>
      <p:sp>
        <p:nvSpPr>
          <p:cNvPr id="215" name="T216"/>
          <p:cNvSpPr txBox="1"/>
          <p:nvPr/>
        </p:nvSpPr>
        <p:spPr>
          <a:xfrm>
            <a:off x="914400" y="9372600"/>
            <a:ext cx="1645920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세 가지 Pain point 를 검증 규칙 코드로 정의하고, 심각도를 차단 / 경고로 나눴다. 차단 오류가 하나라도 남으면 최종 제출이 불가능하다 (422).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시스템 액터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217" name="S218"/>
          <p:cNvSpPr/>
          <p:nvPr/>
        </p:nvSpPr>
        <p:spPr>
          <a:xfrm>
            <a:off x="914400" y="1874520"/>
            <a:ext cx="274320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19" name="T220"/>
          <p:cNvSpPr txBox="1"/>
          <p:nvPr/>
        </p:nvSpPr>
        <p:spPr>
          <a:xfrm>
            <a:off x="1115568" y="1874520"/>
            <a:ext cx="2340864" cy="7315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20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Actor 구분</a:t>
            </a:r>
          </a:p>
        </p:txBody>
      </p:sp>
      <p:sp>
        <p:nvSpPr>
          <p:cNvPr id="221" name="S222"/>
          <p:cNvSpPr/>
          <p:nvPr/>
        </p:nvSpPr>
        <p:spPr>
          <a:xfrm>
            <a:off x="3657600" y="1874520"/>
            <a:ext cx="329184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23" name="T224"/>
          <p:cNvSpPr txBox="1"/>
          <p:nvPr/>
        </p:nvSpPr>
        <p:spPr>
          <a:xfrm>
            <a:off x="3858768" y="1874520"/>
            <a:ext cx="2889504" cy="7315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20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역할 및 권한</a:t>
            </a:r>
          </a:p>
        </p:txBody>
      </p:sp>
      <p:sp>
        <p:nvSpPr>
          <p:cNvPr id="225" name="S226"/>
          <p:cNvSpPr/>
          <p:nvPr/>
        </p:nvSpPr>
        <p:spPr>
          <a:xfrm>
            <a:off x="6949440" y="1874520"/>
            <a:ext cx="1042416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27" name="T228"/>
          <p:cNvSpPr txBox="1"/>
          <p:nvPr/>
        </p:nvSpPr>
        <p:spPr>
          <a:xfrm>
            <a:off x="7150608" y="1874520"/>
            <a:ext cx="10021824" cy="7315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20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상세 제공 기능</a:t>
            </a:r>
          </a:p>
        </p:txBody>
      </p:sp>
      <p:sp>
        <p:nvSpPr>
          <p:cNvPr id="229" name="S230"/>
          <p:cNvSpPr/>
          <p:nvPr/>
        </p:nvSpPr>
        <p:spPr>
          <a:xfrm>
            <a:off x="914400" y="26060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31" name="T232"/>
          <p:cNvSpPr txBox="1"/>
          <p:nvPr/>
        </p:nvSpPr>
        <p:spPr>
          <a:xfrm>
            <a:off x="1115568" y="2606040"/>
            <a:ext cx="234086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 고객
담당자</a:t>
            </a:r>
          </a:p>
        </p:txBody>
      </p:sp>
      <p:sp>
        <p:nvSpPr>
          <p:cNvPr id="233" name="S234"/>
          <p:cNvSpPr/>
          <p:nvPr/>
        </p:nvSpPr>
        <p:spPr>
          <a:xfrm>
            <a:off x="3657600" y="260604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35" name="T236"/>
          <p:cNvSpPr txBox="1"/>
          <p:nvPr/>
        </p:nvSpPr>
        <p:spPr>
          <a:xfrm>
            <a:off x="3858768" y="2606040"/>
            <a:ext cx="288950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서류 준비 및
제출</a:t>
            </a:r>
          </a:p>
        </p:txBody>
      </p:sp>
      <p:sp>
        <p:nvSpPr>
          <p:cNvPr id="237" name="S238"/>
          <p:cNvSpPr/>
          <p:nvPr/>
        </p:nvSpPr>
        <p:spPr>
          <a:xfrm>
            <a:off x="6949440" y="2606040"/>
            <a:ext cx="10424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39" name="T240"/>
          <p:cNvSpPr txBox="1"/>
          <p:nvPr/>
        </p:nvSpPr>
        <p:spPr>
          <a:xfrm>
            <a:off x="7150608" y="2606040"/>
            <a:ext cx="1002182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은행이 사전 등록한 계정으로 로그인, 소속 기업의 신청 건만 조회
필수서류 3종 업로드 · OCR 추출값 확인 및 정정 · 최종 제출 · 보완 재제출</a:t>
            </a:r>
          </a:p>
        </p:txBody>
      </p:sp>
      <p:sp>
        <p:nvSpPr>
          <p:cNvPr id="241" name="S242"/>
          <p:cNvSpPr/>
          <p:nvPr/>
        </p:nvSpPr>
        <p:spPr>
          <a:xfrm>
            <a:off x="914400" y="40233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43" name="T244"/>
          <p:cNvSpPr txBox="1"/>
          <p:nvPr/>
        </p:nvSpPr>
        <p:spPr>
          <a:xfrm>
            <a:off x="1115568" y="4023360"/>
            <a:ext cx="234086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 기업금융
담당자</a:t>
            </a:r>
          </a:p>
        </p:txBody>
      </p:sp>
      <p:sp>
        <p:nvSpPr>
          <p:cNvPr id="245" name="S246"/>
          <p:cNvSpPr/>
          <p:nvPr/>
        </p:nvSpPr>
        <p:spPr>
          <a:xfrm>
            <a:off x="3657600" y="402336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47" name="T248"/>
          <p:cNvSpPr txBox="1"/>
          <p:nvPr/>
        </p:nvSpPr>
        <p:spPr>
          <a:xfrm>
            <a:off x="3858768" y="4023360"/>
            <a:ext cx="288950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서류 접수
검토 및 판정</a:t>
            </a:r>
          </a:p>
        </p:txBody>
      </p:sp>
      <p:sp>
        <p:nvSpPr>
          <p:cNvPr id="249" name="S250"/>
          <p:cNvSpPr/>
          <p:nvPr/>
        </p:nvSpPr>
        <p:spPr>
          <a:xfrm>
            <a:off x="6949440" y="4023360"/>
            <a:ext cx="10424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51" name="T252"/>
          <p:cNvSpPr txBox="1"/>
          <p:nvPr/>
        </p:nvSpPr>
        <p:spPr>
          <a:xfrm>
            <a:off x="7150608" y="4023360"/>
            <a:ext cx="1002182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은행이 발급한 직원 계정으로 로그인, 제출된 신청 건 검토
원본 · 추출값 · 정정값 · 교차검증 결과 비교 · 서류 확인 완료 · 보완 요청</a:t>
            </a:r>
          </a:p>
        </p:txBody>
      </p:sp>
      <p:sp>
        <p:nvSpPr>
          <p:cNvPr id="253" name="T254"/>
          <p:cNvSpPr txBox="1"/>
          <p:nvPr/>
        </p:nvSpPr>
        <p:spPr>
          <a:xfrm>
            <a:off x="914400" y="5605272"/>
            <a:ext cx="1645920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외부 OCR 서비스는 사람이 아니므로 액터에 포함하지 않고, API 명세의 외부 연동 대상으로 정의한다.  대출 승인 · 신용평가는 이 서비스의 범위가 아니다.</a:t>
            </a:r>
          </a:p>
        </p:txBody>
      </p:sp>
      <p:sp>
        <p:nvSpPr>
          <p:cNvPr id="255" name="S256"/>
          <p:cNvSpPr/>
          <p:nvPr/>
        </p:nvSpPr>
        <p:spPr>
          <a:xfrm>
            <a:off x="914400" y="6272784"/>
            <a:ext cx="100584" cy="31089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257" name="T258"/>
          <p:cNvSpPr txBox="1"/>
          <p:nvPr/>
        </p:nvSpPr>
        <p:spPr>
          <a:xfrm>
            <a:off x="1170432" y="6217920"/>
            <a:ext cx="1097280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핵심 흐름</a:t>
            </a:r>
          </a:p>
        </p:txBody>
      </p:sp>
      <p:sp>
        <p:nvSpPr>
          <p:cNvPr id="259" name="S260"/>
          <p:cNvSpPr/>
          <p:nvPr/>
        </p:nvSpPr>
        <p:spPr>
          <a:xfrm>
            <a:off x="914400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61" name="E262"/>
          <p:cNvSpPr/>
          <p:nvPr/>
        </p:nvSpPr>
        <p:spPr>
          <a:xfrm>
            <a:off x="1188720" y="7022592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263" name="T264"/>
          <p:cNvSpPr txBox="1"/>
          <p:nvPr/>
        </p:nvSpPr>
        <p:spPr>
          <a:xfrm>
            <a:off x="1188720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1</a:t>
            </a:r>
          </a:p>
        </p:txBody>
      </p:sp>
      <p:sp>
        <p:nvSpPr>
          <p:cNvPr id="265" name="T266"/>
          <p:cNvSpPr txBox="1"/>
          <p:nvPr/>
        </p:nvSpPr>
        <p:spPr>
          <a:xfrm>
            <a:off x="1783080" y="7004304"/>
            <a:ext cx="1975104" cy="5029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서류 업로드</a:t>
            </a:r>
          </a:p>
        </p:txBody>
      </p:sp>
      <p:sp>
        <p:nvSpPr>
          <p:cNvPr id="267" name="T268"/>
          <p:cNvSpPr txBox="1"/>
          <p:nvPr/>
        </p:nvSpPr>
        <p:spPr>
          <a:xfrm>
            <a:off x="1188720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필수 3종 · JPG/PNG/PDF</a:t>
            </a:r>
          </a:p>
        </p:txBody>
      </p:sp>
      <p:sp>
        <p:nvSpPr>
          <p:cNvPr id="269" name="T270"/>
          <p:cNvSpPr txBox="1"/>
          <p:nvPr/>
        </p:nvSpPr>
        <p:spPr>
          <a:xfrm>
            <a:off x="3877056" y="7223760"/>
            <a:ext cx="493776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›</a:t>
            </a:r>
          </a:p>
        </p:txBody>
      </p:sp>
      <p:sp>
        <p:nvSpPr>
          <p:cNvPr id="271" name="S272"/>
          <p:cNvSpPr/>
          <p:nvPr/>
        </p:nvSpPr>
        <p:spPr>
          <a:xfrm>
            <a:off x="4261104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73" name="E274"/>
          <p:cNvSpPr/>
          <p:nvPr/>
        </p:nvSpPr>
        <p:spPr>
          <a:xfrm>
            <a:off x="4535424" y="7022592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275" name="T276"/>
          <p:cNvSpPr txBox="1"/>
          <p:nvPr/>
        </p:nvSpPr>
        <p:spPr>
          <a:xfrm>
            <a:off x="4535424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</a:t>
            </a:r>
          </a:p>
        </p:txBody>
      </p:sp>
      <p:sp>
        <p:nvSpPr>
          <p:cNvPr id="277" name="T278"/>
          <p:cNvSpPr txBox="1"/>
          <p:nvPr/>
        </p:nvSpPr>
        <p:spPr>
          <a:xfrm>
            <a:off x="5129784" y="7004304"/>
            <a:ext cx="1975104" cy="5029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OCR 추출</a:t>
            </a:r>
          </a:p>
        </p:txBody>
      </p:sp>
      <p:sp>
        <p:nvSpPr>
          <p:cNvPr id="279" name="T280"/>
          <p:cNvSpPr txBox="1"/>
          <p:nvPr/>
        </p:nvSpPr>
        <p:spPr>
          <a:xfrm>
            <a:off x="4535424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외부 OCR 연동</a:t>
            </a:r>
          </a:p>
        </p:txBody>
      </p:sp>
      <p:sp>
        <p:nvSpPr>
          <p:cNvPr id="281" name="T282"/>
          <p:cNvSpPr txBox="1"/>
          <p:nvPr/>
        </p:nvSpPr>
        <p:spPr>
          <a:xfrm>
            <a:off x="7223760" y="7223760"/>
            <a:ext cx="493776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›</a:t>
            </a:r>
          </a:p>
        </p:txBody>
      </p:sp>
      <p:sp>
        <p:nvSpPr>
          <p:cNvPr id="283" name="S284"/>
          <p:cNvSpPr/>
          <p:nvPr/>
        </p:nvSpPr>
        <p:spPr>
          <a:xfrm>
            <a:off x="7607808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EA002C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285" name="E286"/>
          <p:cNvSpPr/>
          <p:nvPr/>
        </p:nvSpPr>
        <p:spPr>
          <a:xfrm>
            <a:off x="7882128" y="7022592"/>
            <a:ext cx="457200" cy="45720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87" name="T288"/>
          <p:cNvSpPr txBox="1"/>
          <p:nvPr/>
        </p:nvSpPr>
        <p:spPr>
          <a:xfrm>
            <a:off x="7882128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3</a:t>
            </a:r>
          </a:p>
        </p:txBody>
      </p:sp>
      <p:sp>
        <p:nvSpPr>
          <p:cNvPr id="289" name="T290"/>
          <p:cNvSpPr txBox="1"/>
          <p:nvPr/>
        </p:nvSpPr>
        <p:spPr>
          <a:xfrm>
            <a:off x="8476488" y="7004304"/>
            <a:ext cx="1975104" cy="5029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자동 검증</a:t>
            </a:r>
          </a:p>
        </p:txBody>
      </p:sp>
      <p:sp>
        <p:nvSpPr>
          <p:cNvPr id="291" name="T292"/>
          <p:cNvSpPr txBox="1"/>
          <p:nvPr/>
        </p:nvSpPr>
        <p:spPr>
          <a:xfrm>
            <a:off x="7882128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C9D2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누락 · 기간 · 불일치</a:t>
            </a:r>
          </a:p>
        </p:txBody>
      </p:sp>
      <p:sp>
        <p:nvSpPr>
          <p:cNvPr id="293" name="T294"/>
          <p:cNvSpPr txBox="1"/>
          <p:nvPr/>
        </p:nvSpPr>
        <p:spPr>
          <a:xfrm>
            <a:off x="10570464" y="7223760"/>
            <a:ext cx="493776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›</a:t>
            </a:r>
          </a:p>
        </p:txBody>
      </p:sp>
      <p:sp>
        <p:nvSpPr>
          <p:cNvPr id="295" name="S296"/>
          <p:cNvSpPr/>
          <p:nvPr/>
        </p:nvSpPr>
        <p:spPr>
          <a:xfrm>
            <a:off x="10954512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97" name="E298"/>
          <p:cNvSpPr/>
          <p:nvPr/>
        </p:nvSpPr>
        <p:spPr>
          <a:xfrm>
            <a:off x="11228832" y="7022592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299" name="T300"/>
          <p:cNvSpPr txBox="1"/>
          <p:nvPr/>
        </p:nvSpPr>
        <p:spPr>
          <a:xfrm>
            <a:off x="11228832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</a:t>
            </a:r>
          </a:p>
        </p:txBody>
      </p:sp>
      <p:sp>
        <p:nvSpPr>
          <p:cNvPr id="301" name="T302"/>
          <p:cNvSpPr txBox="1"/>
          <p:nvPr/>
        </p:nvSpPr>
        <p:spPr>
          <a:xfrm>
            <a:off x="11823192" y="7004304"/>
            <a:ext cx="1975104" cy="5029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자가 보완</a:t>
            </a:r>
          </a:p>
        </p:txBody>
      </p:sp>
      <p:sp>
        <p:nvSpPr>
          <p:cNvPr id="303" name="T304"/>
          <p:cNvSpPr txBox="1"/>
          <p:nvPr/>
        </p:nvSpPr>
        <p:spPr>
          <a:xfrm>
            <a:off x="11228832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정정 또는 재업로드</a:t>
            </a:r>
          </a:p>
        </p:txBody>
      </p:sp>
      <p:sp>
        <p:nvSpPr>
          <p:cNvPr id="305" name="T306"/>
          <p:cNvSpPr txBox="1"/>
          <p:nvPr/>
        </p:nvSpPr>
        <p:spPr>
          <a:xfrm>
            <a:off x="13917168" y="7223760"/>
            <a:ext cx="493776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›</a:t>
            </a:r>
          </a:p>
        </p:txBody>
      </p:sp>
      <p:sp>
        <p:nvSpPr>
          <p:cNvPr id="307" name="S308"/>
          <p:cNvSpPr/>
          <p:nvPr/>
        </p:nvSpPr>
        <p:spPr>
          <a:xfrm>
            <a:off x="14301216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09" name="E310"/>
          <p:cNvSpPr/>
          <p:nvPr/>
        </p:nvSpPr>
        <p:spPr>
          <a:xfrm>
            <a:off x="14575536" y="7022592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311" name="T312"/>
          <p:cNvSpPr txBox="1"/>
          <p:nvPr/>
        </p:nvSpPr>
        <p:spPr>
          <a:xfrm>
            <a:off x="14575536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5</a:t>
            </a:r>
          </a:p>
        </p:txBody>
      </p:sp>
      <p:sp>
        <p:nvSpPr>
          <p:cNvPr id="313" name="T314"/>
          <p:cNvSpPr txBox="1"/>
          <p:nvPr/>
        </p:nvSpPr>
        <p:spPr>
          <a:xfrm>
            <a:off x="15169896" y="7004304"/>
            <a:ext cx="1975104" cy="5029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은행 확인</a:t>
            </a:r>
          </a:p>
        </p:txBody>
      </p:sp>
      <p:sp>
        <p:nvSpPr>
          <p:cNvPr id="315" name="T316"/>
          <p:cNvSpPr txBox="1"/>
          <p:nvPr/>
        </p:nvSpPr>
        <p:spPr>
          <a:xfrm>
            <a:off x="14575536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확인 완료 / 보완 요청</a:t>
            </a:r>
          </a:p>
        </p:txBody>
      </p:sp>
      <p:sp>
        <p:nvSpPr>
          <p:cNvPr id="317" name="S318"/>
          <p:cNvSpPr/>
          <p:nvPr/>
        </p:nvSpPr>
        <p:spPr>
          <a:xfrm>
            <a:off x="914400" y="8458200"/>
            <a:ext cx="16459200" cy="960120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319" name="T320"/>
          <p:cNvSpPr txBox="1"/>
          <p:nvPr/>
        </p:nvSpPr>
        <p:spPr>
          <a:xfrm>
            <a:off x="1371600" y="8458200"/>
            <a:ext cx="15544800" cy="9601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윤고딕"/>
                <a:ea typeface="윤고딕"/>
                <a:cs typeface="윤고딕"/>
                <a:sym typeface="윤고딕"/>
              </a:rPr>
              <a:t>이번에 하지 않는 것   </a:t>
            </a:r>
            <a:r>
              <a:rPr lang="ko-KR" sz="1600" dirty="0">
                <a:solidFill>
                  <a:srgbClr val="8A5A4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대출 승인 · 신용평가 · 한도/금리 산정  |  OCR 모델 직접 학습  |  문서 위변조 판별 · 진위확인 연동  |  은행 SSO · 코어뱅킹 · ERP 연동  |  필수 3종 외 문서 · 알림 · 모바일 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전체 UI 흐름도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321" name="S322"/>
          <p:cNvSpPr/>
          <p:nvPr/>
        </p:nvSpPr>
        <p:spPr>
          <a:xfrm>
            <a:off x="914400" y="1874520"/>
            <a:ext cx="8046720" cy="6766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23" name="S324"/>
          <p:cNvSpPr/>
          <p:nvPr/>
        </p:nvSpPr>
        <p:spPr>
          <a:xfrm>
            <a:off x="914400" y="1874520"/>
            <a:ext cx="8046720" cy="658368"/>
          </a:xfrm>
          <a:prstGeom prst="roundRect">
            <a:avLst>
              <a:gd name="adj" fmla="val 2500"/>
            </a:avLst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325" name="T326"/>
          <p:cNvSpPr txBox="1"/>
          <p:nvPr/>
        </p:nvSpPr>
        <p:spPr>
          <a:xfrm>
            <a:off x="1371600" y="1874520"/>
            <a:ext cx="7132320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1. 기업 고객 담당자</a:t>
            </a:r>
          </a:p>
        </p:txBody>
      </p:sp>
      <p:sp>
        <p:nvSpPr>
          <p:cNvPr id="327" name="S328"/>
          <p:cNvSpPr/>
          <p:nvPr/>
        </p:nvSpPr>
        <p:spPr>
          <a:xfrm>
            <a:off x="1325880" y="29260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329" name="T330"/>
          <p:cNvSpPr txBox="1"/>
          <p:nvPr/>
        </p:nvSpPr>
        <p:spPr>
          <a:xfrm>
            <a:off x="1453896" y="30540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윤고딕"/>
                <a:ea typeface="윤고딕"/>
                <a:cs typeface="윤고딕"/>
                <a:sym typeface="윤고딕"/>
              </a:rPr>
              <a:t>로그인</a:t>
            </a:r>
          </a:p>
        </p:txBody>
      </p:sp>
      <p:sp>
        <p:nvSpPr>
          <p:cNvPr id="331" name="T332"/>
          <p:cNvSpPr txBox="1"/>
          <p:nvPr/>
        </p:nvSpPr>
        <p:spPr>
          <a:xfrm>
            <a:off x="1453896" y="35844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SCR-AUTH-001</a:t>
            </a:r>
          </a:p>
        </p:txBody>
      </p:sp>
      <p:sp>
        <p:nvSpPr>
          <p:cNvPr id="333" name="T334"/>
          <p:cNvSpPr txBox="1"/>
          <p:nvPr/>
        </p:nvSpPr>
        <p:spPr>
          <a:xfrm>
            <a:off x="3474720" y="3246120"/>
            <a:ext cx="576072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→</a:t>
            </a:r>
          </a:p>
        </p:txBody>
      </p:sp>
      <p:sp>
        <p:nvSpPr>
          <p:cNvPr id="335" name="S336"/>
          <p:cNvSpPr/>
          <p:nvPr/>
        </p:nvSpPr>
        <p:spPr>
          <a:xfrm>
            <a:off x="4050792" y="29260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37" name="T338"/>
          <p:cNvSpPr txBox="1"/>
          <p:nvPr/>
        </p:nvSpPr>
        <p:spPr>
          <a:xfrm>
            <a:off x="4178808" y="30540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서류 제출 현황</a:t>
            </a:r>
          </a:p>
        </p:txBody>
      </p:sp>
      <p:sp>
        <p:nvSpPr>
          <p:cNvPr id="339" name="T340"/>
          <p:cNvSpPr txBox="1"/>
          <p:nvPr/>
        </p:nvSpPr>
        <p:spPr>
          <a:xfrm>
            <a:off x="4178808" y="35844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SCR-CUST-001</a:t>
            </a:r>
          </a:p>
        </p:txBody>
      </p:sp>
      <p:sp>
        <p:nvSpPr>
          <p:cNvPr id="341" name="T342"/>
          <p:cNvSpPr txBox="1"/>
          <p:nvPr/>
        </p:nvSpPr>
        <p:spPr>
          <a:xfrm>
            <a:off x="6199632" y="3246120"/>
            <a:ext cx="576072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→</a:t>
            </a:r>
          </a:p>
        </p:txBody>
      </p:sp>
      <p:sp>
        <p:nvSpPr>
          <p:cNvPr id="343" name="S344"/>
          <p:cNvSpPr/>
          <p:nvPr/>
        </p:nvSpPr>
        <p:spPr>
          <a:xfrm>
            <a:off x="6775704" y="29260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45" name="T346"/>
          <p:cNvSpPr txBox="1"/>
          <p:nvPr/>
        </p:nvSpPr>
        <p:spPr>
          <a:xfrm>
            <a:off x="6903720" y="30540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패키지 업로드</a:t>
            </a:r>
          </a:p>
        </p:txBody>
      </p:sp>
      <p:sp>
        <p:nvSpPr>
          <p:cNvPr id="347" name="T348"/>
          <p:cNvSpPr txBox="1"/>
          <p:nvPr/>
        </p:nvSpPr>
        <p:spPr>
          <a:xfrm>
            <a:off x="6903720" y="35844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SCR-DOC-001</a:t>
            </a:r>
          </a:p>
        </p:txBody>
      </p:sp>
      <p:sp>
        <p:nvSpPr>
          <p:cNvPr id="349" name="T350"/>
          <p:cNvSpPr txBox="1"/>
          <p:nvPr/>
        </p:nvSpPr>
        <p:spPr>
          <a:xfrm>
            <a:off x="1417320" y="4087368"/>
            <a:ext cx="640080" cy="5029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↳</a:t>
            </a:r>
          </a:p>
        </p:txBody>
      </p:sp>
      <p:sp>
        <p:nvSpPr>
          <p:cNvPr id="351" name="S352"/>
          <p:cNvSpPr/>
          <p:nvPr/>
        </p:nvSpPr>
        <p:spPr>
          <a:xfrm>
            <a:off x="2148840" y="47548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53" name="T354"/>
          <p:cNvSpPr txBox="1"/>
          <p:nvPr/>
        </p:nvSpPr>
        <p:spPr>
          <a:xfrm>
            <a:off x="2276856" y="48828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OCR · 교차검증</a:t>
            </a:r>
          </a:p>
        </p:txBody>
      </p:sp>
      <p:sp>
        <p:nvSpPr>
          <p:cNvPr id="355" name="T356"/>
          <p:cNvSpPr txBox="1"/>
          <p:nvPr/>
        </p:nvSpPr>
        <p:spPr>
          <a:xfrm>
            <a:off x="2276856" y="54132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SCR-DOC-002</a:t>
            </a:r>
          </a:p>
        </p:txBody>
      </p:sp>
      <p:sp>
        <p:nvSpPr>
          <p:cNvPr id="357" name="T358"/>
          <p:cNvSpPr txBox="1"/>
          <p:nvPr/>
        </p:nvSpPr>
        <p:spPr>
          <a:xfrm>
            <a:off x="4297680" y="5074920"/>
            <a:ext cx="576072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→</a:t>
            </a:r>
          </a:p>
        </p:txBody>
      </p:sp>
      <p:sp>
        <p:nvSpPr>
          <p:cNvPr id="359" name="S360"/>
          <p:cNvSpPr/>
          <p:nvPr/>
        </p:nvSpPr>
        <p:spPr>
          <a:xfrm>
            <a:off x="4873752" y="47548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61" name="T362"/>
          <p:cNvSpPr txBox="1"/>
          <p:nvPr/>
        </p:nvSpPr>
        <p:spPr>
          <a:xfrm>
            <a:off x="5001768" y="48828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최종 제출</a:t>
            </a:r>
          </a:p>
        </p:txBody>
      </p:sp>
      <p:sp>
        <p:nvSpPr>
          <p:cNvPr id="363" name="T364"/>
          <p:cNvSpPr txBox="1"/>
          <p:nvPr/>
        </p:nvSpPr>
        <p:spPr>
          <a:xfrm>
            <a:off x="5001768" y="54132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REVIEW_PENDING</a:t>
            </a:r>
          </a:p>
        </p:txBody>
      </p:sp>
      <p:sp>
        <p:nvSpPr>
          <p:cNvPr id="365" name="T366"/>
          <p:cNvSpPr txBox="1"/>
          <p:nvPr/>
        </p:nvSpPr>
        <p:spPr>
          <a:xfrm>
            <a:off x="1417320" y="5916168"/>
            <a:ext cx="640080" cy="5029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↳</a:t>
            </a:r>
          </a:p>
        </p:txBody>
      </p:sp>
      <p:sp>
        <p:nvSpPr>
          <p:cNvPr id="367" name="S368"/>
          <p:cNvSpPr/>
          <p:nvPr/>
        </p:nvSpPr>
        <p:spPr>
          <a:xfrm>
            <a:off x="2148840" y="65836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69" name="T370"/>
          <p:cNvSpPr txBox="1"/>
          <p:nvPr/>
        </p:nvSpPr>
        <p:spPr>
          <a:xfrm>
            <a:off x="2276856" y="67116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보완 재제출</a:t>
            </a:r>
          </a:p>
        </p:txBody>
      </p:sp>
      <p:sp>
        <p:nvSpPr>
          <p:cNvPr id="371" name="T372"/>
          <p:cNvSpPr txBox="1"/>
          <p:nvPr/>
        </p:nvSpPr>
        <p:spPr>
          <a:xfrm>
            <a:off x="2276856" y="72420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RESUBMITTED</a:t>
            </a:r>
          </a:p>
        </p:txBody>
      </p:sp>
      <p:sp>
        <p:nvSpPr>
          <p:cNvPr id="373" name="S374"/>
          <p:cNvSpPr/>
          <p:nvPr/>
        </p:nvSpPr>
        <p:spPr>
          <a:xfrm>
            <a:off x="10241280" y="1874520"/>
            <a:ext cx="8046720" cy="6766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75" name="S376"/>
          <p:cNvSpPr/>
          <p:nvPr/>
        </p:nvSpPr>
        <p:spPr>
          <a:xfrm>
            <a:off x="10241280" y="1874520"/>
            <a:ext cx="8046720" cy="658368"/>
          </a:xfrm>
          <a:prstGeom prst="roundRect">
            <a:avLst>
              <a:gd name="adj" fmla="val 2500"/>
            </a:avLst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377" name="T378"/>
          <p:cNvSpPr txBox="1"/>
          <p:nvPr/>
        </p:nvSpPr>
        <p:spPr>
          <a:xfrm>
            <a:off x="10698480" y="1874520"/>
            <a:ext cx="7132320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2. 은행 기업금융 담당자</a:t>
            </a:r>
          </a:p>
        </p:txBody>
      </p:sp>
      <p:sp>
        <p:nvSpPr>
          <p:cNvPr id="379" name="S380"/>
          <p:cNvSpPr/>
          <p:nvPr/>
        </p:nvSpPr>
        <p:spPr>
          <a:xfrm>
            <a:off x="10652760" y="29260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381" name="T382"/>
          <p:cNvSpPr txBox="1"/>
          <p:nvPr/>
        </p:nvSpPr>
        <p:spPr>
          <a:xfrm>
            <a:off x="10780776" y="30540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윤고딕"/>
                <a:ea typeface="윤고딕"/>
                <a:cs typeface="윤고딕"/>
                <a:sym typeface="윤고딕"/>
              </a:rPr>
              <a:t>로그인</a:t>
            </a:r>
          </a:p>
        </p:txBody>
      </p:sp>
      <p:sp>
        <p:nvSpPr>
          <p:cNvPr id="383" name="T384"/>
          <p:cNvSpPr txBox="1"/>
          <p:nvPr/>
        </p:nvSpPr>
        <p:spPr>
          <a:xfrm>
            <a:off x="10780776" y="35844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SCR-AUTH-001</a:t>
            </a:r>
          </a:p>
        </p:txBody>
      </p:sp>
      <p:sp>
        <p:nvSpPr>
          <p:cNvPr id="385" name="T386"/>
          <p:cNvSpPr txBox="1"/>
          <p:nvPr/>
        </p:nvSpPr>
        <p:spPr>
          <a:xfrm>
            <a:off x="12801600" y="3246120"/>
            <a:ext cx="576072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→</a:t>
            </a:r>
          </a:p>
        </p:txBody>
      </p:sp>
      <p:sp>
        <p:nvSpPr>
          <p:cNvPr id="387" name="S388"/>
          <p:cNvSpPr/>
          <p:nvPr/>
        </p:nvSpPr>
        <p:spPr>
          <a:xfrm>
            <a:off x="13377672" y="29260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89" name="T390"/>
          <p:cNvSpPr txBox="1"/>
          <p:nvPr/>
        </p:nvSpPr>
        <p:spPr>
          <a:xfrm>
            <a:off x="13505688" y="30540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검토 목록</a:t>
            </a:r>
          </a:p>
        </p:txBody>
      </p:sp>
      <p:sp>
        <p:nvSpPr>
          <p:cNvPr id="391" name="T392"/>
          <p:cNvSpPr txBox="1"/>
          <p:nvPr/>
        </p:nvSpPr>
        <p:spPr>
          <a:xfrm>
            <a:off x="13505688" y="35844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SCR-REV-001</a:t>
            </a:r>
          </a:p>
        </p:txBody>
      </p:sp>
      <p:sp>
        <p:nvSpPr>
          <p:cNvPr id="393" name="T394"/>
          <p:cNvSpPr txBox="1"/>
          <p:nvPr/>
        </p:nvSpPr>
        <p:spPr>
          <a:xfrm>
            <a:off x="15526512" y="3246120"/>
            <a:ext cx="576072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→</a:t>
            </a:r>
          </a:p>
        </p:txBody>
      </p:sp>
      <p:sp>
        <p:nvSpPr>
          <p:cNvPr id="395" name="S396"/>
          <p:cNvSpPr/>
          <p:nvPr/>
        </p:nvSpPr>
        <p:spPr>
          <a:xfrm>
            <a:off x="16102584" y="29260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97" name="T398"/>
          <p:cNvSpPr txBox="1"/>
          <p:nvPr/>
        </p:nvSpPr>
        <p:spPr>
          <a:xfrm>
            <a:off x="16230600" y="30540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상세 검토</a:t>
            </a:r>
          </a:p>
        </p:txBody>
      </p:sp>
      <p:sp>
        <p:nvSpPr>
          <p:cNvPr id="399" name="T400"/>
          <p:cNvSpPr txBox="1"/>
          <p:nvPr/>
        </p:nvSpPr>
        <p:spPr>
          <a:xfrm>
            <a:off x="16230600" y="35844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SCR-REV-002</a:t>
            </a:r>
          </a:p>
        </p:txBody>
      </p:sp>
      <p:sp>
        <p:nvSpPr>
          <p:cNvPr id="401" name="T402"/>
          <p:cNvSpPr txBox="1"/>
          <p:nvPr/>
        </p:nvSpPr>
        <p:spPr>
          <a:xfrm>
            <a:off x="10744200" y="4087368"/>
            <a:ext cx="640080" cy="5029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↳</a:t>
            </a:r>
          </a:p>
        </p:txBody>
      </p:sp>
      <p:sp>
        <p:nvSpPr>
          <p:cNvPr id="403" name="S404"/>
          <p:cNvSpPr/>
          <p:nvPr/>
        </p:nvSpPr>
        <p:spPr>
          <a:xfrm>
            <a:off x="11475720" y="47548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05" name="T406"/>
          <p:cNvSpPr txBox="1"/>
          <p:nvPr/>
        </p:nvSpPr>
        <p:spPr>
          <a:xfrm>
            <a:off x="11603736" y="48828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서류 확인 완료</a:t>
            </a:r>
          </a:p>
        </p:txBody>
      </p:sp>
      <p:sp>
        <p:nvSpPr>
          <p:cNvPr id="407" name="T408"/>
          <p:cNvSpPr txBox="1"/>
          <p:nvPr/>
        </p:nvSpPr>
        <p:spPr>
          <a:xfrm>
            <a:off x="11603736" y="54132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DOCUMENTS_APPROVED</a:t>
            </a:r>
          </a:p>
        </p:txBody>
      </p:sp>
      <p:sp>
        <p:nvSpPr>
          <p:cNvPr id="409" name="T410"/>
          <p:cNvSpPr txBox="1"/>
          <p:nvPr/>
        </p:nvSpPr>
        <p:spPr>
          <a:xfrm>
            <a:off x="10744200" y="5916168"/>
            <a:ext cx="640080" cy="5029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↳</a:t>
            </a:r>
          </a:p>
        </p:txBody>
      </p:sp>
      <p:sp>
        <p:nvSpPr>
          <p:cNvPr id="411" name="S412"/>
          <p:cNvSpPr/>
          <p:nvPr/>
        </p:nvSpPr>
        <p:spPr>
          <a:xfrm>
            <a:off x="11475720" y="65836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13" name="T414"/>
          <p:cNvSpPr txBox="1"/>
          <p:nvPr/>
        </p:nvSpPr>
        <p:spPr>
          <a:xfrm>
            <a:off x="11603736" y="67116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보완 요청</a:t>
            </a:r>
          </a:p>
        </p:txBody>
      </p:sp>
      <p:sp>
        <p:nvSpPr>
          <p:cNvPr id="415" name="T416"/>
          <p:cNvSpPr txBox="1"/>
          <p:nvPr/>
        </p:nvSpPr>
        <p:spPr>
          <a:xfrm>
            <a:off x="11603736" y="72420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REVISION_REQUESTED</a:t>
            </a:r>
          </a:p>
        </p:txBody>
      </p:sp>
      <p:sp>
        <p:nvSpPr>
          <p:cNvPr id="417" name="T418"/>
          <p:cNvSpPr txBox="1"/>
          <p:nvPr/>
        </p:nvSpPr>
        <p:spPr>
          <a:xfrm>
            <a:off x="914400" y="8915400"/>
            <a:ext cx="16459200" cy="82296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기업 고객은 차단 오류가 하나라도 남아 있으면 최종 제출할 수 없다 (422). 은행 담당자가 이미 처리한 신청 건을 다시 처리하면 409 를 반환한다.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sz="16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보완 요청 → 재제출은 문서를 덮어쓰지 않고 유형별 version_no 를 올려 이전본과 최신본을 함께 보존한다.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데이터 모델 설계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593" name="S594"/>
          <p:cNvSpPr/>
          <p:nvPr/>
        </p:nvSpPr>
        <p:spPr>
          <a:xfrm>
            <a:off x="914400" y="1874520"/>
            <a:ext cx="5074920" cy="11338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95" name="S596"/>
          <p:cNvSpPr/>
          <p:nvPr/>
        </p:nvSpPr>
        <p:spPr>
          <a:xfrm>
            <a:off x="914400" y="1874520"/>
            <a:ext cx="91440" cy="1133856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597" name="T598"/>
          <p:cNvSpPr txBox="1"/>
          <p:nvPr/>
        </p:nvSpPr>
        <p:spPr>
          <a:xfrm>
            <a:off x="1234440" y="2002536"/>
            <a:ext cx="452628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users</a:t>
            </a:r>
          </a:p>
        </p:txBody>
      </p:sp>
      <p:sp>
        <p:nvSpPr>
          <p:cNvPr id="599" name="T600"/>
          <p:cNvSpPr txBox="1"/>
          <p:nvPr/>
        </p:nvSpPr>
        <p:spPr>
          <a:xfrm>
            <a:off x="1234440" y="2386584"/>
            <a:ext cx="452628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 고객 / 은행 담당자를 role 로 구분</a:t>
            </a:r>
          </a:p>
        </p:txBody>
      </p:sp>
      <p:sp>
        <p:nvSpPr>
          <p:cNvPr id="601" name="T602"/>
          <p:cNvSpPr txBox="1"/>
          <p:nvPr/>
        </p:nvSpPr>
        <p:spPr>
          <a:xfrm>
            <a:off x="1234440" y="2697480"/>
            <a:ext cx="4526280" cy="2743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PK id · role · organization_name</a:t>
            </a:r>
          </a:p>
        </p:txBody>
      </p:sp>
      <p:sp>
        <p:nvSpPr>
          <p:cNvPr id="603" name="S604"/>
          <p:cNvSpPr/>
          <p:nvPr/>
        </p:nvSpPr>
        <p:spPr>
          <a:xfrm>
            <a:off x="6309360" y="1874520"/>
            <a:ext cx="5074920" cy="11338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05" name="S606"/>
          <p:cNvSpPr/>
          <p:nvPr/>
        </p:nvSpPr>
        <p:spPr>
          <a:xfrm>
            <a:off x="6309360" y="1874520"/>
            <a:ext cx="91440" cy="1133856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607" name="T608"/>
          <p:cNvSpPr txBox="1"/>
          <p:nvPr/>
        </p:nvSpPr>
        <p:spPr>
          <a:xfrm>
            <a:off x="6629400" y="2002536"/>
            <a:ext cx="452628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loan_applications</a:t>
            </a:r>
          </a:p>
        </p:txBody>
      </p:sp>
      <p:sp>
        <p:nvSpPr>
          <p:cNvPr id="609" name="T610"/>
          <p:cNvSpPr txBox="1"/>
          <p:nvPr/>
        </p:nvSpPr>
        <p:spPr>
          <a:xfrm>
            <a:off x="6629400" y="2386584"/>
            <a:ext cx="452628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기업별 서류 제출 건 · 상태 5종</a:t>
            </a:r>
          </a:p>
        </p:txBody>
      </p:sp>
      <p:sp>
        <p:nvSpPr>
          <p:cNvPr id="611" name="T612"/>
          <p:cNvSpPr txBox="1"/>
          <p:nvPr/>
        </p:nvSpPr>
        <p:spPr>
          <a:xfrm>
            <a:off x="6629400" y="2697480"/>
            <a:ext cx="4526280" cy="2743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FK company_user_id · required_fiscal_year</a:t>
            </a:r>
          </a:p>
        </p:txBody>
      </p:sp>
      <p:sp>
        <p:nvSpPr>
          <p:cNvPr id="613" name="S614"/>
          <p:cNvSpPr/>
          <p:nvPr/>
        </p:nvSpPr>
        <p:spPr>
          <a:xfrm>
            <a:off x="914400" y="3172968"/>
            <a:ext cx="5074920" cy="11338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15" name="S616"/>
          <p:cNvSpPr/>
          <p:nvPr/>
        </p:nvSpPr>
        <p:spPr>
          <a:xfrm>
            <a:off x="914400" y="3172968"/>
            <a:ext cx="91440" cy="1133856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617" name="T618"/>
          <p:cNvSpPr txBox="1"/>
          <p:nvPr/>
        </p:nvSpPr>
        <p:spPr>
          <a:xfrm>
            <a:off x="1234440" y="3300984"/>
            <a:ext cx="452628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document_types</a:t>
            </a:r>
          </a:p>
        </p:txBody>
      </p:sp>
      <p:sp>
        <p:nvSpPr>
          <p:cNvPr id="619" name="T620"/>
          <p:cNvSpPr txBox="1"/>
          <p:nvPr/>
        </p:nvSpPr>
        <p:spPr>
          <a:xfrm>
            <a:off x="1234440" y="3685032"/>
            <a:ext cx="452628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MVP 필수 문서 3종 코드</a:t>
            </a:r>
          </a:p>
        </p:txBody>
      </p:sp>
      <p:sp>
        <p:nvSpPr>
          <p:cNvPr id="621" name="T622"/>
          <p:cNvSpPr txBox="1"/>
          <p:nvPr/>
        </p:nvSpPr>
        <p:spPr>
          <a:xfrm>
            <a:off x="1234440" y="3995928"/>
            <a:ext cx="4526280" cy="2743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PK id · code · display_name</a:t>
            </a:r>
          </a:p>
        </p:txBody>
      </p:sp>
      <p:sp>
        <p:nvSpPr>
          <p:cNvPr id="623" name="S624"/>
          <p:cNvSpPr/>
          <p:nvPr/>
        </p:nvSpPr>
        <p:spPr>
          <a:xfrm>
            <a:off x="6309360" y="3172968"/>
            <a:ext cx="5074920" cy="11338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25" name="S626"/>
          <p:cNvSpPr/>
          <p:nvPr/>
        </p:nvSpPr>
        <p:spPr>
          <a:xfrm>
            <a:off x="6309360" y="3172968"/>
            <a:ext cx="91440" cy="113385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627" name="T628"/>
          <p:cNvSpPr txBox="1"/>
          <p:nvPr/>
        </p:nvSpPr>
        <p:spPr>
          <a:xfrm>
            <a:off x="6629400" y="3300984"/>
            <a:ext cx="452628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submitted_documents</a:t>
            </a:r>
          </a:p>
        </p:txBody>
      </p:sp>
      <p:sp>
        <p:nvSpPr>
          <p:cNvPr id="629" name="T630"/>
          <p:cNvSpPr txBox="1"/>
          <p:nvPr/>
        </p:nvSpPr>
        <p:spPr>
          <a:xfrm>
            <a:off x="6629400" y="3685032"/>
            <a:ext cx="452628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원본 메타 · 처리 상태 · 유형별 버전</a:t>
            </a:r>
          </a:p>
        </p:txBody>
      </p:sp>
      <p:sp>
        <p:nvSpPr>
          <p:cNvPr id="631" name="T632"/>
          <p:cNvSpPr txBox="1"/>
          <p:nvPr/>
        </p:nvSpPr>
        <p:spPr>
          <a:xfrm>
            <a:off x="6629400" y="3995928"/>
            <a:ext cx="4526280" cy="2743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FK application_id, type_id · version_no</a:t>
            </a:r>
          </a:p>
        </p:txBody>
      </p:sp>
      <p:sp>
        <p:nvSpPr>
          <p:cNvPr id="633" name="S634"/>
          <p:cNvSpPr/>
          <p:nvPr/>
        </p:nvSpPr>
        <p:spPr>
          <a:xfrm>
            <a:off x="914400" y="4471416"/>
            <a:ext cx="5074920" cy="11338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35" name="S636"/>
          <p:cNvSpPr/>
          <p:nvPr/>
        </p:nvSpPr>
        <p:spPr>
          <a:xfrm>
            <a:off x="914400" y="4471416"/>
            <a:ext cx="91440" cy="113385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637" name="T638"/>
          <p:cNvSpPr txBox="1"/>
          <p:nvPr/>
        </p:nvSpPr>
        <p:spPr>
          <a:xfrm>
            <a:off x="1234440" y="4599432"/>
            <a:ext cx="452628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extracted_fields</a:t>
            </a:r>
          </a:p>
        </p:txBody>
      </p:sp>
      <p:sp>
        <p:nvSpPr>
          <p:cNvPr id="639" name="T640"/>
          <p:cNvSpPr txBox="1"/>
          <p:nvPr/>
        </p:nvSpPr>
        <p:spPr>
          <a:xfrm>
            <a:off x="1234440" y="4983480"/>
            <a:ext cx="452628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OCR 원본값과 고객 정정값을 분리 저장</a:t>
            </a:r>
          </a:p>
        </p:txBody>
      </p:sp>
      <p:sp>
        <p:nvSpPr>
          <p:cNvPr id="641" name="T642"/>
          <p:cNvSpPr txBox="1"/>
          <p:nvPr/>
        </p:nvSpPr>
        <p:spPr>
          <a:xfrm>
            <a:off x="1234440" y="5294376"/>
            <a:ext cx="4526280" cy="2743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FK document_id · ocr_value · corrected_value</a:t>
            </a:r>
          </a:p>
        </p:txBody>
      </p:sp>
      <p:sp>
        <p:nvSpPr>
          <p:cNvPr id="643" name="S644"/>
          <p:cNvSpPr/>
          <p:nvPr/>
        </p:nvSpPr>
        <p:spPr>
          <a:xfrm>
            <a:off x="6309360" y="4471416"/>
            <a:ext cx="5074920" cy="11338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45" name="S646"/>
          <p:cNvSpPr/>
          <p:nvPr/>
        </p:nvSpPr>
        <p:spPr>
          <a:xfrm>
            <a:off x="6309360" y="4471416"/>
            <a:ext cx="91440" cy="1133856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647" name="T648"/>
          <p:cNvSpPr txBox="1"/>
          <p:nvPr/>
        </p:nvSpPr>
        <p:spPr>
          <a:xfrm>
            <a:off x="6629400" y="4599432"/>
            <a:ext cx="452628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validation_issues</a:t>
            </a:r>
          </a:p>
        </p:txBody>
      </p:sp>
      <p:sp>
        <p:nvSpPr>
          <p:cNvPr id="649" name="T650"/>
          <p:cNvSpPr txBox="1"/>
          <p:nvPr/>
        </p:nvSpPr>
        <p:spPr>
          <a:xfrm>
            <a:off x="6629400" y="4983480"/>
            <a:ext cx="452628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검증 규칙 · 심각도 · 해결 상태</a:t>
            </a:r>
          </a:p>
        </p:txBody>
      </p:sp>
      <p:sp>
        <p:nvSpPr>
          <p:cNvPr id="651" name="T652"/>
          <p:cNvSpPr txBox="1"/>
          <p:nvPr/>
        </p:nvSpPr>
        <p:spPr>
          <a:xfrm>
            <a:off x="6629400" y="5294376"/>
            <a:ext cx="4526280" cy="2743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FK application_id, document_id · severity</a:t>
            </a:r>
          </a:p>
        </p:txBody>
      </p:sp>
      <p:sp>
        <p:nvSpPr>
          <p:cNvPr id="653" name="S654"/>
          <p:cNvSpPr/>
          <p:nvPr/>
        </p:nvSpPr>
        <p:spPr>
          <a:xfrm>
            <a:off x="914400" y="5769864"/>
            <a:ext cx="5074920" cy="11338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55" name="S656"/>
          <p:cNvSpPr/>
          <p:nvPr/>
        </p:nvSpPr>
        <p:spPr>
          <a:xfrm>
            <a:off x="914400" y="5769864"/>
            <a:ext cx="91440" cy="1133856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657" name="T658"/>
          <p:cNvSpPr txBox="1"/>
          <p:nvPr/>
        </p:nvSpPr>
        <p:spPr>
          <a:xfrm>
            <a:off x="1234440" y="5897880"/>
            <a:ext cx="452628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reviews</a:t>
            </a:r>
          </a:p>
        </p:txBody>
      </p:sp>
      <p:sp>
        <p:nvSpPr>
          <p:cNvPr id="659" name="T660"/>
          <p:cNvSpPr txBox="1"/>
          <p:nvPr/>
        </p:nvSpPr>
        <p:spPr>
          <a:xfrm>
            <a:off x="1234440" y="6281928"/>
            <a:ext cx="452628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담당자 결정 · 보완 사유 · 처리 시각</a:t>
            </a:r>
          </a:p>
        </p:txBody>
      </p:sp>
      <p:sp>
        <p:nvSpPr>
          <p:cNvPr id="661" name="T662"/>
          <p:cNvSpPr txBox="1"/>
          <p:nvPr/>
        </p:nvSpPr>
        <p:spPr>
          <a:xfrm>
            <a:off x="1234440" y="6592824"/>
            <a:ext cx="4526280" cy="2743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FK application_id, reviewer_id · decision</a:t>
            </a:r>
          </a:p>
        </p:txBody>
      </p:sp>
      <p:sp>
        <p:nvSpPr>
          <p:cNvPr id="663" name="S664"/>
          <p:cNvSpPr/>
          <p:nvPr/>
        </p:nvSpPr>
        <p:spPr>
          <a:xfrm>
            <a:off x="11932920" y="1874520"/>
            <a:ext cx="5440680" cy="5029200"/>
          </a:xfrm>
          <a:prstGeom prst="roundRect">
            <a:avLst>
              <a:gd name="adj" fmla="val 2500"/>
            </a:avLst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665" name="T666"/>
          <p:cNvSpPr txBox="1"/>
          <p:nvPr/>
        </p:nvSpPr>
        <p:spPr>
          <a:xfrm>
            <a:off x="12390120" y="2240280"/>
            <a:ext cx="4526280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설계 원칙</a:t>
            </a:r>
          </a:p>
        </p:txBody>
      </p:sp>
      <p:sp>
        <p:nvSpPr>
          <p:cNvPr id="667" name="S668"/>
          <p:cNvSpPr/>
          <p:nvPr/>
        </p:nvSpPr>
        <p:spPr>
          <a:xfrm>
            <a:off x="12390120" y="3054096"/>
            <a:ext cx="91440" cy="91440"/>
          </a:xfrm>
          <a:prstGeom prst="rect">
            <a:avLst/>
          </a:prstGeom>
          <a:solidFill>
            <a:srgbClr val="FFD3DA"/>
          </a:solidFill>
        </p:spPr>
        <p:txBody>
          <a:bodyPr/>
          <a:lstStyle/>
          <a:p/>
        </p:txBody>
      </p:sp>
      <p:sp>
        <p:nvSpPr>
          <p:cNvPr id="669" name="T670"/>
          <p:cNvSpPr txBox="1"/>
          <p:nvPr/>
        </p:nvSpPr>
        <p:spPr>
          <a:xfrm>
            <a:off x="12627864" y="2926080"/>
            <a:ext cx="4251960" cy="8229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600" dirty="0">
                <a:solidFill>
                  <a:srgbClr val="FFE3E8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모든 테이블에 PK, 관계는 FK 로 명시</a:t>
            </a:r>
          </a:p>
        </p:txBody>
      </p:sp>
      <p:sp>
        <p:nvSpPr>
          <p:cNvPr id="671" name="S672"/>
          <p:cNvSpPr/>
          <p:nvPr/>
        </p:nvSpPr>
        <p:spPr>
          <a:xfrm>
            <a:off x="12390120" y="3840480"/>
            <a:ext cx="91440" cy="91440"/>
          </a:xfrm>
          <a:prstGeom prst="rect">
            <a:avLst/>
          </a:prstGeom>
          <a:solidFill>
            <a:srgbClr val="FFD3DA"/>
          </a:solidFill>
        </p:spPr>
        <p:txBody>
          <a:bodyPr/>
          <a:lstStyle/>
          <a:p/>
        </p:txBody>
      </p:sp>
      <p:sp>
        <p:nvSpPr>
          <p:cNvPr id="673" name="T674"/>
          <p:cNvSpPr txBox="1"/>
          <p:nvPr/>
        </p:nvSpPr>
        <p:spPr>
          <a:xfrm>
            <a:off x="12627864" y="3712464"/>
            <a:ext cx="4251960" cy="8229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600" dirty="0">
                <a:solidFill>
                  <a:srgbClr val="FFE3E8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OCR 원본값과 고객 정정값을 같은 행에 분리 보관 (REQ-NFN-008)</a:t>
            </a:r>
          </a:p>
        </p:txBody>
      </p:sp>
      <p:sp>
        <p:nvSpPr>
          <p:cNvPr id="675" name="S676"/>
          <p:cNvSpPr/>
          <p:nvPr/>
        </p:nvSpPr>
        <p:spPr>
          <a:xfrm>
            <a:off x="12390120" y="4626864"/>
            <a:ext cx="91440" cy="91440"/>
          </a:xfrm>
          <a:prstGeom prst="rect">
            <a:avLst/>
          </a:prstGeom>
          <a:solidFill>
            <a:srgbClr val="FFD3DA"/>
          </a:solidFill>
        </p:spPr>
        <p:txBody>
          <a:bodyPr/>
          <a:lstStyle/>
          <a:p/>
        </p:txBody>
      </p:sp>
      <p:sp>
        <p:nvSpPr>
          <p:cNvPr id="677" name="T678"/>
          <p:cNvSpPr txBox="1"/>
          <p:nvPr/>
        </p:nvSpPr>
        <p:spPr>
          <a:xfrm>
            <a:off x="12627864" y="4498848"/>
            <a:ext cx="4251960" cy="8229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600" dirty="0">
                <a:solidFill>
                  <a:srgbClr val="FFE3E8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문서는 덮어쓰지 않고 유형별 version_no 증가</a:t>
            </a:r>
          </a:p>
        </p:txBody>
      </p:sp>
      <p:sp>
        <p:nvSpPr>
          <p:cNvPr id="679" name="S680"/>
          <p:cNvSpPr/>
          <p:nvPr/>
        </p:nvSpPr>
        <p:spPr>
          <a:xfrm>
            <a:off x="12390120" y="5413248"/>
            <a:ext cx="91440" cy="91440"/>
          </a:xfrm>
          <a:prstGeom prst="rect">
            <a:avLst/>
          </a:prstGeom>
          <a:solidFill>
            <a:srgbClr val="FFD3DA"/>
          </a:solidFill>
        </p:spPr>
        <p:txBody>
          <a:bodyPr/>
          <a:lstStyle/>
          <a:p/>
        </p:txBody>
      </p:sp>
      <p:sp>
        <p:nvSpPr>
          <p:cNvPr id="681" name="T682"/>
          <p:cNvSpPr txBox="1"/>
          <p:nvPr/>
        </p:nvSpPr>
        <p:spPr>
          <a:xfrm>
            <a:off x="12627864" y="5285232"/>
            <a:ext cx="4251960" cy="8229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600" dirty="0">
                <a:solidFill>
                  <a:srgbClr val="FFE3E8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비밀번호는 password_hash 로만 저장 (REQ-NFN-003)</a:t>
            </a:r>
          </a:p>
        </p:txBody>
      </p:sp>
      <p:sp>
        <p:nvSpPr>
          <p:cNvPr id="683" name="S684"/>
          <p:cNvSpPr/>
          <p:nvPr/>
        </p:nvSpPr>
        <p:spPr>
          <a:xfrm>
            <a:off x="12390120" y="6199632"/>
            <a:ext cx="91440" cy="91440"/>
          </a:xfrm>
          <a:prstGeom prst="rect">
            <a:avLst/>
          </a:prstGeom>
          <a:solidFill>
            <a:srgbClr val="FFD3DA"/>
          </a:solidFill>
        </p:spPr>
        <p:txBody>
          <a:bodyPr/>
          <a:lstStyle/>
          <a:p/>
        </p:txBody>
      </p:sp>
      <p:sp>
        <p:nvSpPr>
          <p:cNvPr id="685" name="T686"/>
          <p:cNvSpPr txBox="1"/>
          <p:nvPr/>
        </p:nvSpPr>
        <p:spPr>
          <a:xfrm>
            <a:off x="12627864" y="6071616"/>
            <a:ext cx="4251960" cy="8229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600" dirty="0">
                <a:solidFill>
                  <a:srgbClr val="FFE3E8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화면 · API 에서 쓰지 않는 미래 기능용 테이블은 만들지 않음</a:t>
            </a:r>
          </a:p>
        </p:txBody>
      </p:sp>
      <p:sp>
        <p:nvSpPr>
          <p:cNvPr id="687" name="T688"/>
          <p:cNvSpPr txBox="1"/>
          <p:nvPr/>
        </p:nvSpPr>
        <p:spPr>
          <a:xfrm>
            <a:off x="914400" y="6766560"/>
            <a:ext cx="16459200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users 1:N loan_applications  ·  loan_applications 1:N submitted_documents  ·  submitted_documents 1:N extracted_fields  ·  loan_applications 1:N validation_issues / reviews</a:t>
            </a:r>
          </a:p>
        </p:txBody>
      </p:sp>
      <p:sp>
        <p:nvSpPr>
          <p:cNvPr id="689" name="S690"/>
          <p:cNvSpPr/>
          <p:nvPr/>
        </p:nvSpPr>
        <p:spPr>
          <a:xfrm>
            <a:off x="914400" y="7269480"/>
            <a:ext cx="16459200" cy="2057400"/>
          </a:xfrm>
          <a:prstGeom prst="roundRect">
            <a:avLst>
              <a:gd name="adj" fmla="val 2500"/>
            </a:avLst>
          </a:prstGeom>
          <a:solidFill>
            <a:srgbClr val="F3F0EA"/>
          </a:solidFill>
          <a:ln w="15875">
            <a:solidFill>
              <a:srgbClr val="E5E0D6"/>
            </a:solidFill>
            <a:prstDash val="dash"/>
          </a:ln>
        </p:spPr>
        <p:txBody>
          <a:bodyPr/>
          <a:lstStyle/>
          <a:p/>
        </p:txBody>
      </p:sp>
      <p:sp>
        <p:nvSpPr>
          <p:cNvPr id="691" name="T692"/>
          <p:cNvSpPr txBox="1"/>
          <p:nvPr/>
        </p:nvSpPr>
        <p:spPr>
          <a:xfrm>
            <a:off x="914400" y="7269480"/>
            <a:ext cx="16459200" cy="20574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70000"/>
              </a:lnSpc>
              <a:spcAft>
                <a:spcPts val="0"/>
              </a:spcAft>
            </a:pPr>
            <a:r>
              <a:rPr lang="ko-KR" sz="18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ERD 다이어그램 삽입 위치</a:t>
            </a:r>
          </a:p>
          <a:p>
            <a:pPr algn="ctr">
              <a:lnSpc>
                <a:spcPct val="170000"/>
              </a:lnSpc>
              <a:spcAft>
                <a:spcPts val="0"/>
              </a:spcAft>
            </a:pPr>
            <a:r>
              <a:rPr lang="ko-KR" sz="18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DBDiagram(dbml.dbdiagram.io) 에서 테이블 상자와 FK 연결선이 모두 보이게 캡처 → 이 자리에 배치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API 명세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693" name="S694"/>
          <p:cNvSpPr/>
          <p:nvPr/>
        </p:nvSpPr>
        <p:spPr>
          <a:xfrm>
            <a:off x="914400" y="1874520"/>
            <a:ext cx="11155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95" name="S696"/>
          <p:cNvSpPr/>
          <p:nvPr/>
        </p:nvSpPr>
        <p:spPr>
          <a:xfrm>
            <a:off x="1325880" y="2167128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697" name="T698"/>
          <p:cNvSpPr txBox="1"/>
          <p:nvPr/>
        </p:nvSpPr>
        <p:spPr>
          <a:xfrm>
            <a:off x="1325880" y="2167128"/>
            <a:ext cx="105156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POST</a:t>
            </a:r>
          </a:p>
        </p:txBody>
      </p:sp>
      <p:sp>
        <p:nvSpPr>
          <p:cNvPr id="699" name="T700"/>
          <p:cNvSpPr txBox="1"/>
          <p:nvPr/>
        </p:nvSpPr>
        <p:spPr>
          <a:xfrm>
            <a:off x="2560320" y="2130552"/>
            <a:ext cx="9052560" cy="53035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/api/loan-applications/{id}/documents</a:t>
            </a:r>
          </a:p>
        </p:txBody>
      </p:sp>
      <p:sp>
        <p:nvSpPr>
          <p:cNvPr id="701" name="T702"/>
          <p:cNvSpPr txBox="1"/>
          <p:nvPr/>
        </p:nvSpPr>
        <p:spPr>
          <a:xfrm>
            <a:off x="1325880" y="2743200"/>
            <a:ext cx="1033272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제출서류 패키지 업로드 · 유형별 version_no 증가</a:t>
            </a:r>
          </a:p>
        </p:txBody>
      </p:sp>
      <p:sp>
        <p:nvSpPr>
          <p:cNvPr id="703" name="T704"/>
          <p:cNvSpPr txBox="1"/>
          <p:nvPr/>
        </p:nvSpPr>
        <p:spPr>
          <a:xfrm>
            <a:off x="1325880" y="3118104"/>
            <a:ext cx="1033272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REQ-FUNC-003  ·  SCR-DOC-001  ·  submitted_documents</a:t>
            </a:r>
          </a:p>
        </p:txBody>
      </p:sp>
      <p:sp>
        <p:nvSpPr>
          <p:cNvPr id="705" name="T706"/>
          <p:cNvSpPr txBox="1"/>
          <p:nvPr/>
        </p:nvSpPr>
        <p:spPr>
          <a:xfrm>
            <a:off x="1325880" y="3410712"/>
            <a:ext cx="1033272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EA002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201 등록   400 필수값   415 지원하지 않는 형식   409 중복 유형</a:t>
            </a:r>
          </a:p>
        </p:txBody>
      </p:sp>
      <p:sp>
        <p:nvSpPr>
          <p:cNvPr id="707" name="S708"/>
          <p:cNvSpPr/>
          <p:nvPr/>
        </p:nvSpPr>
        <p:spPr>
          <a:xfrm>
            <a:off x="914400" y="3931920"/>
            <a:ext cx="11155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709" name="S710"/>
          <p:cNvSpPr/>
          <p:nvPr/>
        </p:nvSpPr>
        <p:spPr>
          <a:xfrm>
            <a:off x="1325880" y="4224528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2E7D5B"/>
          </a:solidFill>
        </p:spPr>
        <p:txBody>
          <a:bodyPr/>
          <a:lstStyle/>
          <a:p/>
        </p:txBody>
      </p:sp>
      <p:sp>
        <p:nvSpPr>
          <p:cNvPr id="711" name="T712"/>
          <p:cNvSpPr txBox="1"/>
          <p:nvPr/>
        </p:nvSpPr>
        <p:spPr>
          <a:xfrm>
            <a:off x="1325880" y="4224528"/>
            <a:ext cx="105156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GET</a:t>
            </a:r>
          </a:p>
        </p:txBody>
      </p:sp>
      <p:sp>
        <p:nvSpPr>
          <p:cNvPr id="713" name="T714"/>
          <p:cNvSpPr txBox="1"/>
          <p:nvPr/>
        </p:nvSpPr>
        <p:spPr>
          <a:xfrm>
            <a:off x="2560320" y="4187952"/>
            <a:ext cx="9052560" cy="53035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/api/loan-applications/{id}/validation</a:t>
            </a:r>
          </a:p>
        </p:txBody>
      </p:sp>
      <p:sp>
        <p:nvSpPr>
          <p:cNvPr id="715" name="T716"/>
          <p:cNvSpPr txBox="1"/>
          <p:nvPr/>
        </p:nvSpPr>
        <p:spPr>
          <a:xfrm>
            <a:off x="1325880" y="4800600"/>
            <a:ext cx="1033272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추출값 · 교차검증 결과 조회 (오류 위치 · 원인 · 해결 행동)</a:t>
            </a:r>
          </a:p>
        </p:txBody>
      </p:sp>
      <p:sp>
        <p:nvSpPr>
          <p:cNvPr id="717" name="T718"/>
          <p:cNvSpPr txBox="1"/>
          <p:nvPr/>
        </p:nvSpPr>
        <p:spPr>
          <a:xfrm>
            <a:off x="1325880" y="5175504"/>
            <a:ext cx="1033272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REQ-FUNC-005  ·  SCR-DOC-002  ·  extracted_fields, validation_issues</a:t>
            </a:r>
          </a:p>
        </p:txBody>
      </p:sp>
      <p:sp>
        <p:nvSpPr>
          <p:cNvPr id="719" name="T720"/>
          <p:cNvSpPr txBox="1"/>
          <p:nvPr/>
        </p:nvSpPr>
        <p:spPr>
          <a:xfrm>
            <a:off x="1325880" y="5468112"/>
            <a:ext cx="1033272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EA002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200 조회   403 타 기업 접근   404 없는 신청</a:t>
            </a:r>
          </a:p>
        </p:txBody>
      </p:sp>
      <p:sp>
        <p:nvSpPr>
          <p:cNvPr id="721" name="S722"/>
          <p:cNvSpPr/>
          <p:nvPr/>
        </p:nvSpPr>
        <p:spPr>
          <a:xfrm>
            <a:off x="914400" y="5989320"/>
            <a:ext cx="11155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723" name="S724"/>
          <p:cNvSpPr/>
          <p:nvPr/>
        </p:nvSpPr>
        <p:spPr>
          <a:xfrm>
            <a:off x="1325880" y="6281928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725" name="T726"/>
          <p:cNvSpPr txBox="1"/>
          <p:nvPr/>
        </p:nvSpPr>
        <p:spPr>
          <a:xfrm>
            <a:off x="1325880" y="6281928"/>
            <a:ext cx="105156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POST</a:t>
            </a:r>
          </a:p>
        </p:txBody>
      </p:sp>
      <p:sp>
        <p:nvSpPr>
          <p:cNvPr id="727" name="T728"/>
          <p:cNvSpPr txBox="1"/>
          <p:nvPr/>
        </p:nvSpPr>
        <p:spPr>
          <a:xfrm>
            <a:off x="2560320" y="6245352"/>
            <a:ext cx="9052560" cy="53035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/api/loan-applications/{id}/submit</a:t>
            </a:r>
          </a:p>
        </p:txBody>
      </p:sp>
      <p:sp>
        <p:nvSpPr>
          <p:cNvPr id="729" name="T730"/>
          <p:cNvSpPr txBox="1"/>
          <p:nvPr/>
        </p:nvSpPr>
        <p:spPr>
          <a:xfrm>
            <a:off x="1325880" y="6858000"/>
            <a:ext cx="1033272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최종 제출 · 차단 오류 잔존 시 거부하고 해당 버전을 잠금</a:t>
            </a:r>
          </a:p>
        </p:txBody>
      </p:sp>
      <p:sp>
        <p:nvSpPr>
          <p:cNvPr id="731" name="T732"/>
          <p:cNvSpPr txBox="1"/>
          <p:nvPr/>
        </p:nvSpPr>
        <p:spPr>
          <a:xfrm>
            <a:off x="1325880" y="7232904"/>
            <a:ext cx="1033272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REQ-FUNC-007  ·  SCR-DOC-002  ·  loan_applications</a:t>
            </a:r>
          </a:p>
        </p:txBody>
      </p:sp>
      <p:sp>
        <p:nvSpPr>
          <p:cNvPr id="733" name="T734"/>
          <p:cNvSpPr txBox="1"/>
          <p:nvPr/>
        </p:nvSpPr>
        <p:spPr>
          <a:xfrm>
            <a:off x="1325880" y="7525512"/>
            <a:ext cx="1033272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EA002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200 REVIEW_PENDING   422 차단 오류 잔존   409 중복 제출</a:t>
            </a:r>
          </a:p>
        </p:txBody>
      </p:sp>
      <p:sp>
        <p:nvSpPr>
          <p:cNvPr id="735" name="S736"/>
          <p:cNvSpPr/>
          <p:nvPr/>
        </p:nvSpPr>
        <p:spPr>
          <a:xfrm>
            <a:off x="12481560" y="1874520"/>
            <a:ext cx="4892040" cy="5943600"/>
          </a:xfrm>
          <a:prstGeom prst="roundRect">
            <a:avLst>
              <a:gd name="adj" fmla="val 2500"/>
            </a:avLst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737" name="T738"/>
          <p:cNvSpPr txBox="1"/>
          <p:nvPr/>
        </p:nvSpPr>
        <p:spPr>
          <a:xfrm>
            <a:off x="12938760" y="2240280"/>
            <a:ext cx="3977640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공통 예외 처리</a:t>
            </a:r>
          </a:p>
        </p:txBody>
      </p:sp>
      <p:sp>
        <p:nvSpPr>
          <p:cNvPr id="739" name="T740"/>
          <p:cNvSpPr txBox="1"/>
          <p:nvPr/>
        </p:nvSpPr>
        <p:spPr>
          <a:xfrm>
            <a:off x="12938760" y="292608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C9D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400</a:t>
            </a:r>
          </a:p>
        </p:txBody>
      </p:sp>
      <p:sp>
        <p:nvSpPr>
          <p:cNvPr id="741" name="T742"/>
          <p:cNvSpPr txBox="1"/>
          <p:nvPr/>
        </p:nvSpPr>
        <p:spPr>
          <a:xfrm>
            <a:off x="14173200" y="292608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D3D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필수값 누락 · 형식 오류</a:t>
            </a:r>
          </a:p>
        </p:txBody>
      </p:sp>
      <p:sp>
        <p:nvSpPr>
          <p:cNvPr id="743" name="T744"/>
          <p:cNvSpPr txBox="1"/>
          <p:nvPr/>
        </p:nvSpPr>
        <p:spPr>
          <a:xfrm>
            <a:off x="12938760" y="342900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C9D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401</a:t>
            </a:r>
          </a:p>
        </p:txBody>
      </p:sp>
      <p:sp>
        <p:nvSpPr>
          <p:cNvPr id="745" name="T746"/>
          <p:cNvSpPr txBox="1"/>
          <p:nvPr/>
        </p:nvSpPr>
        <p:spPr>
          <a:xfrm>
            <a:off x="14173200" y="342900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D3D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로그인 실패 · 세션 만료</a:t>
            </a:r>
          </a:p>
        </p:txBody>
      </p:sp>
      <p:sp>
        <p:nvSpPr>
          <p:cNvPr id="747" name="T748"/>
          <p:cNvSpPr txBox="1"/>
          <p:nvPr/>
        </p:nvSpPr>
        <p:spPr>
          <a:xfrm>
            <a:off x="12938760" y="393192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C9D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403</a:t>
            </a:r>
          </a:p>
        </p:txBody>
      </p:sp>
      <p:sp>
        <p:nvSpPr>
          <p:cNvPr id="749" name="T750"/>
          <p:cNvSpPr txBox="1"/>
          <p:nvPr/>
        </p:nvSpPr>
        <p:spPr>
          <a:xfrm>
            <a:off x="14173200" y="393192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D3D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타 기업 문서 · 역할 위반</a:t>
            </a:r>
          </a:p>
        </p:txBody>
      </p:sp>
      <p:sp>
        <p:nvSpPr>
          <p:cNvPr id="751" name="T752"/>
          <p:cNvSpPr txBox="1"/>
          <p:nvPr/>
        </p:nvSpPr>
        <p:spPr>
          <a:xfrm>
            <a:off x="12938760" y="443484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C9D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404</a:t>
            </a:r>
          </a:p>
        </p:txBody>
      </p:sp>
      <p:sp>
        <p:nvSpPr>
          <p:cNvPr id="753" name="T754"/>
          <p:cNvSpPr txBox="1"/>
          <p:nvPr/>
        </p:nvSpPr>
        <p:spPr>
          <a:xfrm>
            <a:off x="14173200" y="443484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D3D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없는 신청 · 문서</a:t>
            </a:r>
          </a:p>
        </p:txBody>
      </p:sp>
      <p:sp>
        <p:nvSpPr>
          <p:cNvPr id="755" name="T756"/>
          <p:cNvSpPr txBox="1"/>
          <p:nvPr/>
        </p:nvSpPr>
        <p:spPr>
          <a:xfrm>
            <a:off x="12938760" y="493776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409</a:t>
            </a:r>
          </a:p>
        </p:txBody>
      </p:sp>
      <p:sp>
        <p:nvSpPr>
          <p:cNvPr id="757" name="T758"/>
          <p:cNvSpPr txBox="1"/>
          <p:nvPr/>
        </p:nvSpPr>
        <p:spPr>
          <a:xfrm>
            <a:off x="14173200" y="493776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이미 처리된 건 재처리</a:t>
            </a:r>
          </a:p>
        </p:txBody>
      </p:sp>
      <p:sp>
        <p:nvSpPr>
          <p:cNvPr id="759" name="T760"/>
          <p:cNvSpPr txBox="1"/>
          <p:nvPr/>
        </p:nvSpPr>
        <p:spPr>
          <a:xfrm>
            <a:off x="12938760" y="544068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C9D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415</a:t>
            </a:r>
          </a:p>
        </p:txBody>
      </p:sp>
      <p:sp>
        <p:nvSpPr>
          <p:cNvPr id="761" name="T762"/>
          <p:cNvSpPr txBox="1"/>
          <p:nvPr/>
        </p:nvSpPr>
        <p:spPr>
          <a:xfrm>
            <a:off x="14173200" y="544068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D3D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JPG/PNG/PDF 외 파일</a:t>
            </a:r>
          </a:p>
        </p:txBody>
      </p:sp>
      <p:sp>
        <p:nvSpPr>
          <p:cNvPr id="763" name="T764"/>
          <p:cNvSpPr txBox="1"/>
          <p:nvPr/>
        </p:nvSpPr>
        <p:spPr>
          <a:xfrm>
            <a:off x="12938760" y="594360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422</a:t>
            </a:r>
          </a:p>
        </p:txBody>
      </p:sp>
      <p:sp>
        <p:nvSpPr>
          <p:cNvPr id="765" name="T766"/>
          <p:cNvSpPr txBox="1"/>
          <p:nvPr/>
        </p:nvSpPr>
        <p:spPr>
          <a:xfrm>
            <a:off x="14173200" y="594360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차단 오류 미해결</a:t>
            </a:r>
          </a:p>
        </p:txBody>
      </p:sp>
      <p:sp>
        <p:nvSpPr>
          <p:cNvPr id="767" name="T768"/>
          <p:cNvSpPr txBox="1"/>
          <p:nvPr/>
        </p:nvSpPr>
        <p:spPr>
          <a:xfrm>
            <a:off x="12938760" y="644652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C9D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500</a:t>
            </a:r>
          </a:p>
        </p:txBody>
      </p:sp>
      <p:sp>
        <p:nvSpPr>
          <p:cNvPr id="769" name="T770"/>
          <p:cNvSpPr txBox="1"/>
          <p:nvPr/>
        </p:nvSpPr>
        <p:spPr>
          <a:xfrm>
            <a:off x="14173200" y="644652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D3D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내부 처리 실패</a:t>
            </a:r>
          </a:p>
        </p:txBody>
      </p:sp>
      <p:sp>
        <p:nvSpPr>
          <p:cNvPr id="771" name="T772"/>
          <p:cNvSpPr txBox="1"/>
          <p:nvPr/>
        </p:nvSpPr>
        <p:spPr>
          <a:xfrm>
            <a:off x="12938760" y="694944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502/504</a:t>
            </a:r>
          </a:p>
        </p:txBody>
      </p:sp>
      <p:sp>
        <p:nvSpPr>
          <p:cNvPr id="773" name="T774"/>
          <p:cNvSpPr txBox="1"/>
          <p:nvPr/>
        </p:nvSpPr>
        <p:spPr>
          <a:xfrm>
            <a:off x="14173200" y="694944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외부 OCR 실패 · 타임아웃</a:t>
            </a:r>
          </a:p>
        </p:txBody>
      </p:sp>
      <p:sp>
        <p:nvSpPr>
          <p:cNvPr id="775" name="T776"/>
          <p:cNvSpPr txBox="1"/>
          <p:nvPr/>
        </p:nvSpPr>
        <p:spPr>
          <a:xfrm>
            <a:off x="914400" y="8275320"/>
            <a:ext cx="16459200" cy="11430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화면 디스크립션의 '호출 API' 에 있는 Path 만 정의했다 — 화면 없는 API 는 만들지 않는다.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sz="16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외부 OCR 호출은 우리가 제공하는 API 가 아니므로 명세에 넣지 않고, POST /api/documents/{id}/analysis 의 description 에 연동 대상과 502 · 504 로 표기한다.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화면 목록 · 예외 정책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419" name="S420"/>
          <p:cNvSpPr/>
          <p:nvPr/>
        </p:nvSpPr>
        <p:spPr>
          <a:xfrm>
            <a:off x="914400" y="1874520"/>
            <a:ext cx="3108960" cy="713232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21" name="T422"/>
          <p:cNvSpPr txBox="1"/>
          <p:nvPr/>
        </p:nvSpPr>
        <p:spPr>
          <a:xfrm>
            <a:off x="1115568" y="1874520"/>
            <a:ext cx="2706624" cy="71323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화면 ID</a:t>
            </a:r>
          </a:p>
        </p:txBody>
      </p:sp>
      <p:sp>
        <p:nvSpPr>
          <p:cNvPr id="423" name="S424"/>
          <p:cNvSpPr/>
          <p:nvPr/>
        </p:nvSpPr>
        <p:spPr>
          <a:xfrm>
            <a:off x="4023360" y="1874520"/>
            <a:ext cx="4937760" cy="713232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25" name="T426"/>
          <p:cNvSpPr txBox="1"/>
          <p:nvPr/>
        </p:nvSpPr>
        <p:spPr>
          <a:xfrm>
            <a:off x="4224528" y="1874520"/>
            <a:ext cx="4535424" cy="71323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화면명</a:t>
            </a:r>
          </a:p>
        </p:txBody>
      </p:sp>
      <p:sp>
        <p:nvSpPr>
          <p:cNvPr id="427" name="S428"/>
          <p:cNvSpPr/>
          <p:nvPr/>
        </p:nvSpPr>
        <p:spPr>
          <a:xfrm>
            <a:off x="8961120" y="1874520"/>
            <a:ext cx="1828800" cy="713232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29" name="T430"/>
          <p:cNvSpPr txBox="1"/>
          <p:nvPr/>
        </p:nvSpPr>
        <p:spPr>
          <a:xfrm>
            <a:off x="9162288" y="1874520"/>
            <a:ext cx="1426464" cy="71323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사용자</a:t>
            </a:r>
          </a:p>
        </p:txBody>
      </p:sp>
      <p:sp>
        <p:nvSpPr>
          <p:cNvPr id="431" name="S432"/>
          <p:cNvSpPr/>
          <p:nvPr/>
        </p:nvSpPr>
        <p:spPr>
          <a:xfrm>
            <a:off x="10789920" y="1874520"/>
            <a:ext cx="6583680" cy="713232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33" name="T434"/>
          <p:cNvSpPr txBox="1"/>
          <p:nvPr/>
        </p:nvSpPr>
        <p:spPr>
          <a:xfrm>
            <a:off x="10991088" y="1874520"/>
            <a:ext cx="6181344" cy="71323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관련 요구사항 ID</a:t>
            </a:r>
          </a:p>
        </p:txBody>
      </p:sp>
      <p:sp>
        <p:nvSpPr>
          <p:cNvPr id="435" name="S436"/>
          <p:cNvSpPr/>
          <p:nvPr/>
        </p:nvSpPr>
        <p:spPr>
          <a:xfrm>
            <a:off x="914400" y="2587752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37" name="T438"/>
          <p:cNvSpPr txBox="1"/>
          <p:nvPr/>
        </p:nvSpPr>
        <p:spPr>
          <a:xfrm>
            <a:off x="1115568" y="2587752"/>
            <a:ext cx="27066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SCR-AUTH-001</a:t>
            </a:r>
          </a:p>
        </p:txBody>
      </p:sp>
      <p:sp>
        <p:nvSpPr>
          <p:cNvPr id="439" name="S440"/>
          <p:cNvSpPr/>
          <p:nvPr/>
        </p:nvSpPr>
        <p:spPr>
          <a:xfrm>
            <a:off x="4023360" y="2587752"/>
            <a:ext cx="4937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41" name="T442"/>
          <p:cNvSpPr txBox="1"/>
          <p:nvPr/>
        </p:nvSpPr>
        <p:spPr>
          <a:xfrm>
            <a:off x="4224528" y="2587752"/>
            <a:ext cx="45354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공통 로그인</a:t>
            </a:r>
          </a:p>
        </p:txBody>
      </p:sp>
      <p:sp>
        <p:nvSpPr>
          <p:cNvPr id="443" name="S444"/>
          <p:cNvSpPr/>
          <p:nvPr/>
        </p:nvSpPr>
        <p:spPr>
          <a:xfrm>
            <a:off x="8961120" y="2587752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45" name="T446"/>
          <p:cNvSpPr txBox="1"/>
          <p:nvPr/>
        </p:nvSpPr>
        <p:spPr>
          <a:xfrm>
            <a:off x="9162288" y="2587752"/>
            <a:ext cx="142646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공통</a:t>
            </a:r>
          </a:p>
        </p:txBody>
      </p:sp>
      <p:sp>
        <p:nvSpPr>
          <p:cNvPr id="447" name="S448"/>
          <p:cNvSpPr/>
          <p:nvPr/>
        </p:nvSpPr>
        <p:spPr>
          <a:xfrm>
            <a:off x="10789920" y="2587752"/>
            <a:ext cx="6583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49" name="T450"/>
          <p:cNvSpPr txBox="1"/>
          <p:nvPr/>
        </p:nvSpPr>
        <p:spPr>
          <a:xfrm>
            <a:off x="10991088" y="2587752"/>
            <a:ext cx="618134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REQ-FUNC-001</a:t>
            </a:r>
          </a:p>
        </p:txBody>
      </p:sp>
      <p:sp>
        <p:nvSpPr>
          <p:cNvPr id="451" name="S452"/>
          <p:cNvSpPr/>
          <p:nvPr/>
        </p:nvSpPr>
        <p:spPr>
          <a:xfrm>
            <a:off x="914400" y="3374136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53" name="T454"/>
          <p:cNvSpPr txBox="1"/>
          <p:nvPr/>
        </p:nvSpPr>
        <p:spPr>
          <a:xfrm>
            <a:off x="1115568" y="3374136"/>
            <a:ext cx="27066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SCR-CUST-001</a:t>
            </a:r>
          </a:p>
        </p:txBody>
      </p:sp>
      <p:sp>
        <p:nvSpPr>
          <p:cNvPr id="455" name="S456"/>
          <p:cNvSpPr/>
          <p:nvPr/>
        </p:nvSpPr>
        <p:spPr>
          <a:xfrm>
            <a:off x="4023360" y="3374136"/>
            <a:ext cx="4937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57" name="T458"/>
          <p:cNvSpPr txBox="1"/>
          <p:nvPr/>
        </p:nvSpPr>
        <p:spPr>
          <a:xfrm>
            <a:off x="4224528" y="3374136"/>
            <a:ext cx="45354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기업대출 서류 제출 현황</a:t>
            </a:r>
          </a:p>
        </p:txBody>
      </p:sp>
      <p:sp>
        <p:nvSpPr>
          <p:cNvPr id="459" name="S460"/>
          <p:cNvSpPr/>
          <p:nvPr/>
        </p:nvSpPr>
        <p:spPr>
          <a:xfrm>
            <a:off x="8961120" y="3374136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61" name="T462"/>
          <p:cNvSpPr txBox="1"/>
          <p:nvPr/>
        </p:nvSpPr>
        <p:spPr>
          <a:xfrm>
            <a:off x="9162288" y="3374136"/>
            <a:ext cx="142646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</a:t>
            </a:r>
          </a:p>
        </p:txBody>
      </p:sp>
      <p:sp>
        <p:nvSpPr>
          <p:cNvPr id="463" name="S464"/>
          <p:cNvSpPr/>
          <p:nvPr/>
        </p:nvSpPr>
        <p:spPr>
          <a:xfrm>
            <a:off x="10789920" y="3374136"/>
            <a:ext cx="6583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65" name="T466"/>
          <p:cNvSpPr txBox="1"/>
          <p:nvPr/>
        </p:nvSpPr>
        <p:spPr>
          <a:xfrm>
            <a:off x="10991088" y="3374136"/>
            <a:ext cx="618134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REQ-FUNC-002, 007, 011</a:t>
            </a:r>
          </a:p>
        </p:txBody>
      </p:sp>
      <p:sp>
        <p:nvSpPr>
          <p:cNvPr id="467" name="S468"/>
          <p:cNvSpPr/>
          <p:nvPr/>
        </p:nvSpPr>
        <p:spPr>
          <a:xfrm>
            <a:off x="914400" y="4160520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69" name="T470"/>
          <p:cNvSpPr txBox="1"/>
          <p:nvPr/>
        </p:nvSpPr>
        <p:spPr>
          <a:xfrm>
            <a:off x="1115568" y="4160520"/>
            <a:ext cx="27066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SCR-DOC-001</a:t>
            </a:r>
          </a:p>
        </p:txBody>
      </p:sp>
      <p:sp>
        <p:nvSpPr>
          <p:cNvPr id="471" name="S472"/>
          <p:cNvSpPr/>
          <p:nvPr/>
        </p:nvSpPr>
        <p:spPr>
          <a:xfrm>
            <a:off x="4023360" y="4160520"/>
            <a:ext cx="4937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73" name="T474"/>
          <p:cNvSpPr txBox="1"/>
          <p:nvPr/>
        </p:nvSpPr>
        <p:spPr>
          <a:xfrm>
            <a:off x="4224528" y="4160520"/>
            <a:ext cx="45354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제출서류 패키지 업로드</a:t>
            </a:r>
          </a:p>
        </p:txBody>
      </p:sp>
      <p:sp>
        <p:nvSpPr>
          <p:cNvPr id="475" name="S476"/>
          <p:cNvSpPr/>
          <p:nvPr/>
        </p:nvSpPr>
        <p:spPr>
          <a:xfrm>
            <a:off x="8961120" y="4160520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77" name="T478"/>
          <p:cNvSpPr txBox="1"/>
          <p:nvPr/>
        </p:nvSpPr>
        <p:spPr>
          <a:xfrm>
            <a:off x="9162288" y="4160520"/>
            <a:ext cx="142646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</a:t>
            </a:r>
          </a:p>
        </p:txBody>
      </p:sp>
      <p:sp>
        <p:nvSpPr>
          <p:cNvPr id="479" name="S480"/>
          <p:cNvSpPr/>
          <p:nvPr/>
        </p:nvSpPr>
        <p:spPr>
          <a:xfrm>
            <a:off x="10789920" y="4160520"/>
            <a:ext cx="6583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81" name="T482"/>
          <p:cNvSpPr txBox="1"/>
          <p:nvPr/>
        </p:nvSpPr>
        <p:spPr>
          <a:xfrm>
            <a:off x="10991088" y="4160520"/>
            <a:ext cx="618134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REQ-FUNC-003, 004, 011</a:t>
            </a:r>
          </a:p>
        </p:txBody>
      </p:sp>
      <p:sp>
        <p:nvSpPr>
          <p:cNvPr id="483" name="S484"/>
          <p:cNvSpPr/>
          <p:nvPr/>
        </p:nvSpPr>
        <p:spPr>
          <a:xfrm>
            <a:off x="914400" y="4946904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85" name="T486"/>
          <p:cNvSpPr txBox="1"/>
          <p:nvPr/>
        </p:nvSpPr>
        <p:spPr>
          <a:xfrm>
            <a:off x="1115568" y="4946904"/>
            <a:ext cx="27066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SCR-DOC-002</a:t>
            </a:r>
          </a:p>
        </p:txBody>
      </p:sp>
      <p:sp>
        <p:nvSpPr>
          <p:cNvPr id="487" name="S488"/>
          <p:cNvSpPr/>
          <p:nvPr/>
        </p:nvSpPr>
        <p:spPr>
          <a:xfrm>
            <a:off x="4023360" y="4946904"/>
            <a:ext cx="4937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89" name="T490"/>
          <p:cNvSpPr txBox="1"/>
          <p:nvPr/>
        </p:nvSpPr>
        <p:spPr>
          <a:xfrm>
            <a:off x="4224528" y="4946904"/>
            <a:ext cx="45354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OCR 추출 · 교차검증 결과</a:t>
            </a:r>
          </a:p>
        </p:txBody>
      </p:sp>
      <p:sp>
        <p:nvSpPr>
          <p:cNvPr id="491" name="S492"/>
          <p:cNvSpPr/>
          <p:nvPr/>
        </p:nvSpPr>
        <p:spPr>
          <a:xfrm>
            <a:off x="8961120" y="4946904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93" name="T494"/>
          <p:cNvSpPr txBox="1"/>
          <p:nvPr/>
        </p:nvSpPr>
        <p:spPr>
          <a:xfrm>
            <a:off x="9162288" y="4946904"/>
            <a:ext cx="142646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</a:t>
            </a:r>
          </a:p>
        </p:txBody>
      </p:sp>
      <p:sp>
        <p:nvSpPr>
          <p:cNvPr id="495" name="S496"/>
          <p:cNvSpPr/>
          <p:nvPr/>
        </p:nvSpPr>
        <p:spPr>
          <a:xfrm>
            <a:off x="10789920" y="4946904"/>
            <a:ext cx="6583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97" name="T498"/>
          <p:cNvSpPr txBox="1"/>
          <p:nvPr/>
        </p:nvSpPr>
        <p:spPr>
          <a:xfrm>
            <a:off x="10991088" y="4946904"/>
            <a:ext cx="618134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REQ-FUNC-005, 006, 007</a:t>
            </a:r>
          </a:p>
        </p:txBody>
      </p:sp>
      <p:sp>
        <p:nvSpPr>
          <p:cNvPr id="499" name="S500"/>
          <p:cNvSpPr/>
          <p:nvPr/>
        </p:nvSpPr>
        <p:spPr>
          <a:xfrm>
            <a:off x="914400" y="5733288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01" name="T502"/>
          <p:cNvSpPr txBox="1"/>
          <p:nvPr/>
        </p:nvSpPr>
        <p:spPr>
          <a:xfrm>
            <a:off x="1115568" y="5733288"/>
            <a:ext cx="27066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SCR-REV-001</a:t>
            </a:r>
          </a:p>
        </p:txBody>
      </p:sp>
      <p:sp>
        <p:nvSpPr>
          <p:cNvPr id="503" name="S504"/>
          <p:cNvSpPr/>
          <p:nvPr/>
        </p:nvSpPr>
        <p:spPr>
          <a:xfrm>
            <a:off x="4023360" y="5733288"/>
            <a:ext cx="4937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05" name="T506"/>
          <p:cNvSpPr txBox="1"/>
          <p:nvPr/>
        </p:nvSpPr>
        <p:spPr>
          <a:xfrm>
            <a:off x="4224528" y="5733288"/>
            <a:ext cx="45354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 담당자 검토 목록</a:t>
            </a:r>
          </a:p>
        </p:txBody>
      </p:sp>
      <p:sp>
        <p:nvSpPr>
          <p:cNvPr id="507" name="S508"/>
          <p:cNvSpPr/>
          <p:nvPr/>
        </p:nvSpPr>
        <p:spPr>
          <a:xfrm>
            <a:off x="8961120" y="5733288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09" name="T510"/>
          <p:cNvSpPr txBox="1"/>
          <p:nvPr/>
        </p:nvSpPr>
        <p:spPr>
          <a:xfrm>
            <a:off x="9162288" y="5733288"/>
            <a:ext cx="142646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</a:t>
            </a:r>
          </a:p>
        </p:txBody>
      </p:sp>
      <p:sp>
        <p:nvSpPr>
          <p:cNvPr id="511" name="S512"/>
          <p:cNvSpPr/>
          <p:nvPr/>
        </p:nvSpPr>
        <p:spPr>
          <a:xfrm>
            <a:off x="10789920" y="5733288"/>
            <a:ext cx="6583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13" name="T514"/>
          <p:cNvSpPr txBox="1"/>
          <p:nvPr/>
        </p:nvSpPr>
        <p:spPr>
          <a:xfrm>
            <a:off x="10991088" y="5733288"/>
            <a:ext cx="618134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REQ-FUNC-008</a:t>
            </a:r>
          </a:p>
        </p:txBody>
      </p:sp>
      <p:sp>
        <p:nvSpPr>
          <p:cNvPr id="515" name="S516"/>
          <p:cNvSpPr/>
          <p:nvPr/>
        </p:nvSpPr>
        <p:spPr>
          <a:xfrm>
            <a:off x="914400" y="6519672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17" name="T518"/>
          <p:cNvSpPr txBox="1"/>
          <p:nvPr/>
        </p:nvSpPr>
        <p:spPr>
          <a:xfrm>
            <a:off x="1115568" y="6519672"/>
            <a:ext cx="27066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SCR-REV-002</a:t>
            </a:r>
          </a:p>
        </p:txBody>
      </p:sp>
      <p:sp>
        <p:nvSpPr>
          <p:cNvPr id="519" name="S520"/>
          <p:cNvSpPr/>
          <p:nvPr/>
        </p:nvSpPr>
        <p:spPr>
          <a:xfrm>
            <a:off x="4023360" y="6519672"/>
            <a:ext cx="4937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21" name="T522"/>
          <p:cNvSpPr txBox="1"/>
          <p:nvPr/>
        </p:nvSpPr>
        <p:spPr>
          <a:xfrm>
            <a:off x="4224528" y="6519672"/>
            <a:ext cx="45354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 담당자 상세 검토</a:t>
            </a:r>
          </a:p>
        </p:txBody>
      </p:sp>
      <p:sp>
        <p:nvSpPr>
          <p:cNvPr id="523" name="S524"/>
          <p:cNvSpPr/>
          <p:nvPr/>
        </p:nvSpPr>
        <p:spPr>
          <a:xfrm>
            <a:off x="8961120" y="6519672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25" name="T526"/>
          <p:cNvSpPr txBox="1"/>
          <p:nvPr/>
        </p:nvSpPr>
        <p:spPr>
          <a:xfrm>
            <a:off x="9162288" y="6519672"/>
            <a:ext cx="142646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</a:t>
            </a:r>
          </a:p>
        </p:txBody>
      </p:sp>
      <p:sp>
        <p:nvSpPr>
          <p:cNvPr id="527" name="S528"/>
          <p:cNvSpPr/>
          <p:nvPr/>
        </p:nvSpPr>
        <p:spPr>
          <a:xfrm>
            <a:off x="10789920" y="6519672"/>
            <a:ext cx="6583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29" name="T530"/>
          <p:cNvSpPr txBox="1"/>
          <p:nvPr/>
        </p:nvSpPr>
        <p:spPr>
          <a:xfrm>
            <a:off x="10991088" y="6519672"/>
            <a:ext cx="618134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REQ-FUNC-009, 010, 011</a:t>
            </a:r>
          </a:p>
        </p:txBody>
      </p:sp>
      <p:sp>
        <p:nvSpPr>
          <p:cNvPr id="531" name="S532"/>
          <p:cNvSpPr/>
          <p:nvPr/>
        </p:nvSpPr>
        <p:spPr>
          <a:xfrm>
            <a:off x="914400" y="7744968"/>
            <a:ext cx="100584" cy="31089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533" name="T534"/>
          <p:cNvSpPr txBox="1"/>
          <p:nvPr/>
        </p:nvSpPr>
        <p:spPr>
          <a:xfrm>
            <a:off x="1170432" y="7690104"/>
            <a:ext cx="1097280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화면 공통 예외 처리</a:t>
            </a:r>
          </a:p>
        </p:txBody>
      </p:sp>
      <p:sp>
        <p:nvSpPr>
          <p:cNvPr id="535" name="S536"/>
          <p:cNvSpPr/>
          <p:nvPr/>
        </p:nvSpPr>
        <p:spPr>
          <a:xfrm>
            <a:off x="914400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37" name="T538"/>
          <p:cNvSpPr txBox="1"/>
          <p:nvPr/>
        </p:nvSpPr>
        <p:spPr>
          <a:xfrm>
            <a:off x="1005840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400</a:t>
            </a:r>
          </a:p>
        </p:txBody>
      </p:sp>
      <p:sp>
        <p:nvSpPr>
          <p:cNvPr id="539" name="T540"/>
          <p:cNvSpPr txBox="1"/>
          <p:nvPr/>
        </p:nvSpPr>
        <p:spPr>
          <a:xfrm>
            <a:off x="1005840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필수값 · 형식 오류</a:t>
            </a:r>
          </a:p>
        </p:txBody>
      </p:sp>
      <p:sp>
        <p:nvSpPr>
          <p:cNvPr id="541" name="S542"/>
          <p:cNvSpPr/>
          <p:nvPr/>
        </p:nvSpPr>
        <p:spPr>
          <a:xfrm>
            <a:off x="2752344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43" name="T544"/>
          <p:cNvSpPr txBox="1"/>
          <p:nvPr/>
        </p:nvSpPr>
        <p:spPr>
          <a:xfrm>
            <a:off x="2843784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401</a:t>
            </a:r>
          </a:p>
        </p:txBody>
      </p:sp>
      <p:sp>
        <p:nvSpPr>
          <p:cNvPr id="545" name="T546"/>
          <p:cNvSpPr txBox="1"/>
          <p:nvPr/>
        </p:nvSpPr>
        <p:spPr>
          <a:xfrm>
            <a:off x="2843784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로그인 실패 · 세션 만료</a:t>
            </a:r>
          </a:p>
        </p:txBody>
      </p:sp>
      <p:sp>
        <p:nvSpPr>
          <p:cNvPr id="547" name="S548"/>
          <p:cNvSpPr/>
          <p:nvPr/>
        </p:nvSpPr>
        <p:spPr>
          <a:xfrm>
            <a:off x="4590288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49" name="T550"/>
          <p:cNvSpPr txBox="1"/>
          <p:nvPr/>
        </p:nvSpPr>
        <p:spPr>
          <a:xfrm>
            <a:off x="4681728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403</a:t>
            </a:r>
          </a:p>
        </p:txBody>
      </p:sp>
      <p:sp>
        <p:nvSpPr>
          <p:cNvPr id="551" name="T552"/>
          <p:cNvSpPr txBox="1"/>
          <p:nvPr/>
        </p:nvSpPr>
        <p:spPr>
          <a:xfrm>
            <a:off x="4681728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타 기업 문서 · 역할 위반</a:t>
            </a:r>
          </a:p>
        </p:txBody>
      </p:sp>
      <p:sp>
        <p:nvSpPr>
          <p:cNvPr id="553" name="S554"/>
          <p:cNvSpPr/>
          <p:nvPr/>
        </p:nvSpPr>
        <p:spPr>
          <a:xfrm>
            <a:off x="6428232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55" name="T556"/>
          <p:cNvSpPr txBox="1"/>
          <p:nvPr/>
        </p:nvSpPr>
        <p:spPr>
          <a:xfrm>
            <a:off x="6519672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404</a:t>
            </a:r>
          </a:p>
        </p:txBody>
      </p:sp>
      <p:sp>
        <p:nvSpPr>
          <p:cNvPr id="557" name="T558"/>
          <p:cNvSpPr txBox="1"/>
          <p:nvPr/>
        </p:nvSpPr>
        <p:spPr>
          <a:xfrm>
            <a:off x="6519672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없는 신청 · 문서</a:t>
            </a:r>
          </a:p>
        </p:txBody>
      </p:sp>
      <p:sp>
        <p:nvSpPr>
          <p:cNvPr id="559" name="S560"/>
          <p:cNvSpPr/>
          <p:nvPr/>
        </p:nvSpPr>
        <p:spPr>
          <a:xfrm>
            <a:off x="8266176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561" name="T562"/>
          <p:cNvSpPr txBox="1"/>
          <p:nvPr/>
        </p:nvSpPr>
        <p:spPr>
          <a:xfrm>
            <a:off x="8357616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EA002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409</a:t>
            </a:r>
          </a:p>
        </p:txBody>
      </p:sp>
      <p:sp>
        <p:nvSpPr>
          <p:cNvPr id="563" name="T564"/>
          <p:cNvSpPr txBox="1"/>
          <p:nvPr/>
        </p:nvSpPr>
        <p:spPr>
          <a:xfrm>
            <a:off x="8357616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이미 처리된 건 재처리</a:t>
            </a:r>
          </a:p>
        </p:txBody>
      </p:sp>
      <p:sp>
        <p:nvSpPr>
          <p:cNvPr id="565" name="S566"/>
          <p:cNvSpPr/>
          <p:nvPr/>
        </p:nvSpPr>
        <p:spPr>
          <a:xfrm>
            <a:off x="10104120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67" name="T568"/>
          <p:cNvSpPr txBox="1"/>
          <p:nvPr/>
        </p:nvSpPr>
        <p:spPr>
          <a:xfrm>
            <a:off x="10195560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415</a:t>
            </a:r>
          </a:p>
        </p:txBody>
      </p:sp>
      <p:sp>
        <p:nvSpPr>
          <p:cNvPr id="569" name="T570"/>
          <p:cNvSpPr txBox="1"/>
          <p:nvPr/>
        </p:nvSpPr>
        <p:spPr>
          <a:xfrm>
            <a:off x="10195560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JPG/PNG/PDF 외 파일</a:t>
            </a:r>
          </a:p>
        </p:txBody>
      </p:sp>
      <p:sp>
        <p:nvSpPr>
          <p:cNvPr id="571" name="S572"/>
          <p:cNvSpPr/>
          <p:nvPr/>
        </p:nvSpPr>
        <p:spPr>
          <a:xfrm>
            <a:off x="11942064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573" name="T574"/>
          <p:cNvSpPr txBox="1"/>
          <p:nvPr/>
        </p:nvSpPr>
        <p:spPr>
          <a:xfrm>
            <a:off x="12033504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EA002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422</a:t>
            </a:r>
          </a:p>
        </p:txBody>
      </p:sp>
      <p:sp>
        <p:nvSpPr>
          <p:cNvPr id="575" name="T576"/>
          <p:cNvSpPr txBox="1"/>
          <p:nvPr/>
        </p:nvSpPr>
        <p:spPr>
          <a:xfrm>
            <a:off x="12033504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차단 오류 미해결</a:t>
            </a:r>
          </a:p>
        </p:txBody>
      </p:sp>
      <p:sp>
        <p:nvSpPr>
          <p:cNvPr id="577" name="S578"/>
          <p:cNvSpPr/>
          <p:nvPr/>
        </p:nvSpPr>
        <p:spPr>
          <a:xfrm>
            <a:off x="13780008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79" name="T580"/>
          <p:cNvSpPr txBox="1"/>
          <p:nvPr/>
        </p:nvSpPr>
        <p:spPr>
          <a:xfrm>
            <a:off x="13871448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500</a:t>
            </a:r>
          </a:p>
        </p:txBody>
      </p:sp>
      <p:sp>
        <p:nvSpPr>
          <p:cNvPr id="581" name="T582"/>
          <p:cNvSpPr txBox="1"/>
          <p:nvPr/>
        </p:nvSpPr>
        <p:spPr>
          <a:xfrm>
            <a:off x="13871448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내부 처리 실패</a:t>
            </a:r>
          </a:p>
        </p:txBody>
      </p:sp>
      <p:sp>
        <p:nvSpPr>
          <p:cNvPr id="583" name="S584"/>
          <p:cNvSpPr/>
          <p:nvPr/>
        </p:nvSpPr>
        <p:spPr>
          <a:xfrm>
            <a:off x="15617952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585" name="T586"/>
          <p:cNvSpPr txBox="1"/>
          <p:nvPr/>
        </p:nvSpPr>
        <p:spPr>
          <a:xfrm>
            <a:off x="15709392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EA002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502/504</a:t>
            </a:r>
          </a:p>
        </p:txBody>
      </p:sp>
      <p:sp>
        <p:nvSpPr>
          <p:cNvPr id="587" name="T588"/>
          <p:cNvSpPr txBox="1"/>
          <p:nvPr/>
        </p:nvSpPr>
        <p:spPr>
          <a:xfrm>
            <a:off x="15709392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외부 OCR 실패 · 타임아웃</a:t>
            </a:r>
          </a:p>
        </p:txBody>
      </p:sp>
      <p:sp>
        <p:nvSpPr>
          <p:cNvPr id="589" name="S590"/>
          <p:cNvSpPr/>
          <p:nvPr/>
        </p:nvSpPr>
        <p:spPr>
          <a:xfrm>
            <a:off x="914400" y="9454896"/>
            <a:ext cx="16459200" cy="777240"/>
          </a:xfrm>
          <a:prstGeom prst="roundRect">
            <a:avLst>
              <a:gd name="adj" fmla="val 6000"/>
            </a:avLst>
          </a:prstGeom>
          <a:solidFill>
            <a:srgbClr val="F3F0EA"/>
          </a:solidFill>
          <a:ln w="15875">
            <a:solidFill>
              <a:srgbClr val="E5E0D6"/>
            </a:solidFill>
            <a:prstDash val="dash"/>
          </a:ln>
        </p:spPr>
        <p:txBody>
          <a:bodyPr/>
          <a:lstStyle/>
          <a:p/>
        </p:txBody>
      </p:sp>
      <p:sp>
        <p:nvSpPr>
          <p:cNvPr id="591" name="T592"/>
          <p:cNvSpPr txBox="1"/>
          <p:nvPr/>
        </p:nvSpPr>
        <p:spPr>
          <a:xfrm>
            <a:off x="914400" y="9454896"/>
            <a:ext cx="16459200" cy="77724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화면별 와이어프레임 · 디스크립션 · 예외 처리는 화면설계서(SCR 6장)에 수록 — 발표 시 대표 화면 2~3장을 이 뒤에 캡처로 삽입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Macintosh PowerPoint</Application>
  <PresentationFormat>사용자 지정</PresentationFormat>
  <Paragraphs>34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Montserrat Bold</vt:lpstr>
      <vt:lpstr>Arial</vt:lpstr>
      <vt:lpstr>윤고딕 Medium</vt:lpstr>
      <vt:lpstr>Calibri</vt:lpstr>
      <vt:lpstr>윤고딕</vt:lpstr>
      <vt:lpstr>Montserrat Semi-Bold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#F47725</dc:title>
  <cp:lastModifiedBy>홍은비</cp:lastModifiedBy>
  <cp:revision>2</cp:revision>
  <dcterms:created xsi:type="dcterms:W3CDTF">2006-08-16T00:00:00Z</dcterms:created>
  <dcterms:modified xsi:type="dcterms:W3CDTF">2026-09-08T05:00:06Z</dcterms:modified>
  <dc:identifier>DAHUkV5Z42o</dc:identifier>
</cp:coreProperties>
</file>