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68" r:id="rId9"/>
    <p:sldId id="269" r:id="rId10"/>
    <p:sldId id="271" r:id="rId11"/>
    <p:sldId id="273" r:id="rId12"/>
    <p:sldId id="276" r:id="rId13"/>
    <p:sldId id="275" r:id="rId14"/>
  </p:sldIdLst>
  <p:sldSz cx="18288000" cy="10287000"/>
  <p:notesSz cx="6858000" cy="9144000"/>
  <p:embeddedFontLst>
    <p:embeddedFont>
      <p:font typeface="Pretendard" panose="02000503000000020004" pitchFamily="2" charset="-127"/>
      <p:regular r:id="rId16"/>
      <p:bold r:id="rId17"/>
    </p:embeddedFont>
    <p:embeddedFont>
      <p:font typeface="Pretendard Medium" panose="02000503000000020004" pitchFamily="2" charset="-127"/>
      <p:regular r:id="rId18"/>
    </p:embeddedFont>
    <p:embeddedFont>
      <p:font typeface="Pretendard SemiBold" panose="02000503000000020004" pitchFamily="2" charset="-127"/>
      <p:regular r:id="rId19"/>
      <p:bold r:id="rId20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7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5"/>
    <p:restoredTop sz="84091"/>
  </p:normalViewPr>
  <p:slideViewPr>
    <p:cSldViewPr snapToGrid="0">
      <p:cViewPr>
        <p:scale>
          <a:sx n="102" d="100"/>
          <a:sy n="102" d="100"/>
        </p:scale>
        <p:origin x="1064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안녕하세요. 판교5반 홍은비입니다. 지금부터 기업대출 서류를 은행에 제출하기 전에 누락과 불일치를 확인하는 B2B 웹 서비스 DocuFit을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다음과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은행권은 생성형 AI를 활용해 여신심사와 심사의견 작성 과정을 자동화하고 있습니다. </a:t>
            </a:r>
            <a:endParaRPr lang="en-US" altLang="ko-KR" dirty="0"/>
          </a:p>
          <a:p>
            <a:r>
              <a:rPr lang="ko-KR" altLang="en-US" dirty="0"/>
              <a:t>하지만 제가 확인한 공개 사례는 대부분 서류가 정상적으로 접수된 이후의 은행 내부 업무를 지원하는 데 초점이 맞춰져 있었습니다. </a:t>
            </a:r>
            <a:endParaRPr lang="en-US" altLang="ko-KR" dirty="0"/>
          </a:p>
          <a:p>
            <a:r>
              <a:rPr lang="ko-KR" altLang="en-US" dirty="0"/>
              <a:t>반면 기업 담당자가 접수 전에 하는 서류 점검은 여전히 수작업이라는 점에 주목했습니다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이해관계자별로 Pain Point를 세 가지로 정리해보았습니다.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첫째, 기업 담당자는 접수 전에 필수서류가 모두 준비됐는지, 유효기간이 지나지 않았는지 확인하기 어렵습니다. </a:t>
            </a:r>
            <a:endParaRPr lang="en-US" altLang="ko-KR" dirty="0"/>
          </a:p>
          <a:p>
            <a:r>
              <a:rPr lang="ko-KR" altLang="en-US" dirty="0"/>
              <a:t>둘째, 은행 담당자는 여러 문서의 기업명과 사업자등록번호를 반복해서 대조해야 합니다. </a:t>
            </a:r>
            <a:endParaRPr lang="en-US" altLang="ko-KR" dirty="0"/>
          </a:p>
          <a:p>
            <a:r>
              <a:rPr lang="ko-KR" altLang="en-US" dirty="0"/>
              <a:t>셋째, 보완과 재제출이 반복되면 최신 문서와 이전 문서를 구분하기 어렵습니다.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이러한 </a:t>
            </a:r>
            <a:r>
              <a:rPr lang="en-US" altLang="ko-KR" dirty="0"/>
              <a:t>Pain Point</a:t>
            </a:r>
            <a:r>
              <a:rPr lang="ko-KR" altLang="en-US" dirty="0" err="1"/>
              <a:t>를</a:t>
            </a:r>
            <a:r>
              <a:rPr lang="ko-KR" altLang="en-US" dirty="0"/>
              <a:t> 해결하기 위해 구상한 </a:t>
            </a:r>
            <a:r>
              <a:rPr lang="en-US" altLang="ko-KR" dirty="0"/>
              <a:t>3</a:t>
            </a:r>
            <a:r>
              <a:rPr lang="ko-KR" altLang="en-US" dirty="0"/>
              <a:t>가지 방안은 이어서 보여드리겠습니다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서비스의 액터는 기업 고객 담당자와 은행 기업금융 담당자 두 명 이며</a:t>
            </a:r>
            <a:br>
              <a:rPr lang="en-US" altLang="ko-KR" dirty="0"/>
            </a:br>
            <a:r>
              <a:rPr lang="ko-KR" altLang="en-US" dirty="0"/>
              <a:t> 핵심 흐름은 계정 활성화부터 서류 업로드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OCR </a:t>
            </a:r>
            <a:r>
              <a:rPr lang="ko-KR" altLang="en-US" dirty="0"/>
              <a:t>자동검증</a:t>
            </a:r>
            <a:r>
              <a:rPr lang="en-US" altLang="ko-KR" dirty="0"/>
              <a:t>,</a:t>
            </a:r>
            <a:r>
              <a:rPr lang="ko-KR" altLang="en-US" dirty="0"/>
              <a:t> 보완을 거쳐 은행 확인까지 이어지는 프로세스로 설계했습니다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흐름은 기업 담당자의 업로드</a:t>
            </a:r>
            <a:r>
              <a:rPr lang="en-US" altLang="ko-KR" dirty="0"/>
              <a:t>,</a:t>
            </a:r>
            <a:r>
              <a:rPr lang="ko-KR" altLang="en-US" dirty="0"/>
              <a:t> 검증</a:t>
            </a:r>
            <a:r>
              <a:rPr lang="en-US" altLang="ko-KR" dirty="0"/>
              <a:t>,</a:t>
            </a:r>
            <a:r>
              <a:rPr lang="ko-KR" altLang="en-US" dirty="0"/>
              <a:t> 제출과, 은행 담당자의 검토</a:t>
            </a:r>
            <a:r>
              <a:rPr lang="en-US" altLang="ko-KR" dirty="0"/>
              <a:t>,</a:t>
            </a:r>
            <a:r>
              <a:rPr lang="ko-KR" altLang="en-US" dirty="0"/>
              <a:t> 결정 두 시퀀스로 이어집니다.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서류 업로드 화면입니다. </a:t>
            </a:r>
            <a:endParaRPr lang="en-US" altLang="ko-KR" dirty="0"/>
          </a:p>
          <a:p>
            <a:r>
              <a:rPr lang="ko-KR" altLang="en-US" dirty="0"/>
              <a:t>사업자등록증, 납세증명서, 재무제표의 제출 상태와 OCR 처리 상태를 확인할 수 있습니다. </a:t>
            </a:r>
            <a:endParaRPr lang="en-US" altLang="ko-KR" dirty="0"/>
          </a:p>
          <a:p>
            <a:r>
              <a:rPr lang="ko-KR" altLang="en-US" dirty="0"/>
              <a:t>같은 문서 유형을 다시 올리면 기존 파일을 덮어쓰지 않고 version_no를 증가시켜 이전본을 보존합니다. </a:t>
            </a:r>
            <a:endParaRPr lang="en-US" altLang="ko-KR" dirty="0"/>
          </a:p>
          <a:p>
            <a:r>
              <a:rPr lang="ko-KR" altLang="en-US" dirty="0" err="1"/>
              <a:t>OCR만</a:t>
            </a:r>
            <a:r>
              <a:rPr lang="ko-KR" altLang="en-US" dirty="0"/>
              <a:t> 실패한 경우에는 파일을 다시 받지 않고 같은 원본으로 최대 세 번 재시도합니다.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사전검증 결과 화면입니다. </a:t>
            </a:r>
            <a:endParaRPr lang="en-US" altLang="ko-KR" dirty="0"/>
          </a:p>
          <a:p>
            <a:r>
              <a:rPr lang="ko-KR" altLang="en-US" dirty="0"/>
              <a:t>필수서류 누락, 납세증명서 만료, 기업명과 사업자등록번호 불일치를 확인할 수 있습니다. </a:t>
            </a:r>
            <a:endParaRPr lang="en-US" altLang="ko-KR" dirty="0"/>
          </a:p>
          <a:p>
            <a:r>
              <a:rPr lang="ko-KR" altLang="en-US" dirty="0"/>
              <a:t>오류마다 대상 문서와 원인, 해결 행동을 함께 주고, 해결 버튼을 누르면 업로드 화면의 해당 문서로 이동합니다. </a:t>
            </a:r>
            <a:endParaRPr lang="en-US" altLang="ko-KR" dirty="0"/>
          </a:p>
          <a:p>
            <a:r>
              <a:rPr lang="ko-KR" altLang="en-US" dirty="0"/>
              <a:t>미해결 오류가 하나라도 있으면 최종 제출을 차단하고 해결할 목록을 반환합니다.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은행 담당자는 상세 검토 화면에서 최신 원본과 OCR 추출값, 검증 결과, 이전 버전을 함께 확인할 수 있습니다. </a:t>
            </a:r>
            <a:endParaRPr lang="en-US" altLang="ko-KR" dirty="0"/>
          </a:p>
          <a:p>
            <a:r>
              <a:rPr lang="ko-KR" altLang="en-US" dirty="0"/>
              <a:t>보완 요청은 문서 유형 하나를 지정하고, 기업 담당자가 이해할 수 있는 사유를 작성하도록 구성했습니다. </a:t>
            </a:r>
            <a:endParaRPr lang="en-US" altLang="ko-KR" dirty="0"/>
          </a:p>
          <a:p>
            <a:r>
              <a:rPr lang="ko-KR" altLang="en-US" dirty="0"/>
              <a:t>여러 문서에 보완이 필요하면 문서 유형별로 요청을 등록합니다. </a:t>
            </a:r>
            <a:endParaRPr lang="en-US" altLang="ko-KR" dirty="0"/>
          </a:p>
          <a:p>
            <a:r>
              <a:rPr lang="ko-KR" altLang="en-US" dirty="0"/>
              <a:t>또한 문서 제출자와 은행 검토자를 각각 기록해 재제출과 검토 과정을 추적할 수 있도록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모델은 화면과 API에서 실제로 사용하는 8개 테이블로 구성했습니다. </a:t>
            </a:r>
            <a:endParaRPr lang="en-US" altLang="ko-KR" dirty="0"/>
          </a:p>
          <a:p>
            <a:r>
              <a:rPr lang="ko-KR" altLang="en-US" dirty="0"/>
              <a:t>사용자와 대출 신청 사이에서 발생하는 검토 이력은 reviews로 분리해 각각 1대다 관계로 구성되도록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API는 auth, company, review 세 영역</a:t>
            </a:r>
            <a:r>
              <a:rPr lang="en-US" altLang="ko-KR" dirty="0"/>
              <a:t>,</a:t>
            </a:r>
            <a:r>
              <a:rPr lang="ko-KR" altLang="en-US" dirty="0"/>
              <a:t> 열한 개로 설계했습니다</a:t>
            </a:r>
            <a:r>
              <a:rPr lang="en-US" altLang="ko-KR" dirty="0"/>
              <a:t>.</a:t>
            </a:r>
            <a:r>
              <a:rPr lang="ko-KR" altLang="en-US" dirty="0"/>
              <a:t> 핵심 </a:t>
            </a:r>
            <a:r>
              <a:rPr lang="en-US" altLang="ko-KR" dirty="0"/>
              <a:t>API</a:t>
            </a:r>
            <a:r>
              <a:rPr lang="ko-KR" altLang="en-US" dirty="0"/>
              <a:t>는 검증 결과를 한 번에 돌려주는 GET validation과, 미해결 오류가 있으면 해결 목록을 반환하는 POST submit입니다.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58F6-3E98-96FB-455F-E8B7849F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6F0BE-5C37-0BF2-9C62-F053FDD8E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1775A-5A90-F221-D626-4572ECB8A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설계에서는 OCR 결과가 항상 정상적으로 생성된다고 가정하지 않고, 실패와 재제출 흐름까지 함께 고려했습니다. </a:t>
            </a:r>
            <a:endParaRPr lang="en-US" altLang="ko-KR" dirty="0"/>
          </a:p>
          <a:p>
            <a:r>
              <a:rPr lang="ko-KR" altLang="en-US" dirty="0"/>
              <a:t>다만 재업로드한 문서에서도 OCR이 반복적으로 실패할 수 있습니다.</a:t>
            </a:r>
            <a:endParaRPr lang="en-US" altLang="ko-KR" dirty="0"/>
          </a:p>
          <a:p>
            <a:r>
              <a:rPr lang="ko-KR" altLang="en-US" dirty="0"/>
              <a:t> 현재 프로토타입에서는 제출을 차단하지만, 실제 서비스로 확장한다면 자동 검수를 중단하고 은행 담당자의 수동 검토로 전환하는 예외 흐름이 필요할 것으로 예상됩니다.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C5EE9-95BE-A642-BA4E-79453C8C31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360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217D-89CB-4AEA-A443-DF21E0B5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B6D9A-C96A-473D-9DFA-2BC75152A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C7BE-C4D4-4306-9856-D4229403A6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E0FF6-6DEF-4409-AFED-6CDD86BE39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8E4D-BD7E-4ED8-AAE7-9BD9A8F17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A22E-F8C4-404E-8030-39496CE8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381F-7C6D-4CCD-B331-395BA2D7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721C9-4D2F-4A02-A626-95CA0D92CD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699CA-08CF-42D8-B288-12A608CCDA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79AA7-F676-46F9-83B8-EF66176CC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91ED-42CA-4573-A2A4-12FE9535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E62A4-2831-46EB-862C-B5D8C137D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5A3B4-82ED-49C4-8DE0-53BD8A2C86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A2A4B-B45D-4A14-94D6-3AEBBA5A8D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7FF6-CE29-46A6-B906-DFAB1EC536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6920-EBF2-497A-8922-DBCB7341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F3BB-30D8-4C03-B8EA-3A4CD580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9E152-80CE-45FC-B140-5C3EB8FBE4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054F0-AAFF-4907-90A7-5E4B0C0D04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79D1D-E681-4913-A459-A01AB91E7F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FDF92-0E28-47B1-A822-C93977E96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E738-7CC8-4AD4-ABB4-D745E206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DA856-2640-4587-B972-1AADDEC94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D83E2-40BF-4DB0-B00B-964A831988A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47176-8D5F-4DE4-8C17-57F45EA4B68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19C3A-88A0-4489-A664-F852B773860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678C4-C199-48E6-A727-9C8FB3565E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38E8A-2AC7-44ED-853F-3AA49C2FDB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6CDC3-7089-4A00-BE7A-B6DA016E0E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F64E-F009-408F-829E-ABB71149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588B0-4D66-4663-9DCC-77BF8780CA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71311-FC67-4ADA-A163-CD419B1817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BB38C-B965-408C-B9A7-E07067F52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A2AD4-CC2D-4057-AC8A-873AAC4579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15F41-3EC4-49CF-BE5E-404D72E707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2F54-EB27-4F83-8F89-9E19FA9140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86F2-6F03-4BF8-AD81-3AFD096D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D813-D751-442F-A1A0-C47B968C9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78A6B-D541-4604-8C14-8453667292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C2749-A5D3-4463-BD34-A2B72C6DCF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FF1C-3CC9-4441-9BCE-18DE92ACD1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B929-02EA-4208-BB87-51692F1277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C4DE-076F-47E9-801D-FFDCEF7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49479-0E67-4C66-9C11-145FA481A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06697-368E-4A21-893D-4871D53F84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0EAF0-D966-4894-881F-A42919AADF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34572-B31A-4C92-9A5E-CBCE47E38F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8A92D-3CAD-49F7-B929-AC6AC87DA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D7A0-20D8-44AB-825D-D66CF95E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52F2A-AA78-4407-ADBF-FFF2EAD8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A67D-76C6-4E8A-A27D-23CDB28312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D184-88D5-4252-9F41-B1C4A3565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CBCB-9646-4AF2-A02F-6F4CE19293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9682F-493A-4F8E-9A61-9A93A69B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2365-AD06-4F84-BFAF-32CE6A360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84756-0E8F-4003-A5CB-4309EA9622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E7B4-3765-4D07-8A06-70D991D07D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5ACB-3ACD-4D91-A0A8-85010FD56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92025-8792-43FA-9505-2077DD83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D3F6A-3908-4438-BB06-1C29D5F4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70741-6993-42DB-A39A-5A14D5DCB6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2026. 9. 10.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F616-D7A3-46EF-8A0C-2EFEBDC53C8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7FD04-A8EF-4E84-A3F6-1EA217A2FAD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D8CA9F9-4655-4BD7-A73D-D941E255C451}"/>
              </a:ext>
            </a:extLst>
          </p:cNvPr>
          <p:cNvSpPr>
            <a:spLocks noGrp="1"/>
          </p:cNvSpPr>
          <p:nvPr/>
        </p:nvSpPr>
        <p:spPr>
          <a:xfrm>
            <a:off x="-1987541" y="1779860"/>
            <a:ext cx="6032482" cy="603248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94580E-B6B3-47C6-9974-2134FF3B993E}"/>
              </a:ext>
            </a:extLst>
          </p:cNvPr>
          <p:cNvSpPr>
            <a:spLocks noGrp="1"/>
          </p:cNvSpPr>
          <p:nvPr/>
        </p:nvSpPr>
        <p:spPr>
          <a:xfrm>
            <a:off x="-1421996" y="1991939"/>
            <a:ext cx="4901391" cy="52548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FB3866-0D72-48D3-9BB0-6BA3E6CF842F}"/>
              </a:ext>
            </a:extLst>
          </p:cNvPr>
          <p:cNvSpPr>
            <a:spLocks noGrp="1"/>
          </p:cNvSpPr>
          <p:nvPr/>
        </p:nvSpPr>
        <p:spPr>
          <a:xfrm>
            <a:off x="16710243" y="1779860"/>
            <a:ext cx="6032482" cy="603248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2BDCAD-B56B-4FB5-8DC7-571CD9CB6965}"/>
              </a:ext>
            </a:extLst>
          </p:cNvPr>
          <p:cNvSpPr>
            <a:spLocks noGrp="1"/>
          </p:cNvSpPr>
          <p:nvPr/>
        </p:nvSpPr>
        <p:spPr>
          <a:xfrm>
            <a:off x="17275788" y="1991939"/>
            <a:ext cx="4901391" cy="52548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2C53E5D-03C5-42D4-A4C4-89903CA55DA0}"/>
              </a:ext>
            </a:extLst>
          </p:cNvPr>
          <p:cNvSpPr>
            <a:spLocks noGrp="1"/>
          </p:cNvSpPr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098"/>
              </a:lnSpc>
              <a:buNone/>
            </a:pPr>
            <a:r>
              <a:rPr sz="4878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기업대출 제출서류 사전검수 서비스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698DD3-3415-493C-B66A-A9B22CFA4A89}"/>
              </a:ext>
            </a:extLst>
          </p:cNvPr>
          <p:cNvSpPr>
            <a:spLocks noGrp="1"/>
          </p:cNvSpPr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1024"/>
              </a:lnSpc>
              <a:buNone/>
            </a:pPr>
            <a:r>
              <a:rPr sz="8819" b="1" spc="-17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DocuFit.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E82F23-4F34-41B3-8564-6234A7FD2BB1}"/>
              </a:ext>
            </a:extLst>
          </p:cNvPr>
          <p:cNvSpPr>
            <a:spLocks noGrp="1"/>
          </p:cNvSpPr>
          <p:nvPr/>
        </p:nvSpPr>
        <p:spPr>
          <a:xfrm>
            <a:off x="1028700" y="8705595"/>
            <a:ext cx="3899716" cy="53315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4419"/>
              </a:lnSpc>
              <a:buNone/>
            </a:pPr>
            <a:r>
              <a:rPr sz="3535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판교5</a:t>
            </a:r>
            <a:r>
              <a:rPr lang="ko-KR" altLang="en-US" sz="3535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반</a:t>
            </a:r>
            <a:r>
              <a:rPr sz="3535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홍은비</a:t>
            </a:r>
          </a:p>
        </p:txBody>
      </p:sp>
    </p:spTree>
    <p:extLst>
      <p:ext uri="{BB962C8B-B14F-4D97-AF65-F5344CB8AC3E}">
        <p14:creationId xmlns:p14="http://schemas.microsoft.com/office/powerpoint/2010/main" val="40518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6DEDEE1-0111-49CF-B00D-88276AFDDD2A}"/>
              </a:ext>
            </a:extLst>
          </p:cNvPr>
          <p:cNvSpPr>
            <a:spLocks noGrp="1"/>
          </p:cNvSpPr>
          <p:nvPr/>
        </p:nvSpPr>
        <p:spPr>
          <a:xfrm>
            <a:off x="9144000" y="2616209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1FDAB0-E467-4E4B-9838-5BFEDE466625}"/>
              </a:ext>
            </a:extLst>
          </p:cNvPr>
          <p:cNvSpPr>
            <a:spLocks noGrp="1"/>
          </p:cNvSpPr>
          <p:nvPr/>
        </p:nvSpPr>
        <p:spPr>
          <a:xfrm>
            <a:off x="9213077" y="2659382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1826233-9E90-48CC-8044-2175C80DFAE6}"/>
              </a:ext>
            </a:extLst>
          </p:cNvPr>
          <p:cNvSpPr>
            <a:spLocks noGrp="1"/>
          </p:cNvSpPr>
          <p:nvPr/>
        </p:nvSpPr>
        <p:spPr>
          <a:xfrm>
            <a:off x="9144000" y="3659027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80B838-273B-476B-B206-F064C52EE3D8}"/>
              </a:ext>
            </a:extLst>
          </p:cNvPr>
          <p:cNvSpPr>
            <a:spLocks noGrp="1"/>
          </p:cNvSpPr>
          <p:nvPr/>
        </p:nvSpPr>
        <p:spPr>
          <a:xfrm>
            <a:off x="9213077" y="3702200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399D901-04B6-47A9-873D-3F54E0A6629C}"/>
              </a:ext>
            </a:extLst>
          </p:cNvPr>
          <p:cNvSpPr>
            <a:spLocks noGrp="1"/>
          </p:cNvSpPr>
          <p:nvPr/>
        </p:nvSpPr>
        <p:spPr>
          <a:xfrm>
            <a:off x="9144000" y="4701845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36D0BC6-78F4-49D1-953A-4C11174E5472}"/>
              </a:ext>
            </a:extLst>
          </p:cNvPr>
          <p:cNvSpPr>
            <a:spLocks noGrp="1"/>
          </p:cNvSpPr>
          <p:nvPr/>
        </p:nvSpPr>
        <p:spPr>
          <a:xfrm>
            <a:off x="9213077" y="4745018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2384B49-9B7B-439F-B524-60ED1DFE6639}"/>
              </a:ext>
            </a:extLst>
          </p:cNvPr>
          <p:cNvSpPr>
            <a:spLocks noGrp="1"/>
          </p:cNvSpPr>
          <p:nvPr/>
        </p:nvSpPr>
        <p:spPr>
          <a:xfrm>
            <a:off x="9144000" y="5744664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A2C8B7B-5CF2-4ED4-A14E-1118D5FCD3EB}"/>
              </a:ext>
            </a:extLst>
          </p:cNvPr>
          <p:cNvSpPr>
            <a:spLocks noGrp="1"/>
          </p:cNvSpPr>
          <p:nvPr/>
        </p:nvSpPr>
        <p:spPr>
          <a:xfrm>
            <a:off x="9213077" y="5787837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DFEB487-4C3E-451B-B12B-1DFBCA389584}"/>
              </a:ext>
            </a:extLst>
          </p:cNvPr>
          <p:cNvSpPr>
            <a:spLocks noGrp="1"/>
          </p:cNvSpPr>
          <p:nvPr/>
        </p:nvSpPr>
        <p:spPr>
          <a:xfrm>
            <a:off x="9144000" y="6787482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7007BB9-5E1E-44E3-A9C7-74539D2266FD}"/>
              </a:ext>
            </a:extLst>
          </p:cNvPr>
          <p:cNvSpPr>
            <a:spLocks noGrp="1"/>
          </p:cNvSpPr>
          <p:nvPr/>
        </p:nvSpPr>
        <p:spPr>
          <a:xfrm>
            <a:off x="9213077" y="6830655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115686E-A037-4A70-A0F7-2001B2C8F662}"/>
              </a:ext>
            </a:extLst>
          </p:cNvPr>
          <p:cNvSpPr>
            <a:spLocks noGrp="1"/>
          </p:cNvSpPr>
          <p:nvPr/>
        </p:nvSpPr>
        <p:spPr>
          <a:xfrm>
            <a:off x="9144000" y="7830300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A7C0585-FEF6-41A8-9AD2-A3BC654C9122}"/>
              </a:ext>
            </a:extLst>
          </p:cNvPr>
          <p:cNvSpPr>
            <a:spLocks noGrp="1"/>
          </p:cNvSpPr>
          <p:nvPr/>
        </p:nvSpPr>
        <p:spPr>
          <a:xfrm>
            <a:off x="9213077" y="7873473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34DE40B-F042-4F83-BB86-2E838337E276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9AA289-1BA5-485A-83A1-0004B9EEED85}"/>
              </a:ext>
            </a:extLst>
          </p:cNvPr>
          <p:cNvSpPr>
            <a:spLocks noGrp="1"/>
          </p:cNvSpPr>
          <p:nvPr/>
        </p:nvSpPr>
        <p:spPr>
          <a:xfrm>
            <a:off x="1028700" y="962025"/>
            <a:ext cx="4884180" cy="12382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9750"/>
              </a:lnSpc>
              <a:buNone/>
            </a:pPr>
            <a:r>
              <a:rPr sz="7500" b="1" spc="-15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DFBA0D1-6239-4E05-AC29-2890C28AC134}"/>
              </a:ext>
            </a:extLst>
          </p:cNvPr>
          <p:cNvSpPr>
            <a:spLocks noGrp="1"/>
          </p:cNvSpPr>
          <p:nvPr/>
        </p:nvSpPr>
        <p:spPr>
          <a:xfrm>
            <a:off x="10074727" y="2679402"/>
            <a:ext cx="6902651" cy="5775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기획 배경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35F4CC7-77F1-424C-82E0-695A3425E521}"/>
              </a:ext>
            </a:extLst>
          </p:cNvPr>
          <p:cNvSpPr>
            <a:spLocks noGrp="1"/>
          </p:cNvSpPr>
          <p:nvPr/>
        </p:nvSpPr>
        <p:spPr>
          <a:xfrm>
            <a:off x="9194066" y="2704027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FC44AA4-FC96-40C6-AFE3-CE38B9DD8492}"/>
              </a:ext>
            </a:extLst>
          </p:cNvPr>
          <p:cNvSpPr>
            <a:spLocks noGrp="1"/>
          </p:cNvSpPr>
          <p:nvPr/>
        </p:nvSpPr>
        <p:spPr>
          <a:xfrm>
            <a:off x="10074727" y="3722220"/>
            <a:ext cx="6902651" cy="5638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lang="en-US" sz="3594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Pain Points</a:t>
            </a:r>
            <a:endParaRPr sz="3594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C261F57-96E4-4352-B1A3-79CE439D887D}"/>
              </a:ext>
            </a:extLst>
          </p:cNvPr>
          <p:cNvSpPr>
            <a:spLocks noGrp="1"/>
          </p:cNvSpPr>
          <p:nvPr/>
        </p:nvSpPr>
        <p:spPr>
          <a:xfrm>
            <a:off x="9194066" y="3746845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702DD9D-88DF-4AA5-915E-750038B3DBEA}"/>
              </a:ext>
            </a:extLst>
          </p:cNvPr>
          <p:cNvSpPr>
            <a:spLocks noGrp="1"/>
          </p:cNvSpPr>
          <p:nvPr/>
        </p:nvSpPr>
        <p:spPr>
          <a:xfrm>
            <a:off x="10074727" y="4765039"/>
            <a:ext cx="6902651" cy="5775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 액터 정의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87399A3-AB1C-44EF-9543-0BCAEC4CED56}"/>
              </a:ext>
            </a:extLst>
          </p:cNvPr>
          <p:cNvSpPr>
            <a:spLocks noGrp="1"/>
          </p:cNvSpPr>
          <p:nvPr/>
        </p:nvSpPr>
        <p:spPr>
          <a:xfrm>
            <a:off x="9194066" y="4789663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4D3C1E7-395E-4C13-B856-B45480617FA8}"/>
              </a:ext>
            </a:extLst>
          </p:cNvPr>
          <p:cNvSpPr>
            <a:spLocks noGrp="1"/>
          </p:cNvSpPr>
          <p:nvPr/>
        </p:nvSpPr>
        <p:spPr>
          <a:xfrm>
            <a:off x="10074727" y="5807857"/>
            <a:ext cx="6902651" cy="5775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 흐름도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1905BC9-3F3B-4BA4-9077-E8B328534BBF}"/>
              </a:ext>
            </a:extLst>
          </p:cNvPr>
          <p:cNvSpPr>
            <a:spLocks noGrp="1"/>
          </p:cNvSpPr>
          <p:nvPr/>
        </p:nvSpPr>
        <p:spPr>
          <a:xfrm>
            <a:off x="9194066" y="5832481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9A37442-265B-4C98-89BD-F47D2EC6BCCA}"/>
              </a:ext>
            </a:extLst>
          </p:cNvPr>
          <p:cNvSpPr>
            <a:spLocks noGrp="1"/>
          </p:cNvSpPr>
          <p:nvPr/>
        </p:nvSpPr>
        <p:spPr>
          <a:xfrm>
            <a:off x="10074727" y="6850675"/>
            <a:ext cx="6902651" cy="5775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 모델 설계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04AC27-22DC-49F0-86E2-AEDA1329F80E}"/>
              </a:ext>
            </a:extLst>
          </p:cNvPr>
          <p:cNvSpPr>
            <a:spLocks noGrp="1"/>
          </p:cNvSpPr>
          <p:nvPr/>
        </p:nvSpPr>
        <p:spPr>
          <a:xfrm>
            <a:off x="9194066" y="6875300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817A567-AE40-4AE3-BB3E-6B787A23116D}"/>
              </a:ext>
            </a:extLst>
          </p:cNvPr>
          <p:cNvSpPr>
            <a:spLocks noGrp="1"/>
          </p:cNvSpPr>
          <p:nvPr/>
        </p:nvSpPr>
        <p:spPr>
          <a:xfrm>
            <a:off x="10074727" y="7893493"/>
            <a:ext cx="6902651" cy="5775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673"/>
              </a:lnSpc>
              <a:buNone/>
            </a:pPr>
            <a:r>
              <a:rPr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API 명세 정의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7112C35-BFD4-44E6-AF31-3F5A4807928C}"/>
              </a:ext>
            </a:extLst>
          </p:cNvPr>
          <p:cNvSpPr>
            <a:spLocks noGrp="1"/>
          </p:cNvSpPr>
          <p:nvPr/>
        </p:nvSpPr>
        <p:spPr>
          <a:xfrm>
            <a:off x="9194066" y="7918118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8A98C793-FBCA-40AA-9D30-5C1B55760BD1}"/>
              </a:ext>
            </a:extLst>
          </p:cNvPr>
          <p:cNvSpPr>
            <a:spLocks noGrp="1"/>
          </p:cNvSpPr>
          <p:nvPr/>
        </p:nvSpPr>
        <p:spPr>
          <a:xfrm>
            <a:off x="9144000" y="8877367"/>
            <a:ext cx="736824" cy="7368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B3E3067-AECD-4158-8AE2-4B62F33DE174}"/>
              </a:ext>
            </a:extLst>
          </p:cNvPr>
          <p:cNvSpPr>
            <a:spLocks noGrp="1"/>
          </p:cNvSpPr>
          <p:nvPr/>
        </p:nvSpPr>
        <p:spPr>
          <a:xfrm>
            <a:off x="9213077" y="8920540"/>
            <a:ext cx="598669" cy="62457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7B067FE-462D-4FE2-965A-FC844855F40D}"/>
              </a:ext>
            </a:extLst>
          </p:cNvPr>
          <p:cNvSpPr>
            <a:spLocks noGrp="1"/>
          </p:cNvSpPr>
          <p:nvPr/>
        </p:nvSpPr>
        <p:spPr>
          <a:xfrm>
            <a:off x="10074727" y="8940560"/>
            <a:ext cx="6902651" cy="5638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4673"/>
              </a:lnSpc>
            </a:pPr>
            <a:r>
              <a:rPr lang="ko-KR" altLang="en-US" sz="3594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마무리</a:t>
            </a:r>
            <a:endParaRPr sz="3594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2A96ECA-9B45-47EE-B5CC-93E722E4EA37}"/>
              </a:ext>
            </a:extLst>
          </p:cNvPr>
          <p:cNvSpPr>
            <a:spLocks noGrp="1"/>
          </p:cNvSpPr>
          <p:nvPr/>
        </p:nvSpPr>
        <p:spPr>
          <a:xfrm>
            <a:off x="9194066" y="8965185"/>
            <a:ext cx="636692" cy="532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4325"/>
              </a:lnSpc>
              <a:buNone/>
            </a:pPr>
            <a:r>
              <a:rPr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999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4337418-E0CD-486C-95B7-90876003A32D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E9E202-119C-4424-A1A4-915F4A1B8878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94B3A58-0D94-4420-8DEF-97DBEE70AB32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E3A608-49C2-47A5-9F58-064F9C3F48ED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기획 배경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E13A242-D229-4A7F-B08B-63BB90BA1627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1" name="S102">
            <a:extLst>
              <a:ext uri="{FF2B5EF4-FFF2-40B4-BE49-F238E27FC236}">
                <a16:creationId xmlns:a16="http://schemas.microsoft.com/office/drawing/2014/main" id="{1CAAADD8-3E6D-4A61-82BA-9FF301BFF427}"/>
              </a:ext>
            </a:extLst>
          </p:cNvPr>
          <p:cNvSpPr>
            <a:spLocks noGrp="1"/>
          </p:cNvSpPr>
          <p:nvPr/>
        </p:nvSpPr>
        <p:spPr>
          <a:xfrm>
            <a:off x="91440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E104">
            <a:extLst>
              <a:ext uri="{FF2B5EF4-FFF2-40B4-BE49-F238E27FC236}">
                <a16:creationId xmlns:a16="http://schemas.microsoft.com/office/drawing/2014/main" id="{80CAC27B-F1F6-4772-BABF-1819C00FA86E}"/>
              </a:ext>
            </a:extLst>
          </p:cNvPr>
          <p:cNvSpPr>
            <a:spLocks noGrp="1"/>
          </p:cNvSpPr>
          <p:nvPr/>
        </p:nvSpPr>
        <p:spPr>
          <a:xfrm>
            <a:off x="1325880" y="2286000"/>
            <a:ext cx="658368" cy="658368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105" name="T106">
            <a:extLst>
              <a:ext uri="{FF2B5EF4-FFF2-40B4-BE49-F238E27FC236}">
                <a16:creationId xmlns:a16="http://schemas.microsoft.com/office/drawing/2014/main" id="{E44672BF-8A9A-4FBD-89FC-AFC52A5C5D9C}"/>
              </a:ext>
            </a:extLst>
          </p:cNvPr>
          <p:cNvSpPr>
            <a:spLocks noGrp="1"/>
          </p:cNvSpPr>
          <p:nvPr/>
        </p:nvSpPr>
        <p:spPr>
          <a:xfrm>
            <a:off x="1325880" y="2286000"/>
            <a:ext cx="658368" cy="6583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07" name="T108">
            <a:extLst>
              <a:ext uri="{FF2B5EF4-FFF2-40B4-BE49-F238E27FC236}">
                <a16:creationId xmlns:a16="http://schemas.microsoft.com/office/drawing/2014/main" id="{E421E37C-627D-4504-9F05-942439D0CFB1}"/>
              </a:ext>
            </a:extLst>
          </p:cNvPr>
          <p:cNvSpPr>
            <a:spLocks noGrp="1"/>
          </p:cNvSpPr>
          <p:nvPr/>
        </p:nvSpPr>
        <p:spPr>
          <a:xfrm>
            <a:off x="1325880" y="3172968"/>
            <a:ext cx="4480560" cy="12344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은행권은</a:t>
            </a:r>
            <a:r>
              <a:rPr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AI </a:t>
            </a: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endParaRPr sz="2500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여신심사</a:t>
            </a:r>
            <a:r>
              <a:rPr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지원을</a:t>
            </a:r>
            <a:r>
              <a:rPr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확대하고</a:t>
            </a:r>
            <a:r>
              <a:rPr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5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있다</a:t>
            </a:r>
            <a:endParaRPr sz="2500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9" name="S110">
            <a:extLst>
              <a:ext uri="{FF2B5EF4-FFF2-40B4-BE49-F238E27FC236}">
                <a16:creationId xmlns:a16="http://schemas.microsoft.com/office/drawing/2014/main" id="{42A9EBCD-C2AB-4787-9C56-6BAADE795347}"/>
              </a:ext>
            </a:extLst>
          </p:cNvPr>
          <p:cNvSpPr>
            <a:spLocks noGrp="1"/>
          </p:cNvSpPr>
          <p:nvPr/>
        </p:nvSpPr>
        <p:spPr>
          <a:xfrm>
            <a:off x="1325880" y="4690872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111" name="T112">
            <a:extLst>
              <a:ext uri="{FF2B5EF4-FFF2-40B4-BE49-F238E27FC236}">
                <a16:creationId xmlns:a16="http://schemas.microsoft.com/office/drawing/2014/main" id="{CEF0CE77-D283-4F39-8501-F67FF17F3D6B}"/>
              </a:ext>
            </a:extLst>
          </p:cNvPr>
          <p:cNvSpPr>
            <a:spLocks noGrp="1"/>
          </p:cNvSpPr>
          <p:nvPr/>
        </p:nvSpPr>
        <p:spPr>
          <a:xfrm>
            <a:off x="1572768" y="4572000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하나은행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기업신용평가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심사의견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작성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30분 → 10초 ·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연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2.7만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시간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절감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3" name="S114">
            <a:extLst>
              <a:ext uri="{FF2B5EF4-FFF2-40B4-BE49-F238E27FC236}">
                <a16:creationId xmlns:a16="http://schemas.microsoft.com/office/drawing/2014/main" id="{4D086926-1C6D-4C00-85EF-6C552724D76B}"/>
              </a:ext>
            </a:extLst>
          </p:cNvPr>
          <p:cNvSpPr>
            <a:spLocks noGrp="1"/>
          </p:cNvSpPr>
          <p:nvPr/>
        </p:nvSpPr>
        <p:spPr>
          <a:xfrm>
            <a:off x="1325880" y="5717148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115" name="T116">
            <a:extLst>
              <a:ext uri="{FF2B5EF4-FFF2-40B4-BE49-F238E27FC236}">
                <a16:creationId xmlns:a16="http://schemas.microsoft.com/office/drawing/2014/main" id="{82F5B1F7-63E5-4FA2-8E03-F0C126B7CD09}"/>
              </a:ext>
            </a:extLst>
          </p:cNvPr>
          <p:cNvSpPr>
            <a:spLocks noGrp="1"/>
          </p:cNvSpPr>
          <p:nvPr/>
        </p:nvSpPr>
        <p:spPr>
          <a:xfrm>
            <a:off x="1572768" y="5598276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신한은행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여신심사지원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Agent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도입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12개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산업군별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엔진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7" name="S118">
            <a:extLst>
              <a:ext uri="{FF2B5EF4-FFF2-40B4-BE49-F238E27FC236}">
                <a16:creationId xmlns:a16="http://schemas.microsoft.com/office/drawing/2014/main" id="{CB0C1784-95F9-4950-A3AD-082B4CE53387}"/>
              </a:ext>
            </a:extLst>
          </p:cNvPr>
          <p:cNvSpPr>
            <a:spLocks noGrp="1"/>
          </p:cNvSpPr>
          <p:nvPr/>
        </p:nvSpPr>
        <p:spPr>
          <a:xfrm>
            <a:off x="1325880" y="6764136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119" name="T120">
            <a:extLst>
              <a:ext uri="{FF2B5EF4-FFF2-40B4-BE49-F238E27FC236}">
                <a16:creationId xmlns:a16="http://schemas.microsoft.com/office/drawing/2014/main" id="{18EF681D-64CC-4C93-999E-29CE7D1DF3EB}"/>
              </a:ext>
            </a:extLst>
          </p:cNvPr>
          <p:cNvSpPr>
            <a:spLocks noGrp="1"/>
          </p:cNvSpPr>
          <p:nvPr/>
        </p:nvSpPr>
        <p:spPr>
          <a:xfrm>
            <a:off x="1572768" y="6645264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은행장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50%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하반기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전략으로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'AI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여신심사·평가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고도화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선정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1" name="S122">
            <a:extLst>
              <a:ext uri="{FF2B5EF4-FFF2-40B4-BE49-F238E27FC236}">
                <a16:creationId xmlns:a16="http://schemas.microsoft.com/office/drawing/2014/main" id="{6A5CB9C1-A2FB-4D9F-9307-E279166AC9D9}"/>
              </a:ext>
            </a:extLst>
          </p:cNvPr>
          <p:cNvSpPr>
            <a:spLocks noGrp="1"/>
          </p:cNvSpPr>
          <p:nvPr/>
        </p:nvSpPr>
        <p:spPr>
          <a:xfrm>
            <a:off x="649224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E124">
            <a:extLst>
              <a:ext uri="{FF2B5EF4-FFF2-40B4-BE49-F238E27FC236}">
                <a16:creationId xmlns:a16="http://schemas.microsoft.com/office/drawing/2014/main" id="{468B5F84-6E3D-46AF-B7CE-349443F701E4}"/>
              </a:ext>
            </a:extLst>
          </p:cNvPr>
          <p:cNvSpPr>
            <a:spLocks noGrp="1"/>
          </p:cNvSpPr>
          <p:nvPr/>
        </p:nvSpPr>
        <p:spPr>
          <a:xfrm>
            <a:off x="6903720" y="2286000"/>
            <a:ext cx="658368" cy="658368"/>
          </a:xfrm>
          <a:prstGeom prst="ellipse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25" name="T126">
            <a:extLst>
              <a:ext uri="{FF2B5EF4-FFF2-40B4-BE49-F238E27FC236}">
                <a16:creationId xmlns:a16="http://schemas.microsoft.com/office/drawing/2014/main" id="{7C5ABFFF-17DA-4561-8C37-7456E6A3E7B6}"/>
              </a:ext>
            </a:extLst>
          </p:cNvPr>
          <p:cNvSpPr>
            <a:spLocks noGrp="1"/>
          </p:cNvSpPr>
          <p:nvPr/>
        </p:nvSpPr>
        <p:spPr>
          <a:xfrm>
            <a:off x="6903720" y="2286000"/>
            <a:ext cx="658368" cy="6583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27" name="T128">
            <a:extLst>
              <a:ext uri="{FF2B5EF4-FFF2-40B4-BE49-F238E27FC236}">
                <a16:creationId xmlns:a16="http://schemas.microsoft.com/office/drawing/2014/main" id="{9C21D61D-7076-40C3-A229-61A5CB9289EA}"/>
              </a:ext>
            </a:extLst>
          </p:cNvPr>
          <p:cNvSpPr>
            <a:spLocks noGrp="1"/>
          </p:cNvSpPr>
          <p:nvPr/>
        </p:nvSpPr>
        <p:spPr>
          <a:xfrm>
            <a:off x="6903720" y="3172968"/>
            <a:ext cx="4480560" cy="12344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자동화는 접수 이후의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심사의견 작성에 집중돼 있다</a:t>
            </a:r>
          </a:p>
        </p:txBody>
      </p:sp>
      <p:sp>
        <p:nvSpPr>
          <p:cNvPr id="129" name="S130">
            <a:extLst>
              <a:ext uri="{FF2B5EF4-FFF2-40B4-BE49-F238E27FC236}">
                <a16:creationId xmlns:a16="http://schemas.microsoft.com/office/drawing/2014/main" id="{8BA79ACC-C411-4349-8D13-6895C85D084D}"/>
              </a:ext>
            </a:extLst>
          </p:cNvPr>
          <p:cNvSpPr>
            <a:spLocks noGrp="1"/>
          </p:cNvSpPr>
          <p:nvPr/>
        </p:nvSpPr>
        <p:spPr>
          <a:xfrm>
            <a:off x="6903720" y="4690872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31" name="T132">
            <a:extLst>
              <a:ext uri="{FF2B5EF4-FFF2-40B4-BE49-F238E27FC236}">
                <a16:creationId xmlns:a16="http://schemas.microsoft.com/office/drawing/2014/main" id="{9DF7FBBC-5375-4811-89F8-DAF45B313E32}"/>
              </a:ext>
            </a:extLst>
          </p:cNvPr>
          <p:cNvSpPr>
            <a:spLocks noGrp="1"/>
          </p:cNvSpPr>
          <p:nvPr/>
        </p:nvSpPr>
        <p:spPr>
          <a:xfrm>
            <a:off x="7150608" y="4572000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서류가 정상 접수된 이후의 업무</a:t>
            </a:r>
          </a:p>
        </p:txBody>
      </p:sp>
      <p:sp>
        <p:nvSpPr>
          <p:cNvPr id="133" name="S134">
            <a:extLst>
              <a:ext uri="{FF2B5EF4-FFF2-40B4-BE49-F238E27FC236}">
                <a16:creationId xmlns:a16="http://schemas.microsoft.com/office/drawing/2014/main" id="{1DA6341B-F7F1-4D37-B085-7028E2C659F5}"/>
              </a:ext>
            </a:extLst>
          </p:cNvPr>
          <p:cNvSpPr>
            <a:spLocks noGrp="1"/>
          </p:cNvSpPr>
          <p:nvPr/>
        </p:nvSpPr>
        <p:spPr>
          <a:xfrm>
            <a:off x="6903720" y="5633256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35" name="T136">
            <a:extLst>
              <a:ext uri="{FF2B5EF4-FFF2-40B4-BE49-F238E27FC236}">
                <a16:creationId xmlns:a16="http://schemas.microsoft.com/office/drawing/2014/main" id="{8F65C63E-875E-450E-A40D-AF0FA69CFC41}"/>
              </a:ext>
            </a:extLst>
          </p:cNvPr>
          <p:cNvSpPr>
            <a:spLocks noGrp="1"/>
          </p:cNvSpPr>
          <p:nvPr/>
        </p:nvSpPr>
        <p:spPr>
          <a:xfrm>
            <a:off x="7150608" y="5514384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서류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접수·검증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자동화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사례도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등장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수출입은행이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26.7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구축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착수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7" name="S138">
            <a:extLst>
              <a:ext uri="{FF2B5EF4-FFF2-40B4-BE49-F238E27FC236}">
                <a16:creationId xmlns:a16="http://schemas.microsoft.com/office/drawing/2014/main" id="{487E178B-5CB4-4D08-B217-65E05135CBFC}"/>
              </a:ext>
            </a:extLst>
          </p:cNvPr>
          <p:cNvSpPr>
            <a:spLocks noGrp="1"/>
          </p:cNvSpPr>
          <p:nvPr/>
        </p:nvSpPr>
        <p:spPr>
          <a:xfrm>
            <a:off x="6903720" y="6757416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39" name="T140">
            <a:extLst>
              <a:ext uri="{FF2B5EF4-FFF2-40B4-BE49-F238E27FC236}">
                <a16:creationId xmlns:a16="http://schemas.microsoft.com/office/drawing/2014/main" id="{8ED04F78-30FD-4A3A-B797-B6DDD57A4A6E}"/>
              </a:ext>
            </a:extLst>
          </p:cNvPr>
          <p:cNvSpPr>
            <a:spLocks noGrp="1"/>
          </p:cNvSpPr>
          <p:nvPr/>
        </p:nvSpPr>
        <p:spPr>
          <a:xfrm>
            <a:off x="7150608" y="6638544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은행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심사역의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업무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지원이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중심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AI결과는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보조자료로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활용하고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담당자가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판단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1" name="S142">
            <a:extLst>
              <a:ext uri="{FF2B5EF4-FFF2-40B4-BE49-F238E27FC236}">
                <a16:creationId xmlns:a16="http://schemas.microsoft.com/office/drawing/2014/main" id="{E986FA76-A2D7-4766-8E7F-B36747DD6B21}"/>
              </a:ext>
            </a:extLst>
          </p:cNvPr>
          <p:cNvSpPr>
            <a:spLocks noGrp="1"/>
          </p:cNvSpPr>
          <p:nvPr/>
        </p:nvSpPr>
        <p:spPr>
          <a:xfrm>
            <a:off x="12055792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3" name="E144">
            <a:extLst>
              <a:ext uri="{FF2B5EF4-FFF2-40B4-BE49-F238E27FC236}">
                <a16:creationId xmlns:a16="http://schemas.microsoft.com/office/drawing/2014/main" id="{9678CB8A-A5EE-49F0-A9C7-16C7587E6F14}"/>
              </a:ext>
            </a:extLst>
          </p:cNvPr>
          <p:cNvSpPr>
            <a:spLocks noGrp="1"/>
          </p:cNvSpPr>
          <p:nvPr/>
        </p:nvSpPr>
        <p:spPr>
          <a:xfrm>
            <a:off x="12481560" y="2286000"/>
            <a:ext cx="658368" cy="658368"/>
          </a:xfrm>
          <a:prstGeom prst="ellipse">
            <a:avLst/>
          </a:pr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145" name="T146">
            <a:extLst>
              <a:ext uri="{FF2B5EF4-FFF2-40B4-BE49-F238E27FC236}">
                <a16:creationId xmlns:a16="http://schemas.microsoft.com/office/drawing/2014/main" id="{9E4CDAA2-B2D2-4653-9C43-7A3A7435A827}"/>
              </a:ext>
            </a:extLst>
          </p:cNvPr>
          <p:cNvSpPr>
            <a:spLocks noGrp="1"/>
          </p:cNvSpPr>
          <p:nvPr/>
        </p:nvSpPr>
        <p:spPr>
          <a:xfrm>
            <a:off x="12481560" y="2286000"/>
            <a:ext cx="658368" cy="6583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47" name="T148">
            <a:extLst>
              <a:ext uri="{FF2B5EF4-FFF2-40B4-BE49-F238E27FC236}">
                <a16:creationId xmlns:a16="http://schemas.microsoft.com/office/drawing/2014/main" id="{55F67FA6-E311-4AB4-9DD8-8FE5324E9C37}"/>
              </a:ext>
            </a:extLst>
          </p:cNvPr>
          <p:cNvSpPr>
            <a:spLocks noGrp="1"/>
          </p:cNvSpPr>
          <p:nvPr/>
        </p:nvSpPr>
        <p:spPr>
          <a:xfrm>
            <a:off x="12481560" y="3172968"/>
            <a:ext cx="4480560" cy="12344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기업 고객의 서류 준비는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sz="25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여전히 수작업에 가깝다</a:t>
            </a:r>
          </a:p>
        </p:txBody>
      </p:sp>
      <p:sp>
        <p:nvSpPr>
          <p:cNvPr id="149" name="S150">
            <a:extLst>
              <a:ext uri="{FF2B5EF4-FFF2-40B4-BE49-F238E27FC236}">
                <a16:creationId xmlns:a16="http://schemas.microsoft.com/office/drawing/2014/main" id="{2E151884-448D-4C8B-B059-B0CD24B1F592}"/>
              </a:ext>
            </a:extLst>
          </p:cNvPr>
          <p:cNvSpPr>
            <a:spLocks noGrp="1"/>
          </p:cNvSpPr>
          <p:nvPr/>
        </p:nvSpPr>
        <p:spPr>
          <a:xfrm>
            <a:off x="12481560" y="4690872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151" name="T152">
            <a:extLst>
              <a:ext uri="{FF2B5EF4-FFF2-40B4-BE49-F238E27FC236}">
                <a16:creationId xmlns:a16="http://schemas.microsoft.com/office/drawing/2014/main" id="{6197581A-723F-4FEE-8026-3BFA7A92AF48}"/>
              </a:ext>
            </a:extLst>
          </p:cNvPr>
          <p:cNvSpPr>
            <a:spLocks noGrp="1"/>
          </p:cNvSpPr>
          <p:nvPr/>
        </p:nvSpPr>
        <p:spPr>
          <a:xfrm>
            <a:off x="12728448" y="4572000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누락·만료·불일치는 접수 후 보완 요청으로 확인</a:t>
            </a:r>
          </a:p>
        </p:txBody>
      </p:sp>
      <p:sp>
        <p:nvSpPr>
          <p:cNvPr id="153" name="S154">
            <a:extLst>
              <a:ext uri="{FF2B5EF4-FFF2-40B4-BE49-F238E27FC236}">
                <a16:creationId xmlns:a16="http://schemas.microsoft.com/office/drawing/2014/main" id="{EF22A823-57B8-436D-AB21-52F9F70C0469}"/>
              </a:ext>
            </a:extLst>
          </p:cNvPr>
          <p:cNvSpPr>
            <a:spLocks noGrp="1"/>
          </p:cNvSpPr>
          <p:nvPr/>
        </p:nvSpPr>
        <p:spPr>
          <a:xfrm>
            <a:off x="12496992" y="5646696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155" name="T156">
            <a:extLst>
              <a:ext uri="{FF2B5EF4-FFF2-40B4-BE49-F238E27FC236}">
                <a16:creationId xmlns:a16="http://schemas.microsoft.com/office/drawing/2014/main" id="{1F033C9E-A807-4D49-9C74-220AF733B869}"/>
              </a:ext>
            </a:extLst>
          </p:cNvPr>
          <p:cNvSpPr>
            <a:spLocks noGrp="1"/>
          </p:cNvSpPr>
          <p:nvPr/>
        </p:nvSpPr>
        <p:spPr>
          <a:xfrm>
            <a:off x="12743880" y="5527824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재제출과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이전본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재대조가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반복</a:t>
            </a:r>
            <a:endParaRPr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7" name="S158">
            <a:extLst>
              <a:ext uri="{FF2B5EF4-FFF2-40B4-BE49-F238E27FC236}">
                <a16:creationId xmlns:a16="http://schemas.microsoft.com/office/drawing/2014/main" id="{44053A87-E02C-4EF8-B91A-F60F10CD1B22}"/>
              </a:ext>
            </a:extLst>
          </p:cNvPr>
          <p:cNvSpPr>
            <a:spLocks noGrp="1"/>
          </p:cNvSpPr>
          <p:nvPr/>
        </p:nvSpPr>
        <p:spPr>
          <a:xfrm>
            <a:off x="12496992" y="6709548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159" name="T160">
            <a:extLst>
              <a:ext uri="{FF2B5EF4-FFF2-40B4-BE49-F238E27FC236}">
                <a16:creationId xmlns:a16="http://schemas.microsoft.com/office/drawing/2014/main" id="{3C61675F-86C8-4717-B498-2B93CCE0C3EE}"/>
              </a:ext>
            </a:extLst>
          </p:cNvPr>
          <p:cNvSpPr>
            <a:spLocks noGrp="1"/>
          </p:cNvSpPr>
          <p:nvPr/>
        </p:nvSpPr>
        <p:spPr>
          <a:xfrm>
            <a:off x="12743880" y="6590676"/>
            <a:ext cx="4233672" cy="1005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lang="en-US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AI</a:t>
            </a:r>
            <a:r>
              <a:rPr lang="ko-KR" altLang="en-US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활용은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은행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업무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지원에</a:t>
            </a:r>
            <a:r>
              <a:rPr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집중</a:t>
            </a:r>
            <a:endParaRPr lang="ko-Kore-KR" altLang="en-US" sz="17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lang="ko-KR" altLang="en-US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기업 고객의 접수 전 점검 과정은 수작업</a:t>
            </a:r>
          </a:p>
        </p:txBody>
      </p:sp>
      <p:sp>
        <p:nvSpPr>
          <p:cNvPr id="161" name="S162">
            <a:extLst>
              <a:ext uri="{FF2B5EF4-FFF2-40B4-BE49-F238E27FC236}">
                <a16:creationId xmlns:a16="http://schemas.microsoft.com/office/drawing/2014/main" id="{184AFE8D-5BED-44FE-871F-94208BB8F4CE}"/>
              </a:ext>
            </a:extLst>
          </p:cNvPr>
          <p:cNvSpPr>
            <a:spLocks noGrp="1"/>
          </p:cNvSpPr>
          <p:nvPr/>
        </p:nvSpPr>
        <p:spPr>
          <a:xfrm>
            <a:off x="914400" y="8183880"/>
            <a:ext cx="16459200" cy="86868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163" name="T164">
            <a:extLst>
              <a:ext uri="{FF2B5EF4-FFF2-40B4-BE49-F238E27FC236}">
                <a16:creationId xmlns:a16="http://schemas.microsoft.com/office/drawing/2014/main" id="{8AA59D89-F544-46B0-B262-AE3A5E23A9DE}"/>
              </a:ext>
            </a:extLst>
          </p:cNvPr>
          <p:cNvSpPr>
            <a:spLocks noGrp="1"/>
          </p:cNvSpPr>
          <p:nvPr/>
        </p:nvSpPr>
        <p:spPr>
          <a:xfrm>
            <a:off x="914400" y="8183880"/>
            <a:ext cx="16459200" cy="86868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DocuFit의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대상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: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기업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고객의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접수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전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서류</a:t>
            </a:r>
            <a:r>
              <a:rPr sz="27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7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점검</a:t>
            </a:r>
            <a:endParaRPr sz="2700" dirty="0">
              <a:solidFill>
                <a:schemeClr val="bg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5" name="T166">
            <a:extLst>
              <a:ext uri="{FF2B5EF4-FFF2-40B4-BE49-F238E27FC236}">
                <a16:creationId xmlns:a16="http://schemas.microsoft.com/office/drawing/2014/main" id="{FDF38812-ABAC-4196-9C2C-1E6E7AAD6DF4}"/>
              </a:ext>
            </a:extLst>
          </p:cNvPr>
          <p:cNvSpPr>
            <a:spLocks noGrp="1"/>
          </p:cNvSpPr>
          <p:nvPr/>
        </p:nvSpPr>
        <p:spPr>
          <a:xfrm>
            <a:off x="914400" y="9189720"/>
            <a:ext cx="164592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400">
                <a:solidFill>
                  <a:srgbClr val="9A958C"/>
                </a:solidFill>
                <a:latin typeface="Pretendard Medium"/>
                <a:ea typeface="Pretendard Medium"/>
                <a:cs typeface="Pretendard Medium"/>
              </a:rPr>
              <a:t>출처 : 전자신문 · 헤럴드경제(하나은행, 2026.03) / 신한금융 보도자료(2026.03) / 이투데이(수출입은행 2026.07, 은행장 설문)</a:t>
            </a:r>
          </a:p>
        </p:txBody>
      </p:sp>
    </p:spTree>
    <p:extLst>
      <p:ext uri="{BB962C8B-B14F-4D97-AF65-F5344CB8AC3E}">
        <p14:creationId xmlns:p14="http://schemas.microsoft.com/office/powerpoint/2010/main" val="85059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42EBCD1-53FD-4CDF-A917-A7D53E5D8738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B5DB5D-D45C-460B-878B-AD0F9BC08A4F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84067A-C9D0-4739-8B28-A7EBB17A4E8C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A37D8E-B12D-4BD5-80E3-884821926123}"/>
              </a:ext>
            </a:extLst>
          </p:cNvPr>
          <p:cNvSpPr>
            <a:spLocks noGrp="1"/>
          </p:cNvSpPr>
          <p:nvPr/>
        </p:nvSpPr>
        <p:spPr>
          <a:xfrm>
            <a:off x="1466120" y="477457"/>
            <a:ext cx="9144000" cy="60272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>
              <a:lnSpc>
                <a:spcPts val="4673"/>
              </a:lnSpc>
            </a:pPr>
            <a:r>
              <a:rPr lang="en-US" altLang="ko-Kore-KR" sz="44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Pain Points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4033B4E-B0E2-4E7D-9940-0E7C5ECBF387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7" name="T168">
            <a:extLst>
              <a:ext uri="{FF2B5EF4-FFF2-40B4-BE49-F238E27FC236}">
                <a16:creationId xmlns:a16="http://schemas.microsoft.com/office/drawing/2014/main" id="{2A518130-CE56-4959-BEB2-F56E811C0779}"/>
              </a:ext>
            </a:extLst>
          </p:cNvPr>
          <p:cNvSpPr>
            <a:spLocks noGrp="1"/>
          </p:cNvSpPr>
          <p:nvPr/>
        </p:nvSpPr>
        <p:spPr>
          <a:xfrm>
            <a:off x="914400" y="2031683"/>
            <a:ext cx="731520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lang="en-US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Pain Points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1   (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기업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고객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담당자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69" name="T170">
            <a:extLst>
              <a:ext uri="{FF2B5EF4-FFF2-40B4-BE49-F238E27FC236}">
                <a16:creationId xmlns:a16="http://schemas.microsoft.com/office/drawing/2014/main" id="{98F2BC75-49BA-4A97-873B-64B78165574F}"/>
              </a:ext>
            </a:extLst>
          </p:cNvPr>
          <p:cNvSpPr>
            <a:spLocks noGrp="1"/>
          </p:cNvSpPr>
          <p:nvPr/>
        </p:nvSpPr>
        <p:spPr>
          <a:xfrm>
            <a:off x="9326880" y="2031683"/>
            <a:ext cx="804672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해결 방안 1</a:t>
            </a:r>
          </a:p>
        </p:txBody>
      </p:sp>
      <p:sp>
        <p:nvSpPr>
          <p:cNvPr id="171" name="S172">
            <a:extLst>
              <a:ext uri="{FF2B5EF4-FFF2-40B4-BE49-F238E27FC236}">
                <a16:creationId xmlns:a16="http://schemas.microsoft.com/office/drawing/2014/main" id="{257033E6-A6FE-467C-9D4A-F709FEDB6FE3}"/>
              </a:ext>
            </a:extLst>
          </p:cNvPr>
          <p:cNvSpPr>
            <a:spLocks noGrp="1"/>
          </p:cNvSpPr>
          <p:nvPr/>
        </p:nvSpPr>
        <p:spPr>
          <a:xfrm>
            <a:off x="914400" y="2488883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3" name="T174">
            <a:extLst>
              <a:ext uri="{FF2B5EF4-FFF2-40B4-BE49-F238E27FC236}">
                <a16:creationId xmlns:a16="http://schemas.microsoft.com/office/drawing/2014/main" id="{A1310D9A-7D2B-49AA-814A-3A7356963D35}"/>
              </a:ext>
            </a:extLst>
          </p:cNvPr>
          <p:cNvSpPr>
            <a:spLocks noGrp="1"/>
          </p:cNvSpPr>
          <p:nvPr/>
        </p:nvSpPr>
        <p:spPr>
          <a:xfrm>
            <a:off x="1371600" y="2488883"/>
            <a:ext cx="6400800" cy="15727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담당자는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접수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전에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21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필수서류의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누락과</a:t>
            </a:r>
            <a:r>
              <a:rPr lang="ko-KR" altLang="en-US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주요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값의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불일치를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확인하기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어렵다</a:t>
            </a:r>
            <a:endParaRPr sz="21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5" name="A176">
            <a:extLst>
              <a:ext uri="{FF2B5EF4-FFF2-40B4-BE49-F238E27FC236}">
                <a16:creationId xmlns:a16="http://schemas.microsoft.com/office/drawing/2014/main" id="{126E0C32-114D-41F7-966A-8504767242D0}"/>
              </a:ext>
            </a:extLst>
          </p:cNvPr>
          <p:cNvSpPr>
            <a:spLocks noGrp="1"/>
          </p:cNvSpPr>
          <p:nvPr/>
        </p:nvSpPr>
        <p:spPr>
          <a:xfrm>
            <a:off x="8343900" y="3055811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77" name="S178">
            <a:extLst>
              <a:ext uri="{FF2B5EF4-FFF2-40B4-BE49-F238E27FC236}">
                <a16:creationId xmlns:a16="http://schemas.microsoft.com/office/drawing/2014/main" id="{9E909591-F641-418C-9579-05A2E34856CF}"/>
              </a:ext>
            </a:extLst>
          </p:cNvPr>
          <p:cNvSpPr>
            <a:spLocks noGrp="1"/>
          </p:cNvSpPr>
          <p:nvPr/>
        </p:nvSpPr>
        <p:spPr>
          <a:xfrm>
            <a:off x="9326880" y="2488883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79" name="T180">
            <a:extLst>
              <a:ext uri="{FF2B5EF4-FFF2-40B4-BE49-F238E27FC236}">
                <a16:creationId xmlns:a16="http://schemas.microsoft.com/office/drawing/2014/main" id="{A3E0B8E7-6049-459B-83C3-A925ADA302C5}"/>
              </a:ext>
            </a:extLst>
          </p:cNvPr>
          <p:cNvSpPr>
            <a:spLocks noGrp="1"/>
          </p:cNvSpPr>
          <p:nvPr/>
        </p:nvSpPr>
        <p:spPr>
          <a:xfrm>
            <a:off x="9784080" y="3013860"/>
            <a:ext cx="7132320" cy="5943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필수서류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3종의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누락과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납세증명서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유효기간을</a:t>
            </a:r>
            <a:r>
              <a:rPr lang="ko-KR" altLang="en-US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업로드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직후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자동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  <a:endParaRPr sz="2100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3" name="T184">
            <a:extLst>
              <a:ext uri="{FF2B5EF4-FFF2-40B4-BE49-F238E27FC236}">
                <a16:creationId xmlns:a16="http://schemas.microsoft.com/office/drawing/2014/main" id="{F84D7FDF-74F1-4B3B-84A9-2822F6AE6A3B}"/>
              </a:ext>
            </a:extLst>
          </p:cNvPr>
          <p:cNvSpPr>
            <a:spLocks noGrp="1"/>
          </p:cNvSpPr>
          <p:nvPr/>
        </p:nvSpPr>
        <p:spPr>
          <a:xfrm>
            <a:off x="914400" y="4518851"/>
            <a:ext cx="731520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</a:pPr>
            <a:r>
              <a:rPr lang="en-US" altLang="ko-Kore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Pain Points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2   (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은행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기업금융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담당자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85" name="T186">
            <a:extLst>
              <a:ext uri="{FF2B5EF4-FFF2-40B4-BE49-F238E27FC236}">
                <a16:creationId xmlns:a16="http://schemas.microsoft.com/office/drawing/2014/main" id="{D169162E-0844-48BF-998D-2EB523EDA387}"/>
              </a:ext>
            </a:extLst>
          </p:cNvPr>
          <p:cNvSpPr>
            <a:spLocks noGrp="1"/>
          </p:cNvSpPr>
          <p:nvPr/>
        </p:nvSpPr>
        <p:spPr>
          <a:xfrm>
            <a:off x="9326880" y="4518851"/>
            <a:ext cx="804672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해결 방안 2</a:t>
            </a:r>
          </a:p>
        </p:txBody>
      </p:sp>
      <p:sp>
        <p:nvSpPr>
          <p:cNvPr id="187" name="S188">
            <a:extLst>
              <a:ext uri="{FF2B5EF4-FFF2-40B4-BE49-F238E27FC236}">
                <a16:creationId xmlns:a16="http://schemas.microsoft.com/office/drawing/2014/main" id="{567594AA-3634-4021-82E4-51A3709EE241}"/>
              </a:ext>
            </a:extLst>
          </p:cNvPr>
          <p:cNvSpPr>
            <a:spLocks noGrp="1"/>
          </p:cNvSpPr>
          <p:nvPr/>
        </p:nvSpPr>
        <p:spPr>
          <a:xfrm>
            <a:off x="914400" y="4976051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9" name="T190">
            <a:extLst>
              <a:ext uri="{FF2B5EF4-FFF2-40B4-BE49-F238E27FC236}">
                <a16:creationId xmlns:a16="http://schemas.microsoft.com/office/drawing/2014/main" id="{4C381959-88B9-49D4-BDCA-C07A2FD34BAB}"/>
              </a:ext>
            </a:extLst>
          </p:cNvPr>
          <p:cNvSpPr>
            <a:spLocks noGrp="1"/>
          </p:cNvSpPr>
          <p:nvPr/>
        </p:nvSpPr>
        <p:spPr>
          <a:xfrm>
            <a:off x="1371600" y="4976051"/>
            <a:ext cx="6400800" cy="15727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담당자는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문서마다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21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기업명과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사업자등록번호를</a:t>
            </a:r>
            <a:r>
              <a:rPr lang="ko-KR" altLang="en-US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반복해서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대조해야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한다</a:t>
            </a:r>
            <a:endParaRPr sz="21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1" name="A192">
            <a:extLst>
              <a:ext uri="{FF2B5EF4-FFF2-40B4-BE49-F238E27FC236}">
                <a16:creationId xmlns:a16="http://schemas.microsoft.com/office/drawing/2014/main" id="{711AF8E9-D3C9-4F13-91DD-13DAEF040CC0}"/>
              </a:ext>
            </a:extLst>
          </p:cNvPr>
          <p:cNvSpPr>
            <a:spLocks noGrp="1"/>
          </p:cNvSpPr>
          <p:nvPr/>
        </p:nvSpPr>
        <p:spPr>
          <a:xfrm>
            <a:off x="8343900" y="5542979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93" name="S194">
            <a:extLst>
              <a:ext uri="{FF2B5EF4-FFF2-40B4-BE49-F238E27FC236}">
                <a16:creationId xmlns:a16="http://schemas.microsoft.com/office/drawing/2014/main" id="{8BA02F65-6935-4AA0-982F-DDC83AFEE160}"/>
              </a:ext>
            </a:extLst>
          </p:cNvPr>
          <p:cNvSpPr>
            <a:spLocks noGrp="1"/>
          </p:cNvSpPr>
          <p:nvPr/>
        </p:nvSpPr>
        <p:spPr>
          <a:xfrm>
            <a:off x="9326880" y="4976051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5" name="T196">
            <a:extLst>
              <a:ext uri="{FF2B5EF4-FFF2-40B4-BE49-F238E27FC236}">
                <a16:creationId xmlns:a16="http://schemas.microsoft.com/office/drawing/2014/main" id="{914D2034-C287-4CF9-832C-99BF2A8AB88B}"/>
              </a:ext>
            </a:extLst>
          </p:cNvPr>
          <p:cNvSpPr>
            <a:spLocks noGrp="1"/>
          </p:cNvSpPr>
          <p:nvPr/>
        </p:nvSpPr>
        <p:spPr>
          <a:xfrm>
            <a:off x="9784080" y="5542979"/>
            <a:ext cx="7132320" cy="5943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기업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기준정보와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문서별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OCR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추출값을</a:t>
            </a:r>
            <a:r>
              <a:rPr lang="ko-KR" altLang="en-US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교차검증해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불일치를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표시</a:t>
            </a:r>
            <a:endParaRPr sz="2100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9" name="T200">
            <a:extLst>
              <a:ext uri="{FF2B5EF4-FFF2-40B4-BE49-F238E27FC236}">
                <a16:creationId xmlns:a16="http://schemas.microsoft.com/office/drawing/2014/main" id="{4E18D0CF-EA03-4FC4-9A2B-4A17907E4389}"/>
              </a:ext>
            </a:extLst>
          </p:cNvPr>
          <p:cNvSpPr>
            <a:spLocks noGrp="1"/>
          </p:cNvSpPr>
          <p:nvPr/>
        </p:nvSpPr>
        <p:spPr>
          <a:xfrm>
            <a:off x="914400" y="7006019"/>
            <a:ext cx="731520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</a:pPr>
            <a:r>
              <a:rPr lang="en-US" altLang="ko-Kore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Pain Points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3   (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양측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0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공통</a:t>
            </a:r>
            <a:r>
              <a:rPr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201" name="T202">
            <a:extLst>
              <a:ext uri="{FF2B5EF4-FFF2-40B4-BE49-F238E27FC236}">
                <a16:creationId xmlns:a16="http://schemas.microsoft.com/office/drawing/2014/main" id="{7B22EF2A-9C46-437D-949F-E58155921853}"/>
              </a:ext>
            </a:extLst>
          </p:cNvPr>
          <p:cNvSpPr>
            <a:spLocks noGrp="1"/>
          </p:cNvSpPr>
          <p:nvPr/>
        </p:nvSpPr>
        <p:spPr>
          <a:xfrm>
            <a:off x="9326880" y="7006019"/>
            <a:ext cx="8046720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해결 방안 3</a:t>
            </a:r>
          </a:p>
        </p:txBody>
      </p:sp>
      <p:sp>
        <p:nvSpPr>
          <p:cNvPr id="203" name="S204">
            <a:extLst>
              <a:ext uri="{FF2B5EF4-FFF2-40B4-BE49-F238E27FC236}">
                <a16:creationId xmlns:a16="http://schemas.microsoft.com/office/drawing/2014/main" id="{892574E3-C71F-441C-85BF-A73BFD65F315}"/>
              </a:ext>
            </a:extLst>
          </p:cNvPr>
          <p:cNvSpPr>
            <a:spLocks noGrp="1"/>
          </p:cNvSpPr>
          <p:nvPr/>
        </p:nvSpPr>
        <p:spPr>
          <a:xfrm>
            <a:off x="914400" y="7463219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206">
            <a:extLst>
              <a:ext uri="{FF2B5EF4-FFF2-40B4-BE49-F238E27FC236}">
                <a16:creationId xmlns:a16="http://schemas.microsoft.com/office/drawing/2014/main" id="{29DB7B21-D849-4FC4-B51B-51689D078436}"/>
              </a:ext>
            </a:extLst>
          </p:cNvPr>
          <p:cNvSpPr>
            <a:spLocks noGrp="1"/>
          </p:cNvSpPr>
          <p:nvPr/>
        </p:nvSpPr>
        <p:spPr>
          <a:xfrm>
            <a:off x="1371600" y="7463219"/>
            <a:ext cx="6400800" cy="15727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제출이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반복되면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최신본과</a:t>
            </a:r>
            <a:r>
              <a:rPr lang="ko-KR" altLang="en-US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이전본을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구분하기</a:t>
            </a:r>
            <a:r>
              <a:rPr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어렵다</a:t>
            </a:r>
            <a:endParaRPr sz="21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7" name="A208">
            <a:extLst>
              <a:ext uri="{FF2B5EF4-FFF2-40B4-BE49-F238E27FC236}">
                <a16:creationId xmlns:a16="http://schemas.microsoft.com/office/drawing/2014/main" id="{43B04562-3916-4EB3-A8AB-F28531410E99}"/>
              </a:ext>
            </a:extLst>
          </p:cNvPr>
          <p:cNvSpPr>
            <a:spLocks noGrp="1"/>
          </p:cNvSpPr>
          <p:nvPr/>
        </p:nvSpPr>
        <p:spPr>
          <a:xfrm>
            <a:off x="8343900" y="8030147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209" name="S210">
            <a:extLst>
              <a:ext uri="{FF2B5EF4-FFF2-40B4-BE49-F238E27FC236}">
                <a16:creationId xmlns:a16="http://schemas.microsoft.com/office/drawing/2014/main" id="{B2F8AB55-C375-47FB-8872-EA9BCF9FE5CD}"/>
              </a:ext>
            </a:extLst>
          </p:cNvPr>
          <p:cNvSpPr>
            <a:spLocks noGrp="1"/>
          </p:cNvSpPr>
          <p:nvPr/>
        </p:nvSpPr>
        <p:spPr>
          <a:xfrm>
            <a:off x="9326880" y="7463219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T212">
            <a:extLst>
              <a:ext uri="{FF2B5EF4-FFF2-40B4-BE49-F238E27FC236}">
                <a16:creationId xmlns:a16="http://schemas.microsoft.com/office/drawing/2014/main" id="{10A789AB-BD10-4306-BA40-5345BA48DD65}"/>
              </a:ext>
            </a:extLst>
          </p:cNvPr>
          <p:cNvSpPr>
            <a:spLocks noGrp="1"/>
          </p:cNvSpPr>
          <p:nvPr/>
        </p:nvSpPr>
        <p:spPr>
          <a:xfrm>
            <a:off x="9784080" y="8030147"/>
            <a:ext cx="7132320" cy="5943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문서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유형별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버전과</a:t>
            </a:r>
            <a:r>
              <a:rPr lang="ko-KR" altLang="en-US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제출</a:t>
            </a:r>
            <a:r>
              <a:rPr lang="en-US" alt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검토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이력을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함께</a:t>
            </a:r>
            <a:r>
              <a:rPr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보존</a:t>
            </a:r>
            <a:endParaRPr sz="2100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683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4867DB8-607D-4D1D-9A59-084F32A11C2D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12568FE-C7A3-40CD-B458-60C3A970079B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261542A-92C8-443B-80B9-043073C18F87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67B992-F8C5-47CD-82FE-1B77063BA13B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시스템 액터 정의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72DB0C6-20A1-4B11-B46E-F332E4311312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7" name="S218">
            <a:extLst>
              <a:ext uri="{FF2B5EF4-FFF2-40B4-BE49-F238E27FC236}">
                <a16:creationId xmlns:a16="http://schemas.microsoft.com/office/drawing/2014/main" id="{34DF12BB-F2BD-4396-AF1F-5F53083AE43D}"/>
              </a:ext>
            </a:extLst>
          </p:cNvPr>
          <p:cNvSpPr>
            <a:spLocks noGrp="1"/>
          </p:cNvSpPr>
          <p:nvPr/>
        </p:nvSpPr>
        <p:spPr>
          <a:xfrm>
            <a:off x="914400" y="2218701"/>
            <a:ext cx="274320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T220">
            <a:extLst>
              <a:ext uri="{FF2B5EF4-FFF2-40B4-BE49-F238E27FC236}">
                <a16:creationId xmlns:a16="http://schemas.microsoft.com/office/drawing/2014/main" id="{C2F62E77-FC3F-43E2-B9D4-681069DF9992}"/>
              </a:ext>
            </a:extLst>
          </p:cNvPr>
          <p:cNvSpPr>
            <a:spLocks noGrp="1"/>
          </p:cNvSpPr>
          <p:nvPr/>
        </p:nvSpPr>
        <p:spPr>
          <a:xfrm>
            <a:off x="1115568" y="2218701"/>
            <a:ext cx="2340864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Actor 구분</a:t>
            </a:r>
          </a:p>
        </p:txBody>
      </p:sp>
      <p:sp>
        <p:nvSpPr>
          <p:cNvPr id="221" name="S222">
            <a:extLst>
              <a:ext uri="{FF2B5EF4-FFF2-40B4-BE49-F238E27FC236}">
                <a16:creationId xmlns:a16="http://schemas.microsoft.com/office/drawing/2014/main" id="{B699818F-02E0-4774-9BE8-03341BBF0A05}"/>
              </a:ext>
            </a:extLst>
          </p:cNvPr>
          <p:cNvSpPr>
            <a:spLocks noGrp="1"/>
          </p:cNvSpPr>
          <p:nvPr/>
        </p:nvSpPr>
        <p:spPr>
          <a:xfrm>
            <a:off x="3657600" y="2218701"/>
            <a:ext cx="32918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T224">
            <a:extLst>
              <a:ext uri="{FF2B5EF4-FFF2-40B4-BE49-F238E27FC236}">
                <a16:creationId xmlns:a16="http://schemas.microsoft.com/office/drawing/2014/main" id="{258F5DA7-C70F-4E5A-AAC6-5FD82DDB2A3A}"/>
              </a:ext>
            </a:extLst>
          </p:cNvPr>
          <p:cNvSpPr>
            <a:spLocks noGrp="1"/>
          </p:cNvSpPr>
          <p:nvPr/>
        </p:nvSpPr>
        <p:spPr>
          <a:xfrm>
            <a:off x="3858768" y="2218701"/>
            <a:ext cx="2889504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역할 및 권한</a:t>
            </a:r>
          </a:p>
        </p:txBody>
      </p:sp>
      <p:sp>
        <p:nvSpPr>
          <p:cNvPr id="225" name="S226">
            <a:extLst>
              <a:ext uri="{FF2B5EF4-FFF2-40B4-BE49-F238E27FC236}">
                <a16:creationId xmlns:a16="http://schemas.microsoft.com/office/drawing/2014/main" id="{DD1E9527-8102-4C82-BC85-21D8A7C0974A}"/>
              </a:ext>
            </a:extLst>
          </p:cNvPr>
          <p:cNvSpPr>
            <a:spLocks noGrp="1"/>
          </p:cNvSpPr>
          <p:nvPr/>
        </p:nvSpPr>
        <p:spPr>
          <a:xfrm>
            <a:off x="6949440" y="2218701"/>
            <a:ext cx="104241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T228">
            <a:extLst>
              <a:ext uri="{FF2B5EF4-FFF2-40B4-BE49-F238E27FC236}">
                <a16:creationId xmlns:a16="http://schemas.microsoft.com/office/drawing/2014/main" id="{E33C4C2B-CDEB-4B64-9F8C-3463C22D466C}"/>
              </a:ext>
            </a:extLst>
          </p:cNvPr>
          <p:cNvSpPr>
            <a:spLocks noGrp="1"/>
          </p:cNvSpPr>
          <p:nvPr/>
        </p:nvSpPr>
        <p:spPr>
          <a:xfrm>
            <a:off x="7150608" y="2218701"/>
            <a:ext cx="10021824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상세 제공 기능</a:t>
            </a:r>
          </a:p>
        </p:txBody>
      </p:sp>
      <p:sp>
        <p:nvSpPr>
          <p:cNvPr id="229" name="S230">
            <a:extLst>
              <a:ext uri="{FF2B5EF4-FFF2-40B4-BE49-F238E27FC236}">
                <a16:creationId xmlns:a16="http://schemas.microsoft.com/office/drawing/2014/main" id="{C94759AE-6FEA-4A6C-981A-0851F287FA99}"/>
              </a:ext>
            </a:extLst>
          </p:cNvPr>
          <p:cNvSpPr>
            <a:spLocks noGrp="1"/>
          </p:cNvSpPr>
          <p:nvPr/>
        </p:nvSpPr>
        <p:spPr>
          <a:xfrm>
            <a:off x="914400" y="2950221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T232">
            <a:extLst>
              <a:ext uri="{FF2B5EF4-FFF2-40B4-BE49-F238E27FC236}">
                <a16:creationId xmlns:a16="http://schemas.microsoft.com/office/drawing/2014/main" id="{5A04A07A-1D4C-4C03-8F4E-1111923E5C98}"/>
              </a:ext>
            </a:extLst>
          </p:cNvPr>
          <p:cNvSpPr>
            <a:spLocks noGrp="1"/>
          </p:cNvSpPr>
          <p:nvPr/>
        </p:nvSpPr>
        <p:spPr>
          <a:xfrm>
            <a:off x="1115568" y="2950221"/>
            <a:ext cx="234086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 고객
담당자</a:t>
            </a:r>
          </a:p>
        </p:txBody>
      </p:sp>
      <p:sp>
        <p:nvSpPr>
          <p:cNvPr id="233" name="S234">
            <a:extLst>
              <a:ext uri="{FF2B5EF4-FFF2-40B4-BE49-F238E27FC236}">
                <a16:creationId xmlns:a16="http://schemas.microsoft.com/office/drawing/2014/main" id="{4E82460C-FD3F-4707-ACE9-285DA265D013}"/>
              </a:ext>
            </a:extLst>
          </p:cNvPr>
          <p:cNvSpPr>
            <a:spLocks noGrp="1"/>
          </p:cNvSpPr>
          <p:nvPr/>
        </p:nvSpPr>
        <p:spPr>
          <a:xfrm>
            <a:off x="3657600" y="2950221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T236">
            <a:extLst>
              <a:ext uri="{FF2B5EF4-FFF2-40B4-BE49-F238E27FC236}">
                <a16:creationId xmlns:a16="http://schemas.microsoft.com/office/drawing/2014/main" id="{4B7780CC-6C45-4C28-873B-EFEB98E7AE97}"/>
              </a:ext>
            </a:extLst>
          </p:cNvPr>
          <p:cNvSpPr>
            <a:spLocks noGrp="1"/>
          </p:cNvSpPr>
          <p:nvPr/>
        </p:nvSpPr>
        <p:spPr>
          <a:xfrm>
            <a:off x="3858768" y="2950221"/>
            <a:ext cx="288950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서류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준비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및</a:t>
            </a:r>
            <a:r>
              <a:rPr lang="en-US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endParaRPr sz="1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7" name="S238">
            <a:extLst>
              <a:ext uri="{FF2B5EF4-FFF2-40B4-BE49-F238E27FC236}">
                <a16:creationId xmlns:a16="http://schemas.microsoft.com/office/drawing/2014/main" id="{D8888637-5BB6-4049-8E4E-1244983E98D8}"/>
              </a:ext>
            </a:extLst>
          </p:cNvPr>
          <p:cNvSpPr>
            <a:spLocks noGrp="1"/>
          </p:cNvSpPr>
          <p:nvPr/>
        </p:nvSpPr>
        <p:spPr>
          <a:xfrm>
            <a:off x="6949440" y="2950221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9" name="T240">
            <a:extLst>
              <a:ext uri="{FF2B5EF4-FFF2-40B4-BE49-F238E27FC236}">
                <a16:creationId xmlns:a16="http://schemas.microsoft.com/office/drawing/2014/main" id="{12C43ED5-0672-4E87-9B42-69DD60200D04}"/>
              </a:ext>
            </a:extLst>
          </p:cNvPr>
          <p:cNvSpPr>
            <a:spLocks noGrp="1"/>
          </p:cNvSpPr>
          <p:nvPr/>
        </p:nvSpPr>
        <p:spPr>
          <a:xfrm>
            <a:off x="7150608" y="2950221"/>
            <a:ext cx="1002182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은행이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보낸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초대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링크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로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계정을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활성화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소속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기업의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신청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건만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조회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필수서류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3종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업로드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· OCR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처리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사전검증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재제출</a:t>
            </a:r>
            <a:endParaRPr sz="1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1" name="S242">
            <a:extLst>
              <a:ext uri="{FF2B5EF4-FFF2-40B4-BE49-F238E27FC236}">
                <a16:creationId xmlns:a16="http://schemas.microsoft.com/office/drawing/2014/main" id="{50A75C4F-7D81-4B4B-98CF-79C38292D0B3}"/>
              </a:ext>
            </a:extLst>
          </p:cNvPr>
          <p:cNvSpPr>
            <a:spLocks noGrp="1"/>
          </p:cNvSpPr>
          <p:nvPr/>
        </p:nvSpPr>
        <p:spPr>
          <a:xfrm>
            <a:off x="914400" y="4367541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T244">
            <a:extLst>
              <a:ext uri="{FF2B5EF4-FFF2-40B4-BE49-F238E27FC236}">
                <a16:creationId xmlns:a16="http://schemas.microsoft.com/office/drawing/2014/main" id="{BC957FFD-5CE0-44A8-8622-1B983C9F7774}"/>
              </a:ext>
            </a:extLst>
          </p:cNvPr>
          <p:cNvSpPr>
            <a:spLocks noGrp="1"/>
          </p:cNvSpPr>
          <p:nvPr/>
        </p:nvSpPr>
        <p:spPr>
          <a:xfrm>
            <a:off x="1115568" y="4367541"/>
            <a:ext cx="234086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 기업금융
담당자</a:t>
            </a:r>
          </a:p>
        </p:txBody>
      </p:sp>
      <p:sp>
        <p:nvSpPr>
          <p:cNvPr id="245" name="S246">
            <a:extLst>
              <a:ext uri="{FF2B5EF4-FFF2-40B4-BE49-F238E27FC236}">
                <a16:creationId xmlns:a16="http://schemas.microsoft.com/office/drawing/2014/main" id="{0357AECF-915D-4C9C-937F-A35736C1E535}"/>
              </a:ext>
            </a:extLst>
          </p:cNvPr>
          <p:cNvSpPr>
            <a:spLocks noGrp="1"/>
          </p:cNvSpPr>
          <p:nvPr/>
        </p:nvSpPr>
        <p:spPr>
          <a:xfrm>
            <a:off x="3657600" y="4367541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7" name="T248">
            <a:extLst>
              <a:ext uri="{FF2B5EF4-FFF2-40B4-BE49-F238E27FC236}">
                <a16:creationId xmlns:a16="http://schemas.microsoft.com/office/drawing/2014/main" id="{B7F014B2-8142-4A0D-8423-35CD8CDF8908}"/>
              </a:ext>
            </a:extLst>
          </p:cNvPr>
          <p:cNvSpPr>
            <a:spLocks noGrp="1"/>
          </p:cNvSpPr>
          <p:nvPr/>
        </p:nvSpPr>
        <p:spPr>
          <a:xfrm>
            <a:off x="3858768" y="4367541"/>
            <a:ext cx="288950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제출서류</a:t>
            </a:r>
            <a:r>
              <a:rPr lang="en-US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및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1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결정</a:t>
            </a:r>
            <a:endParaRPr sz="1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9" name="S250">
            <a:extLst>
              <a:ext uri="{FF2B5EF4-FFF2-40B4-BE49-F238E27FC236}">
                <a16:creationId xmlns:a16="http://schemas.microsoft.com/office/drawing/2014/main" id="{C48662B2-A94C-4CC1-8F67-A1973168E654}"/>
              </a:ext>
            </a:extLst>
          </p:cNvPr>
          <p:cNvSpPr>
            <a:spLocks noGrp="1"/>
          </p:cNvSpPr>
          <p:nvPr/>
        </p:nvSpPr>
        <p:spPr>
          <a:xfrm>
            <a:off x="6949440" y="4367541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1" name="T252">
            <a:extLst>
              <a:ext uri="{FF2B5EF4-FFF2-40B4-BE49-F238E27FC236}">
                <a16:creationId xmlns:a16="http://schemas.microsoft.com/office/drawing/2014/main" id="{D0D2E730-EE2A-4EA7-9F0E-1E8F812F4284}"/>
              </a:ext>
            </a:extLst>
          </p:cNvPr>
          <p:cNvSpPr>
            <a:spLocks noGrp="1"/>
          </p:cNvSpPr>
          <p:nvPr/>
        </p:nvSpPr>
        <p:spPr>
          <a:xfrm>
            <a:off x="7150608" y="4367541"/>
            <a:ext cx="10021824" cy="14173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은행이 발급한 직원 계정으로 로그인, 제출된 신청 건 검토
최신 원본 · OCR 추출값 · 교차검증 결과 · 버전 이력 확인 · 서류 확인 완료 · 보완 요청</a:t>
            </a:r>
          </a:p>
        </p:txBody>
      </p:sp>
      <p:sp>
        <p:nvSpPr>
          <p:cNvPr id="255" name="S256">
            <a:extLst>
              <a:ext uri="{FF2B5EF4-FFF2-40B4-BE49-F238E27FC236}">
                <a16:creationId xmlns:a16="http://schemas.microsoft.com/office/drawing/2014/main" id="{14379F5A-619B-45D0-9E8F-E680DD3BE3E4}"/>
              </a:ext>
            </a:extLst>
          </p:cNvPr>
          <p:cNvSpPr>
            <a:spLocks noGrp="1"/>
          </p:cNvSpPr>
          <p:nvPr/>
        </p:nvSpPr>
        <p:spPr>
          <a:xfrm>
            <a:off x="914400" y="6733275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257" name="T258">
            <a:extLst>
              <a:ext uri="{FF2B5EF4-FFF2-40B4-BE49-F238E27FC236}">
                <a16:creationId xmlns:a16="http://schemas.microsoft.com/office/drawing/2014/main" id="{8C880A5C-5456-4FE3-9EC9-CC1B42AB55C5}"/>
              </a:ext>
            </a:extLst>
          </p:cNvPr>
          <p:cNvSpPr>
            <a:spLocks noGrp="1"/>
          </p:cNvSpPr>
          <p:nvPr/>
        </p:nvSpPr>
        <p:spPr>
          <a:xfrm>
            <a:off x="1071764" y="6623547"/>
            <a:ext cx="9091325" cy="3931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2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핵심 흐름</a:t>
            </a:r>
          </a:p>
        </p:txBody>
      </p:sp>
      <p:sp>
        <p:nvSpPr>
          <p:cNvPr id="259" name="S260">
            <a:extLst>
              <a:ext uri="{FF2B5EF4-FFF2-40B4-BE49-F238E27FC236}">
                <a16:creationId xmlns:a16="http://schemas.microsoft.com/office/drawing/2014/main" id="{FE9C6FEB-A5C7-43AD-8E1E-FBAD2158455E}"/>
              </a:ext>
            </a:extLst>
          </p:cNvPr>
          <p:cNvSpPr>
            <a:spLocks noGrp="1"/>
          </p:cNvSpPr>
          <p:nvPr/>
        </p:nvSpPr>
        <p:spPr>
          <a:xfrm>
            <a:off x="914400" y="7227051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1" name="E262">
            <a:extLst>
              <a:ext uri="{FF2B5EF4-FFF2-40B4-BE49-F238E27FC236}">
                <a16:creationId xmlns:a16="http://schemas.microsoft.com/office/drawing/2014/main" id="{31DD55CA-4668-4788-9B8B-AB527631E969}"/>
              </a:ext>
            </a:extLst>
          </p:cNvPr>
          <p:cNvSpPr>
            <a:spLocks noGrp="1"/>
          </p:cNvSpPr>
          <p:nvPr/>
        </p:nvSpPr>
        <p:spPr>
          <a:xfrm>
            <a:off x="1188720" y="7483083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263" name="T264">
            <a:extLst>
              <a:ext uri="{FF2B5EF4-FFF2-40B4-BE49-F238E27FC236}">
                <a16:creationId xmlns:a16="http://schemas.microsoft.com/office/drawing/2014/main" id="{2B36FFD0-1954-4CD7-B12B-B49850CE24DE}"/>
              </a:ext>
            </a:extLst>
          </p:cNvPr>
          <p:cNvSpPr>
            <a:spLocks noGrp="1"/>
          </p:cNvSpPr>
          <p:nvPr/>
        </p:nvSpPr>
        <p:spPr>
          <a:xfrm>
            <a:off x="1188720" y="7483083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265" name="T266">
            <a:extLst>
              <a:ext uri="{FF2B5EF4-FFF2-40B4-BE49-F238E27FC236}">
                <a16:creationId xmlns:a16="http://schemas.microsoft.com/office/drawing/2014/main" id="{22FB3993-D0A1-4A9C-8EEB-24EB01EA0D5A}"/>
              </a:ext>
            </a:extLst>
          </p:cNvPr>
          <p:cNvSpPr>
            <a:spLocks noGrp="1"/>
          </p:cNvSpPr>
          <p:nvPr/>
        </p:nvSpPr>
        <p:spPr>
          <a:xfrm>
            <a:off x="1737360" y="7446507"/>
            <a:ext cx="2066544" cy="53035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초대 계정 활성화</a:t>
            </a:r>
          </a:p>
        </p:txBody>
      </p:sp>
      <p:sp>
        <p:nvSpPr>
          <p:cNvPr id="267" name="T268">
            <a:extLst>
              <a:ext uri="{FF2B5EF4-FFF2-40B4-BE49-F238E27FC236}">
                <a16:creationId xmlns:a16="http://schemas.microsoft.com/office/drawing/2014/main" id="{64666C84-97AC-4D76-A1E9-4692DDABCC4E}"/>
              </a:ext>
            </a:extLst>
          </p:cNvPr>
          <p:cNvSpPr>
            <a:spLocks noGrp="1"/>
          </p:cNvSpPr>
          <p:nvPr/>
        </p:nvSpPr>
        <p:spPr>
          <a:xfrm>
            <a:off x="1188720" y="8068299"/>
            <a:ext cx="2523744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초대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링크로만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진입</a:t>
            </a:r>
            <a:endParaRPr sz="15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9" name="T270">
            <a:extLst>
              <a:ext uri="{FF2B5EF4-FFF2-40B4-BE49-F238E27FC236}">
                <a16:creationId xmlns:a16="http://schemas.microsoft.com/office/drawing/2014/main" id="{80A5C737-EAA7-4B3A-9819-31AA86A4D4A1}"/>
              </a:ext>
            </a:extLst>
          </p:cNvPr>
          <p:cNvSpPr>
            <a:spLocks noGrp="1"/>
          </p:cNvSpPr>
          <p:nvPr/>
        </p:nvSpPr>
        <p:spPr>
          <a:xfrm>
            <a:off x="3877056" y="7684251"/>
            <a:ext cx="493776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271" name="S272">
            <a:extLst>
              <a:ext uri="{FF2B5EF4-FFF2-40B4-BE49-F238E27FC236}">
                <a16:creationId xmlns:a16="http://schemas.microsoft.com/office/drawing/2014/main" id="{1F721E35-EAC9-4C07-9831-AD740E13E653}"/>
              </a:ext>
            </a:extLst>
          </p:cNvPr>
          <p:cNvSpPr>
            <a:spLocks noGrp="1"/>
          </p:cNvSpPr>
          <p:nvPr/>
        </p:nvSpPr>
        <p:spPr>
          <a:xfrm>
            <a:off x="4261104" y="7227051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3" name="E274">
            <a:extLst>
              <a:ext uri="{FF2B5EF4-FFF2-40B4-BE49-F238E27FC236}">
                <a16:creationId xmlns:a16="http://schemas.microsoft.com/office/drawing/2014/main" id="{FA1D06CE-136A-4720-859B-3C4B753DBD33}"/>
              </a:ext>
            </a:extLst>
          </p:cNvPr>
          <p:cNvSpPr>
            <a:spLocks noGrp="1"/>
          </p:cNvSpPr>
          <p:nvPr/>
        </p:nvSpPr>
        <p:spPr>
          <a:xfrm>
            <a:off x="4873752" y="7483083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275" name="T276">
            <a:extLst>
              <a:ext uri="{FF2B5EF4-FFF2-40B4-BE49-F238E27FC236}">
                <a16:creationId xmlns:a16="http://schemas.microsoft.com/office/drawing/2014/main" id="{A215A8C2-2C70-4F06-AABF-E0FE995F4030}"/>
              </a:ext>
            </a:extLst>
          </p:cNvPr>
          <p:cNvSpPr>
            <a:spLocks noGrp="1"/>
          </p:cNvSpPr>
          <p:nvPr/>
        </p:nvSpPr>
        <p:spPr>
          <a:xfrm>
            <a:off x="4873752" y="7483083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277" name="T278">
            <a:extLst>
              <a:ext uri="{FF2B5EF4-FFF2-40B4-BE49-F238E27FC236}">
                <a16:creationId xmlns:a16="http://schemas.microsoft.com/office/drawing/2014/main" id="{068D61A9-5308-4566-B0F1-9C5E24098160}"/>
              </a:ext>
            </a:extLst>
          </p:cNvPr>
          <p:cNvSpPr>
            <a:spLocks noGrp="1"/>
          </p:cNvSpPr>
          <p:nvPr/>
        </p:nvSpPr>
        <p:spPr>
          <a:xfrm>
            <a:off x="5422392" y="7446507"/>
            <a:ext cx="2066544" cy="53035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서류 업로드</a:t>
            </a:r>
          </a:p>
        </p:txBody>
      </p:sp>
      <p:sp>
        <p:nvSpPr>
          <p:cNvPr id="279" name="T280">
            <a:extLst>
              <a:ext uri="{FF2B5EF4-FFF2-40B4-BE49-F238E27FC236}">
                <a16:creationId xmlns:a16="http://schemas.microsoft.com/office/drawing/2014/main" id="{A8B8AB8E-A4C9-40C1-ABAF-9BDA23BBC0E2}"/>
              </a:ext>
            </a:extLst>
          </p:cNvPr>
          <p:cNvSpPr>
            <a:spLocks noGrp="1"/>
          </p:cNvSpPr>
          <p:nvPr/>
        </p:nvSpPr>
        <p:spPr>
          <a:xfrm>
            <a:off x="4535424" y="8068299"/>
            <a:ext cx="2523744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필수 3종 · JPG/PNG/PDF</a:t>
            </a:r>
          </a:p>
        </p:txBody>
      </p:sp>
      <p:sp>
        <p:nvSpPr>
          <p:cNvPr id="281" name="T282">
            <a:extLst>
              <a:ext uri="{FF2B5EF4-FFF2-40B4-BE49-F238E27FC236}">
                <a16:creationId xmlns:a16="http://schemas.microsoft.com/office/drawing/2014/main" id="{59F295D3-CB89-48FD-8B3B-E7AAF6358C1B}"/>
              </a:ext>
            </a:extLst>
          </p:cNvPr>
          <p:cNvSpPr>
            <a:spLocks noGrp="1"/>
          </p:cNvSpPr>
          <p:nvPr/>
        </p:nvSpPr>
        <p:spPr>
          <a:xfrm>
            <a:off x="7223760" y="7684251"/>
            <a:ext cx="493776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283" name="S284">
            <a:extLst>
              <a:ext uri="{FF2B5EF4-FFF2-40B4-BE49-F238E27FC236}">
                <a16:creationId xmlns:a16="http://schemas.microsoft.com/office/drawing/2014/main" id="{64C78A9C-ACDC-4AC5-AED4-F7A7E3271291}"/>
              </a:ext>
            </a:extLst>
          </p:cNvPr>
          <p:cNvSpPr>
            <a:spLocks noGrp="1"/>
          </p:cNvSpPr>
          <p:nvPr/>
        </p:nvSpPr>
        <p:spPr>
          <a:xfrm>
            <a:off x="7607808" y="7227051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EA002C"/>
          </a:solidFill>
          <a:ln w="15875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5" name="E286">
            <a:extLst>
              <a:ext uri="{FF2B5EF4-FFF2-40B4-BE49-F238E27FC236}">
                <a16:creationId xmlns:a16="http://schemas.microsoft.com/office/drawing/2014/main" id="{8876EEEF-30EB-4E35-A4B9-08B79F83DCED}"/>
              </a:ext>
            </a:extLst>
          </p:cNvPr>
          <p:cNvSpPr>
            <a:spLocks noGrp="1"/>
          </p:cNvSpPr>
          <p:nvPr/>
        </p:nvSpPr>
        <p:spPr>
          <a:xfrm>
            <a:off x="8030671" y="7519659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87" name="T288">
            <a:extLst>
              <a:ext uri="{FF2B5EF4-FFF2-40B4-BE49-F238E27FC236}">
                <a16:creationId xmlns:a16="http://schemas.microsoft.com/office/drawing/2014/main" id="{B73EFF95-F092-40C0-A7EF-251F77383F1C}"/>
              </a:ext>
            </a:extLst>
          </p:cNvPr>
          <p:cNvSpPr>
            <a:spLocks noGrp="1"/>
          </p:cNvSpPr>
          <p:nvPr/>
        </p:nvSpPr>
        <p:spPr>
          <a:xfrm>
            <a:off x="8030671" y="7519659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89" name="T290">
            <a:extLst>
              <a:ext uri="{FF2B5EF4-FFF2-40B4-BE49-F238E27FC236}">
                <a16:creationId xmlns:a16="http://schemas.microsoft.com/office/drawing/2014/main" id="{95B70B9D-8CB2-4DAF-889F-DE2894D8E78D}"/>
              </a:ext>
            </a:extLst>
          </p:cNvPr>
          <p:cNvSpPr>
            <a:spLocks noGrp="1"/>
          </p:cNvSpPr>
          <p:nvPr/>
        </p:nvSpPr>
        <p:spPr>
          <a:xfrm>
            <a:off x="8579311" y="7483083"/>
            <a:ext cx="2066544" cy="53035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8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OCR · </a:t>
            </a:r>
            <a:r>
              <a:rPr sz="180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자동</a:t>
            </a:r>
            <a:r>
              <a:rPr sz="18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  <a:endParaRPr sz="180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1" name="T292">
            <a:extLst>
              <a:ext uri="{FF2B5EF4-FFF2-40B4-BE49-F238E27FC236}">
                <a16:creationId xmlns:a16="http://schemas.microsoft.com/office/drawing/2014/main" id="{5F6340C9-63C0-48B7-97D6-A55D6BCDE612}"/>
              </a:ext>
            </a:extLst>
          </p:cNvPr>
          <p:cNvSpPr>
            <a:spLocks noGrp="1"/>
          </p:cNvSpPr>
          <p:nvPr/>
        </p:nvSpPr>
        <p:spPr>
          <a:xfrm>
            <a:off x="7882128" y="8068299"/>
            <a:ext cx="2523744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FFC9D2"/>
                </a:solidFill>
                <a:latin typeface="Pretendard Medium"/>
                <a:ea typeface="Pretendard Medium"/>
                <a:cs typeface="Pretendard Medium"/>
              </a:rPr>
              <a:t>누락 · 기간 · 불일치</a:t>
            </a:r>
          </a:p>
        </p:txBody>
      </p:sp>
      <p:sp>
        <p:nvSpPr>
          <p:cNvPr id="293" name="T294">
            <a:extLst>
              <a:ext uri="{FF2B5EF4-FFF2-40B4-BE49-F238E27FC236}">
                <a16:creationId xmlns:a16="http://schemas.microsoft.com/office/drawing/2014/main" id="{10547FE2-D9B4-4377-A479-FA39EFB38046}"/>
              </a:ext>
            </a:extLst>
          </p:cNvPr>
          <p:cNvSpPr>
            <a:spLocks noGrp="1"/>
          </p:cNvSpPr>
          <p:nvPr/>
        </p:nvSpPr>
        <p:spPr>
          <a:xfrm>
            <a:off x="10570464" y="7684251"/>
            <a:ext cx="493776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295" name="S296">
            <a:extLst>
              <a:ext uri="{FF2B5EF4-FFF2-40B4-BE49-F238E27FC236}">
                <a16:creationId xmlns:a16="http://schemas.microsoft.com/office/drawing/2014/main" id="{2DDB0034-6757-4FBB-8D15-7A329C0A3AB9}"/>
              </a:ext>
            </a:extLst>
          </p:cNvPr>
          <p:cNvSpPr>
            <a:spLocks noGrp="1"/>
          </p:cNvSpPr>
          <p:nvPr/>
        </p:nvSpPr>
        <p:spPr>
          <a:xfrm>
            <a:off x="10954512" y="7227051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7" name="E298">
            <a:extLst>
              <a:ext uri="{FF2B5EF4-FFF2-40B4-BE49-F238E27FC236}">
                <a16:creationId xmlns:a16="http://schemas.microsoft.com/office/drawing/2014/main" id="{1D593AF4-CACC-4074-97D5-F6C7445F8239}"/>
              </a:ext>
            </a:extLst>
          </p:cNvPr>
          <p:cNvSpPr>
            <a:spLocks noGrp="1"/>
          </p:cNvSpPr>
          <p:nvPr/>
        </p:nvSpPr>
        <p:spPr>
          <a:xfrm>
            <a:off x="11704320" y="7455956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299" name="T300">
            <a:extLst>
              <a:ext uri="{FF2B5EF4-FFF2-40B4-BE49-F238E27FC236}">
                <a16:creationId xmlns:a16="http://schemas.microsoft.com/office/drawing/2014/main" id="{B7817D08-EE56-4CD1-AD88-17B7D6A1319E}"/>
              </a:ext>
            </a:extLst>
          </p:cNvPr>
          <p:cNvSpPr>
            <a:spLocks noGrp="1"/>
          </p:cNvSpPr>
          <p:nvPr/>
        </p:nvSpPr>
        <p:spPr>
          <a:xfrm>
            <a:off x="11704320" y="7455956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01" name="T302">
            <a:extLst>
              <a:ext uri="{FF2B5EF4-FFF2-40B4-BE49-F238E27FC236}">
                <a16:creationId xmlns:a16="http://schemas.microsoft.com/office/drawing/2014/main" id="{C545D462-6763-4884-9471-DE33C5894878}"/>
              </a:ext>
            </a:extLst>
          </p:cNvPr>
          <p:cNvSpPr>
            <a:spLocks noGrp="1"/>
          </p:cNvSpPr>
          <p:nvPr/>
        </p:nvSpPr>
        <p:spPr>
          <a:xfrm>
            <a:off x="12252960" y="7419380"/>
            <a:ext cx="2066544" cy="53035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자가 보완</a:t>
            </a:r>
          </a:p>
        </p:txBody>
      </p:sp>
      <p:sp>
        <p:nvSpPr>
          <p:cNvPr id="303" name="T304">
            <a:extLst>
              <a:ext uri="{FF2B5EF4-FFF2-40B4-BE49-F238E27FC236}">
                <a16:creationId xmlns:a16="http://schemas.microsoft.com/office/drawing/2014/main" id="{F194071B-3ABB-48B2-83EE-B9108A848151}"/>
              </a:ext>
            </a:extLst>
          </p:cNvPr>
          <p:cNvSpPr>
            <a:spLocks noGrp="1"/>
          </p:cNvSpPr>
          <p:nvPr/>
        </p:nvSpPr>
        <p:spPr>
          <a:xfrm>
            <a:off x="11228832" y="8068299"/>
            <a:ext cx="2523744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해당 문서 재업로드</a:t>
            </a:r>
          </a:p>
        </p:txBody>
      </p:sp>
      <p:sp>
        <p:nvSpPr>
          <p:cNvPr id="305" name="T306">
            <a:extLst>
              <a:ext uri="{FF2B5EF4-FFF2-40B4-BE49-F238E27FC236}">
                <a16:creationId xmlns:a16="http://schemas.microsoft.com/office/drawing/2014/main" id="{7A053831-BD19-473F-9FCE-5C2C3C708451}"/>
              </a:ext>
            </a:extLst>
          </p:cNvPr>
          <p:cNvSpPr>
            <a:spLocks noGrp="1"/>
          </p:cNvSpPr>
          <p:nvPr/>
        </p:nvSpPr>
        <p:spPr>
          <a:xfrm>
            <a:off x="13917168" y="7684251"/>
            <a:ext cx="493776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307" name="S308">
            <a:extLst>
              <a:ext uri="{FF2B5EF4-FFF2-40B4-BE49-F238E27FC236}">
                <a16:creationId xmlns:a16="http://schemas.microsoft.com/office/drawing/2014/main" id="{B769E2D9-A0AF-4987-B2E2-5267F4446B71}"/>
              </a:ext>
            </a:extLst>
          </p:cNvPr>
          <p:cNvSpPr>
            <a:spLocks noGrp="1"/>
          </p:cNvSpPr>
          <p:nvPr/>
        </p:nvSpPr>
        <p:spPr>
          <a:xfrm>
            <a:off x="14301216" y="7227051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9" name="E310">
            <a:extLst>
              <a:ext uri="{FF2B5EF4-FFF2-40B4-BE49-F238E27FC236}">
                <a16:creationId xmlns:a16="http://schemas.microsoft.com/office/drawing/2014/main" id="{36A72362-3586-4A5D-BDF9-57BABD73A32D}"/>
              </a:ext>
            </a:extLst>
          </p:cNvPr>
          <p:cNvSpPr>
            <a:spLocks noGrp="1"/>
          </p:cNvSpPr>
          <p:nvPr/>
        </p:nvSpPr>
        <p:spPr>
          <a:xfrm>
            <a:off x="15032736" y="7455956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311" name="T312">
            <a:extLst>
              <a:ext uri="{FF2B5EF4-FFF2-40B4-BE49-F238E27FC236}">
                <a16:creationId xmlns:a16="http://schemas.microsoft.com/office/drawing/2014/main" id="{EBE1E8A3-3FE4-4547-B5D5-FD64FE43CF9A}"/>
              </a:ext>
            </a:extLst>
          </p:cNvPr>
          <p:cNvSpPr>
            <a:spLocks noGrp="1"/>
          </p:cNvSpPr>
          <p:nvPr/>
        </p:nvSpPr>
        <p:spPr>
          <a:xfrm>
            <a:off x="15032736" y="7455956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313" name="T314">
            <a:extLst>
              <a:ext uri="{FF2B5EF4-FFF2-40B4-BE49-F238E27FC236}">
                <a16:creationId xmlns:a16="http://schemas.microsoft.com/office/drawing/2014/main" id="{7DF19DD6-103E-4C9C-8B6E-BDEAB6F9DF4A}"/>
              </a:ext>
            </a:extLst>
          </p:cNvPr>
          <p:cNvSpPr>
            <a:spLocks noGrp="1"/>
          </p:cNvSpPr>
          <p:nvPr/>
        </p:nvSpPr>
        <p:spPr>
          <a:xfrm>
            <a:off x="15581376" y="7419380"/>
            <a:ext cx="2066544" cy="53035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은행 확인</a:t>
            </a:r>
          </a:p>
        </p:txBody>
      </p:sp>
      <p:sp>
        <p:nvSpPr>
          <p:cNvPr id="315" name="T316">
            <a:extLst>
              <a:ext uri="{FF2B5EF4-FFF2-40B4-BE49-F238E27FC236}">
                <a16:creationId xmlns:a16="http://schemas.microsoft.com/office/drawing/2014/main" id="{7A794864-E6B3-494A-912D-332B5E6630F4}"/>
              </a:ext>
            </a:extLst>
          </p:cNvPr>
          <p:cNvSpPr>
            <a:spLocks noGrp="1"/>
          </p:cNvSpPr>
          <p:nvPr/>
        </p:nvSpPr>
        <p:spPr>
          <a:xfrm>
            <a:off x="14575536" y="8068299"/>
            <a:ext cx="2523744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확인 완료 / 보완 요청</a:t>
            </a:r>
          </a:p>
        </p:txBody>
      </p:sp>
    </p:spTree>
    <p:extLst>
      <p:ext uri="{BB962C8B-B14F-4D97-AF65-F5344CB8AC3E}">
        <p14:creationId xmlns:p14="http://schemas.microsoft.com/office/powerpoint/2010/main" val="136599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BC112F9-DCFD-405A-86A7-BDAD676FA256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863233-3D4B-457A-A40D-253BA5ED70CC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C20F9AE-3D3F-4195-9870-3646EEBC3560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A7F597-7D9B-4B5B-B93E-0A2183BF2A42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ko-KR" altLang="en-US" sz="4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전체</a:t>
            </a:r>
            <a:r>
              <a:rPr lang="ko-Kore-KR" altLang="en-US" sz="4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UI </a:t>
            </a:r>
            <a:r>
              <a:rPr sz="4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흐름도</a:t>
            </a:r>
            <a:endParaRPr sz="42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85C0262-EC79-4AFA-BA2C-DAE5186E636B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21" name="S322">
            <a:extLst>
              <a:ext uri="{FF2B5EF4-FFF2-40B4-BE49-F238E27FC236}">
                <a16:creationId xmlns:a16="http://schemas.microsoft.com/office/drawing/2014/main" id="{87A409C7-598F-474F-B7C7-EB5251B37B02}"/>
              </a:ext>
            </a:extLst>
          </p:cNvPr>
          <p:cNvSpPr>
            <a:spLocks noGrp="1"/>
          </p:cNvSpPr>
          <p:nvPr/>
        </p:nvSpPr>
        <p:spPr>
          <a:xfrm>
            <a:off x="914400" y="1874520"/>
            <a:ext cx="7863840" cy="6400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3" name="S324">
            <a:extLst>
              <a:ext uri="{FF2B5EF4-FFF2-40B4-BE49-F238E27FC236}">
                <a16:creationId xmlns:a16="http://schemas.microsoft.com/office/drawing/2014/main" id="{028E556A-B3E7-4D7B-852B-8EE0C2295641}"/>
              </a:ext>
            </a:extLst>
          </p:cNvPr>
          <p:cNvSpPr>
            <a:spLocks noGrp="1"/>
          </p:cNvSpPr>
          <p:nvPr/>
        </p:nvSpPr>
        <p:spPr>
          <a:xfrm>
            <a:off x="914400" y="1874520"/>
            <a:ext cx="7863840" cy="658368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325" name="T326">
            <a:extLst>
              <a:ext uri="{FF2B5EF4-FFF2-40B4-BE49-F238E27FC236}">
                <a16:creationId xmlns:a16="http://schemas.microsoft.com/office/drawing/2014/main" id="{ECCFD283-EC98-4DE9-B511-4C1D2ADB9D43}"/>
              </a:ext>
            </a:extLst>
          </p:cNvPr>
          <p:cNvSpPr>
            <a:spLocks noGrp="1"/>
          </p:cNvSpPr>
          <p:nvPr/>
        </p:nvSpPr>
        <p:spPr>
          <a:xfrm>
            <a:off x="1371600" y="1874520"/>
            <a:ext cx="6949440" cy="6583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1. 기업 고객 담당자</a:t>
            </a:r>
          </a:p>
        </p:txBody>
      </p:sp>
      <p:sp>
        <p:nvSpPr>
          <p:cNvPr id="327" name="S328">
            <a:extLst>
              <a:ext uri="{FF2B5EF4-FFF2-40B4-BE49-F238E27FC236}">
                <a16:creationId xmlns:a16="http://schemas.microsoft.com/office/drawing/2014/main" id="{EABF894C-DDD1-44F3-B373-3482CC85F219}"/>
              </a:ext>
            </a:extLst>
          </p:cNvPr>
          <p:cNvSpPr>
            <a:spLocks noGrp="1"/>
          </p:cNvSpPr>
          <p:nvPr/>
        </p:nvSpPr>
        <p:spPr>
          <a:xfrm>
            <a:off x="118872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9" name="T330">
            <a:extLst>
              <a:ext uri="{FF2B5EF4-FFF2-40B4-BE49-F238E27FC236}">
                <a16:creationId xmlns:a16="http://schemas.microsoft.com/office/drawing/2014/main" id="{C33D03AB-37FE-4916-9266-48EF99BBC4D4}"/>
              </a:ext>
            </a:extLst>
          </p:cNvPr>
          <p:cNvSpPr>
            <a:spLocks noGrp="1"/>
          </p:cNvSpPr>
          <p:nvPr/>
        </p:nvSpPr>
        <p:spPr>
          <a:xfrm>
            <a:off x="131673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로그인 · 활성화</a:t>
            </a:r>
          </a:p>
        </p:txBody>
      </p:sp>
      <p:sp>
        <p:nvSpPr>
          <p:cNvPr id="331" name="T332">
            <a:extLst>
              <a:ext uri="{FF2B5EF4-FFF2-40B4-BE49-F238E27FC236}">
                <a16:creationId xmlns:a16="http://schemas.microsoft.com/office/drawing/2014/main" id="{558637DE-BCE9-4787-B5FB-8C692D3A2AE7}"/>
              </a:ext>
            </a:extLst>
          </p:cNvPr>
          <p:cNvSpPr>
            <a:spLocks noGrp="1"/>
          </p:cNvSpPr>
          <p:nvPr/>
        </p:nvSpPr>
        <p:spPr>
          <a:xfrm>
            <a:off x="131673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SCR-AUTH-001</a:t>
            </a:r>
          </a:p>
        </p:txBody>
      </p:sp>
      <p:sp>
        <p:nvSpPr>
          <p:cNvPr id="333" name="T334">
            <a:extLst>
              <a:ext uri="{FF2B5EF4-FFF2-40B4-BE49-F238E27FC236}">
                <a16:creationId xmlns:a16="http://schemas.microsoft.com/office/drawing/2014/main" id="{A8ACF536-45DE-439B-92D2-E1360A4AF34B}"/>
              </a:ext>
            </a:extLst>
          </p:cNvPr>
          <p:cNvSpPr>
            <a:spLocks noGrp="1"/>
          </p:cNvSpPr>
          <p:nvPr/>
        </p:nvSpPr>
        <p:spPr>
          <a:xfrm>
            <a:off x="3291840" y="3799332"/>
            <a:ext cx="50292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35" name="S336">
            <a:extLst>
              <a:ext uri="{FF2B5EF4-FFF2-40B4-BE49-F238E27FC236}">
                <a16:creationId xmlns:a16="http://schemas.microsoft.com/office/drawing/2014/main" id="{C2E4736B-0D7E-4317-8805-2A75A8D43488}"/>
              </a:ext>
            </a:extLst>
          </p:cNvPr>
          <p:cNvSpPr>
            <a:spLocks noGrp="1"/>
          </p:cNvSpPr>
          <p:nvPr/>
        </p:nvSpPr>
        <p:spPr>
          <a:xfrm>
            <a:off x="379476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7" name="T338">
            <a:extLst>
              <a:ext uri="{FF2B5EF4-FFF2-40B4-BE49-F238E27FC236}">
                <a16:creationId xmlns:a16="http://schemas.microsoft.com/office/drawing/2014/main" id="{3DA9F6C6-5F98-45A6-A9E5-32232C58FDEA}"/>
              </a:ext>
            </a:extLst>
          </p:cNvPr>
          <p:cNvSpPr>
            <a:spLocks noGrp="1"/>
          </p:cNvSpPr>
          <p:nvPr/>
        </p:nvSpPr>
        <p:spPr>
          <a:xfrm>
            <a:off x="392277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서류 제출 현황</a:t>
            </a:r>
          </a:p>
        </p:txBody>
      </p:sp>
      <p:sp>
        <p:nvSpPr>
          <p:cNvPr id="339" name="T340">
            <a:extLst>
              <a:ext uri="{FF2B5EF4-FFF2-40B4-BE49-F238E27FC236}">
                <a16:creationId xmlns:a16="http://schemas.microsoft.com/office/drawing/2014/main" id="{196AF810-B2A5-4535-A643-525D156A79E8}"/>
              </a:ext>
            </a:extLst>
          </p:cNvPr>
          <p:cNvSpPr>
            <a:spLocks noGrp="1"/>
          </p:cNvSpPr>
          <p:nvPr/>
        </p:nvSpPr>
        <p:spPr>
          <a:xfrm>
            <a:off x="392277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SCR-COMP-001</a:t>
            </a:r>
          </a:p>
        </p:txBody>
      </p:sp>
      <p:sp>
        <p:nvSpPr>
          <p:cNvPr id="341" name="T342">
            <a:extLst>
              <a:ext uri="{FF2B5EF4-FFF2-40B4-BE49-F238E27FC236}">
                <a16:creationId xmlns:a16="http://schemas.microsoft.com/office/drawing/2014/main" id="{79A1E2A3-640E-4857-B325-751D912528B2}"/>
              </a:ext>
            </a:extLst>
          </p:cNvPr>
          <p:cNvSpPr>
            <a:spLocks noGrp="1"/>
          </p:cNvSpPr>
          <p:nvPr/>
        </p:nvSpPr>
        <p:spPr>
          <a:xfrm>
            <a:off x="5897880" y="3799332"/>
            <a:ext cx="50292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43" name="S344">
            <a:extLst>
              <a:ext uri="{FF2B5EF4-FFF2-40B4-BE49-F238E27FC236}">
                <a16:creationId xmlns:a16="http://schemas.microsoft.com/office/drawing/2014/main" id="{97B94F4B-891F-4E4B-86A8-531CE2BA491B}"/>
              </a:ext>
            </a:extLst>
          </p:cNvPr>
          <p:cNvSpPr>
            <a:spLocks noGrp="1"/>
          </p:cNvSpPr>
          <p:nvPr/>
        </p:nvSpPr>
        <p:spPr>
          <a:xfrm>
            <a:off x="640080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5" name="T346">
            <a:extLst>
              <a:ext uri="{FF2B5EF4-FFF2-40B4-BE49-F238E27FC236}">
                <a16:creationId xmlns:a16="http://schemas.microsoft.com/office/drawing/2014/main" id="{CA579070-B883-45C4-B22B-20F470521C8E}"/>
              </a:ext>
            </a:extLst>
          </p:cNvPr>
          <p:cNvSpPr>
            <a:spLocks noGrp="1"/>
          </p:cNvSpPr>
          <p:nvPr/>
        </p:nvSpPr>
        <p:spPr>
          <a:xfrm>
            <a:off x="652881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사전검증 결과</a:t>
            </a:r>
          </a:p>
        </p:txBody>
      </p:sp>
      <p:sp>
        <p:nvSpPr>
          <p:cNvPr id="347" name="T348">
            <a:extLst>
              <a:ext uri="{FF2B5EF4-FFF2-40B4-BE49-F238E27FC236}">
                <a16:creationId xmlns:a16="http://schemas.microsoft.com/office/drawing/2014/main" id="{352D2468-DC0A-496D-BC0C-D335B1FDA921}"/>
              </a:ext>
            </a:extLst>
          </p:cNvPr>
          <p:cNvSpPr>
            <a:spLocks noGrp="1"/>
          </p:cNvSpPr>
          <p:nvPr/>
        </p:nvSpPr>
        <p:spPr>
          <a:xfrm>
            <a:off x="652881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SCR-COMP-002</a:t>
            </a:r>
          </a:p>
        </p:txBody>
      </p:sp>
      <p:sp>
        <p:nvSpPr>
          <p:cNvPr id="349" name="S350">
            <a:extLst>
              <a:ext uri="{FF2B5EF4-FFF2-40B4-BE49-F238E27FC236}">
                <a16:creationId xmlns:a16="http://schemas.microsoft.com/office/drawing/2014/main" id="{860E79A7-E731-44AA-AD3A-0BA323AD4995}"/>
              </a:ext>
            </a:extLst>
          </p:cNvPr>
          <p:cNvSpPr>
            <a:spLocks noGrp="1"/>
          </p:cNvSpPr>
          <p:nvPr/>
        </p:nvSpPr>
        <p:spPr>
          <a:xfrm>
            <a:off x="7442302" y="4709160"/>
            <a:ext cx="20117" cy="7772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351" name="S352">
            <a:extLst>
              <a:ext uri="{FF2B5EF4-FFF2-40B4-BE49-F238E27FC236}">
                <a16:creationId xmlns:a16="http://schemas.microsoft.com/office/drawing/2014/main" id="{B238FCC6-CE41-4182-A335-7B107EFC4CC5}"/>
              </a:ext>
            </a:extLst>
          </p:cNvPr>
          <p:cNvSpPr>
            <a:spLocks noGrp="1"/>
          </p:cNvSpPr>
          <p:nvPr/>
        </p:nvSpPr>
        <p:spPr>
          <a:xfrm>
            <a:off x="4846320" y="5476342"/>
            <a:ext cx="2606040" cy="20117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>
            <a:endParaRPr/>
          </a:p>
        </p:txBody>
      </p:sp>
      <p:sp>
        <p:nvSpPr>
          <p:cNvPr id="353" name="T354">
            <a:extLst>
              <a:ext uri="{FF2B5EF4-FFF2-40B4-BE49-F238E27FC236}">
                <a16:creationId xmlns:a16="http://schemas.microsoft.com/office/drawing/2014/main" id="{18DDAA6A-C0F4-4592-9471-D4726BB472B3}"/>
              </a:ext>
            </a:extLst>
          </p:cNvPr>
          <p:cNvSpPr>
            <a:spLocks noGrp="1"/>
          </p:cNvSpPr>
          <p:nvPr/>
        </p:nvSpPr>
        <p:spPr>
          <a:xfrm>
            <a:off x="1188720" y="4974336"/>
            <a:ext cx="2103120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4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[ 제출 결과 ]</a:t>
            </a:r>
          </a:p>
        </p:txBody>
      </p:sp>
      <p:cxnSp>
        <p:nvCxnSpPr>
          <p:cNvPr id="496" name="C356"/>
          <p:cNvCxnSpPr>
            <a:cxnSpLocks/>
          </p:cNvCxnSpPr>
          <p:nvPr/>
        </p:nvCxnSpPr>
        <p:spPr>
          <a:xfrm>
            <a:off x="4851862" y="5476342"/>
            <a:ext cx="0" cy="769010"/>
          </a:xfrm>
          <a:prstGeom prst="straightConnector1">
            <a:avLst/>
          </a:prstGeom>
          <a:ln w="20320">
            <a:solidFill>
              <a:srgbClr val="EA002C"/>
            </a:solidFill>
            <a:tailEnd type="triangle" w="med" len="med"/>
          </a:ln>
        </p:spPr>
      </p:cxnSp>
      <p:sp>
        <p:nvSpPr>
          <p:cNvPr id="357" name="S358">
            <a:extLst>
              <a:ext uri="{FF2B5EF4-FFF2-40B4-BE49-F238E27FC236}">
                <a16:creationId xmlns:a16="http://schemas.microsoft.com/office/drawing/2014/main" id="{CE2BDAA2-CB58-481E-B80E-86B763495E14}"/>
              </a:ext>
            </a:extLst>
          </p:cNvPr>
          <p:cNvSpPr>
            <a:spLocks noGrp="1"/>
          </p:cNvSpPr>
          <p:nvPr/>
        </p:nvSpPr>
        <p:spPr>
          <a:xfrm>
            <a:off x="379476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9" name="T360">
            <a:extLst>
              <a:ext uri="{FF2B5EF4-FFF2-40B4-BE49-F238E27FC236}">
                <a16:creationId xmlns:a16="http://schemas.microsoft.com/office/drawing/2014/main" id="{56BCBCE9-236C-407E-BF71-29A9AD6F6171}"/>
              </a:ext>
            </a:extLst>
          </p:cNvPr>
          <p:cNvSpPr>
            <a:spLocks noGrp="1"/>
          </p:cNvSpPr>
          <p:nvPr/>
        </p:nvSpPr>
        <p:spPr>
          <a:xfrm>
            <a:off x="3922776" y="65379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최종 제출</a:t>
            </a:r>
          </a:p>
        </p:txBody>
      </p:sp>
      <p:sp>
        <p:nvSpPr>
          <p:cNvPr id="361" name="T362">
            <a:extLst>
              <a:ext uri="{FF2B5EF4-FFF2-40B4-BE49-F238E27FC236}">
                <a16:creationId xmlns:a16="http://schemas.microsoft.com/office/drawing/2014/main" id="{BD49641C-7B14-40FE-B98F-93DD981FA63F}"/>
              </a:ext>
            </a:extLst>
          </p:cNvPr>
          <p:cNvSpPr>
            <a:spLocks noGrp="1"/>
          </p:cNvSpPr>
          <p:nvPr/>
        </p:nvSpPr>
        <p:spPr>
          <a:xfrm>
            <a:off x="3922776" y="71048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REVIEW_PENDING</a:t>
            </a:r>
          </a:p>
        </p:txBody>
      </p:sp>
      <p:cxnSp>
        <p:nvCxnSpPr>
          <p:cNvPr id="500" name="C364"/>
          <p:cNvCxnSpPr>
            <a:cxnSpLocks/>
            <a:endCxn id="365" idx="0"/>
          </p:cNvCxnSpPr>
          <p:nvPr/>
        </p:nvCxnSpPr>
        <p:spPr>
          <a:xfrm>
            <a:off x="7452360" y="5486400"/>
            <a:ext cx="0" cy="777240"/>
          </a:xfrm>
          <a:prstGeom prst="straightConnector1">
            <a:avLst/>
          </a:prstGeom>
          <a:ln w="20320">
            <a:solidFill>
              <a:srgbClr val="EA002C"/>
            </a:solidFill>
            <a:tailEnd type="triangle" w="med" len="med"/>
          </a:ln>
        </p:spPr>
      </p:cxnSp>
      <p:sp>
        <p:nvSpPr>
          <p:cNvPr id="365" name="S366">
            <a:extLst>
              <a:ext uri="{FF2B5EF4-FFF2-40B4-BE49-F238E27FC236}">
                <a16:creationId xmlns:a16="http://schemas.microsoft.com/office/drawing/2014/main" id="{DDE46E99-D086-4745-BD35-53C2BD834983}"/>
              </a:ext>
            </a:extLst>
          </p:cNvPr>
          <p:cNvSpPr>
            <a:spLocks noGrp="1"/>
          </p:cNvSpPr>
          <p:nvPr/>
        </p:nvSpPr>
        <p:spPr>
          <a:xfrm>
            <a:off x="640080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7" name="T368">
            <a:extLst>
              <a:ext uri="{FF2B5EF4-FFF2-40B4-BE49-F238E27FC236}">
                <a16:creationId xmlns:a16="http://schemas.microsoft.com/office/drawing/2014/main" id="{F0718D33-0100-4494-BA44-D1E5859DEC5C}"/>
              </a:ext>
            </a:extLst>
          </p:cNvPr>
          <p:cNvSpPr>
            <a:spLocks noGrp="1"/>
          </p:cNvSpPr>
          <p:nvPr/>
        </p:nvSpPr>
        <p:spPr>
          <a:xfrm>
            <a:off x="6528816" y="65379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보완 재제출</a:t>
            </a:r>
          </a:p>
        </p:txBody>
      </p:sp>
      <p:sp>
        <p:nvSpPr>
          <p:cNvPr id="369" name="T370">
            <a:extLst>
              <a:ext uri="{FF2B5EF4-FFF2-40B4-BE49-F238E27FC236}">
                <a16:creationId xmlns:a16="http://schemas.microsoft.com/office/drawing/2014/main" id="{F7F5FDFC-1F2B-4332-B846-0D2EA0BB96E2}"/>
              </a:ext>
            </a:extLst>
          </p:cNvPr>
          <p:cNvSpPr>
            <a:spLocks noGrp="1"/>
          </p:cNvSpPr>
          <p:nvPr/>
        </p:nvSpPr>
        <p:spPr>
          <a:xfrm>
            <a:off x="6528816" y="71048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RESUBMITTED</a:t>
            </a:r>
          </a:p>
        </p:txBody>
      </p:sp>
      <p:sp>
        <p:nvSpPr>
          <p:cNvPr id="371" name="S372">
            <a:extLst>
              <a:ext uri="{FF2B5EF4-FFF2-40B4-BE49-F238E27FC236}">
                <a16:creationId xmlns:a16="http://schemas.microsoft.com/office/drawing/2014/main" id="{C9B515FF-068B-4CEC-8DE6-230A270682D5}"/>
              </a:ext>
            </a:extLst>
          </p:cNvPr>
          <p:cNvSpPr>
            <a:spLocks noGrp="1"/>
          </p:cNvSpPr>
          <p:nvPr/>
        </p:nvSpPr>
        <p:spPr>
          <a:xfrm>
            <a:off x="9509760" y="1874520"/>
            <a:ext cx="7863840" cy="6400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3" name="S374">
            <a:extLst>
              <a:ext uri="{FF2B5EF4-FFF2-40B4-BE49-F238E27FC236}">
                <a16:creationId xmlns:a16="http://schemas.microsoft.com/office/drawing/2014/main" id="{49EA2DFB-0A14-4941-A212-349851B1F404}"/>
              </a:ext>
            </a:extLst>
          </p:cNvPr>
          <p:cNvSpPr>
            <a:spLocks noGrp="1"/>
          </p:cNvSpPr>
          <p:nvPr/>
        </p:nvSpPr>
        <p:spPr>
          <a:xfrm>
            <a:off x="9509760" y="1874520"/>
            <a:ext cx="7863840" cy="658368"/>
          </a:xfrm>
          <a:prstGeom prst="roundRect">
            <a:avLst>
              <a:gd name="adj" fmla="val 2500"/>
            </a:avLst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375" name="T376">
            <a:extLst>
              <a:ext uri="{FF2B5EF4-FFF2-40B4-BE49-F238E27FC236}">
                <a16:creationId xmlns:a16="http://schemas.microsoft.com/office/drawing/2014/main" id="{0C334A7A-6C46-4C73-A6B1-6575392BF29B}"/>
              </a:ext>
            </a:extLst>
          </p:cNvPr>
          <p:cNvSpPr>
            <a:spLocks noGrp="1"/>
          </p:cNvSpPr>
          <p:nvPr/>
        </p:nvSpPr>
        <p:spPr>
          <a:xfrm>
            <a:off x="9966960" y="1874520"/>
            <a:ext cx="6949440" cy="6583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2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2. 은행 기업금융 담당자</a:t>
            </a:r>
          </a:p>
        </p:txBody>
      </p:sp>
      <p:sp>
        <p:nvSpPr>
          <p:cNvPr id="377" name="S378">
            <a:extLst>
              <a:ext uri="{FF2B5EF4-FFF2-40B4-BE49-F238E27FC236}">
                <a16:creationId xmlns:a16="http://schemas.microsoft.com/office/drawing/2014/main" id="{1BC1CD9E-B496-40E9-B796-EF44D1EF375D}"/>
              </a:ext>
            </a:extLst>
          </p:cNvPr>
          <p:cNvSpPr>
            <a:spLocks noGrp="1"/>
          </p:cNvSpPr>
          <p:nvPr/>
        </p:nvSpPr>
        <p:spPr>
          <a:xfrm>
            <a:off x="978408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9" name="T380">
            <a:extLst>
              <a:ext uri="{FF2B5EF4-FFF2-40B4-BE49-F238E27FC236}">
                <a16:creationId xmlns:a16="http://schemas.microsoft.com/office/drawing/2014/main" id="{8966DF35-E648-45E5-9325-84447AACA62B}"/>
              </a:ext>
            </a:extLst>
          </p:cNvPr>
          <p:cNvSpPr>
            <a:spLocks noGrp="1"/>
          </p:cNvSpPr>
          <p:nvPr/>
        </p:nvSpPr>
        <p:spPr>
          <a:xfrm>
            <a:off x="991209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로그인</a:t>
            </a:r>
          </a:p>
        </p:txBody>
      </p:sp>
      <p:sp>
        <p:nvSpPr>
          <p:cNvPr id="381" name="T382">
            <a:extLst>
              <a:ext uri="{FF2B5EF4-FFF2-40B4-BE49-F238E27FC236}">
                <a16:creationId xmlns:a16="http://schemas.microsoft.com/office/drawing/2014/main" id="{BE05AE53-1677-4624-92EF-527B17491889}"/>
              </a:ext>
            </a:extLst>
          </p:cNvPr>
          <p:cNvSpPr>
            <a:spLocks noGrp="1"/>
          </p:cNvSpPr>
          <p:nvPr/>
        </p:nvSpPr>
        <p:spPr>
          <a:xfrm>
            <a:off x="991209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SCR-AUTH-001</a:t>
            </a:r>
          </a:p>
        </p:txBody>
      </p:sp>
      <p:sp>
        <p:nvSpPr>
          <p:cNvPr id="383" name="T384">
            <a:extLst>
              <a:ext uri="{FF2B5EF4-FFF2-40B4-BE49-F238E27FC236}">
                <a16:creationId xmlns:a16="http://schemas.microsoft.com/office/drawing/2014/main" id="{C525F711-1A3B-43C0-9F47-77798A02A035}"/>
              </a:ext>
            </a:extLst>
          </p:cNvPr>
          <p:cNvSpPr>
            <a:spLocks noGrp="1"/>
          </p:cNvSpPr>
          <p:nvPr/>
        </p:nvSpPr>
        <p:spPr>
          <a:xfrm>
            <a:off x="11887200" y="3799332"/>
            <a:ext cx="50292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85" name="S386">
            <a:extLst>
              <a:ext uri="{FF2B5EF4-FFF2-40B4-BE49-F238E27FC236}">
                <a16:creationId xmlns:a16="http://schemas.microsoft.com/office/drawing/2014/main" id="{B189AD61-1845-41A7-B3BC-972EB35BFF90}"/>
              </a:ext>
            </a:extLst>
          </p:cNvPr>
          <p:cNvSpPr>
            <a:spLocks noGrp="1"/>
          </p:cNvSpPr>
          <p:nvPr/>
        </p:nvSpPr>
        <p:spPr>
          <a:xfrm>
            <a:off x="1239012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7" name="T388">
            <a:extLst>
              <a:ext uri="{FF2B5EF4-FFF2-40B4-BE49-F238E27FC236}">
                <a16:creationId xmlns:a16="http://schemas.microsoft.com/office/drawing/2014/main" id="{D2C0B229-6169-4718-867C-F1601BC971BC}"/>
              </a:ext>
            </a:extLst>
          </p:cNvPr>
          <p:cNvSpPr>
            <a:spLocks noGrp="1"/>
          </p:cNvSpPr>
          <p:nvPr/>
        </p:nvSpPr>
        <p:spPr>
          <a:xfrm>
            <a:off x="1251813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검토 목록</a:t>
            </a:r>
          </a:p>
        </p:txBody>
      </p:sp>
      <p:sp>
        <p:nvSpPr>
          <p:cNvPr id="389" name="T390">
            <a:extLst>
              <a:ext uri="{FF2B5EF4-FFF2-40B4-BE49-F238E27FC236}">
                <a16:creationId xmlns:a16="http://schemas.microsoft.com/office/drawing/2014/main" id="{8E067F21-0F70-4530-A04D-C90F6E178ADC}"/>
              </a:ext>
            </a:extLst>
          </p:cNvPr>
          <p:cNvSpPr>
            <a:spLocks noGrp="1"/>
          </p:cNvSpPr>
          <p:nvPr/>
        </p:nvSpPr>
        <p:spPr>
          <a:xfrm>
            <a:off x="1251813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SCR-REV-001</a:t>
            </a:r>
          </a:p>
        </p:txBody>
      </p:sp>
      <p:sp>
        <p:nvSpPr>
          <p:cNvPr id="391" name="T392">
            <a:extLst>
              <a:ext uri="{FF2B5EF4-FFF2-40B4-BE49-F238E27FC236}">
                <a16:creationId xmlns:a16="http://schemas.microsoft.com/office/drawing/2014/main" id="{07CAF3C9-E32D-498B-9223-933E82E30A17}"/>
              </a:ext>
            </a:extLst>
          </p:cNvPr>
          <p:cNvSpPr>
            <a:spLocks noGrp="1"/>
          </p:cNvSpPr>
          <p:nvPr/>
        </p:nvSpPr>
        <p:spPr>
          <a:xfrm>
            <a:off x="14493240" y="3799332"/>
            <a:ext cx="50292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8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93" name="S394">
            <a:extLst>
              <a:ext uri="{FF2B5EF4-FFF2-40B4-BE49-F238E27FC236}">
                <a16:creationId xmlns:a16="http://schemas.microsoft.com/office/drawing/2014/main" id="{40FC71D1-D92C-4561-952A-2E73ABA211AA}"/>
              </a:ext>
            </a:extLst>
          </p:cNvPr>
          <p:cNvSpPr>
            <a:spLocks noGrp="1"/>
          </p:cNvSpPr>
          <p:nvPr/>
        </p:nvSpPr>
        <p:spPr>
          <a:xfrm>
            <a:off x="1499616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5" name="T396">
            <a:extLst>
              <a:ext uri="{FF2B5EF4-FFF2-40B4-BE49-F238E27FC236}">
                <a16:creationId xmlns:a16="http://schemas.microsoft.com/office/drawing/2014/main" id="{3F73FCDB-EA44-4596-AF14-201BEB00670F}"/>
              </a:ext>
            </a:extLst>
          </p:cNvPr>
          <p:cNvSpPr>
            <a:spLocks noGrp="1"/>
          </p:cNvSpPr>
          <p:nvPr/>
        </p:nvSpPr>
        <p:spPr>
          <a:xfrm>
            <a:off x="15124176" y="35661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상세 검토</a:t>
            </a:r>
          </a:p>
        </p:txBody>
      </p:sp>
      <p:sp>
        <p:nvSpPr>
          <p:cNvPr id="397" name="T398">
            <a:extLst>
              <a:ext uri="{FF2B5EF4-FFF2-40B4-BE49-F238E27FC236}">
                <a16:creationId xmlns:a16="http://schemas.microsoft.com/office/drawing/2014/main" id="{5B9CCA86-E72D-4A52-BB75-51E4409B56DD}"/>
              </a:ext>
            </a:extLst>
          </p:cNvPr>
          <p:cNvSpPr>
            <a:spLocks noGrp="1"/>
          </p:cNvSpPr>
          <p:nvPr/>
        </p:nvSpPr>
        <p:spPr>
          <a:xfrm>
            <a:off x="15124176" y="41330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SCR-REV-002</a:t>
            </a:r>
          </a:p>
        </p:txBody>
      </p:sp>
      <p:sp>
        <p:nvSpPr>
          <p:cNvPr id="399" name="S400">
            <a:extLst>
              <a:ext uri="{FF2B5EF4-FFF2-40B4-BE49-F238E27FC236}">
                <a16:creationId xmlns:a16="http://schemas.microsoft.com/office/drawing/2014/main" id="{820281B9-7F67-4185-8EBF-45747CC4411D}"/>
              </a:ext>
            </a:extLst>
          </p:cNvPr>
          <p:cNvSpPr>
            <a:spLocks noGrp="1"/>
          </p:cNvSpPr>
          <p:nvPr/>
        </p:nvSpPr>
        <p:spPr>
          <a:xfrm>
            <a:off x="16037662" y="4709160"/>
            <a:ext cx="20117" cy="7772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401" name="S402">
            <a:extLst>
              <a:ext uri="{FF2B5EF4-FFF2-40B4-BE49-F238E27FC236}">
                <a16:creationId xmlns:a16="http://schemas.microsoft.com/office/drawing/2014/main" id="{37A24177-8713-4304-8887-51A87CDB27D2}"/>
              </a:ext>
            </a:extLst>
          </p:cNvPr>
          <p:cNvSpPr>
            <a:spLocks noGrp="1"/>
          </p:cNvSpPr>
          <p:nvPr/>
        </p:nvSpPr>
        <p:spPr>
          <a:xfrm>
            <a:off x="13441680" y="5476342"/>
            <a:ext cx="2606040" cy="20117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403" name="T404">
            <a:extLst>
              <a:ext uri="{FF2B5EF4-FFF2-40B4-BE49-F238E27FC236}">
                <a16:creationId xmlns:a16="http://schemas.microsoft.com/office/drawing/2014/main" id="{D7EA8243-A5A9-4AB6-B01A-BE350E03632D}"/>
              </a:ext>
            </a:extLst>
          </p:cNvPr>
          <p:cNvSpPr>
            <a:spLocks noGrp="1"/>
          </p:cNvSpPr>
          <p:nvPr/>
        </p:nvSpPr>
        <p:spPr>
          <a:xfrm>
            <a:off x="9784080" y="4974336"/>
            <a:ext cx="2103120" cy="38404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4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[ 검토 결정 ]</a:t>
            </a:r>
          </a:p>
        </p:txBody>
      </p:sp>
      <p:cxnSp>
        <p:nvCxnSpPr>
          <p:cNvPr id="521" name="C406"/>
          <p:cNvCxnSpPr>
            <a:cxnSpLocks/>
          </p:cNvCxnSpPr>
          <p:nvPr/>
        </p:nvCxnSpPr>
        <p:spPr>
          <a:xfrm>
            <a:off x="13443074" y="5476342"/>
            <a:ext cx="0" cy="769010"/>
          </a:xfrm>
          <a:prstGeom prst="straightConnector1">
            <a:avLst/>
          </a:prstGeom>
          <a:ln w="20320">
            <a:solidFill>
              <a:srgbClr val="F47725"/>
            </a:solidFill>
            <a:tailEnd type="triangle" w="med" len="med"/>
          </a:ln>
        </p:spPr>
      </p:cxnSp>
      <p:sp>
        <p:nvSpPr>
          <p:cNvPr id="407" name="S408">
            <a:extLst>
              <a:ext uri="{FF2B5EF4-FFF2-40B4-BE49-F238E27FC236}">
                <a16:creationId xmlns:a16="http://schemas.microsoft.com/office/drawing/2014/main" id="{298C938C-D563-4325-92A5-282C6B5CAEAD}"/>
              </a:ext>
            </a:extLst>
          </p:cNvPr>
          <p:cNvSpPr>
            <a:spLocks noGrp="1"/>
          </p:cNvSpPr>
          <p:nvPr/>
        </p:nvSpPr>
        <p:spPr>
          <a:xfrm>
            <a:off x="1239012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9" name="T410">
            <a:extLst>
              <a:ext uri="{FF2B5EF4-FFF2-40B4-BE49-F238E27FC236}">
                <a16:creationId xmlns:a16="http://schemas.microsoft.com/office/drawing/2014/main" id="{7BA1E492-0DCE-4376-9749-DB1A951EA0A0}"/>
              </a:ext>
            </a:extLst>
          </p:cNvPr>
          <p:cNvSpPr>
            <a:spLocks noGrp="1"/>
          </p:cNvSpPr>
          <p:nvPr/>
        </p:nvSpPr>
        <p:spPr>
          <a:xfrm>
            <a:off x="12518136" y="65379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서류 확인 완료</a:t>
            </a:r>
          </a:p>
        </p:txBody>
      </p:sp>
      <p:sp>
        <p:nvSpPr>
          <p:cNvPr id="411" name="T412">
            <a:extLst>
              <a:ext uri="{FF2B5EF4-FFF2-40B4-BE49-F238E27FC236}">
                <a16:creationId xmlns:a16="http://schemas.microsoft.com/office/drawing/2014/main" id="{C97C3960-785B-41B6-B2C3-985FC5BD4D06}"/>
              </a:ext>
            </a:extLst>
          </p:cNvPr>
          <p:cNvSpPr>
            <a:spLocks noGrp="1"/>
          </p:cNvSpPr>
          <p:nvPr/>
        </p:nvSpPr>
        <p:spPr>
          <a:xfrm>
            <a:off x="12518136" y="71048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DOCUMENTS_APPROVED</a:t>
            </a:r>
          </a:p>
        </p:txBody>
      </p:sp>
      <p:cxnSp>
        <p:nvCxnSpPr>
          <p:cNvPr id="525" name="C414"/>
          <p:cNvCxnSpPr>
            <a:cxnSpLocks/>
          </p:cNvCxnSpPr>
          <p:nvPr/>
        </p:nvCxnSpPr>
        <p:spPr>
          <a:xfrm flipH="1">
            <a:off x="16045239" y="5476342"/>
            <a:ext cx="915" cy="769010"/>
          </a:xfrm>
          <a:prstGeom prst="straightConnector1">
            <a:avLst/>
          </a:prstGeom>
          <a:ln w="20320">
            <a:solidFill>
              <a:srgbClr val="F47725"/>
            </a:solidFill>
            <a:tailEnd type="triangle" w="med" len="med"/>
          </a:ln>
        </p:spPr>
      </p:cxnSp>
      <p:sp>
        <p:nvSpPr>
          <p:cNvPr id="415" name="S416">
            <a:extLst>
              <a:ext uri="{FF2B5EF4-FFF2-40B4-BE49-F238E27FC236}">
                <a16:creationId xmlns:a16="http://schemas.microsoft.com/office/drawing/2014/main" id="{E1D286CF-0F09-4236-92C6-E725A960F24E}"/>
              </a:ext>
            </a:extLst>
          </p:cNvPr>
          <p:cNvSpPr>
            <a:spLocks noGrp="1"/>
          </p:cNvSpPr>
          <p:nvPr/>
        </p:nvSpPr>
        <p:spPr>
          <a:xfrm>
            <a:off x="1499616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7" name="T418">
            <a:extLst>
              <a:ext uri="{FF2B5EF4-FFF2-40B4-BE49-F238E27FC236}">
                <a16:creationId xmlns:a16="http://schemas.microsoft.com/office/drawing/2014/main" id="{48057705-DE76-48F6-B397-F046449E319B}"/>
              </a:ext>
            </a:extLst>
          </p:cNvPr>
          <p:cNvSpPr>
            <a:spLocks noGrp="1"/>
          </p:cNvSpPr>
          <p:nvPr/>
        </p:nvSpPr>
        <p:spPr>
          <a:xfrm>
            <a:off x="15124176" y="6537960"/>
            <a:ext cx="1847088" cy="512064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보완 요청</a:t>
            </a:r>
          </a:p>
        </p:txBody>
      </p:sp>
      <p:sp>
        <p:nvSpPr>
          <p:cNvPr id="419" name="T420">
            <a:extLst>
              <a:ext uri="{FF2B5EF4-FFF2-40B4-BE49-F238E27FC236}">
                <a16:creationId xmlns:a16="http://schemas.microsoft.com/office/drawing/2014/main" id="{46A15906-68D7-4466-8DE0-EF2D44D96A23}"/>
              </a:ext>
            </a:extLst>
          </p:cNvPr>
          <p:cNvSpPr>
            <a:spLocks noGrp="1"/>
          </p:cNvSpPr>
          <p:nvPr/>
        </p:nvSpPr>
        <p:spPr>
          <a:xfrm>
            <a:off x="15124176" y="7104888"/>
            <a:ext cx="1847088" cy="3108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20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</a:rPr>
              <a:t>REVISION_REQUESTED</a:t>
            </a:r>
          </a:p>
        </p:txBody>
      </p:sp>
      <p:sp>
        <p:nvSpPr>
          <p:cNvPr id="421" name="T422">
            <a:extLst>
              <a:ext uri="{FF2B5EF4-FFF2-40B4-BE49-F238E27FC236}">
                <a16:creationId xmlns:a16="http://schemas.microsoft.com/office/drawing/2014/main" id="{BC22FE7F-CC55-4D4E-B26A-E87AD339430E}"/>
              </a:ext>
            </a:extLst>
          </p:cNvPr>
          <p:cNvSpPr>
            <a:spLocks noGrp="1"/>
          </p:cNvSpPr>
          <p:nvPr/>
        </p:nvSpPr>
        <p:spPr>
          <a:xfrm>
            <a:off x="914400" y="8673084"/>
            <a:ext cx="16459200" cy="8229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요청은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건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단위로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등록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하며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재제출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기존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문서를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덮어쓰지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유형별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버전을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증가시켜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이전본과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최신본을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함께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보존한다</a:t>
            </a:r>
            <a:r>
              <a:rPr sz="1600" dirty="0">
                <a:solidFill>
                  <a:schemeClr val="bg1">
                    <a:lumMod val="50000"/>
                  </a:schemeClr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901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A050EC6-4559-4003-97B3-CE976B7B8FF1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3C6925B-94B0-46ED-8B5E-F0CACE886C23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8FBFD0-4E9B-4F63-B53A-00EB8197BEE8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F5471F-04CF-4423-A558-B73DBDB84E36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UI 흐름 — 서류 업로드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C957D99-FC28-43CA-8F17-250DA7402667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622" name="P5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9950860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67" name="T568">
            <a:extLst>
              <a:ext uri="{FF2B5EF4-FFF2-40B4-BE49-F238E27FC236}">
                <a16:creationId xmlns:a16="http://schemas.microsoft.com/office/drawing/2014/main" id="{EC0330A8-AB76-4F11-82C9-942C85C6FC0B}"/>
              </a:ext>
            </a:extLst>
          </p:cNvPr>
          <p:cNvSpPr>
            <a:spLocks noGrp="1"/>
          </p:cNvSpPr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SCR-COMP-001 · 기업 서류 제출 현황 · 업로드   —   대표 상태 : 보완 요청 후 재업로드 분석 중</a:t>
            </a:r>
          </a:p>
        </p:txBody>
      </p:sp>
      <p:sp>
        <p:nvSpPr>
          <p:cNvPr id="569" name="S570">
            <a:extLst>
              <a:ext uri="{FF2B5EF4-FFF2-40B4-BE49-F238E27FC236}">
                <a16:creationId xmlns:a16="http://schemas.microsoft.com/office/drawing/2014/main" id="{FCB48ECF-0163-43BC-BF28-81D8E7A7E334}"/>
              </a:ext>
            </a:extLst>
          </p:cNvPr>
          <p:cNvSpPr>
            <a:spLocks noGrp="1"/>
          </p:cNvSpPr>
          <p:nvPr/>
        </p:nvSpPr>
        <p:spPr>
          <a:xfrm>
            <a:off x="11276740" y="1965960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1" name="T572">
            <a:extLst>
              <a:ext uri="{FF2B5EF4-FFF2-40B4-BE49-F238E27FC236}">
                <a16:creationId xmlns:a16="http://schemas.microsoft.com/office/drawing/2014/main" id="{C18324E6-A47A-418A-95D7-8FBC3E7B5008}"/>
              </a:ext>
            </a:extLst>
          </p:cNvPr>
          <p:cNvSpPr>
            <a:spLocks noGrp="1"/>
          </p:cNvSpPr>
          <p:nvPr/>
        </p:nvSpPr>
        <p:spPr>
          <a:xfrm>
            <a:off x="11532772" y="2112264"/>
            <a:ext cx="558479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POST /documents</a:t>
            </a:r>
          </a:p>
        </p:txBody>
      </p:sp>
      <p:sp>
        <p:nvSpPr>
          <p:cNvPr id="573" name="T574">
            <a:extLst>
              <a:ext uri="{FF2B5EF4-FFF2-40B4-BE49-F238E27FC236}">
                <a16:creationId xmlns:a16="http://schemas.microsoft.com/office/drawing/2014/main" id="{46B15B21-7AB9-49C8-B00A-FB7AABEC7DC6}"/>
              </a:ext>
            </a:extLst>
          </p:cNvPr>
          <p:cNvSpPr>
            <a:spLocks noGrp="1"/>
          </p:cNvSpPr>
          <p:nvPr/>
        </p:nvSpPr>
        <p:spPr>
          <a:xfrm>
            <a:off x="11532772" y="2660904"/>
            <a:ext cx="5584796" cy="7498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유형을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지정해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원본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업로드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같은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유형을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올리면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version_no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증가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유지</a:t>
            </a:r>
            <a:r>
              <a:rPr lang="en-US" alt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27" name="C576"/>
          <p:cNvCxnSpPr>
            <a:cxnSpLocks/>
          </p:cNvCxnSpPr>
          <p:nvPr/>
        </p:nvCxnSpPr>
        <p:spPr>
          <a:xfrm flipH="1">
            <a:off x="8868578" y="2761488"/>
            <a:ext cx="2335010" cy="2642616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577" name="S578">
            <a:extLst>
              <a:ext uri="{FF2B5EF4-FFF2-40B4-BE49-F238E27FC236}">
                <a16:creationId xmlns:a16="http://schemas.microsoft.com/office/drawing/2014/main" id="{A1835E27-510C-42DF-85F0-6892444DB1ED}"/>
              </a:ext>
            </a:extLst>
          </p:cNvPr>
          <p:cNvSpPr>
            <a:spLocks noGrp="1"/>
          </p:cNvSpPr>
          <p:nvPr/>
        </p:nvSpPr>
        <p:spPr>
          <a:xfrm>
            <a:off x="11276740" y="3813048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9" name="T580">
            <a:extLst>
              <a:ext uri="{FF2B5EF4-FFF2-40B4-BE49-F238E27FC236}">
                <a16:creationId xmlns:a16="http://schemas.microsoft.com/office/drawing/2014/main" id="{6C76B76C-EC91-48E5-9120-1C8ECAF3AB13}"/>
              </a:ext>
            </a:extLst>
          </p:cNvPr>
          <p:cNvSpPr>
            <a:spLocks noGrp="1"/>
          </p:cNvSpPr>
          <p:nvPr/>
        </p:nvSpPr>
        <p:spPr>
          <a:xfrm>
            <a:off x="11532772" y="3959352"/>
            <a:ext cx="558479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POST /documents/{id}/retry</a:t>
            </a:r>
          </a:p>
        </p:txBody>
      </p:sp>
      <p:sp>
        <p:nvSpPr>
          <p:cNvPr id="581" name="T582">
            <a:extLst>
              <a:ext uri="{FF2B5EF4-FFF2-40B4-BE49-F238E27FC236}">
                <a16:creationId xmlns:a16="http://schemas.microsoft.com/office/drawing/2014/main" id="{0AA26111-F6BF-4B45-BA10-0823945F9756}"/>
              </a:ext>
            </a:extLst>
          </p:cNvPr>
          <p:cNvSpPr>
            <a:spLocks noGrp="1"/>
          </p:cNvSpPr>
          <p:nvPr/>
        </p:nvSpPr>
        <p:spPr>
          <a:xfrm>
            <a:off x="11532772" y="4507992"/>
            <a:ext cx="5584796" cy="7498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OCR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실패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재업로드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분석만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3회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재시도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원본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파일과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신청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유지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31" name="C584"/>
          <p:cNvCxnSpPr/>
          <p:nvPr/>
        </p:nvCxnSpPr>
        <p:spPr>
          <a:xfrm flipH="1">
            <a:off x="7880002" y="4608576"/>
            <a:ext cx="3323586" cy="2783434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585" name="S586">
            <a:extLst>
              <a:ext uri="{FF2B5EF4-FFF2-40B4-BE49-F238E27FC236}">
                <a16:creationId xmlns:a16="http://schemas.microsoft.com/office/drawing/2014/main" id="{75E6E9DC-9930-460E-9FEA-790D5DD4162C}"/>
              </a:ext>
            </a:extLst>
          </p:cNvPr>
          <p:cNvSpPr>
            <a:spLocks noGrp="1"/>
          </p:cNvSpPr>
          <p:nvPr/>
        </p:nvSpPr>
        <p:spPr>
          <a:xfrm>
            <a:off x="11276740" y="5660136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EAF4EC"/>
          </a:solidFill>
          <a:ln w="19050">
            <a:solidFill>
              <a:srgbClr val="1F7A4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7" name="T588">
            <a:extLst>
              <a:ext uri="{FF2B5EF4-FFF2-40B4-BE49-F238E27FC236}">
                <a16:creationId xmlns:a16="http://schemas.microsoft.com/office/drawing/2014/main" id="{B1372E80-53BA-49EF-BC2C-4AC9C41DBB58}"/>
              </a:ext>
            </a:extLst>
          </p:cNvPr>
          <p:cNvSpPr>
            <a:spLocks noGrp="1"/>
          </p:cNvSpPr>
          <p:nvPr/>
        </p:nvSpPr>
        <p:spPr>
          <a:xfrm>
            <a:off x="11532772" y="5806440"/>
            <a:ext cx="558479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⑨ 사전검증 결과 확인</a:t>
            </a:r>
          </a:p>
        </p:txBody>
      </p:sp>
      <p:sp>
        <p:nvSpPr>
          <p:cNvPr id="589" name="T590">
            <a:extLst>
              <a:ext uri="{FF2B5EF4-FFF2-40B4-BE49-F238E27FC236}">
                <a16:creationId xmlns:a16="http://schemas.microsoft.com/office/drawing/2014/main" id="{E17FEC86-53BB-4EF0-B785-0515D91F1BF2}"/>
              </a:ext>
            </a:extLst>
          </p:cNvPr>
          <p:cNvSpPr>
            <a:spLocks noGrp="1"/>
          </p:cNvSpPr>
          <p:nvPr/>
        </p:nvSpPr>
        <p:spPr>
          <a:xfrm>
            <a:off x="11532772" y="6355080"/>
            <a:ext cx="5584796" cy="7498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모든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분석이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끝나면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활성화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미제출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있어도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진입하여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누락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35" name="C592"/>
          <p:cNvCxnSpPr>
            <a:cxnSpLocks/>
          </p:cNvCxnSpPr>
          <p:nvPr/>
        </p:nvCxnSpPr>
        <p:spPr>
          <a:xfrm flipH="1">
            <a:off x="10069417" y="6455664"/>
            <a:ext cx="1134171" cy="551064"/>
          </a:xfrm>
          <a:prstGeom prst="straightConnector1">
            <a:avLst/>
          </a:prstGeom>
          <a:ln w="22225">
            <a:solidFill>
              <a:srgbClr val="1F7A45"/>
            </a:solidFill>
            <a:tailEnd type="triangle" w="med" len="med"/>
          </a:ln>
        </p:spPr>
      </p:cxnSp>
      <p:sp>
        <p:nvSpPr>
          <p:cNvPr id="593" name="S594">
            <a:extLst>
              <a:ext uri="{FF2B5EF4-FFF2-40B4-BE49-F238E27FC236}">
                <a16:creationId xmlns:a16="http://schemas.microsoft.com/office/drawing/2014/main" id="{C0AFEF4E-6B4B-4150-8040-05872827E834}"/>
              </a:ext>
            </a:extLst>
          </p:cNvPr>
          <p:cNvSpPr>
            <a:spLocks noGrp="1"/>
          </p:cNvSpPr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5" name="T596">
            <a:extLst>
              <a:ext uri="{FF2B5EF4-FFF2-40B4-BE49-F238E27FC236}">
                <a16:creationId xmlns:a16="http://schemas.microsoft.com/office/drawing/2014/main" id="{48BBA070-B264-4682-BF80-DA99708DF6BC}"/>
              </a:ext>
            </a:extLst>
          </p:cNvPr>
          <p:cNvSpPr>
            <a:spLocks noGrp="1"/>
          </p:cNvSpPr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화면에서는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처리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한다</a:t>
            </a:r>
            <a:r>
              <a:rPr lang="en-US" alt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OCR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추출값과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교차검증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결과는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다음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화면에서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제공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④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배너는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REVISION_REQUESTED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상태에서만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표시되며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선택하면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카드로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39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436B1B-9304-467A-8DEA-28A5F574D388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F8CC23-6BE2-41FE-9335-D75A92789800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AA91C1-CD4C-471D-9279-A47AC74AD318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4354A5-88DA-4279-BFB9-B325F7AF4818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UI 흐름 — 사전검증 결과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0E2459-B373-4EA9-910C-0FD1BA4608B1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654" name="P5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8448177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99" name="T600">
            <a:extLst>
              <a:ext uri="{FF2B5EF4-FFF2-40B4-BE49-F238E27FC236}">
                <a16:creationId xmlns:a16="http://schemas.microsoft.com/office/drawing/2014/main" id="{3AC2FB5F-1E71-4361-AAFF-37FC386EBD01}"/>
              </a:ext>
            </a:extLst>
          </p:cNvPr>
          <p:cNvSpPr>
            <a:spLocks noGrp="1"/>
          </p:cNvSpPr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SCR-COMP-002 · 사전검증 결과 · 최종 제출   —   대표 상태 : 차단 오류 2건 (제출 불가)</a:t>
            </a:r>
          </a:p>
        </p:txBody>
      </p:sp>
      <p:sp>
        <p:nvSpPr>
          <p:cNvPr id="601" name="S602">
            <a:extLst>
              <a:ext uri="{FF2B5EF4-FFF2-40B4-BE49-F238E27FC236}">
                <a16:creationId xmlns:a16="http://schemas.microsoft.com/office/drawing/2014/main" id="{AF5E73DB-8E5B-487E-BA24-650B97C3943B}"/>
              </a:ext>
            </a:extLst>
          </p:cNvPr>
          <p:cNvSpPr>
            <a:spLocks noGrp="1"/>
          </p:cNvSpPr>
          <p:nvPr/>
        </p:nvSpPr>
        <p:spPr>
          <a:xfrm>
            <a:off x="9774057" y="1965960"/>
            <a:ext cx="7599543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3" name="T604">
            <a:extLst>
              <a:ext uri="{FF2B5EF4-FFF2-40B4-BE49-F238E27FC236}">
                <a16:creationId xmlns:a16="http://schemas.microsoft.com/office/drawing/2014/main" id="{68B7CC82-F059-4C30-89B4-9A212AA2D5AC}"/>
              </a:ext>
            </a:extLst>
          </p:cNvPr>
          <p:cNvSpPr>
            <a:spLocks noGrp="1"/>
          </p:cNvSpPr>
          <p:nvPr/>
        </p:nvSpPr>
        <p:spPr>
          <a:xfrm>
            <a:off x="10030089" y="2112264"/>
            <a:ext cx="7087479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GET /validation</a:t>
            </a:r>
          </a:p>
        </p:txBody>
      </p:sp>
      <p:sp>
        <p:nvSpPr>
          <p:cNvPr id="605" name="T606">
            <a:extLst>
              <a:ext uri="{FF2B5EF4-FFF2-40B4-BE49-F238E27FC236}">
                <a16:creationId xmlns:a16="http://schemas.microsoft.com/office/drawing/2014/main" id="{AC699E7A-8506-4578-9A7A-B83E4C34C6AE}"/>
              </a:ext>
            </a:extLst>
          </p:cNvPr>
          <p:cNvSpPr>
            <a:spLocks noGrp="1"/>
          </p:cNvSpPr>
          <p:nvPr/>
        </p:nvSpPr>
        <p:spPr>
          <a:xfrm>
            <a:off x="10030089" y="2642616"/>
            <a:ext cx="7087479" cy="76809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기준정보와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OCR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추출값의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교차검증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문서·원인·해결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제공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59" name="C608"/>
          <p:cNvCxnSpPr/>
          <p:nvPr/>
        </p:nvCxnSpPr>
        <p:spPr>
          <a:xfrm flipH="1">
            <a:off x="5476415" y="2761488"/>
            <a:ext cx="4224489" cy="1286561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09" name="S610">
            <a:extLst>
              <a:ext uri="{FF2B5EF4-FFF2-40B4-BE49-F238E27FC236}">
                <a16:creationId xmlns:a16="http://schemas.microsoft.com/office/drawing/2014/main" id="{7F5660C4-261A-47DD-BAD2-2DE622F778CB}"/>
              </a:ext>
            </a:extLst>
          </p:cNvPr>
          <p:cNvSpPr>
            <a:spLocks noGrp="1"/>
          </p:cNvSpPr>
          <p:nvPr/>
        </p:nvSpPr>
        <p:spPr>
          <a:xfrm>
            <a:off x="9774057" y="3813048"/>
            <a:ext cx="7599543" cy="1280160"/>
          </a:xfrm>
          <a:prstGeom prst="roundRect">
            <a:avLst>
              <a:gd name="adj" fmla="val 5000"/>
            </a:avLst>
          </a:prstGeom>
          <a:solidFill>
            <a:srgbClr val="EAF4EC"/>
          </a:solidFill>
          <a:ln w="19050">
            <a:solidFill>
              <a:srgbClr val="1F7A4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1" name="T612">
            <a:extLst>
              <a:ext uri="{FF2B5EF4-FFF2-40B4-BE49-F238E27FC236}">
                <a16:creationId xmlns:a16="http://schemas.microsoft.com/office/drawing/2014/main" id="{18087CE0-4264-4EB0-932F-7BDF5F7ED09A}"/>
              </a:ext>
            </a:extLst>
          </p:cNvPr>
          <p:cNvSpPr>
            <a:spLocks noGrp="1"/>
          </p:cNvSpPr>
          <p:nvPr/>
        </p:nvSpPr>
        <p:spPr>
          <a:xfrm>
            <a:off x="10030089" y="3959352"/>
            <a:ext cx="7087479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⑤ </a:t>
            </a:r>
            <a:r>
              <a:rPr sz="1600" dirty="0" err="1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해결</a:t>
            </a:r>
            <a:r>
              <a:rPr sz="1600" dirty="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행동</a:t>
            </a:r>
            <a:r>
              <a:rPr sz="1600" dirty="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</a:rPr>
              <a:t>클릭</a:t>
            </a:r>
            <a:endParaRPr sz="1600" dirty="0">
              <a:solidFill>
                <a:srgbClr val="1F7A4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13" name="T614">
            <a:extLst>
              <a:ext uri="{FF2B5EF4-FFF2-40B4-BE49-F238E27FC236}">
                <a16:creationId xmlns:a16="http://schemas.microsoft.com/office/drawing/2014/main" id="{302D36DB-A23E-4580-8E4C-5CD546C9DC7C}"/>
              </a:ext>
            </a:extLst>
          </p:cNvPr>
          <p:cNvSpPr>
            <a:spLocks noGrp="1"/>
          </p:cNvSpPr>
          <p:nvPr/>
        </p:nvSpPr>
        <p:spPr>
          <a:xfrm>
            <a:off x="10030089" y="4453128"/>
            <a:ext cx="7087479" cy="49377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SCR-COMP-001의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카드로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63" name="C616"/>
          <p:cNvCxnSpPr/>
          <p:nvPr/>
        </p:nvCxnSpPr>
        <p:spPr>
          <a:xfrm flipH="1">
            <a:off x="6490197" y="4453128"/>
            <a:ext cx="3210708" cy="1109167"/>
          </a:xfrm>
          <a:prstGeom prst="straightConnector1">
            <a:avLst/>
          </a:prstGeom>
          <a:ln w="22225">
            <a:solidFill>
              <a:srgbClr val="1F7A45"/>
            </a:solidFill>
            <a:tailEnd type="triangle" w="med" len="med"/>
          </a:ln>
        </p:spPr>
      </p:cxnSp>
      <p:sp>
        <p:nvSpPr>
          <p:cNvPr id="617" name="S618">
            <a:extLst>
              <a:ext uri="{FF2B5EF4-FFF2-40B4-BE49-F238E27FC236}">
                <a16:creationId xmlns:a16="http://schemas.microsoft.com/office/drawing/2014/main" id="{1BC53138-2DCE-488E-8608-502962041B1B}"/>
              </a:ext>
            </a:extLst>
          </p:cNvPr>
          <p:cNvSpPr>
            <a:spLocks noGrp="1"/>
          </p:cNvSpPr>
          <p:nvPr/>
        </p:nvSpPr>
        <p:spPr>
          <a:xfrm>
            <a:off x="9774057" y="5349240"/>
            <a:ext cx="7599543" cy="1591056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9" name="T620">
            <a:extLst>
              <a:ext uri="{FF2B5EF4-FFF2-40B4-BE49-F238E27FC236}">
                <a16:creationId xmlns:a16="http://schemas.microsoft.com/office/drawing/2014/main" id="{48A99212-8D4E-417D-A015-705993236993}"/>
              </a:ext>
            </a:extLst>
          </p:cNvPr>
          <p:cNvSpPr>
            <a:spLocks noGrp="1"/>
          </p:cNvSpPr>
          <p:nvPr/>
        </p:nvSpPr>
        <p:spPr>
          <a:xfrm>
            <a:off x="10030089" y="5495544"/>
            <a:ext cx="7087479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</a:rPr>
              <a:t>⑧⑨ 최종 제출</a:t>
            </a:r>
          </a:p>
        </p:txBody>
      </p:sp>
      <p:sp>
        <p:nvSpPr>
          <p:cNvPr id="621" name="T622">
            <a:extLst>
              <a:ext uri="{FF2B5EF4-FFF2-40B4-BE49-F238E27FC236}">
                <a16:creationId xmlns:a16="http://schemas.microsoft.com/office/drawing/2014/main" id="{3B407763-E460-41FD-93ED-4C9F64AF5E8A}"/>
              </a:ext>
            </a:extLst>
          </p:cNvPr>
          <p:cNvSpPr>
            <a:spLocks noGrp="1"/>
          </p:cNvSpPr>
          <p:nvPr/>
        </p:nvSpPr>
        <p:spPr>
          <a:xfrm>
            <a:off x="10030089" y="5934456"/>
            <a:ext cx="7087479" cy="85953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차단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없을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버튼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활성화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REVIEW_PENDING으로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변경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RESUBMITTED로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변경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67" name="C624"/>
          <p:cNvCxnSpPr/>
          <p:nvPr/>
        </p:nvCxnSpPr>
        <p:spPr>
          <a:xfrm flipH="1">
            <a:off x="6321233" y="6144768"/>
            <a:ext cx="3379672" cy="1499616"/>
          </a:xfrm>
          <a:prstGeom prst="straightConnector1">
            <a:avLst/>
          </a:prstGeom>
          <a:ln w="22225">
            <a:solidFill>
              <a:srgbClr val="2B4FA8"/>
            </a:solidFill>
            <a:tailEnd type="triangle" w="med" len="med"/>
          </a:ln>
        </p:spPr>
      </p:cxnSp>
      <p:sp>
        <p:nvSpPr>
          <p:cNvPr id="625" name="S626">
            <a:extLst>
              <a:ext uri="{FF2B5EF4-FFF2-40B4-BE49-F238E27FC236}">
                <a16:creationId xmlns:a16="http://schemas.microsoft.com/office/drawing/2014/main" id="{818C65BE-44AF-4B7C-A992-18031E8B5BB8}"/>
              </a:ext>
            </a:extLst>
          </p:cNvPr>
          <p:cNvSpPr>
            <a:spLocks noGrp="1"/>
          </p:cNvSpPr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7" name="T628">
            <a:extLst>
              <a:ext uri="{FF2B5EF4-FFF2-40B4-BE49-F238E27FC236}">
                <a16:creationId xmlns:a16="http://schemas.microsoft.com/office/drawing/2014/main" id="{80DBE37D-5B8F-48D9-8239-2003EE1D4CEF}"/>
              </a:ext>
            </a:extLst>
          </p:cNvPr>
          <p:cNvSpPr>
            <a:spLocks noGrp="1"/>
          </p:cNvSpPr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6가지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모두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차단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조건이다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미해결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있으면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요청에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422를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반환한다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⑥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비교표는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기준값과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다른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항목을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붉게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표시해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필요한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바로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식별할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수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있게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758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87985E0-A65C-4E9A-8889-B2AB0AD8F3E0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3A9F51-635F-4377-8AEB-32C143EA1F8C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F6259C-DD18-49C7-9416-68BF3F5B0E4F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C6CF11-4619-4517-B6CF-13C7898F218C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UI 흐름 — 은행 상세 검토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426623E-25A6-415C-B46D-903AFDCF7C00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686" name="P6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9802216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31" name="T632">
            <a:extLst>
              <a:ext uri="{FF2B5EF4-FFF2-40B4-BE49-F238E27FC236}">
                <a16:creationId xmlns:a16="http://schemas.microsoft.com/office/drawing/2014/main" id="{67DC5190-E9FD-4C4D-9798-850045705F78}"/>
              </a:ext>
            </a:extLst>
          </p:cNvPr>
          <p:cNvSpPr>
            <a:spLocks noGrp="1"/>
          </p:cNvSpPr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SCR-REV-002 · 은행 상세 검토   —   대표 상태 : 재제출 건 검토 (RESUBMITTED)</a:t>
            </a:r>
          </a:p>
        </p:txBody>
      </p:sp>
      <p:sp>
        <p:nvSpPr>
          <p:cNvPr id="633" name="S634">
            <a:extLst>
              <a:ext uri="{FF2B5EF4-FFF2-40B4-BE49-F238E27FC236}">
                <a16:creationId xmlns:a16="http://schemas.microsoft.com/office/drawing/2014/main" id="{76413794-E5E7-4BEF-8E07-B90FC9BA9ABB}"/>
              </a:ext>
            </a:extLst>
          </p:cNvPr>
          <p:cNvSpPr>
            <a:spLocks noGrp="1"/>
          </p:cNvSpPr>
          <p:nvPr/>
        </p:nvSpPr>
        <p:spPr>
          <a:xfrm>
            <a:off x="11128096" y="1965960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5" name="T636">
            <a:extLst>
              <a:ext uri="{FF2B5EF4-FFF2-40B4-BE49-F238E27FC236}">
                <a16:creationId xmlns:a16="http://schemas.microsoft.com/office/drawing/2014/main" id="{43CC51E1-223D-414A-82E7-7D77587CC35C}"/>
              </a:ext>
            </a:extLst>
          </p:cNvPr>
          <p:cNvSpPr>
            <a:spLocks noGrp="1"/>
          </p:cNvSpPr>
          <p:nvPr/>
        </p:nvSpPr>
        <p:spPr>
          <a:xfrm>
            <a:off x="11384128" y="2112264"/>
            <a:ext cx="5733440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GET /review/{id}</a:t>
            </a:r>
          </a:p>
        </p:txBody>
      </p:sp>
      <p:sp>
        <p:nvSpPr>
          <p:cNvPr id="637" name="T638">
            <a:extLst>
              <a:ext uri="{FF2B5EF4-FFF2-40B4-BE49-F238E27FC236}">
                <a16:creationId xmlns:a16="http://schemas.microsoft.com/office/drawing/2014/main" id="{B4BDF2FA-83B9-497F-8556-D5808B5A6024}"/>
              </a:ext>
            </a:extLst>
          </p:cNvPr>
          <p:cNvSpPr>
            <a:spLocks noGrp="1"/>
          </p:cNvSpPr>
          <p:nvPr/>
        </p:nvSpPr>
        <p:spPr>
          <a:xfrm>
            <a:off x="11384128" y="2660904"/>
            <a:ext cx="5733440" cy="7498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최신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원본과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OCR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추출값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결과·버전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이력을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함께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조회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원본은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만료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시간이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URL로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제공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91" name="C640"/>
          <p:cNvCxnSpPr/>
          <p:nvPr/>
        </p:nvCxnSpPr>
        <p:spPr>
          <a:xfrm flipH="1">
            <a:off x="6599686" y="2761488"/>
            <a:ext cx="4455259" cy="2043684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41" name="S642">
            <a:extLst>
              <a:ext uri="{FF2B5EF4-FFF2-40B4-BE49-F238E27FC236}">
                <a16:creationId xmlns:a16="http://schemas.microsoft.com/office/drawing/2014/main" id="{A18C7D7F-E774-4D42-99DF-3C6F9B05E8C5}"/>
              </a:ext>
            </a:extLst>
          </p:cNvPr>
          <p:cNvSpPr>
            <a:spLocks noGrp="1"/>
          </p:cNvSpPr>
          <p:nvPr/>
        </p:nvSpPr>
        <p:spPr>
          <a:xfrm>
            <a:off x="11128096" y="3813048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3" name="T644">
            <a:extLst>
              <a:ext uri="{FF2B5EF4-FFF2-40B4-BE49-F238E27FC236}">
                <a16:creationId xmlns:a16="http://schemas.microsoft.com/office/drawing/2014/main" id="{BC18D009-6ABE-4287-A9D9-A4CAE9F7AF8A}"/>
              </a:ext>
            </a:extLst>
          </p:cNvPr>
          <p:cNvSpPr>
            <a:spLocks noGrp="1"/>
          </p:cNvSpPr>
          <p:nvPr/>
        </p:nvSpPr>
        <p:spPr>
          <a:xfrm>
            <a:off x="11384128" y="3959352"/>
            <a:ext cx="5733440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</a:rPr>
              <a:t>⑩ 보완 요청 모달</a:t>
            </a:r>
          </a:p>
        </p:txBody>
      </p:sp>
      <p:sp>
        <p:nvSpPr>
          <p:cNvPr id="645" name="T646">
            <a:extLst>
              <a:ext uri="{FF2B5EF4-FFF2-40B4-BE49-F238E27FC236}">
                <a16:creationId xmlns:a16="http://schemas.microsoft.com/office/drawing/2014/main" id="{C0177185-B159-40ED-B029-C7F2F981F437}"/>
              </a:ext>
            </a:extLst>
          </p:cNvPr>
          <p:cNvSpPr>
            <a:spLocks noGrp="1"/>
          </p:cNvSpPr>
          <p:nvPr/>
        </p:nvSpPr>
        <p:spPr>
          <a:xfrm>
            <a:off x="11384128" y="4398264"/>
            <a:ext cx="5733440" cy="85953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선택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reviews.target_doc_type과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일치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여러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문서는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문서별로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등록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cxnSp>
        <p:nvCxnSpPr>
          <p:cNvPr id="695" name="C648"/>
          <p:cNvCxnSpPr>
            <a:cxnSpLocks/>
          </p:cNvCxnSpPr>
          <p:nvPr/>
        </p:nvCxnSpPr>
        <p:spPr>
          <a:xfrm flipH="1">
            <a:off x="10421091" y="4700588"/>
            <a:ext cx="633853" cy="727863"/>
          </a:xfrm>
          <a:prstGeom prst="straightConnector1">
            <a:avLst/>
          </a:prstGeom>
          <a:ln w="22225">
            <a:solidFill>
              <a:srgbClr val="2B4FA8"/>
            </a:solidFill>
            <a:tailEnd type="triangle" w="med" len="med"/>
          </a:ln>
        </p:spPr>
      </p:cxnSp>
      <p:sp>
        <p:nvSpPr>
          <p:cNvPr id="649" name="S650">
            <a:extLst>
              <a:ext uri="{FF2B5EF4-FFF2-40B4-BE49-F238E27FC236}">
                <a16:creationId xmlns:a16="http://schemas.microsoft.com/office/drawing/2014/main" id="{6E140636-ABA3-4C41-AFBB-D2F6AC5CF556}"/>
              </a:ext>
            </a:extLst>
          </p:cNvPr>
          <p:cNvSpPr>
            <a:spLocks noGrp="1"/>
          </p:cNvSpPr>
          <p:nvPr/>
        </p:nvSpPr>
        <p:spPr>
          <a:xfrm>
            <a:off x="11128096" y="5660136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1" name="T652">
            <a:extLst>
              <a:ext uri="{FF2B5EF4-FFF2-40B4-BE49-F238E27FC236}">
                <a16:creationId xmlns:a16="http://schemas.microsoft.com/office/drawing/2014/main" id="{5C6BAD6F-90EC-45E8-A914-C620DCE07524}"/>
              </a:ext>
            </a:extLst>
          </p:cNvPr>
          <p:cNvSpPr>
            <a:spLocks noGrp="1"/>
          </p:cNvSpPr>
          <p:nvPr/>
        </p:nvSpPr>
        <p:spPr>
          <a:xfrm>
            <a:off x="11384128" y="5806440"/>
            <a:ext cx="5733440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POST /decision</a:t>
            </a:r>
          </a:p>
        </p:txBody>
      </p:sp>
      <p:sp>
        <p:nvSpPr>
          <p:cNvPr id="653" name="T654">
            <a:extLst>
              <a:ext uri="{FF2B5EF4-FFF2-40B4-BE49-F238E27FC236}">
                <a16:creationId xmlns:a16="http://schemas.microsoft.com/office/drawing/2014/main" id="{52F301D9-D852-404E-A7B3-0DEF382135D0}"/>
              </a:ext>
            </a:extLst>
          </p:cNvPr>
          <p:cNvSpPr>
            <a:spLocks noGrp="1"/>
          </p:cNvSpPr>
          <p:nvPr/>
        </p:nvSpPr>
        <p:spPr>
          <a:xfrm>
            <a:off x="11384128" y="6245352"/>
            <a:ext cx="5733440" cy="85953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완료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또는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보완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건과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사유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marL="285750" indent="-285750" algn="l">
              <a:lnSpc>
                <a:spcPct val="13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담당자가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먼저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처리한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경우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409</a:t>
            </a:r>
          </a:p>
        </p:txBody>
      </p:sp>
      <p:cxnSp>
        <p:nvCxnSpPr>
          <p:cNvPr id="699" name="C656"/>
          <p:cNvCxnSpPr>
            <a:cxnSpLocks/>
          </p:cNvCxnSpPr>
          <p:nvPr/>
        </p:nvCxnSpPr>
        <p:spPr>
          <a:xfrm flipH="1">
            <a:off x="7832993" y="6455664"/>
            <a:ext cx="3221951" cy="1002755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57" name="S658">
            <a:extLst>
              <a:ext uri="{FF2B5EF4-FFF2-40B4-BE49-F238E27FC236}">
                <a16:creationId xmlns:a16="http://schemas.microsoft.com/office/drawing/2014/main" id="{0F7CCE19-75A6-4835-B95A-67EEAACB4801}"/>
              </a:ext>
            </a:extLst>
          </p:cNvPr>
          <p:cNvSpPr>
            <a:spLocks noGrp="1"/>
          </p:cNvSpPr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9" name="T660">
            <a:extLst>
              <a:ext uri="{FF2B5EF4-FFF2-40B4-BE49-F238E27FC236}">
                <a16:creationId xmlns:a16="http://schemas.microsoft.com/office/drawing/2014/main" id="{21279BF1-CBFE-46D7-918D-A951539D081B}"/>
              </a:ext>
            </a:extLst>
          </p:cNvPr>
          <p:cNvSpPr>
            <a:spLocks noGrp="1"/>
          </p:cNvSpPr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⑦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이력에는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업로드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담당자와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담당자를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구분해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표시한다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ctr">
              <a:lnSpc>
                <a:spcPct val="140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⑧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결정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버튼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옆에는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서류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완료가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승인을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의미하지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않는다는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안내를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표시한다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6327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0D97230-D9DA-4BE2-B084-11C29BDC1C59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0F92EB-D1C5-44BF-9AF6-BC97F62E0B54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0642EE-401C-4530-A12C-572E43632C6D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F0A0B6-CDCF-4131-875B-EF9EB2FDF735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모델 설계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785614F-9DE0-4113-9892-7AB587EE5863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700" name="P6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74520"/>
            <a:ext cx="11338560" cy="68031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63" name="T664">
            <a:extLst>
              <a:ext uri="{FF2B5EF4-FFF2-40B4-BE49-F238E27FC236}">
                <a16:creationId xmlns:a16="http://schemas.microsoft.com/office/drawing/2014/main" id="{0EF17F8F-3078-4060-AA0B-FF1D64006CF3}"/>
              </a:ext>
            </a:extLst>
          </p:cNvPr>
          <p:cNvSpPr>
            <a:spLocks noGrp="1"/>
          </p:cNvSpPr>
          <p:nvPr/>
        </p:nvSpPr>
        <p:spPr>
          <a:xfrm>
            <a:off x="7372350" y="8786241"/>
            <a:ext cx="10001250" cy="34747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r>
              <a:rPr 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ERD (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테이블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8개 ·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외래키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12개 · M:N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없음</a:t>
            </a:r>
            <a:r>
              <a:rPr 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) - </a:t>
            </a:r>
            <a:r>
              <a:rPr lang="ko-KR" alt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화면과 </a:t>
            </a:r>
            <a:r>
              <a:rPr lang="en" altLang="ko-Kore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API</a:t>
            </a:r>
            <a:r>
              <a:rPr lang="ko-KR" alt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에서 사용하는 데이터만 모델링</a:t>
            </a:r>
            <a:r>
              <a:rPr lang="en-US" alt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r>
              <a:rPr lang="ko-KR" alt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모든 테이블에 </a:t>
            </a:r>
            <a:r>
              <a:rPr lang="en" altLang="ko-Kore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PK</a:t>
            </a:r>
            <a:r>
              <a:rPr lang="ko-KR" altLang="en-US"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ko-KR" alt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두고 관계는 </a:t>
            </a:r>
            <a:r>
              <a:rPr lang="en" altLang="ko-Kore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FK</a:t>
            </a:r>
            <a:r>
              <a:rPr lang="ko-KR" altLang="en-US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로 명시</a:t>
            </a:r>
            <a:r>
              <a:rPr lang="en-US" alt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ko-KR" altLang="en-US" sz="15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endParaRPr sz="15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65" name="T666">
            <a:extLst>
              <a:ext uri="{FF2B5EF4-FFF2-40B4-BE49-F238E27FC236}">
                <a16:creationId xmlns:a16="http://schemas.microsoft.com/office/drawing/2014/main" id="{5AFA63B1-10A9-4534-9430-224A5FE7F929}"/>
              </a:ext>
            </a:extLst>
          </p:cNvPr>
          <p:cNvSpPr>
            <a:spLocks noGrp="1"/>
          </p:cNvSpPr>
          <p:nvPr/>
        </p:nvSpPr>
        <p:spPr>
          <a:xfrm>
            <a:off x="2043112" y="1931556"/>
            <a:ext cx="1885951" cy="40233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[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포인트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]</a:t>
            </a:r>
          </a:p>
        </p:txBody>
      </p:sp>
      <p:sp>
        <p:nvSpPr>
          <p:cNvPr id="687" name="S688">
            <a:extLst>
              <a:ext uri="{FF2B5EF4-FFF2-40B4-BE49-F238E27FC236}">
                <a16:creationId xmlns:a16="http://schemas.microsoft.com/office/drawing/2014/main" id="{126565E9-FCFE-4FB4-B82A-722871571A79}"/>
              </a:ext>
            </a:extLst>
          </p:cNvPr>
          <p:cNvSpPr>
            <a:spLocks noGrp="1"/>
          </p:cNvSpPr>
          <p:nvPr/>
        </p:nvSpPr>
        <p:spPr>
          <a:xfrm>
            <a:off x="413844" y="7406640"/>
            <a:ext cx="5346876" cy="16459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9" name="T690">
            <a:extLst>
              <a:ext uri="{FF2B5EF4-FFF2-40B4-BE49-F238E27FC236}">
                <a16:creationId xmlns:a16="http://schemas.microsoft.com/office/drawing/2014/main" id="{49EA1498-5627-43B3-838F-89F5369DB15D}"/>
              </a:ext>
            </a:extLst>
          </p:cNvPr>
          <p:cNvSpPr>
            <a:spLocks noGrp="1"/>
          </p:cNvSpPr>
          <p:nvPr/>
        </p:nvSpPr>
        <p:spPr>
          <a:xfrm>
            <a:off x="2240603" y="7452360"/>
            <a:ext cx="1729931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제출</a:t>
            </a:r>
            <a:r>
              <a:rPr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차단</a:t>
            </a:r>
            <a:r>
              <a:rPr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오류</a:t>
            </a:r>
            <a:r>
              <a:rPr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  <a:endParaRPr sz="1600" dirty="0">
              <a:solidFill>
                <a:srgbClr val="F47725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91" name="T692">
            <a:extLst>
              <a:ext uri="{FF2B5EF4-FFF2-40B4-BE49-F238E27FC236}">
                <a16:creationId xmlns:a16="http://schemas.microsoft.com/office/drawing/2014/main" id="{160B0A0D-636D-40C0-81B7-A4D694B77B1E}"/>
              </a:ext>
            </a:extLst>
          </p:cNvPr>
          <p:cNvSpPr>
            <a:spLocks noGrp="1"/>
          </p:cNvSpPr>
          <p:nvPr/>
        </p:nvSpPr>
        <p:spPr>
          <a:xfrm>
            <a:off x="706451" y="8121438"/>
            <a:ext cx="4798237" cy="78481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validation_issues에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유형과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해결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저장한다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미해결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존재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여부로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가능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여부를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판정한다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693" name="T694">
            <a:extLst>
              <a:ext uri="{FF2B5EF4-FFF2-40B4-BE49-F238E27FC236}">
                <a16:creationId xmlns:a16="http://schemas.microsoft.com/office/drawing/2014/main" id="{C7D17051-2D3B-48F9-8F98-5B620F491084}"/>
              </a:ext>
            </a:extLst>
          </p:cNvPr>
          <p:cNvSpPr>
            <a:spLocks noGrp="1"/>
          </p:cNvSpPr>
          <p:nvPr/>
        </p:nvSpPr>
        <p:spPr>
          <a:xfrm>
            <a:off x="10801350" y="8796528"/>
            <a:ext cx="657225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endParaRPr sz="15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" name="S668">
            <a:extLst>
              <a:ext uri="{FF2B5EF4-FFF2-40B4-BE49-F238E27FC236}">
                <a16:creationId xmlns:a16="http://schemas.microsoft.com/office/drawing/2014/main" id="{69053FE9-EA42-FD86-A638-457F9F083C03}"/>
              </a:ext>
            </a:extLst>
          </p:cNvPr>
          <p:cNvSpPr>
            <a:spLocks noGrp="1"/>
          </p:cNvSpPr>
          <p:nvPr/>
        </p:nvSpPr>
        <p:spPr>
          <a:xfrm>
            <a:off x="334958" y="271934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8" name="T670">
            <a:extLst>
              <a:ext uri="{FF2B5EF4-FFF2-40B4-BE49-F238E27FC236}">
                <a16:creationId xmlns:a16="http://schemas.microsoft.com/office/drawing/2014/main" id="{6C949A51-52B5-5191-F383-CE2730F653F0}"/>
              </a:ext>
            </a:extLst>
          </p:cNvPr>
          <p:cNvSpPr>
            <a:spLocks noGrp="1"/>
          </p:cNvSpPr>
          <p:nvPr/>
        </p:nvSpPr>
        <p:spPr>
          <a:xfrm>
            <a:off x="706451" y="2432304"/>
            <a:ext cx="5017693" cy="87782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기업명·사업자등록번호는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companies에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번만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저장하고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company_id로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참조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S672">
            <a:extLst>
              <a:ext uri="{FF2B5EF4-FFF2-40B4-BE49-F238E27FC236}">
                <a16:creationId xmlns:a16="http://schemas.microsoft.com/office/drawing/2014/main" id="{88F95633-16DB-8F02-EF89-4BBFF39AC3B8}"/>
              </a:ext>
            </a:extLst>
          </p:cNvPr>
          <p:cNvSpPr>
            <a:spLocks noGrp="1"/>
          </p:cNvSpPr>
          <p:nvPr/>
        </p:nvSpPr>
        <p:spPr>
          <a:xfrm>
            <a:off x="334958" y="3720149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0" name="T674">
            <a:extLst>
              <a:ext uri="{FF2B5EF4-FFF2-40B4-BE49-F238E27FC236}">
                <a16:creationId xmlns:a16="http://schemas.microsoft.com/office/drawing/2014/main" id="{C87F4289-0805-5FC7-4358-C38A8B9D33A3}"/>
              </a:ext>
            </a:extLst>
          </p:cNvPr>
          <p:cNvSpPr>
            <a:spLocks noGrp="1"/>
          </p:cNvSpPr>
          <p:nvPr/>
        </p:nvSpPr>
        <p:spPr>
          <a:xfrm>
            <a:off x="706451" y="3419856"/>
            <a:ext cx="5017693" cy="87782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users–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loan_applications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N:M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관계를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reviews로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분리해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1:N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두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개로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구성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S676">
            <a:extLst>
              <a:ext uri="{FF2B5EF4-FFF2-40B4-BE49-F238E27FC236}">
                <a16:creationId xmlns:a16="http://schemas.microsoft.com/office/drawing/2014/main" id="{745173CB-1980-242B-EC90-FB7A82B3CAAE}"/>
              </a:ext>
            </a:extLst>
          </p:cNvPr>
          <p:cNvSpPr>
            <a:spLocks noGrp="1"/>
          </p:cNvSpPr>
          <p:nvPr/>
        </p:nvSpPr>
        <p:spPr>
          <a:xfrm>
            <a:off x="334958" y="4707701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2" name="T678">
            <a:extLst>
              <a:ext uri="{FF2B5EF4-FFF2-40B4-BE49-F238E27FC236}">
                <a16:creationId xmlns:a16="http://schemas.microsoft.com/office/drawing/2014/main" id="{43FD46FD-AF0B-C63F-24CB-6585AD9A61B5}"/>
              </a:ext>
            </a:extLst>
          </p:cNvPr>
          <p:cNvSpPr>
            <a:spLocks noGrp="1"/>
          </p:cNvSpPr>
          <p:nvPr/>
        </p:nvSpPr>
        <p:spPr>
          <a:xfrm>
            <a:off x="706451" y="4407408"/>
            <a:ext cx="5017693" cy="87782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재제출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덮어쓰지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version_no와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is_latest로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이전본·최신본을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S680">
            <a:extLst>
              <a:ext uri="{FF2B5EF4-FFF2-40B4-BE49-F238E27FC236}">
                <a16:creationId xmlns:a16="http://schemas.microsoft.com/office/drawing/2014/main" id="{735E6334-6990-33F1-7A32-D9F851123159}"/>
              </a:ext>
            </a:extLst>
          </p:cNvPr>
          <p:cNvSpPr>
            <a:spLocks noGrp="1"/>
          </p:cNvSpPr>
          <p:nvPr/>
        </p:nvSpPr>
        <p:spPr>
          <a:xfrm>
            <a:off x="334958" y="570850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4" name="T682">
            <a:extLst>
              <a:ext uri="{FF2B5EF4-FFF2-40B4-BE49-F238E27FC236}">
                <a16:creationId xmlns:a16="http://schemas.microsoft.com/office/drawing/2014/main" id="{A0E44988-0B6D-F1F3-6CA8-41694BAA98EA}"/>
              </a:ext>
            </a:extLst>
          </p:cNvPr>
          <p:cNvSpPr>
            <a:spLocks noGrp="1"/>
          </p:cNvSpPr>
          <p:nvPr/>
        </p:nvSpPr>
        <p:spPr>
          <a:xfrm>
            <a:off x="706451" y="5394960"/>
            <a:ext cx="5017693" cy="87782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OCR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추출값은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extracted_fields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</a:t>
            </a:r>
          </a:p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오류·해결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상태는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validation_issues에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저장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S684">
            <a:extLst>
              <a:ext uri="{FF2B5EF4-FFF2-40B4-BE49-F238E27FC236}">
                <a16:creationId xmlns:a16="http://schemas.microsoft.com/office/drawing/2014/main" id="{0320E77F-F87D-9D4E-3537-975C58CA879E}"/>
              </a:ext>
            </a:extLst>
          </p:cNvPr>
          <p:cNvSpPr>
            <a:spLocks noGrp="1"/>
          </p:cNvSpPr>
          <p:nvPr/>
        </p:nvSpPr>
        <p:spPr>
          <a:xfrm>
            <a:off x="334958" y="666955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16" name="T686">
            <a:extLst>
              <a:ext uri="{FF2B5EF4-FFF2-40B4-BE49-F238E27FC236}">
                <a16:creationId xmlns:a16="http://schemas.microsoft.com/office/drawing/2014/main" id="{BCDBB21D-0307-1FB6-02F4-41722FDBB146}"/>
              </a:ext>
            </a:extLst>
          </p:cNvPr>
          <p:cNvSpPr>
            <a:spLocks noGrp="1"/>
          </p:cNvSpPr>
          <p:nvPr/>
        </p:nvSpPr>
        <p:spPr>
          <a:xfrm>
            <a:off x="706451" y="6382512"/>
            <a:ext cx="5017693" cy="87782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uploaded_by와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reviewer_id로</a:t>
            </a:r>
            <a:r>
              <a:rPr lang="ko-KR" alt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altLang="ko-KR"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제출자와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은행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검토자를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추적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72243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736B1A0-DFD4-419F-AFC0-7F0C54598713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894C7B-D4CB-4813-98B3-E85B8B5C9E17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A9CDAC-53B1-4627-AEC7-CBF3030EF16A}"/>
              </a:ext>
            </a:extLst>
          </p:cNvPr>
          <p:cNvSpPr>
            <a:spLocks noGrp="1"/>
          </p:cNvSpPr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42783C-C8D6-4510-944E-D58D8F4C3EDF}"/>
              </a:ext>
            </a:extLst>
          </p:cNvPr>
          <p:cNvSpPr>
            <a:spLocks noGrp="1"/>
          </p:cNvSpPr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API 명세 정의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1C1550-6546-4CE0-BE2E-C1F30D135931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745" name="P6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64308"/>
            <a:ext cx="4892040" cy="416052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99" name="T700">
            <a:extLst>
              <a:ext uri="{FF2B5EF4-FFF2-40B4-BE49-F238E27FC236}">
                <a16:creationId xmlns:a16="http://schemas.microsoft.com/office/drawing/2014/main" id="{4191EC85-3DA6-459B-A342-0704FE3C6DCE}"/>
              </a:ext>
            </a:extLst>
          </p:cNvPr>
          <p:cNvSpPr>
            <a:spLocks noGrp="1"/>
          </p:cNvSpPr>
          <p:nvPr/>
        </p:nvSpPr>
        <p:spPr>
          <a:xfrm>
            <a:off x="914400" y="1877053"/>
            <a:ext cx="11978640" cy="34747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좌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제출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오퍼레이션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원문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/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우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엔드포인트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명세서</a:t>
            </a:r>
            <a:endParaRPr sz="1500" dirty="0">
              <a:solidFill>
                <a:srgbClr val="6E6A6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01" name="T702">
            <a:extLst>
              <a:ext uri="{FF2B5EF4-FFF2-40B4-BE49-F238E27FC236}">
                <a16:creationId xmlns:a16="http://schemas.microsoft.com/office/drawing/2014/main" id="{A7249D39-8544-4DCB-9DD5-DD8BE36AB832}"/>
              </a:ext>
            </a:extLst>
          </p:cNvPr>
          <p:cNvSpPr>
            <a:spLocks noGrp="1"/>
          </p:cNvSpPr>
          <p:nvPr/>
        </p:nvSpPr>
        <p:spPr>
          <a:xfrm>
            <a:off x="14187487" y="2397815"/>
            <a:ext cx="2066361" cy="402336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[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900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포인트</a:t>
            </a:r>
            <a:r>
              <a:rPr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]</a:t>
            </a:r>
          </a:p>
        </p:txBody>
      </p:sp>
      <p:sp>
        <p:nvSpPr>
          <p:cNvPr id="703" name="S704">
            <a:extLst>
              <a:ext uri="{FF2B5EF4-FFF2-40B4-BE49-F238E27FC236}">
                <a16:creationId xmlns:a16="http://schemas.microsoft.com/office/drawing/2014/main" id="{F80B439E-6EA8-4DB5-A6D0-5466338AB522}"/>
              </a:ext>
            </a:extLst>
          </p:cNvPr>
          <p:cNvSpPr>
            <a:spLocks noGrp="1"/>
          </p:cNvSpPr>
          <p:nvPr/>
        </p:nvSpPr>
        <p:spPr>
          <a:xfrm>
            <a:off x="12521916" y="337185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05" name="T706">
            <a:extLst>
              <a:ext uri="{FF2B5EF4-FFF2-40B4-BE49-F238E27FC236}">
                <a16:creationId xmlns:a16="http://schemas.microsoft.com/office/drawing/2014/main" id="{06A429B8-5876-4C73-A87B-8F7263E4293A}"/>
              </a:ext>
            </a:extLst>
          </p:cNvPr>
          <p:cNvSpPr>
            <a:spLocks noGrp="1"/>
          </p:cNvSpPr>
          <p:nvPr/>
        </p:nvSpPr>
        <p:spPr>
          <a:xfrm>
            <a:off x="12777948" y="3243834"/>
            <a:ext cx="4745736" cy="43956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엔드포인트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11개</a:t>
            </a:r>
            <a:r>
              <a:rPr 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- 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auth 3 · company 5 · review 3</a:t>
            </a:r>
          </a:p>
        </p:txBody>
      </p:sp>
      <p:sp>
        <p:nvSpPr>
          <p:cNvPr id="707" name="S708">
            <a:extLst>
              <a:ext uri="{FF2B5EF4-FFF2-40B4-BE49-F238E27FC236}">
                <a16:creationId xmlns:a16="http://schemas.microsoft.com/office/drawing/2014/main" id="{41C93338-E9BA-4464-A7F7-226781D30345}"/>
              </a:ext>
            </a:extLst>
          </p:cNvPr>
          <p:cNvSpPr>
            <a:spLocks noGrp="1"/>
          </p:cNvSpPr>
          <p:nvPr/>
        </p:nvSpPr>
        <p:spPr>
          <a:xfrm>
            <a:off x="12521916" y="419807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09" name="T710">
            <a:extLst>
              <a:ext uri="{FF2B5EF4-FFF2-40B4-BE49-F238E27FC236}">
                <a16:creationId xmlns:a16="http://schemas.microsoft.com/office/drawing/2014/main" id="{66C68B94-1AEB-49F6-AF9C-2F5C159476D8}"/>
              </a:ext>
            </a:extLst>
          </p:cNvPr>
          <p:cNvSpPr>
            <a:spLocks noGrp="1"/>
          </p:cNvSpPr>
          <p:nvPr/>
        </p:nvSpPr>
        <p:spPr>
          <a:xfrm>
            <a:off x="12777948" y="4070058"/>
            <a:ext cx="4745736" cy="5447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$ref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공통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응답·오류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파라미터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재사용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(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스키마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28개)</a:t>
            </a:r>
          </a:p>
        </p:txBody>
      </p:sp>
      <p:sp>
        <p:nvSpPr>
          <p:cNvPr id="711" name="S712">
            <a:extLst>
              <a:ext uri="{FF2B5EF4-FFF2-40B4-BE49-F238E27FC236}">
                <a16:creationId xmlns:a16="http://schemas.microsoft.com/office/drawing/2014/main" id="{68480D0B-12E1-4B8B-9840-456254CB2B3B}"/>
              </a:ext>
            </a:extLst>
          </p:cNvPr>
          <p:cNvSpPr>
            <a:spLocks noGrp="1"/>
          </p:cNvSpPr>
          <p:nvPr/>
        </p:nvSpPr>
        <p:spPr>
          <a:xfrm>
            <a:off x="12518138" y="498250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13" name="T714">
            <a:extLst>
              <a:ext uri="{FF2B5EF4-FFF2-40B4-BE49-F238E27FC236}">
                <a16:creationId xmlns:a16="http://schemas.microsoft.com/office/drawing/2014/main" id="{C32B79CD-B55A-48D6-85E4-FE5DBDFABFA7}"/>
              </a:ext>
            </a:extLst>
          </p:cNvPr>
          <p:cNvSpPr>
            <a:spLocks noGrp="1"/>
          </p:cNvSpPr>
          <p:nvPr/>
        </p:nvSpPr>
        <p:spPr>
          <a:xfrm>
            <a:off x="12774170" y="4854486"/>
            <a:ext cx="4745736" cy="5218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화면에서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호출하는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API만</a:t>
            </a:r>
            <a:r>
              <a:rPr 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정의해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범위를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명확히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제한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5" name="S716">
            <a:extLst>
              <a:ext uri="{FF2B5EF4-FFF2-40B4-BE49-F238E27FC236}">
                <a16:creationId xmlns:a16="http://schemas.microsoft.com/office/drawing/2014/main" id="{58F2FA40-31FA-4544-A82A-308E1171EE22}"/>
              </a:ext>
            </a:extLst>
          </p:cNvPr>
          <p:cNvSpPr>
            <a:spLocks noGrp="1"/>
          </p:cNvSpPr>
          <p:nvPr/>
        </p:nvSpPr>
        <p:spPr>
          <a:xfrm>
            <a:off x="12518138" y="581787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17" name="T718">
            <a:extLst>
              <a:ext uri="{FF2B5EF4-FFF2-40B4-BE49-F238E27FC236}">
                <a16:creationId xmlns:a16="http://schemas.microsoft.com/office/drawing/2014/main" id="{5ECCC3AB-53A3-438C-83BF-11AF96153E97}"/>
              </a:ext>
            </a:extLst>
          </p:cNvPr>
          <p:cNvSpPr>
            <a:spLocks noGrp="1"/>
          </p:cNvSpPr>
          <p:nvPr/>
        </p:nvSpPr>
        <p:spPr>
          <a:xfrm>
            <a:off x="12774170" y="5689854"/>
            <a:ext cx="4892040" cy="43499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lnSpc>
                <a:spcPct val="136000"/>
              </a:lnSpc>
            </a:pP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외부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OCR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연동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대상으로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분리</a:t>
            </a:r>
            <a:r>
              <a:rPr lang="en-US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실패</a:t>
            </a:r>
            <a:r>
              <a:rPr lang="en-US" altLang="ko-Kore-KR"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지연을</a:t>
            </a:r>
            <a:r>
              <a:rPr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502·504로 </a:t>
            </a:r>
            <a:r>
              <a:rPr sz="16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표현</a:t>
            </a:r>
            <a:endParaRPr sz="16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9" name="S720">
            <a:extLst>
              <a:ext uri="{FF2B5EF4-FFF2-40B4-BE49-F238E27FC236}">
                <a16:creationId xmlns:a16="http://schemas.microsoft.com/office/drawing/2014/main" id="{729FFA9F-91EA-485C-8DF6-35D9DA4AF5F1}"/>
              </a:ext>
            </a:extLst>
          </p:cNvPr>
          <p:cNvSpPr>
            <a:spLocks noGrp="1"/>
          </p:cNvSpPr>
          <p:nvPr/>
        </p:nvSpPr>
        <p:spPr>
          <a:xfrm>
            <a:off x="914400" y="7104490"/>
            <a:ext cx="4892040" cy="160020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T722">
            <a:extLst>
              <a:ext uri="{FF2B5EF4-FFF2-40B4-BE49-F238E27FC236}">
                <a16:creationId xmlns:a16="http://schemas.microsoft.com/office/drawing/2014/main" id="{ED90EF6B-C755-40C1-BCB2-E9466816B67B}"/>
              </a:ext>
            </a:extLst>
          </p:cNvPr>
          <p:cNvSpPr>
            <a:spLocks noGrp="1"/>
          </p:cNvSpPr>
          <p:nvPr/>
        </p:nvSpPr>
        <p:spPr>
          <a:xfrm>
            <a:off x="1170432" y="7250794"/>
            <a:ext cx="437997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 dirty="0" err="1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예외</a:t>
            </a:r>
            <a:r>
              <a:rPr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처리</a:t>
            </a:r>
            <a:r>
              <a:rPr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600" dirty="0" err="1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</a:rPr>
              <a:t>규격화</a:t>
            </a:r>
            <a:endParaRPr sz="1600" dirty="0">
              <a:solidFill>
                <a:srgbClr val="EA002C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23" name="T724">
            <a:extLst>
              <a:ext uri="{FF2B5EF4-FFF2-40B4-BE49-F238E27FC236}">
                <a16:creationId xmlns:a16="http://schemas.microsoft.com/office/drawing/2014/main" id="{204FE714-0A0B-4015-B406-54488F670082}"/>
              </a:ext>
            </a:extLst>
          </p:cNvPr>
          <p:cNvSpPr>
            <a:spLocks noGrp="1"/>
          </p:cNvSpPr>
          <p:nvPr/>
        </p:nvSpPr>
        <p:spPr>
          <a:xfrm>
            <a:off x="1193886" y="7794604"/>
            <a:ext cx="4379976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성공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응답과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주요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코드를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오퍼레이션에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명시해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화면설계서의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예외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정책과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일치시켰다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725" name="S726">
            <a:extLst>
              <a:ext uri="{FF2B5EF4-FFF2-40B4-BE49-F238E27FC236}">
                <a16:creationId xmlns:a16="http://schemas.microsoft.com/office/drawing/2014/main" id="{6259F911-8520-4D0C-B582-D690A3DAF970}"/>
              </a:ext>
            </a:extLst>
          </p:cNvPr>
          <p:cNvSpPr>
            <a:spLocks noGrp="1"/>
          </p:cNvSpPr>
          <p:nvPr/>
        </p:nvSpPr>
        <p:spPr>
          <a:xfrm>
            <a:off x="6192378" y="7104490"/>
            <a:ext cx="5943600" cy="160020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7" name="T728">
            <a:extLst>
              <a:ext uri="{FF2B5EF4-FFF2-40B4-BE49-F238E27FC236}">
                <a16:creationId xmlns:a16="http://schemas.microsoft.com/office/drawing/2014/main" id="{3809F0C8-4F01-4C8C-A12C-F5C265B2685A}"/>
              </a:ext>
            </a:extLst>
          </p:cNvPr>
          <p:cNvSpPr>
            <a:spLocks noGrp="1"/>
          </p:cNvSpPr>
          <p:nvPr/>
        </p:nvSpPr>
        <p:spPr>
          <a:xfrm>
            <a:off x="6448410" y="7250794"/>
            <a:ext cx="543153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</a:rPr>
              <a:t>오퍼레이션별 추적 정보</a:t>
            </a:r>
          </a:p>
        </p:txBody>
      </p:sp>
      <p:sp>
        <p:nvSpPr>
          <p:cNvPr id="729" name="T730">
            <a:extLst>
              <a:ext uri="{FF2B5EF4-FFF2-40B4-BE49-F238E27FC236}">
                <a16:creationId xmlns:a16="http://schemas.microsoft.com/office/drawing/2014/main" id="{44CF31DD-DA90-4BDD-BC26-F0C6FDE3C3F7}"/>
              </a:ext>
            </a:extLst>
          </p:cNvPr>
          <p:cNvSpPr>
            <a:spLocks noGrp="1"/>
          </p:cNvSpPr>
          <p:nvPr/>
        </p:nvSpPr>
        <p:spPr>
          <a:xfrm>
            <a:off x="6471864" y="7794604"/>
            <a:ext cx="5431536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각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description에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요구사항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ID와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화면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ID,</a:t>
            </a:r>
            <a:r>
              <a:rPr 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사용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테이블을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기록해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요구사항·화면·API·DB를</a:t>
            </a:r>
            <a:r>
              <a:rPr 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상호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추적할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있게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구성했다</a:t>
            </a:r>
            <a:r>
              <a:rPr lang="en-US" alt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31" name="S732">
            <a:extLst>
              <a:ext uri="{FF2B5EF4-FFF2-40B4-BE49-F238E27FC236}">
                <a16:creationId xmlns:a16="http://schemas.microsoft.com/office/drawing/2014/main" id="{3475AF80-04C6-45A6-9E9C-1AACA4D1E58F}"/>
              </a:ext>
            </a:extLst>
          </p:cNvPr>
          <p:cNvSpPr>
            <a:spLocks noGrp="1"/>
          </p:cNvSpPr>
          <p:nvPr/>
        </p:nvSpPr>
        <p:spPr>
          <a:xfrm>
            <a:off x="12518138" y="708660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3" name="T734">
            <a:extLst>
              <a:ext uri="{FF2B5EF4-FFF2-40B4-BE49-F238E27FC236}">
                <a16:creationId xmlns:a16="http://schemas.microsoft.com/office/drawing/2014/main" id="{5639DAC9-D10B-49FB-A5CC-EA4984F298BD}"/>
              </a:ext>
            </a:extLst>
          </p:cNvPr>
          <p:cNvSpPr>
            <a:spLocks noGrp="1"/>
          </p:cNvSpPr>
          <p:nvPr/>
        </p:nvSpPr>
        <p:spPr>
          <a:xfrm>
            <a:off x="12774170" y="7232904"/>
            <a:ext cx="4562856" cy="40233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spcAft>
                <a:spcPts val="0"/>
              </a:spcAft>
              <a:buNone/>
            </a:pPr>
            <a:r>
              <a:rPr sz="1600" dirty="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</a:rPr>
              <a:t>Bearer </a:t>
            </a:r>
            <a:r>
              <a:rPr sz="1600" dirty="0" err="1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</a:rPr>
              <a:t>인증</a:t>
            </a:r>
            <a:endParaRPr sz="1600" dirty="0">
              <a:solidFill>
                <a:srgbClr val="2B4FA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35" name="T736">
            <a:extLst>
              <a:ext uri="{FF2B5EF4-FFF2-40B4-BE49-F238E27FC236}">
                <a16:creationId xmlns:a16="http://schemas.microsoft.com/office/drawing/2014/main" id="{98BC7230-76F3-4B2C-B2CE-B3ED3BB9BEA3}"/>
              </a:ext>
            </a:extLst>
          </p:cNvPr>
          <p:cNvSpPr>
            <a:spLocks noGrp="1"/>
          </p:cNvSpPr>
          <p:nvPr/>
        </p:nvSpPr>
        <p:spPr>
          <a:xfrm>
            <a:off x="12797624" y="7776714"/>
            <a:ext cx="4562856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로그인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응답의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accessToken을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요청에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사용한다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endParaRPr lang="en-US" sz="14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>
              <a:lnSpc>
                <a:spcPct val="138000"/>
              </a:lnSpc>
              <a:spcAft>
                <a:spcPts val="0"/>
              </a:spcAft>
              <a:buNone/>
            </a:pP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초대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조회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ko-KR" altLang="en-US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계정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활성화와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로그인은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호출한다</a:t>
            </a:r>
            <a:r>
              <a:rPr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737" name="T738">
            <a:extLst>
              <a:ext uri="{FF2B5EF4-FFF2-40B4-BE49-F238E27FC236}">
                <a16:creationId xmlns:a16="http://schemas.microsoft.com/office/drawing/2014/main" id="{7E329BE9-FB7C-4D0B-911A-92CA75DE6CF6}"/>
              </a:ext>
            </a:extLst>
          </p:cNvPr>
          <p:cNvSpPr>
            <a:spLocks noGrp="1"/>
          </p:cNvSpPr>
          <p:nvPr/>
        </p:nvSpPr>
        <p:spPr>
          <a:xfrm>
            <a:off x="914400" y="9189720"/>
            <a:ext cx="164592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  <a:buNone/>
            </a:pP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미해결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차단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오류가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있으면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blockingIssues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배열을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반환해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화면에서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해결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항목을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바로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표시할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수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있게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dirty="0" err="1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했다</a:t>
            </a:r>
            <a:r>
              <a:rPr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7E8694-99D7-C637-F87C-8CCA8AC57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378" y="2448411"/>
            <a:ext cx="5943600" cy="419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3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78022-03BC-4BAC-6E25-A2C1CD33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0B617D2-D5BB-FC6A-95DC-8B9F2AF4C793}"/>
              </a:ext>
            </a:extLst>
          </p:cNvPr>
          <p:cNvSpPr>
            <a:spLocks noGrp="1"/>
          </p:cNvSpPr>
          <p:nvPr/>
        </p:nvSpPr>
        <p:spPr>
          <a:xfrm>
            <a:off x="333150" y="369408"/>
            <a:ext cx="860736" cy="86073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1B61B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55FEB0-D71A-2B1E-930D-2D5209174D79}"/>
              </a:ext>
            </a:extLst>
          </p:cNvPr>
          <p:cNvSpPr>
            <a:spLocks noGrp="1"/>
          </p:cNvSpPr>
          <p:nvPr/>
        </p:nvSpPr>
        <p:spPr>
          <a:xfrm>
            <a:off x="413844" y="419841"/>
            <a:ext cx="699348" cy="72960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145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042E695-049B-E02F-0DE2-EABE05354097}"/>
              </a:ext>
            </a:extLst>
          </p:cNvPr>
          <p:cNvSpPr>
            <a:spLocks noGrp="1"/>
          </p:cNvSpPr>
          <p:nvPr/>
        </p:nvSpPr>
        <p:spPr>
          <a:xfrm>
            <a:off x="391635" y="455951"/>
            <a:ext cx="743765" cy="6114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53"/>
              </a:lnSpc>
              <a:buNone/>
            </a:pPr>
            <a:r>
              <a:rPr sz="3887" b="1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altLang="ko-KR" sz="3887" b="1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  <a:endParaRPr sz="3887" b="1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2EEA54E-0636-6051-D40A-854D0F5EE8D9}"/>
              </a:ext>
            </a:extLst>
          </p:cNvPr>
          <p:cNvSpPr>
            <a:spLocks noGrp="1"/>
          </p:cNvSpPr>
          <p:nvPr/>
        </p:nvSpPr>
        <p:spPr>
          <a:xfrm>
            <a:off x="1466120" y="460311"/>
            <a:ext cx="9144000" cy="60272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>
              <a:lnSpc>
                <a:spcPts val="4673"/>
              </a:lnSpc>
            </a:pPr>
            <a:r>
              <a:rPr lang="ko-KR" altLang="en-US" sz="4000" b="1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F51BB69-7B7F-D7BF-0FA0-E3AD461EA9C7}"/>
              </a:ext>
            </a:extLst>
          </p:cNvPr>
          <p:cNvSpPr>
            <a:spLocks noGrp="1"/>
          </p:cNvSpPr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1F498F7F-EE43-8752-DC30-4DB9A833FA70}"/>
              </a:ext>
            </a:extLst>
          </p:cNvPr>
          <p:cNvSpPr>
            <a:spLocks noGrp="1"/>
          </p:cNvSpPr>
          <p:nvPr/>
        </p:nvSpPr>
        <p:spPr>
          <a:xfrm>
            <a:off x="921941" y="2429483"/>
            <a:ext cx="7886700" cy="53721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DCD3"/>
            </a:solidFill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A26005-7ECD-2DA0-1EC8-816435AF0D3D}"/>
              </a:ext>
            </a:extLst>
          </p:cNvPr>
          <p:cNvSpPr>
            <a:spLocks noGrp="1"/>
          </p:cNvSpPr>
          <p:nvPr/>
        </p:nvSpPr>
        <p:spPr>
          <a:xfrm>
            <a:off x="1200151" y="2903220"/>
            <a:ext cx="80010" cy="342900"/>
          </a:xfrm>
          <a:prstGeom prst="rect">
            <a:avLst/>
          </a:prstGeom>
          <a:solidFill>
            <a:srgbClr val="F40036"/>
          </a:solidFill>
          <a:ln w="0">
            <a:noFill/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3CE6D36-BE94-EEF9-C457-9B06DE4A6BAA}"/>
              </a:ext>
            </a:extLst>
          </p:cNvPr>
          <p:cNvSpPr>
            <a:spLocks noGrp="1"/>
          </p:cNvSpPr>
          <p:nvPr/>
        </p:nvSpPr>
        <p:spPr>
          <a:xfrm>
            <a:off x="1405890" y="2857500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F40036"/>
                </a:solidFill>
                <a:latin typeface="Pretendard"/>
                <a:ea typeface="Pretendard"/>
                <a:cs typeface="Pretendard"/>
              </a:defRPr>
            </a:pPr>
            <a:r>
              <a:rPr sz="2160" b="1">
                <a:solidFill>
                  <a:srgbClr val="F40036"/>
                </a:solidFill>
                <a:latin typeface="Pretendard"/>
                <a:ea typeface="Pretendard"/>
                <a:cs typeface="Pretendard"/>
              </a:rPr>
              <a:t>설계하며 고민한 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C533639-2725-650D-5EAF-3A6E2D470EED}"/>
              </a:ext>
            </a:extLst>
          </p:cNvPr>
          <p:cNvSpPr>
            <a:spLocks noGrp="1"/>
          </p:cNvSpPr>
          <p:nvPr/>
        </p:nvSpPr>
        <p:spPr>
          <a:xfrm>
            <a:off x="1257300" y="3600450"/>
            <a:ext cx="1369657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서비스</a:t>
            </a:r>
            <a:r>
              <a:rPr sz="2070" b="1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범위</a:t>
            </a:r>
            <a:endParaRPr sz="2070" b="1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86D53C-90CE-1331-B654-3253599DC3E7}"/>
              </a:ext>
            </a:extLst>
          </p:cNvPr>
          <p:cNvSpPr>
            <a:spLocks noGrp="1"/>
          </p:cNvSpPr>
          <p:nvPr/>
        </p:nvSpPr>
        <p:spPr>
          <a:xfrm>
            <a:off x="2962316" y="3500012"/>
            <a:ext cx="525780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OCR과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자동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lang="ko-KR" altLang="en-US"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분리</a:t>
            </a:r>
            <a:r>
              <a:rPr lang="ko-KR" altLang="en-US"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하여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서류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검수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보조에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집중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5410C6B-360D-9CDB-720D-FB715084E7AC}"/>
              </a:ext>
            </a:extLst>
          </p:cNvPr>
          <p:cNvSpPr>
            <a:spLocks noGrp="1"/>
          </p:cNvSpPr>
          <p:nvPr/>
        </p:nvSpPr>
        <p:spPr>
          <a:xfrm>
            <a:off x="1257300" y="4572000"/>
            <a:ext cx="1369657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계정 방식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19DF00-D9F5-3A06-7EA2-2FA3D5C91296}"/>
              </a:ext>
            </a:extLst>
          </p:cNvPr>
          <p:cNvSpPr>
            <a:spLocks noGrp="1"/>
          </p:cNvSpPr>
          <p:nvPr/>
        </p:nvSpPr>
        <p:spPr>
          <a:xfrm>
            <a:off x="2962316" y="4494787"/>
            <a:ext cx="525780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회원가입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대신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은행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초대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활성화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759E2B9-0F67-D86E-ED5D-2EBD7B17D31F}"/>
              </a:ext>
            </a:extLst>
          </p:cNvPr>
          <p:cNvSpPr>
            <a:spLocks noGrp="1"/>
          </p:cNvSpPr>
          <p:nvPr/>
        </p:nvSpPr>
        <p:spPr>
          <a:xfrm>
            <a:off x="1257300" y="5543550"/>
            <a:ext cx="1369657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재제출</a:t>
            </a:r>
            <a:r>
              <a:rPr sz="2070" b="1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관리</a:t>
            </a:r>
            <a:endParaRPr sz="2070" b="1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8DFF2E3-C5CB-9715-646A-3FAC36A5C325}"/>
              </a:ext>
            </a:extLst>
          </p:cNvPr>
          <p:cNvSpPr>
            <a:spLocks noGrp="1"/>
          </p:cNvSpPr>
          <p:nvPr/>
        </p:nvSpPr>
        <p:spPr>
          <a:xfrm>
            <a:off x="2962316" y="5452110"/>
            <a:ext cx="525780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문서를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덮어쓰지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버전과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처리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이력을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보존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D36A95-48E2-DF00-0883-C7B667AEA59E}"/>
              </a:ext>
            </a:extLst>
          </p:cNvPr>
          <p:cNvSpPr>
            <a:spLocks noGrp="1"/>
          </p:cNvSpPr>
          <p:nvPr/>
        </p:nvSpPr>
        <p:spPr>
          <a:xfrm>
            <a:off x="1257300" y="6572251"/>
            <a:ext cx="6972300" cy="11430"/>
          </a:xfrm>
          <a:prstGeom prst="rect">
            <a:avLst/>
          </a:prstGeom>
          <a:solidFill>
            <a:srgbClr val="E2DCD3"/>
          </a:solidFill>
          <a:ln w="0">
            <a:noFill/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9B2AE41-873C-836E-EE20-A3D5C3BB1AE3}"/>
              </a:ext>
            </a:extLst>
          </p:cNvPr>
          <p:cNvSpPr>
            <a:spLocks noGrp="1"/>
          </p:cNvSpPr>
          <p:nvPr/>
        </p:nvSpPr>
        <p:spPr>
          <a:xfrm>
            <a:off x="1257300" y="6858000"/>
            <a:ext cx="69723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>
                <a:solidFill>
                  <a:srgbClr val="6F6A64"/>
                </a:solidFill>
                <a:latin typeface="Pretendard"/>
                <a:ea typeface="Pretendard"/>
                <a:cs typeface="Pretendard"/>
              </a:defRPr>
            </a:pP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문제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정의는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가설이며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실무자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인터뷰로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검증이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필요</a:t>
            </a:r>
            <a:endParaRPr sz="1710" dirty="0">
              <a:solidFill>
                <a:srgbClr val="6F6A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53771AA-3867-73EC-4DBD-EFF859612912}"/>
              </a:ext>
            </a:extLst>
          </p:cNvPr>
          <p:cNvSpPr>
            <a:spLocks noGrp="1"/>
          </p:cNvSpPr>
          <p:nvPr/>
        </p:nvSpPr>
        <p:spPr>
          <a:xfrm>
            <a:off x="9144000" y="2429484"/>
            <a:ext cx="8115300" cy="53721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DCD3"/>
            </a:solidFill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5B245A1-56A7-4173-2375-3961AA87CE0C}"/>
              </a:ext>
            </a:extLst>
          </p:cNvPr>
          <p:cNvSpPr>
            <a:spLocks noGrp="1"/>
          </p:cNvSpPr>
          <p:nvPr/>
        </p:nvSpPr>
        <p:spPr>
          <a:xfrm>
            <a:off x="9544051" y="2903220"/>
            <a:ext cx="80010" cy="342900"/>
          </a:xfrm>
          <a:prstGeom prst="rect">
            <a:avLst/>
          </a:prstGeom>
          <a:solidFill>
            <a:srgbClr val="FF7823"/>
          </a:solidFill>
          <a:ln w="0">
            <a:noFill/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9A97C25-3EA8-6929-A72E-762F4D4F26E5}"/>
              </a:ext>
            </a:extLst>
          </p:cNvPr>
          <p:cNvSpPr>
            <a:spLocks noGrp="1"/>
          </p:cNvSpPr>
          <p:nvPr/>
        </p:nvSpPr>
        <p:spPr>
          <a:xfrm>
            <a:off x="9749790" y="2857500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FF782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60" b="1" dirty="0">
                <a:solidFill>
                  <a:srgbClr val="FF7823"/>
                </a:solidFill>
                <a:latin typeface="Pretendard"/>
                <a:ea typeface="Pretendard"/>
                <a:cs typeface="Pretendard"/>
              </a:rPr>
              <a:t>보완 고려사항</a:t>
            </a:r>
            <a:endParaRPr sz="2160" b="1" dirty="0">
              <a:solidFill>
                <a:srgbClr val="FF78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8B4479-F212-2C7D-4F1F-524FFD5B8C8B}"/>
              </a:ext>
            </a:extLst>
          </p:cNvPr>
          <p:cNvSpPr>
            <a:spLocks noGrp="1"/>
          </p:cNvSpPr>
          <p:nvPr/>
        </p:nvSpPr>
        <p:spPr>
          <a:xfrm>
            <a:off x="9601200" y="3600450"/>
            <a:ext cx="2171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외부 연동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2EA179B-A82C-C2CE-FE45-8F3E0FF0308D}"/>
              </a:ext>
            </a:extLst>
          </p:cNvPr>
          <p:cNvSpPr>
            <a:spLocks noGrp="1"/>
          </p:cNvSpPr>
          <p:nvPr/>
        </p:nvSpPr>
        <p:spPr>
          <a:xfrm>
            <a:off x="11372851" y="3520440"/>
            <a:ext cx="5257800" cy="7086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OCR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비동기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처리와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실패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재시도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진위확인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기관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연동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828E629-78C6-8CB0-222D-BC79860EEEB6}"/>
              </a:ext>
            </a:extLst>
          </p:cNvPr>
          <p:cNvSpPr>
            <a:spLocks noGrp="1"/>
          </p:cNvSpPr>
          <p:nvPr/>
        </p:nvSpPr>
        <p:spPr>
          <a:xfrm>
            <a:off x="9584056" y="4572000"/>
            <a:ext cx="2171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보안</a:t>
            </a:r>
            <a:endParaRPr sz="2070" b="1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502731B-6589-21E0-0DDD-ADF9E8D05EEF}"/>
              </a:ext>
            </a:extLst>
          </p:cNvPr>
          <p:cNvSpPr>
            <a:spLocks noGrp="1"/>
          </p:cNvSpPr>
          <p:nvPr/>
        </p:nvSpPr>
        <p:spPr>
          <a:xfrm>
            <a:off x="11372851" y="4494787"/>
            <a:ext cx="5257800" cy="7086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은행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SSO,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만료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URL,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개인정보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마스킹과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접근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로그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0D63C9-EDDF-BA6A-67B6-72D637F65E96}"/>
              </a:ext>
            </a:extLst>
          </p:cNvPr>
          <p:cNvSpPr>
            <a:spLocks noGrp="1"/>
          </p:cNvSpPr>
          <p:nvPr/>
        </p:nvSpPr>
        <p:spPr>
          <a:xfrm>
            <a:off x="9584056" y="5569448"/>
            <a:ext cx="2171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동시</a:t>
            </a:r>
            <a:r>
              <a:rPr sz="2070" b="1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70" b="1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처리</a:t>
            </a:r>
            <a:endParaRPr sz="2070" b="1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2575D9-D76B-C0AC-C595-00CE86C801FB}"/>
              </a:ext>
            </a:extLst>
          </p:cNvPr>
          <p:cNvSpPr>
            <a:spLocks noGrp="1"/>
          </p:cNvSpPr>
          <p:nvPr/>
        </p:nvSpPr>
        <p:spPr>
          <a:xfrm>
            <a:off x="11372851" y="5435456"/>
            <a:ext cx="5257800" cy="7086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91919"/>
                </a:solidFill>
                <a:latin typeface="Pretendard"/>
                <a:ea typeface="Pretendard"/>
                <a:cs typeface="Pretendard"/>
              </a:defRPr>
            </a:pP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제출과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검토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결정의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중복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요청·충돌</a:t>
            </a:r>
            <a:r>
              <a:rPr sz="1980" dirty="0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80" dirty="0" err="1">
                <a:solidFill>
                  <a:srgbClr val="191919"/>
                </a:solidFill>
                <a:latin typeface="Pretendard"/>
                <a:ea typeface="Pretendard"/>
                <a:cs typeface="Pretendard"/>
              </a:rPr>
              <a:t>방지</a:t>
            </a:r>
            <a:endParaRPr sz="1980" dirty="0">
              <a:solidFill>
                <a:srgbClr val="19191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2DC4265-9AE1-14A5-DB1D-07AD5D001886}"/>
              </a:ext>
            </a:extLst>
          </p:cNvPr>
          <p:cNvSpPr>
            <a:spLocks noGrp="1"/>
          </p:cNvSpPr>
          <p:nvPr/>
        </p:nvSpPr>
        <p:spPr>
          <a:xfrm>
            <a:off x="9584056" y="6566536"/>
            <a:ext cx="7200900" cy="11430"/>
          </a:xfrm>
          <a:prstGeom prst="rect">
            <a:avLst/>
          </a:prstGeom>
          <a:solidFill>
            <a:srgbClr val="E2DCD3"/>
          </a:solidFill>
          <a:ln w="0">
            <a:noFill/>
          </a:ln>
        </p:spPr>
        <p:txBody>
          <a:bodyPr/>
          <a:lstStyle/>
          <a:p>
            <a:endParaRPr lang="ko-Kore-KR" altLang="en-US" sz="216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AD1915A-E1D0-1808-D431-D92ECCAF3A15}"/>
              </a:ext>
            </a:extLst>
          </p:cNvPr>
          <p:cNvSpPr>
            <a:spLocks noGrp="1"/>
          </p:cNvSpPr>
          <p:nvPr/>
        </p:nvSpPr>
        <p:spPr>
          <a:xfrm>
            <a:off x="9584056" y="6835140"/>
            <a:ext cx="72009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>
                <a:solidFill>
                  <a:srgbClr val="6F6A64"/>
                </a:solidFill>
                <a:latin typeface="Pretendard"/>
                <a:ea typeface="Pretendard"/>
                <a:cs typeface="Pretendard"/>
              </a:defRPr>
            </a:pP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지원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문서를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늘리기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전에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문서별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규칙과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정확도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기준을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710" dirty="0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10" dirty="0" err="1">
                <a:solidFill>
                  <a:srgbClr val="6F6A64"/>
                </a:solidFill>
                <a:latin typeface="Pretendard"/>
                <a:ea typeface="Pretendard"/>
                <a:cs typeface="Pretendard"/>
              </a:rPr>
              <a:t>확정</a:t>
            </a:r>
            <a:endParaRPr sz="1710" dirty="0">
              <a:solidFill>
                <a:srgbClr val="6F6A64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0334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74D6495-E874-4308-A9B7-401A901C3656}"/>
              </a:ext>
            </a:extLst>
          </p:cNvPr>
          <p:cNvSpPr>
            <a:spLocks noGrp="1"/>
          </p:cNvSpPr>
          <p:nvPr/>
        </p:nvSpPr>
        <p:spPr>
          <a:xfrm>
            <a:off x="2984026" y="4639393"/>
            <a:ext cx="12319947" cy="7739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180"/>
              </a:lnSpc>
              <a:buNone/>
            </a:pPr>
            <a:r>
              <a:rPr lang="ko-KR" altLang="en-US" sz="88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475001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1709</Words>
  <Application>Microsoft Macintosh PowerPoint</Application>
  <DocSecurity>0</DocSecurity>
  <PresentationFormat>사용자 지정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Pretendard SemiBold</vt:lpstr>
      <vt:lpstr>Pretendard</vt:lpstr>
      <vt:lpstr>Arial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홍은비</cp:lastModifiedBy>
  <cp:revision>19</cp:revision>
  <dcterms:created xsi:type="dcterms:W3CDTF">2026-09-09T02:42:12Z</dcterms:created>
  <dcterms:modified xsi:type="dcterms:W3CDTF">2026-09-10T04:20:23Z</dcterms:modified>
</cp:coreProperties>
</file>