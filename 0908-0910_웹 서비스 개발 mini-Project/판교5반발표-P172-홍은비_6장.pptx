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901.xml" ContentType="application/vnd.openxmlformats-officedocument.presentationml.notesSlide+xml"/>
  <Override PartName="/ppt/notesSlides/notesSlide902.xml" ContentType="application/vnd.openxmlformats-officedocument.presentationml.notesSlide+xml"/>
  <Override PartName="/ppt/notesSlides/notesSlide903.xml" ContentType="application/vnd.openxmlformats-officedocument.presentationml.notesSlide+xml"/>
  <Override PartName="/ppt/notesSlides/notesSlide904.xml" ContentType="application/vnd.openxmlformats-officedocument.presentationml.notesSlide+xml"/>
  <Override PartName="/ppt/notesSlides/notesSlide905.xml" ContentType="application/vnd.openxmlformats-officedocument.presentationml.notesSlide+xml"/>
  <Override PartName="/ppt/notesSlides/notesSlide906.xml" ContentType="application/vnd.openxmlformats-officedocument.presentationml.notesSlide+xml"/>
  <Override PartName="/ppt/notesSlides/notesSlide90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300" r:id="rId2"/>
    <p:sldId id="301" r:id="rId25"/>
    <p:sldId id="302" r:id="rId26"/>
    <p:sldId id="303" r:id="rId27"/>
    <p:sldId id="304" r:id="rId28"/>
    <p:sldId id="305" r:id="rId29"/>
    <p:sldId id="306" r:id="rId30"/>
    <p:sldId id="307" r:id="rId16"/>
  </p:sldIdLst>
  <p:sldSz cx="18288000" cy="10287000"/>
  <p:notesSz cx="6858000" cy="9144000"/>
  <p:embeddedFontLst>
    <p:embeddedFont>
      <p:font typeface="Pretendard Medium" panose="02000503000000020004" pitchFamily="2" charset="-127"/>
      <p:regular r:id="rId18"/>
    </p:embeddedFont>
    <p:embeddedFont>
      <p:font typeface="Pretendard SemiBold" panose="02000503000000020004" pitchFamily="2" charset="-127"/>
      <p:regular r:id="rId19"/>
      <p:bold r:id="rId20"/>
    </p:embeddedFont>
  </p:embeddedFontLst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7B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14"/>
  </p:normalViewPr>
  <p:slideViewPr>
    <p:cSldViewPr snapToGrid="0">
      <p:cViewPr>
        <p:scale>
          <a:sx n="89" d="100"/>
          <a:sy n="89" d="100"/>
        </p:scale>
        <p:origin x="15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8" Type="http://schemas.openxmlformats.org/officeDocument/2006/relationships/font" Target="fonts/font1.fntdata"/><Relationship Id="rId21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24" Type="http://schemas.openxmlformats.org/officeDocument/2006/relationships/tableStyles" Target="tableStyles.xml"/><Relationship Id="rId23" Type="http://schemas.openxmlformats.org/officeDocument/2006/relationships/theme" Target="theme/theme1.xml"/><Relationship Id="rId19" Type="http://schemas.openxmlformats.org/officeDocument/2006/relationships/font" Target="fonts/font2.fntdata"/><Relationship Id="rId22" Type="http://schemas.openxmlformats.org/officeDocument/2006/relationships/viewProps" Target="viewProps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0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_rels/notesSlide90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/Relationships>
</file>

<file path=ppt/notesSlides/_rels/notesSlide90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/Relationships>
</file>

<file path=ppt/notesSlides/_rels/notesSlide904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/Relationships>
</file>

<file path=ppt/notesSlides/_rels/notesSlide90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/Relationships>
</file>

<file path=ppt/notesSlides/_rels/notesSlide906.xml.rels><?xml version="1.0" encoding="UTF-8" standalone="yes"?>
<Relationships xmlns="http://schemas.openxmlformats.org/package/2006/relationships"><Relationship Id="rId1" Type="http://schemas.openxmlformats.org/officeDocument/2006/relationships/slide" Target="../slides/slide20.xml"/></Relationships>
</file>

<file path=ppt/notesSlides/_rels/notesSlide907.xml.rels><?xml version="1.0" encoding="UTF-8" standalone="yes"?>
<Relationships xmlns="http://schemas.openxmlformats.org/package/2006/relationships"><Relationship Id="rId1" Type="http://schemas.openxmlformats.org/officeDocument/2006/relationships/slide" Target="../slides/slide21.xml"/></Relationship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정리하면 DocuFit은 대출을 자동 심사하는 서비스가 아니라, 기업 고객이 제출 전에 서류 오류를 발견하고 은행 담당자가 최신 원본과 이력을 일관되게 확인하도록 돕는 서비스입니다. 설계하면서 접수 전 예방, 사람의 최종 확인, 재제출 이력 추적을 핵심 원칙으로 두었습니다. 이후에는 은행 SSO와 문서 진위확인 연동, 지원 문서 확대를 검토할 수 있습니다. 이상으로 발표를 마치겠습니다.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400" dirty="0"/>
              <a:t>판교5반 P172 홍은비입니다. 제가 만든 서비스는 DocuFit, 기업대출 제출서류를 은행에 접수하기 전에 자동으로 검수해 주는 웹 서비스입니다. 5분 동안 개요부터 API까지 순서대로 말씀드리겠습니다.</a:t>
            </a:r>
          </a:p>
        </p:txBody>
      </p:sp>
    </p:spTree>
  </p:cSld>
</p:notes>
</file>

<file path=ppt/notesSlides/notesSlide9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400" dirty="0"/>
              <a:t>DocuFit은 기업 담당자가 접수 전에 서류를 스스로 점검하고, 은행 담당자는 최신 원본과 검증 결과를 한 화면에서 보게 하는 서비스입니다. 목표는 접수 전 오류 제거, 반복 대조 제거, 이력 보존 세 가지입니다. 액터는 기업 고객 담당자와 은행 기업금융 담당자 두 명이고, 외부 OCR은 액터가 아니라 연동 대상으로 뒀습니다.</a:t>
            </a:r>
          </a:p>
        </p:txBody>
      </p:sp>
    </p:spTree>
  </p:cSld>
</p:notes>
</file>

<file path=ppt/notesSlides/notesSlide9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400" dirty="0"/>
              <a:t>기능 요구사항은 인증, 기업 제출, 은행 검토 세 갈래로 여섯 개입니다. 핵심은 REQ-FUNC-004 사전검증으로, 누락·유효기간·기업명·사업자등록번호·사업연도 다섯 가지를 봅니다. 비기능은 성능·보안·호환성·신뢰성 네 개이고, 모든 ID는 화면과 API, DB 테이블까지 추적표로 연결했습니다.</a:t>
            </a:r>
          </a:p>
        </p:txBody>
      </p:sp>
    </p:spTree>
  </p:cSld>
</p:notes>
</file>

<file path=ppt/notesSlides/notesSlide9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400" dirty="0"/>
              <a:t>화면은 다섯 장인데 오늘은 세 장만 보여드립니다. SCR-COMP-001에서 서류를 올리면 바로 OCR 분석이 돌고, SCR-COMP-002에서 차단 오류의 대상과 원인, 해결 행동을 확인합니다. SCR-REV-002는 은행 담당자가 원본과 추출값, 검증 결과를 나란히 놓고 확인 완료나 보완 요청을 결정하는 화면입니다.</a:t>
            </a:r>
          </a:p>
        </p:txBody>
      </p:sp>
    </p:spTree>
  </p:cSld>
</p:notes>
</file>

<file path=ppt/notesSlides/notesSlide9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400" dirty="0"/>
              <a:t>테이블은 여덟 개이고 관계는 전부 1:N입니다. 교차검증의 기준값을 companies 한 곳에서만 관리하는 것이 설계의 핵심입니다. 재제출은 덮어쓰지 않고 문서 유형별 version_no를 올려 이전본과 최신본을 함께 남깁니다.</a:t>
            </a:r>
          </a:p>
        </p:txBody>
      </p:sp>
    </p:spTree>
  </p:cSld>
</p:notes>
</file>

<file path=ppt/notesSlides/notesSlide9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400" dirty="0"/>
              <a:t>엔드포인트는 열한 개이고, 화면에서 실제로 호출하는 것만 정의했습니다. 공통 응답과 오류는 $ref로 재사용했고, 오퍼레이션마다 요구사항 ID와 화면 ID, 사용 테이블을 description에 적었습니다. 차단 오류가 남은 제출은 422와 함께 blockingIssues 배열을 돌려줍니다.</a:t>
            </a:r>
          </a:p>
        </p:txBody>
      </p:sp>
    </p:spTree>
  </p:cSld>
</p:notes>
</file>

<file path=ppt/notesSlides/notesSlide9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400" dirty="0"/>
              <a:t>가장 오래 고민한 것은 결과 확인 버튼의 활성화 조건이었습니다. 모든 문서가 완료여야 열리게 했더니 미제출 문서가 있는 사용자는 누락 오류를 볼 방법이 없어서, 분석 중인 문서만 없으면 열리도록 바꿨습니다. 다음에 개발한다면 OCR 추출값 정정과 이력, 검증 규칙 설정 화면, 문서 보호 정책을 먼저 잡겠습니다. 질문 받겠습니다.</a:t>
            </a:r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F217D-89CB-4AEA-A443-DF21E0B57D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5B6D9A-C96A-473D-9DFA-2BC75152A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EC7BE-C4D4-4306-9856-D4229403A64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2026. 9. 9.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E0FF6-6DEF-4409-AFED-6CDD86BE39E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B8E4D-BD7E-4ED8-AAE7-9BD9A8F178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EA22E-F8C4-404E-8030-39496CE87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3381F-7C6D-4CCD-B331-395BA2D73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721C9-4D2F-4A02-A626-95CA0D92CDB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2026. 9. 9.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699CA-08CF-42D8-B288-12A608CCDA2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79AA7-F676-46F9-83B8-EF66176CC9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691ED-42CA-4573-A2A4-12FE95353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E62A4-2831-46EB-862C-B5D8C137D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5A3B4-82ED-49C4-8DE0-53BD8A2C861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2026. 9. 9.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A2A4B-B45D-4A14-94D6-3AEBBA5A8D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E7FF6-CE29-46A6-B906-DFAB1EC536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36920-EBF2-497A-8922-DBCB73410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3F3BB-30D8-4C03-B8EA-3A4CD5808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29E152-80CE-45FC-B140-5C3EB8FBE4C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054F0-AAFF-4907-90A7-5E4B0C0D04B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2026. 9. 9.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D79D1D-E681-4913-A459-A01AB91E7F4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FDF92-0E28-47B1-A822-C93977E962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BE738-7CC8-4AD4-ABB4-D745E206E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DA856-2640-4587-B972-1AADDEC94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FD83E2-40BF-4DB0-B00B-964A831988A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647176-8D5F-4DE4-8C17-57F45EA4B680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319C3A-88A0-4489-A664-F852B773860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B678C4-C199-48E6-A727-9C8FB3565E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2026. 9. 9.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E38E8A-2AC7-44ED-853F-3AA49C2FDB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6CDC3-7089-4A00-BE7A-B6DA016E0EA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1F64E-F009-408F-829E-ABB71149D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0588B0-4D66-4663-9DCC-77BF8780CA4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2026. 9. 9.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71311-FC67-4ADA-A163-CD419B1817F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BB38C-B965-408C-B9A7-E07067F527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EA2AD4-CC2D-4057-AC8A-873AAC4579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2026. 9. 9.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D15F41-3EC4-49CF-BE5E-404D72E7073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8E2F54-EB27-4F83-8F89-9E19FA9140C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986F2-6F03-4BF8-AD81-3AFD096D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AD813-D751-442F-A1A0-C47B968C9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78A6B-D541-4604-8C14-84536672929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C2749-A5D3-4463-BD34-A2B72C6DCF4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2026. 9. 9.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0FF1C-3CC9-4441-9BCE-18DE92ACD1F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AB929-02EA-4208-BB87-51692F1277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C4DE-076F-47E9-801D-FFDCEF73D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149479-0E67-4C66-9C11-145FA481AD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06697-368E-4A21-893D-4871D53F84A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B0EAF0-D966-4894-881F-A42919AADF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2026. 9. 9.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234572-B31A-4C92-9A5E-CBCE47E38F2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28A92D-3CAD-49F7-B929-AC6AC87DA8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1D7A0-20D8-44AB-825D-D66CF95EC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D52F2A-AA78-4407-ADBF-FFF2EAD86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A67D-76C6-4E8A-A27D-23CDB28312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2026. 9. 9.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78D184-88D5-4252-9F41-B1C4A35658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5CBCB-9646-4AF2-A02F-6F4CE19293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B9682F-493A-4F8E-9A61-9A93A69BA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F2365-AD06-4F84-BFAF-32CE6A360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84756-0E8F-4003-A5CB-4309EA96226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8BD707-D9CF-40AE-B4C6-C98DA3205C09}" type="datetimeFigureOut">
              <a:t>2026. 9. 9.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0E7B4-3765-4D07-8A06-70D991D07D2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0D5ACB-3ACD-4D91-A0A8-85010FD561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292025-8792-43FA-9505-2077DD83D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D3F6A-3908-4438-BB06-1C29D5F477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70741-6993-42DB-A39A-5A14D5DCB65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t>2026. 9. 9.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4F616-D7A3-46EF-8A0C-2EFEBDC53C8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7FD04-A8EF-4E84-A3F6-1EA217A2FAD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902.xml"/></Relationships>
</file>

<file path=ppt/slides/_rels/slide17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903.xml"/></Relationships>
</file>

<file path=ppt/slides/_rels/slide18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docufit01.png"/><Relationship Id="rId4" Type="http://schemas.openxmlformats.org/officeDocument/2006/relationships/image" Target="../media/docufit02.png"/><Relationship Id="rId5" Type="http://schemas.openxmlformats.org/officeDocument/2006/relationships/image" Target="../media/docufit03.png"/><Relationship Id="rId6" Type="http://schemas.openxmlformats.org/officeDocument/2006/relationships/notesSlide" Target="../notesSlides/notesSlide904.xml"/></Relationships>
</file>

<file path=ppt/slides/_rels/slide19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docufit04.png"/><Relationship Id="rId4" Type="http://schemas.openxmlformats.org/officeDocument/2006/relationships/notesSlide" Target="../notesSlides/notesSlide905.xml"/></Relationships>
</file>

<file path=ppt/slides/_rels/slide20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image" Target="../media/docufit05.png"/><Relationship Id="rId4" Type="http://schemas.openxmlformats.org/officeDocument/2006/relationships/image" Target="../media/docufit06.png"/><Relationship Id="rId5" Type="http://schemas.openxmlformats.org/officeDocument/2006/relationships/notesSlide" Target="../notesSlides/notesSlide906.xml"/></Relationships>
</file>

<file path=ppt/slides/_rels/slide21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3" Type="http://schemas.openxmlformats.org/officeDocument/2006/relationships/notesSlide" Target="../notesSlides/notesSlide9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0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D8CA9F9-4655-4BD7-A73D-D941E255C451}"/>
              </a:ext>
            </a:extLst>
          </p:cNvPr>
          <p:cNvSpPr>
            <a:spLocks noGrp="1"/>
          </p:cNvSpPr>
          <p:nvPr/>
        </p:nvSpPr>
        <p:spPr>
          <a:xfrm>
            <a:off x="-1987541" y="1779860"/>
            <a:ext cx="6032482" cy="6032482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E94580E-B6B3-47C6-9974-2134FF3B993E}"/>
              </a:ext>
            </a:extLst>
          </p:cNvPr>
          <p:cNvSpPr>
            <a:spLocks noGrp="1"/>
          </p:cNvSpPr>
          <p:nvPr/>
        </p:nvSpPr>
        <p:spPr>
          <a:xfrm>
            <a:off x="-1421996" y="1991939"/>
            <a:ext cx="4901391" cy="525485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4FB3866-0D72-48D3-9BB0-6BA3E6CF842F}"/>
              </a:ext>
            </a:extLst>
          </p:cNvPr>
          <p:cNvSpPr>
            <a:spLocks noGrp="1"/>
          </p:cNvSpPr>
          <p:nvPr/>
        </p:nvSpPr>
        <p:spPr>
          <a:xfrm>
            <a:off x="16710243" y="1779860"/>
            <a:ext cx="6032482" cy="6032482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F47725"/>
          </a:solidFill>
        </p:spPr>
        <p:txBody>
          <a:bodyPr/>
          <a:lstStyle/>
          <a:p>
            <a:endParaRPr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D2BDCAD-B56B-4FB5-8DC7-571CD9CB6965}"/>
              </a:ext>
            </a:extLst>
          </p:cNvPr>
          <p:cNvSpPr>
            <a:spLocks noGrp="1"/>
          </p:cNvSpPr>
          <p:nvPr/>
        </p:nvSpPr>
        <p:spPr>
          <a:xfrm>
            <a:off x="17275788" y="1991939"/>
            <a:ext cx="4901391" cy="5254857"/>
          </a:xfrm>
          <a:prstGeom prst="rect">
            <a:avLst/>
          </a:prstGeom>
        </p:spPr>
        <p:txBody>
          <a:bodyPr lIns="50800" tIns="50800" rIns="50800" bIns="50800" anchor="ctr"/>
          <a:lstStyle/>
          <a:p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2C53E5D-03C5-42D4-A4C4-89903CA55DA0}"/>
              </a:ext>
            </a:extLst>
          </p:cNvPr>
          <p:cNvSpPr>
            <a:spLocks noGrp="1"/>
          </p:cNvSpPr>
          <p:nvPr/>
        </p:nvSpPr>
        <p:spPr>
          <a:xfrm>
            <a:off x="1028700" y="5002229"/>
            <a:ext cx="10956914" cy="76435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6098"/>
              </a:lnSpc>
              <a:buNone/>
            </a:pPr>
            <a:r>
              <a:rPr sz="4878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기업대출 제출서류 사전검수 서비스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3698DD3-3415-493C-B66A-A9B22CFA4A89}"/>
              </a:ext>
            </a:extLst>
          </p:cNvPr>
          <p:cNvSpPr>
            <a:spLocks noGrp="1"/>
          </p:cNvSpPr>
          <p:nvPr/>
        </p:nvSpPr>
        <p:spPr>
          <a:xfrm>
            <a:off x="1028700" y="3418972"/>
            <a:ext cx="12712945" cy="137712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l">
              <a:lnSpc>
                <a:spcPts val="11024"/>
              </a:lnSpc>
              <a:buNone/>
            </a:pPr>
            <a:r>
              <a:rPr sz="8819" b="1" spc="-176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DocuFit.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FE82F23-4F34-41B3-8564-6234A7FD2BB1}"/>
              </a:ext>
            </a:extLst>
          </p:cNvPr>
          <p:cNvSpPr>
            <a:spLocks noGrp="1"/>
          </p:cNvSpPr>
          <p:nvPr/>
        </p:nvSpPr>
        <p:spPr>
          <a:xfrm>
            <a:off x="1028700" y="8705595"/>
            <a:ext cx="3899716" cy="55857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just">
              <a:lnSpc>
                <a:spcPts val="4419"/>
              </a:lnSpc>
              <a:buNone/>
            </a:pPr>
            <a:r>
              <a:rPr sz="3535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판교5 홍은비</a:t>
            </a:r>
          </a:p>
        </p:txBody>
      </p:sp>
    </p:spTree>
    <p:extLst>
      <p:ext uri="{BB962C8B-B14F-4D97-AF65-F5344CB8AC3E}">
        <p14:creationId xmlns:p14="http://schemas.microsoft.com/office/powerpoint/2010/main" val="405182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85BB56C-B5EC-4537-B90A-D07166395004}"/>
              </a:ext>
            </a:extLst>
          </p:cNvPr>
          <p:cNvSpPr>
            <a:spLocks noGrp="1"/>
          </p:cNvSpPr>
          <p:nvPr/>
        </p:nvSpPr>
        <p:spPr>
          <a:xfrm>
            <a:off x="6099760" y="5519721"/>
            <a:ext cx="6088480" cy="64471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5180"/>
              </a:lnSpc>
              <a:buNone/>
            </a:pPr>
            <a:r>
              <a:rPr sz="3985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감사합니다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74D6495-E874-4308-A9B7-401A901C3656}"/>
              </a:ext>
            </a:extLst>
          </p:cNvPr>
          <p:cNvSpPr>
            <a:spLocks noGrp="1"/>
          </p:cNvSpPr>
          <p:nvPr/>
        </p:nvSpPr>
        <p:spPr>
          <a:xfrm>
            <a:off x="2984027" y="4046673"/>
            <a:ext cx="12319947" cy="128823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algn="ctr">
              <a:lnSpc>
                <a:spcPts val="10483"/>
              </a:lnSpc>
              <a:buNone/>
            </a:pPr>
            <a:r>
              <a:rPr sz="8064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1475001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01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개요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101" name="S102"/>
          <p:cNvSpPr/>
          <p:nvPr/>
        </p:nvSpPr>
        <p:spPr>
          <a:xfrm>
            <a:off x="914400" y="1874520"/>
            <a:ext cx="16459200" cy="960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03" name="T104"/>
          <p:cNvSpPr txBox="1"/>
          <p:nvPr/>
        </p:nvSpPr>
        <p:spPr>
          <a:xfrm>
            <a:off x="1371600" y="1874520"/>
            <a:ext cx="15544800" cy="9601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22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DocuFit</a:t>
            </a:r>
            <a:r>
              <a:rPr lang="ko-KR" sz="20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   기업대출 제출서류 사전검수 및 보완관리 서비스 — </a:t>
            </a:r>
            <a:r>
              <a:rPr lang="ko-KR" sz="18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기업 고객이 접수 전에 필수서류 누락·유효기간·기업정보 불일치를 스스로 확인·보완하고,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8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은행 담당자가 최신 원본과 검증 결과를 한 화면에서 검토하는 B2B 웹 서비스</a:t>
            </a:r>
          </a:p>
        </p:txBody>
      </p:sp>
      <p:sp>
        <p:nvSpPr>
          <p:cNvPr id="105" name="S106"/>
          <p:cNvSpPr/>
          <p:nvPr/>
        </p:nvSpPr>
        <p:spPr>
          <a:xfrm>
            <a:off x="914400" y="3163824"/>
            <a:ext cx="100584" cy="31089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07" name="T108"/>
          <p:cNvSpPr txBox="1"/>
          <p:nvPr/>
        </p:nvSpPr>
        <p:spPr>
          <a:xfrm>
            <a:off x="1170432" y="3108960"/>
            <a:ext cx="10972800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목표</a:t>
            </a:r>
          </a:p>
        </p:txBody>
      </p:sp>
      <p:sp>
        <p:nvSpPr>
          <p:cNvPr id="109" name="S110"/>
          <p:cNvSpPr/>
          <p:nvPr/>
        </p:nvSpPr>
        <p:spPr>
          <a:xfrm>
            <a:off x="914400" y="3657600"/>
            <a:ext cx="52425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11" name="S112"/>
          <p:cNvSpPr/>
          <p:nvPr/>
        </p:nvSpPr>
        <p:spPr>
          <a:xfrm>
            <a:off x="914400" y="3657600"/>
            <a:ext cx="118872" cy="137160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13" name="T114"/>
          <p:cNvSpPr txBox="1"/>
          <p:nvPr/>
        </p:nvSpPr>
        <p:spPr>
          <a:xfrm>
            <a:off x="1298448" y="3794760"/>
            <a:ext cx="4602480" cy="40233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접수 전 오류 제거</a:t>
            </a:r>
          </a:p>
        </p:txBody>
      </p:sp>
      <p:sp>
        <p:nvSpPr>
          <p:cNvPr id="115" name="T116"/>
          <p:cNvSpPr txBox="1"/>
          <p:nvPr/>
        </p:nvSpPr>
        <p:spPr>
          <a:xfrm>
            <a:off x="1298448" y="4215384"/>
            <a:ext cx="4602480" cy="7315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필수서류 3종의 누락과 납세증명서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유효기간을 업로드 직후 자동 검증</a:t>
            </a:r>
          </a:p>
        </p:txBody>
      </p:sp>
      <p:sp>
        <p:nvSpPr>
          <p:cNvPr id="117" name="S118"/>
          <p:cNvSpPr/>
          <p:nvPr/>
        </p:nvSpPr>
        <p:spPr>
          <a:xfrm>
            <a:off x="6522720" y="3657600"/>
            <a:ext cx="52425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19" name="S120"/>
          <p:cNvSpPr/>
          <p:nvPr/>
        </p:nvSpPr>
        <p:spPr>
          <a:xfrm>
            <a:off x="6522720" y="3657600"/>
            <a:ext cx="118872" cy="137160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21" name="T122"/>
          <p:cNvSpPr txBox="1"/>
          <p:nvPr/>
        </p:nvSpPr>
        <p:spPr>
          <a:xfrm>
            <a:off x="6906768" y="3794760"/>
            <a:ext cx="4602480" cy="40233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반복 대조 제거</a:t>
            </a:r>
          </a:p>
        </p:txBody>
      </p:sp>
      <p:sp>
        <p:nvSpPr>
          <p:cNvPr id="123" name="T124"/>
          <p:cNvSpPr txBox="1"/>
          <p:nvPr/>
        </p:nvSpPr>
        <p:spPr>
          <a:xfrm>
            <a:off x="6906768" y="4215384"/>
            <a:ext cx="4602480" cy="7315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기업 기준정보와 문서별 OCR 추출값을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교차검증해 불일치를 표시</a:t>
            </a:r>
          </a:p>
        </p:txBody>
      </p:sp>
      <p:sp>
        <p:nvSpPr>
          <p:cNvPr id="125" name="S126"/>
          <p:cNvSpPr/>
          <p:nvPr/>
        </p:nvSpPr>
        <p:spPr>
          <a:xfrm>
            <a:off x="12131040" y="3657600"/>
            <a:ext cx="524256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27" name="S128"/>
          <p:cNvSpPr/>
          <p:nvPr/>
        </p:nvSpPr>
        <p:spPr>
          <a:xfrm>
            <a:off x="12131040" y="3657600"/>
            <a:ext cx="118872" cy="1371600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129" name="T130"/>
          <p:cNvSpPr txBox="1"/>
          <p:nvPr/>
        </p:nvSpPr>
        <p:spPr>
          <a:xfrm>
            <a:off x="12515088" y="3794760"/>
            <a:ext cx="4602480" cy="40233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이력 보존</a:t>
            </a:r>
          </a:p>
        </p:txBody>
      </p:sp>
      <p:sp>
        <p:nvSpPr>
          <p:cNvPr id="131" name="T132"/>
          <p:cNvSpPr txBox="1"/>
          <p:nvPr/>
        </p:nvSpPr>
        <p:spPr>
          <a:xfrm>
            <a:off x="12515088" y="4215384"/>
            <a:ext cx="4602480" cy="7315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문서 유형별 버전과 제출·검토 처리자를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덮어쓰지 않고 함께 보존</a:t>
            </a:r>
          </a:p>
        </p:txBody>
      </p:sp>
      <p:sp>
        <p:nvSpPr>
          <p:cNvPr id="133" name="S134"/>
          <p:cNvSpPr/>
          <p:nvPr/>
        </p:nvSpPr>
        <p:spPr>
          <a:xfrm>
            <a:off x="914400" y="5431536"/>
            <a:ext cx="100584" cy="31089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35" name="T136"/>
          <p:cNvSpPr txBox="1"/>
          <p:nvPr/>
        </p:nvSpPr>
        <p:spPr>
          <a:xfrm>
            <a:off x="1170432" y="5376672"/>
            <a:ext cx="10972800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시스템 액터</a:t>
            </a:r>
          </a:p>
        </p:txBody>
      </p:sp>
      <p:sp>
        <p:nvSpPr>
          <p:cNvPr id="137" name="S138"/>
          <p:cNvSpPr/>
          <p:nvPr/>
        </p:nvSpPr>
        <p:spPr>
          <a:xfrm>
            <a:off x="914400" y="5888736"/>
            <a:ext cx="3200400" cy="566928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39" name="T140"/>
          <p:cNvSpPr txBox="1"/>
          <p:nvPr/>
        </p:nvSpPr>
        <p:spPr>
          <a:xfrm>
            <a:off x="1115568" y="5888736"/>
            <a:ext cx="2798064" cy="56692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Actor 구분</a:t>
            </a:r>
          </a:p>
        </p:txBody>
      </p:sp>
      <p:sp>
        <p:nvSpPr>
          <p:cNvPr id="141" name="S142"/>
          <p:cNvSpPr/>
          <p:nvPr/>
        </p:nvSpPr>
        <p:spPr>
          <a:xfrm>
            <a:off x="4114800" y="5888736"/>
            <a:ext cx="3657600" cy="566928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43" name="T144"/>
          <p:cNvSpPr txBox="1"/>
          <p:nvPr/>
        </p:nvSpPr>
        <p:spPr>
          <a:xfrm>
            <a:off x="4315968" y="5888736"/>
            <a:ext cx="3255264" cy="56692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역할 및 권한</a:t>
            </a:r>
          </a:p>
        </p:txBody>
      </p:sp>
      <p:sp>
        <p:nvSpPr>
          <p:cNvPr id="145" name="S146"/>
          <p:cNvSpPr/>
          <p:nvPr/>
        </p:nvSpPr>
        <p:spPr>
          <a:xfrm>
            <a:off x="7772400" y="5888736"/>
            <a:ext cx="9601200" cy="566928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47" name="T148"/>
          <p:cNvSpPr txBox="1"/>
          <p:nvPr/>
        </p:nvSpPr>
        <p:spPr>
          <a:xfrm>
            <a:off x="7973568" y="5888736"/>
            <a:ext cx="9198864" cy="566928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상세 제공 기능</a:t>
            </a:r>
          </a:p>
        </p:txBody>
      </p:sp>
      <p:sp>
        <p:nvSpPr>
          <p:cNvPr id="149" name="S150"/>
          <p:cNvSpPr/>
          <p:nvPr/>
        </p:nvSpPr>
        <p:spPr>
          <a:xfrm>
            <a:off x="914400" y="6455664"/>
            <a:ext cx="3200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51" name="T152"/>
          <p:cNvSpPr txBox="1"/>
          <p:nvPr/>
        </p:nvSpPr>
        <p:spPr>
          <a:xfrm>
            <a:off x="1115568" y="6455664"/>
            <a:ext cx="2798064" cy="71323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기업 고객 담당자</a:t>
            </a:r>
          </a:p>
        </p:txBody>
      </p:sp>
      <p:sp>
        <p:nvSpPr>
          <p:cNvPr id="153" name="S154"/>
          <p:cNvSpPr/>
          <p:nvPr/>
        </p:nvSpPr>
        <p:spPr>
          <a:xfrm>
            <a:off x="4114800" y="6455664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55" name="T156"/>
          <p:cNvSpPr txBox="1"/>
          <p:nvPr/>
        </p:nvSpPr>
        <p:spPr>
          <a:xfrm>
            <a:off x="4315968" y="6455664"/>
            <a:ext cx="3255264" cy="71323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서류 준비 및 제출</a:t>
            </a:r>
          </a:p>
        </p:txBody>
      </p:sp>
      <p:sp>
        <p:nvSpPr>
          <p:cNvPr id="157" name="S158"/>
          <p:cNvSpPr/>
          <p:nvPr/>
        </p:nvSpPr>
        <p:spPr>
          <a:xfrm>
            <a:off x="7772400" y="6455664"/>
            <a:ext cx="9601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59" name="T160"/>
          <p:cNvSpPr txBox="1"/>
          <p:nvPr/>
        </p:nvSpPr>
        <p:spPr>
          <a:xfrm>
            <a:off x="7973568" y="6455664"/>
            <a:ext cx="9198864" cy="71323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초대 링크로 계정 활성화 · 소속 기업 신청 건만 조회 · 필수서류 3종 업로드 · 검증 결과 확인 · 최종 제출</a:t>
            </a:r>
          </a:p>
        </p:txBody>
      </p:sp>
      <p:sp>
        <p:nvSpPr>
          <p:cNvPr id="161" name="S162"/>
          <p:cNvSpPr/>
          <p:nvPr/>
        </p:nvSpPr>
        <p:spPr>
          <a:xfrm>
            <a:off x="914400" y="7168896"/>
            <a:ext cx="32004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63" name="T164"/>
          <p:cNvSpPr txBox="1"/>
          <p:nvPr/>
        </p:nvSpPr>
        <p:spPr>
          <a:xfrm>
            <a:off x="1115568" y="7168896"/>
            <a:ext cx="2798064" cy="71323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은행 기업금융 담당자</a:t>
            </a:r>
          </a:p>
        </p:txBody>
      </p:sp>
      <p:sp>
        <p:nvSpPr>
          <p:cNvPr id="165" name="S166"/>
          <p:cNvSpPr/>
          <p:nvPr/>
        </p:nvSpPr>
        <p:spPr>
          <a:xfrm>
            <a:off x="4114800" y="7168896"/>
            <a:ext cx="3657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67" name="T168"/>
          <p:cNvSpPr txBox="1"/>
          <p:nvPr/>
        </p:nvSpPr>
        <p:spPr>
          <a:xfrm>
            <a:off x="4315968" y="7168896"/>
            <a:ext cx="3255264" cy="71323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제출서류 검토 및 보완 결정</a:t>
            </a:r>
          </a:p>
        </p:txBody>
      </p:sp>
      <p:sp>
        <p:nvSpPr>
          <p:cNvPr id="169" name="S170"/>
          <p:cNvSpPr/>
          <p:nvPr/>
        </p:nvSpPr>
        <p:spPr>
          <a:xfrm>
            <a:off x="7772400" y="7168896"/>
            <a:ext cx="9601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71" name="T172"/>
          <p:cNvSpPr txBox="1"/>
          <p:nvPr/>
        </p:nvSpPr>
        <p:spPr>
          <a:xfrm>
            <a:off x="7973568" y="7168896"/>
            <a:ext cx="9198864" cy="713232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직원 계정으로 로그인 · 최신 원본 · OCR 추출값 · 교차검증 결과 · 버전 이력 확인 · 확인 완료 / 보완 요청</a:t>
            </a:r>
          </a:p>
        </p:txBody>
      </p:sp>
      <p:sp>
        <p:nvSpPr>
          <p:cNvPr id="173" name="S174"/>
          <p:cNvSpPr/>
          <p:nvPr/>
        </p:nvSpPr>
        <p:spPr>
          <a:xfrm>
            <a:off x="914400" y="8028432"/>
            <a:ext cx="100584" cy="31089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175" name="T176"/>
          <p:cNvSpPr txBox="1"/>
          <p:nvPr/>
        </p:nvSpPr>
        <p:spPr>
          <a:xfrm>
            <a:off x="1170432" y="7973568"/>
            <a:ext cx="10972800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핵심 흐름</a:t>
            </a:r>
          </a:p>
        </p:txBody>
      </p:sp>
      <p:sp>
        <p:nvSpPr>
          <p:cNvPr id="177" name="S178"/>
          <p:cNvSpPr/>
          <p:nvPr/>
        </p:nvSpPr>
        <p:spPr>
          <a:xfrm>
            <a:off x="914400" y="8641080"/>
            <a:ext cx="2980944" cy="91440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79" name="E180"/>
          <p:cNvSpPr/>
          <p:nvPr/>
        </p:nvSpPr>
        <p:spPr>
          <a:xfrm>
            <a:off x="1078992" y="8814816"/>
            <a:ext cx="420624" cy="420624"/>
          </a:xfrm>
          <a:prstGeom prst="ellipse">
            <a:avLst/>
          </a:prstGeom>
          <a:solidFill>
            <a:srgbClr val="6E6A63"/>
          </a:solidFill>
        </p:spPr>
        <p:txBody>
          <a:bodyPr/>
          <a:lstStyle/>
          <a:p/>
        </p:txBody>
      </p:sp>
      <p:sp>
        <p:nvSpPr>
          <p:cNvPr id="181" name="T182"/>
          <p:cNvSpPr txBox="1"/>
          <p:nvPr/>
        </p:nvSpPr>
        <p:spPr>
          <a:xfrm>
            <a:off x="1078992" y="8851392"/>
            <a:ext cx="420624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1</a:t>
            </a:r>
          </a:p>
        </p:txBody>
      </p:sp>
      <p:sp>
        <p:nvSpPr>
          <p:cNvPr id="183" name="T184"/>
          <p:cNvSpPr txBox="1"/>
          <p:nvPr/>
        </p:nvSpPr>
        <p:spPr>
          <a:xfrm>
            <a:off x="1627632" y="8778240"/>
            <a:ext cx="2112264" cy="347472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초대 계정 활성화</a:t>
            </a:r>
          </a:p>
        </p:txBody>
      </p:sp>
      <p:sp>
        <p:nvSpPr>
          <p:cNvPr id="185" name="T186"/>
          <p:cNvSpPr txBox="1"/>
          <p:nvPr/>
        </p:nvSpPr>
        <p:spPr>
          <a:xfrm>
            <a:off x="1627632" y="9125712"/>
            <a:ext cx="2112264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5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초대 링크로만 진입</a:t>
            </a:r>
          </a:p>
        </p:txBody>
      </p:sp>
      <p:sp>
        <p:nvSpPr>
          <p:cNvPr id="187" name="T188"/>
          <p:cNvSpPr txBox="1"/>
          <p:nvPr/>
        </p:nvSpPr>
        <p:spPr>
          <a:xfrm>
            <a:off x="3895344" y="8942832"/>
            <a:ext cx="388620" cy="32918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›</a:t>
            </a:r>
          </a:p>
        </p:txBody>
      </p:sp>
      <p:sp>
        <p:nvSpPr>
          <p:cNvPr id="189" name="S190"/>
          <p:cNvSpPr/>
          <p:nvPr/>
        </p:nvSpPr>
        <p:spPr>
          <a:xfrm>
            <a:off x="4283964" y="8641080"/>
            <a:ext cx="2980944" cy="91440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191" name="E192"/>
          <p:cNvSpPr/>
          <p:nvPr/>
        </p:nvSpPr>
        <p:spPr>
          <a:xfrm>
            <a:off x="4448556" y="8814816"/>
            <a:ext cx="420624" cy="420624"/>
          </a:xfrm>
          <a:prstGeom prst="ellipse">
            <a:avLst/>
          </a:prstGeom>
          <a:solidFill>
            <a:srgbClr val="6E6A63"/>
          </a:solidFill>
        </p:spPr>
        <p:txBody>
          <a:bodyPr/>
          <a:lstStyle/>
          <a:p/>
        </p:txBody>
      </p:sp>
      <p:sp>
        <p:nvSpPr>
          <p:cNvPr id="193" name="T194"/>
          <p:cNvSpPr txBox="1"/>
          <p:nvPr/>
        </p:nvSpPr>
        <p:spPr>
          <a:xfrm>
            <a:off x="4448556" y="8851392"/>
            <a:ext cx="420624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2</a:t>
            </a:r>
          </a:p>
        </p:txBody>
      </p:sp>
      <p:sp>
        <p:nvSpPr>
          <p:cNvPr id="195" name="T196"/>
          <p:cNvSpPr txBox="1"/>
          <p:nvPr/>
        </p:nvSpPr>
        <p:spPr>
          <a:xfrm>
            <a:off x="4997196" y="8778240"/>
            <a:ext cx="2112264" cy="347472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서류 업로드</a:t>
            </a:r>
          </a:p>
        </p:txBody>
      </p:sp>
      <p:sp>
        <p:nvSpPr>
          <p:cNvPr id="197" name="T198"/>
          <p:cNvSpPr txBox="1"/>
          <p:nvPr/>
        </p:nvSpPr>
        <p:spPr>
          <a:xfrm>
            <a:off x="4997196" y="9125712"/>
            <a:ext cx="2112264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5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필수 3종 · JPG/PNG/PDF</a:t>
            </a:r>
          </a:p>
        </p:txBody>
      </p:sp>
      <p:sp>
        <p:nvSpPr>
          <p:cNvPr id="199" name="T200"/>
          <p:cNvSpPr txBox="1"/>
          <p:nvPr/>
        </p:nvSpPr>
        <p:spPr>
          <a:xfrm>
            <a:off x="7264908" y="8942832"/>
            <a:ext cx="388620" cy="32918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›</a:t>
            </a:r>
          </a:p>
        </p:txBody>
      </p:sp>
      <p:sp>
        <p:nvSpPr>
          <p:cNvPr id="201" name="S202"/>
          <p:cNvSpPr/>
          <p:nvPr/>
        </p:nvSpPr>
        <p:spPr>
          <a:xfrm>
            <a:off x="7653528" y="8641080"/>
            <a:ext cx="2980944" cy="914400"/>
          </a:xfrm>
          <a:prstGeom prst="roundRect">
            <a:avLst>
              <a:gd name="adj" fmla="val 4000"/>
            </a:avLst>
          </a:prstGeom>
          <a:solidFill>
            <a:srgbClr val="FFF1F3"/>
          </a:solidFill>
          <a:ln w="15875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203" name="E204"/>
          <p:cNvSpPr/>
          <p:nvPr/>
        </p:nvSpPr>
        <p:spPr>
          <a:xfrm>
            <a:off x="7818120" y="8814816"/>
            <a:ext cx="420624" cy="420624"/>
          </a:xfrm>
          <a:prstGeom prst="ellipse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205" name="T206"/>
          <p:cNvSpPr txBox="1"/>
          <p:nvPr/>
        </p:nvSpPr>
        <p:spPr>
          <a:xfrm>
            <a:off x="7818120" y="8851392"/>
            <a:ext cx="420624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3</a:t>
            </a:r>
          </a:p>
        </p:txBody>
      </p:sp>
      <p:sp>
        <p:nvSpPr>
          <p:cNvPr id="207" name="T208"/>
          <p:cNvSpPr txBox="1"/>
          <p:nvPr/>
        </p:nvSpPr>
        <p:spPr>
          <a:xfrm>
            <a:off x="8366760" y="8778240"/>
            <a:ext cx="2112264" cy="347472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OCR · 자동 검증</a:t>
            </a:r>
          </a:p>
        </p:txBody>
      </p:sp>
      <p:sp>
        <p:nvSpPr>
          <p:cNvPr id="209" name="T210"/>
          <p:cNvSpPr txBox="1"/>
          <p:nvPr/>
        </p:nvSpPr>
        <p:spPr>
          <a:xfrm>
            <a:off x="8366760" y="9125712"/>
            <a:ext cx="2112264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5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누락 · 기간 · 불일치</a:t>
            </a:r>
          </a:p>
        </p:txBody>
      </p:sp>
      <p:sp>
        <p:nvSpPr>
          <p:cNvPr id="211" name="T212"/>
          <p:cNvSpPr txBox="1"/>
          <p:nvPr/>
        </p:nvSpPr>
        <p:spPr>
          <a:xfrm>
            <a:off x="10634472" y="8942832"/>
            <a:ext cx="388620" cy="32918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›</a:t>
            </a:r>
          </a:p>
        </p:txBody>
      </p:sp>
      <p:sp>
        <p:nvSpPr>
          <p:cNvPr id="213" name="S214"/>
          <p:cNvSpPr/>
          <p:nvPr/>
        </p:nvSpPr>
        <p:spPr>
          <a:xfrm>
            <a:off x="11023092" y="8641080"/>
            <a:ext cx="2980944" cy="91440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15" name="E216"/>
          <p:cNvSpPr/>
          <p:nvPr/>
        </p:nvSpPr>
        <p:spPr>
          <a:xfrm>
            <a:off x="11187684" y="8814816"/>
            <a:ext cx="420624" cy="420624"/>
          </a:xfrm>
          <a:prstGeom prst="ellipse">
            <a:avLst/>
          </a:prstGeom>
          <a:solidFill>
            <a:srgbClr val="6E6A63"/>
          </a:solidFill>
        </p:spPr>
        <p:txBody>
          <a:bodyPr/>
          <a:lstStyle/>
          <a:p/>
        </p:txBody>
      </p:sp>
      <p:sp>
        <p:nvSpPr>
          <p:cNvPr id="217" name="T218"/>
          <p:cNvSpPr txBox="1"/>
          <p:nvPr/>
        </p:nvSpPr>
        <p:spPr>
          <a:xfrm>
            <a:off x="11187684" y="8851392"/>
            <a:ext cx="420624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4</a:t>
            </a:r>
          </a:p>
        </p:txBody>
      </p:sp>
      <p:sp>
        <p:nvSpPr>
          <p:cNvPr id="219" name="T220"/>
          <p:cNvSpPr txBox="1"/>
          <p:nvPr/>
        </p:nvSpPr>
        <p:spPr>
          <a:xfrm>
            <a:off x="11736324" y="8778240"/>
            <a:ext cx="2112264" cy="347472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자가 보완</a:t>
            </a:r>
          </a:p>
        </p:txBody>
      </p:sp>
      <p:sp>
        <p:nvSpPr>
          <p:cNvPr id="221" name="T222"/>
          <p:cNvSpPr txBox="1"/>
          <p:nvPr/>
        </p:nvSpPr>
        <p:spPr>
          <a:xfrm>
            <a:off x="11736324" y="9125712"/>
            <a:ext cx="2112264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5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해당 문서 재업로드</a:t>
            </a:r>
          </a:p>
        </p:txBody>
      </p:sp>
      <p:sp>
        <p:nvSpPr>
          <p:cNvPr id="223" name="T224"/>
          <p:cNvSpPr txBox="1"/>
          <p:nvPr/>
        </p:nvSpPr>
        <p:spPr>
          <a:xfrm>
            <a:off x="14004036" y="8942832"/>
            <a:ext cx="388620" cy="32918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20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›</a:t>
            </a:r>
          </a:p>
        </p:txBody>
      </p:sp>
      <p:sp>
        <p:nvSpPr>
          <p:cNvPr id="225" name="S226"/>
          <p:cNvSpPr/>
          <p:nvPr/>
        </p:nvSpPr>
        <p:spPr>
          <a:xfrm>
            <a:off x="14392656" y="8641080"/>
            <a:ext cx="2980944" cy="91440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27" name="E228"/>
          <p:cNvSpPr/>
          <p:nvPr/>
        </p:nvSpPr>
        <p:spPr>
          <a:xfrm>
            <a:off x="14557248" y="8814816"/>
            <a:ext cx="420624" cy="420624"/>
          </a:xfrm>
          <a:prstGeom prst="ellipse">
            <a:avLst/>
          </a:prstGeom>
          <a:solidFill>
            <a:srgbClr val="6E6A63"/>
          </a:solidFill>
        </p:spPr>
        <p:txBody>
          <a:bodyPr/>
          <a:lstStyle/>
          <a:p/>
        </p:txBody>
      </p:sp>
      <p:sp>
        <p:nvSpPr>
          <p:cNvPr id="229" name="T230"/>
          <p:cNvSpPr txBox="1"/>
          <p:nvPr/>
        </p:nvSpPr>
        <p:spPr>
          <a:xfrm>
            <a:off x="14557248" y="8851392"/>
            <a:ext cx="420624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400" dirty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5</a:t>
            </a:r>
          </a:p>
        </p:txBody>
      </p:sp>
      <p:sp>
        <p:nvSpPr>
          <p:cNvPr id="231" name="T232"/>
          <p:cNvSpPr txBox="1"/>
          <p:nvPr/>
        </p:nvSpPr>
        <p:spPr>
          <a:xfrm>
            <a:off x="15105888" y="8778240"/>
            <a:ext cx="2112264" cy="347472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은행 확인</a:t>
            </a:r>
          </a:p>
        </p:txBody>
      </p:sp>
      <p:sp>
        <p:nvSpPr>
          <p:cNvPr id="233" name="T234"/>
          <p:cNvSpPr txBox="1"/>
          <p:nvPr/>
        </p:nvSpPr>
        <p:spPr>
          <a:xfrm>
            <a:off x="15105888" y="9125712"/>
            <a:ext cx="2112264" cy="31089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25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확인 완료 / 보완 요청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요구사항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235" name="S236"/>
          <p:cNvSpPr/>
          <p:nvPr/>
        </p:nvSpPr>
        <p:spPr>
          <a:xfrm>
            <a:off x="914400" y="1874520"/>
            <a:ext cx="2651760" cy="585216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37" name="T238"/>
          <p:cNvSpPr txBox="1"/>
          <p:nvPr/>
        </p:nvSpPr>
        <p:spPr>
          <a:xfrm>
            <a:off x="1115568" y="1874520"/>
            <a:ext cx="2249424" cy="58521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ID</a:t>
            </a:r>
          </a:p>
        </p:txBody>
      </p:sp>
      <p:sp>
        <p:nvSpPr>
          <p:cNvPr id="239" name="S240"/>
          <p:cNvSpPr/>
          <p:nvPr/>
        </p:nvSpPr>
        <p:spPr>
          <a:xfrm>
            <a:off x="3566160" y="1874520"/>
            <a:ext cx="3657600" cy="585216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41" name="T242"/>
          <p:cNvSpPr txBox="1"/>
          <p:nvPr/>
        </p:nvSpPr>
        <p:spPr>
          <a:xfrm>
            <a:off x="3767328" y="1874520"/>
            <a:ext cx="3255264" cy="58521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요구사항명</a:t>
            </a:r>
          </a:p>
        </p:txBody>
      </p:sp>
      <p:sp>
        <p:nvSpPr>
          <p:cNvPr id="243" name="S244"/>
          <p:cNvSpPr/>
          <p:nvPr/>
        </p:nvSpPr>
        <p:spPr>
          <a:xfrm>
            <a:off x="7223760" y="1874520"/>
            <a:ext cx="6309360" cy="585216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45" name="T246"/>
          <p:cNvSpPr txBox="1"/>
          <p:nvPr/>
        </p:nvSpPr>
        <p:spPr>
          <a:xfrm>
            <a:off x="7424928" y="1874520"/>
            <a:ext cx="5907024" cy="58521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핵심 내용</a:t>
            </a:r>
          </a:p>
        </p:txBody>
      </p:sp>
      <p:sp>
        <p:nvSpPr>
          <p:cNvPr id="247" name="S248"/>
          <p:cNvSpPr/>
          <p:nvPr/>
        </p:nvSpPr>
        <p:spPr>
          <a:xfrm>
            <a:off x="13533120" y="1874520"/>
            <a:ext cx="2468880" cy="585216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49" name="T250"/>
          <p:cNvSpPr txBox="1"/>
          <p:nvPr/>
        </p:nvSpPr>
        <p:spPr>
          <a:xfrm>
            <a:off x="13734288" y="1874520"/>
            <a:ext cx="2066544" cy="58521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화면</a:t>
            </a:r>
          </a:p>
        </p:txBody>
      </p:sp>
      <p:sp>
        <p:nvSpPr>
          <p:cNvPr id="251" name="S252"/>
          <p:cNvSpPr/>
          <p:nvPr/>
        </p:nvSpPr>
        <p:spPr>
          <a:xfrm>
            <a:off x="16002000" y="1874520"/>
            <a:ext cx="1371600" cy="585216"/>
          </a:xfrm>
          <a:prstGeom prst="rect">
            <a:avLst/>
          </a:prstGeom>
          <a:solidFill>
            <a:srgbClr val="FBDCC8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53" name="T254"/>
          <p:cNvSpPr txBox="1"/>
          <p:nvPr/>
        </p:nvSpPr>
        <p:spPr>
          <a:xfrm>
            <a:off x="16203168" y="1874520"/>
            <a:ext cx="969264" cy="58521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우선순위</a:t>
            </a:r>
          </a:p>
        </p:txBody>
      </p:sp>
      <p:sp>
        <p:nvSpPr>
          <p:cNvPr id="255" name="S256"/>
          <p:cNvSpPr/>
          <p:nvPr/>
        </p:nvSpPr>
        <p:spPr>
          <a:xfrm>
            <a:off x="914400" y="2459736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57" name="T258"/>
          <p:cNvSpPr txBox="1"/>
          <p:nvPr/>
        </p:nvSpPr>
        <p:spPr>
          <a:xfrm>
            <a:off x="1115568" y="2459736"/>
            <a:ext cx="224942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REQ-FUNC-001</a:t>
            </a:r>
          </a:p>
        </p:txBody>
      </p:sp>
      <p:sp>
        <p:nvSpPr>
          <p:cNvPr id="259" name="S260"/>
          <p:cNvSpPr/>
          <p:nvPr/>
        </p:nvSpPr>
        <p:spPr>
          <a:xfrm>
            <a:off x="3566160" y="2459736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61" name="T262"/>
          <p:cNvSpPr txBox="1"/>
          <p:nvPr/>
        </p:nvSpPr>
        <p:spPr>
          <a:xfrm>
            <a:off x="3767328" y="2459736"/>
            <a:ext cx="325526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초대 계정 활성화 및 로그인</a:t>
            </a:r>
          </a:p>
        </p:txBody>
      </p:sp>
      <p:sp>
        <p:nvSpPr>
          <p:cNvPr id="263" name="S264"/>
          <p:cNvSpPr/>
          <p:nvPr/>
        </p:nvSpPr>
        <p:spPr>
          <a:xfrm>
            <a:off x="7223760" y="2459736"/>
            <a:ext cx="6309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65" name="T266"/>
          <p:cNvSpPr txBox="1"/>
          <p:nvPr/>
        </p:nvSpPr>
        <p:spPr>
          <a:xfrm>
            <a:off x="7424928" y="2459736"/>
            <a:ext cx="590702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일회성 초대 링크로만 계정 생성 · 역할별 첫 화면 분기</a:t>
            </a:r>
          </a:p>
        </p:txBody>
      </p:sp>
      <p:sp>
        <p:nvSpPr>
          <p:cNvPr id="267" name="S268"/>
          <p:cNvSpPr/>
          <p:nvPr/>
        </p:nvSpPr>
        <p:spPr>
          <a:xfrm>
            <a:off x="13533120" y="2459736"/>
            <a:ext cx="2468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69" name="T270"/>
          <p:cNvSpPr txBox="1"/>
          <p:nvPr/>
        </p:nvSpPr>
        <p:spPr>
          <a:xfrm>
            <a:off x="13734288" y="2459736"/>
            <a:ext cx="206654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SCR-AUTH-001</a:t>
            </a:r>
          </a:p>
        </p:txBody>
      </p:sp>
      <p:sp>
        <p:nvSpPr>
          <p:cNvPr id="271" name="S272"/>
          <p:cNvSpPr/>
          <p:nvPr/>
        </p:nvSpPr>
        <p:spPr>
          <a:xfrm>
            <a:off x="16002000" y="2459736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73" name="T274"/>
          <p:cNvSpPr txBox="1"/>
          <p:nvPr/>
        </p:nvSpPr>
        <p:spPr>
          <a:xfrm>
            <a:off x="16203168" y="2459736"/>
            <a:ext cx="96926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High</a:t>
            </a:r>
          </a:p>
        </p:txBody>
      </p:sp>
      <p:sp>
        <p:nvSpPr>
          <p:cNvPr id="275" name="S276"/>
          <p:cNvSpPr/>
          <p:nvPr/>
        </p:nvSpPr>
        <p:spPr>
          <a:xfrm>
            <a:off x="914400" y="3099816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77" name="T278"/>
          <p:cNvSpPr txBox="1"/>
          <p:nvPr/>
        </p:nvSpPr>
        <p:spPr>
          <a:xfrm>
            <a:off x="1115568" y="3099816"/>
            <a:ext cx="224942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REQ-FUNC-002</a:t>
            </a:r>
          </a:p>
        </p:txBody>
      </p:sp>
      <p:sp>
        <p:nvSpPr>
          <p:cNvPr id="279" name="S280"/>
          <p:cNvSpPr/>
          <p:nvPr/>
        </p:nvSpPr>
        <p:spPr>
          <a:xfrm>
            <a:off x="3566160" y="3099816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81" name="T282"/>
          <p:cNvSpPr txBox="1"/>
          <p:nvPr/>
        </p:nvSpPr>
        <p:spPr>
          <a:xfrm>
            <a:off x="3767328" y="3099816"/>
            <a:ext cx="325526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신청 · 서류 현황 조회</a:t>
            </a:r>
          </a:p>
        </p:txBody>
      </p:sp>
      <p:sp>
        <p:nvSpPr>
          <p:cNvPr id="283" name="S284"/>
          <p:cNvSpPr/>
          <p:nvPr/>
        </p:nvSpPr>
        <p:spPr>
          <a:xfrm>
            <a:off x="7223760" y="3099816"/>
            <a:ext cx="6309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85" name="T286"/>
          <p:cNvSpPr txBox="1"/>
          <p:nvPr/>
        </p:nvSpPr>
        <p:spPr>
          <a:xfrm>
            <a:off x="7424928" y="3099816"/>
            <a:ext cx="590702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소속 기업 신청 건과 3종 제출 상태 · 보완 사유 표시</a:t>
            </a:r>
          </a:p>
        </p:txBody>
      </p:sp>
      <p:sp>
        <p:nvSpPr>
          <p:cNvPr id="287" name="S288"/>
          <p:cNvSpPr/>
          <p:nvPr/>
        </p:nvSpPr>
        <p:spPr>
          <a:xfrm>
            <a:off x="13533120" y="3099816"/>
            <a:ext cx="2468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89" name="T290"/>
          <p:cNvSpPr txBox="1"/>
          <p:nvPr/>
        </p:nvSpPr>
        <p:spPr>
          <a:xfrm>
            <a:off x="13734288" y="3099816"/>
            <a:ext cx="206654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SCR-COMP-001</a:t>
            </a:r>
          </a:p>
        </p:txBody>
      </p:sp>
      <p:sp>
        <p:nvSpPr>
          <p:cNvPr id="291" name="S292"/>
          <p:cNvSpPr/>
          <p:nvPr/>
        </p:nvSpPr>
        <p:spPr>
          <a:xfrm>
            <a:off x="16002000" y="3099816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93" name="T294"/>
          <p:cNvSpPr txBox="1"/>
          <p:nvPr/>
        </p:nvSpPr>
        <p:spPr>
          <a:xfrm>
            <a:off x="16203168" y="3099816"/>
            <a:ext cx="96926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High</a:t>
            </a:r>
          </a:p>
        </p:txBody>
      </p:sp>
      <p:sp>
        <p:nvSpPr>
          <p:cNvPr id="295" name="S296"/>
          <p:cNvSpPr/>
          <p:nvPr/>
        </p:nvSpPr>
        <p:spPr>
          <a:xfrm>
            <a:off x="914400" y="3739896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297" name="T298"/>
          <p:cNvSpPr txBox="1"/>
          <p:nvPr/>
        </p:nvSpPr>
        <p:spPr>
          <a:xfrm>
            <a:off x="1115568" y="3739896"/>
            <a:ext cx="224942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REQ-FUNC-003</a:t>
            </a:r>
          </a:p>
        </p:txBody>
      </p:sp>
      <p:sp>
        <p:nvSpPr>
          <p:cNvPr id="299" name="S300"/>
          <p:cNvSpPr/>
          <p:nvPr/>
        </p:nvSpPr>
        <p:spPr>
          <a:xfrm>
            <a:off x="3566160" y="3739896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01" name="T302"/>
          <p:cNvSpPr txBox="1"/>
          <p:nvPr/>
        </p:nvSpPr>
        <p:spPr>
          <a:xfrm>
            <a:off x="3767328" y="3739896"/>
            <a:ext cx="325526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업로드 및 OCR 자동 분석</a:t>
            </a:r>
          </a:p>
        </p:txBody>
      </p:sp>
      <p:sp>
        <p:nvSpPr>
          <p:cNvPr id="303" name="S304"/>
          <p:cNvSpPr/>
          <p:nvPr/>
        </p:nvSpPr>
        <p:spPr>
          <a:xfrm>
            <a:off x="7223760" y="3739896"/>
            <a:ext cx="6309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05" name="T306"/>
          <p:cNvSpPr txBox="1"/>
          <p:nvPr/>
        </p:nvSpPr>
        <p:spPr>
          <a:xfrm>
            <a:off x="7424928" y="3739896"/>
            <a:ext cx="590702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재업로드 시 덮어쓰지 않고 version_no 증가 · 최대 3회 재시도</a:t>
            </a:r>
          </a:p>
        </p:txBody>
      </p:sp>
      <p:sp>
        <p:nvSpPr>
          <p:cNvPr id="307" name="S308"/>
          <p:cNvSpPr/>
          <p:nvPr/>
        </p:nvSpPr>
        <p:spPr>
          <a:xfrm>
            <a:off x="13533120" y="3739896"/>
            <a:ext cx="2468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09" name="T310"/>
          <p:cNvSpPr txBox="1"/>
          <p:nvPr/>
        </p:nvSpPr>
        <p:spPr>
          <a:xfrm>
            <a:off x="13734288" y="3739896"/>
            <a:ext cx="206654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SCR-COMP-001</a:t>
            </a:r>
          </a:p>
        </p:txBody>
      </p:sp>
      <p:sp>
        <p:nvSpPr>
          <p:cNvPr id="311" name="S312"/>
          <p:cNvSpPr/>
          <p:nvPr/>
        </p:nvSpPr>
        <p:spPr>
          <a:xfrm>
            <a:off x="16002000" y="3739896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13" name="T314"/>
          <p:cNvSpPr txBox="1"/>
          <p:nvPr/>
        </p:nvSpPr>
        <p:spPr>
          <a:xfrm>
            <a:off x="16203168" y="3739896"/>
            <a:ext cx="96926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High</a:t>
            </a:r>
          </a:p>
        </p:txBody>
      </p:sp>
      <p:sp>
        <p:nvSpPr>
          <p:cNvPr id="315" name="S316"/>
          <p:cNvSpPr/>
          <p:nvPr/>
        </p:nvSpPr>
        <p:spPr>
          <a:xfrm>
            <a:off x="914400" y="4379976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17" name="T318"/>
          <p:cNvSpPr txBox="1"/>
          <p:nvPr/>
        </p:nvSpPr>
        <p:spPr>
          <a:xfrm>
            <a:off x="1115568" y="4379976"/>
            <a:ext cx="224942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REQ-FUNC-004</a:t>
            </a:r>
          </a:p>
        </p:txBody>
      </p:sp>
      <p:sp>
        <p:nvSpPr>
          <p:cNvPr id="319" name="S320"/>
          <p:cNvSpPr/>
          <p:nvPr/>
        </p:nvSpPr>
        <p:spPr>
          <a:xfrm>
            <a:off x="3566160" y="4379976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21" name="T322"/>
          <p:cNvSpPr txBox="1"/>
          <p:nvPr/>
        </p:nvSpPr>
        <p:spPr>
          <a:xfrm>
            <a:off x="3767328" y="4379976"/>
            <a:ext cx="325526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사전검증 및 최종 제출</a:t>
            </a:r>
          </a:p>
        </p:txBody>
      </p:sp>
      <p:sp>
        <p:nvSpPr>
          <p:cNvPr id="323" name="S324"/>
          <p:cNvSpPr/>
          <p:nvPr/>
        </p:nvSpPr>
        <p:spPr>
          <a:xfrm>
            <a:off x="7223760" y="4379976"/>
            <a:ext cx="6309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25" name="T326"/>
          <p:cNvSpPr txBox="1"/>
          <p:nvPr/>
        </p:nvSpPr>
        <p:spPr>
          <a:xfrm>
            <a:off x="7424928" y="4379976"/>
            <a:ext cx="590702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누락 · 유효기간 · 기업명 · 사업자번호 · 사업연도 검증</a:t>
            </a:r>
          </a:p>
        </p:txBody>
      </p:sp>
      <p:sp>
        <p:nvSpPr>
          <p:cNvPr id="327" name="S328"/>
          <p:cNvSpPr/>
          <p:nvPr/>
        </p:nvSpPr>
        <p:spPr>
          <a:xfrm>
            <a:off x="13533120" y="4379976"/>
            <a:ext cx="2468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29" name="T330"/>
          <p:cNvSpPr txBox="1"/>
          <p:nvPr/>
        </p:nvSpPr>
        <p:spPr>
          <a:xfrm>
            <a:off x="13734288" y="4379976"/>
            <a:ext cx="206654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SCR-COMP-002</a:t>
            </a:r>
          </a:p>
        </p:txBody>
      </p:sp>
      <p:sp>
        <p:nvSpPr>
          <p:cNvPr id="331" name="S332"/>
          <p:cNvSpPr/>
          <p:nvPr/>
        </p:nvSpPr>
        <p:spPr>
          <a:xfrm>
            <a:off x="16002000" y="4379976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33" name="T334"/>
          <p:cNvSpPr txBox="1"/>
          <p:nvPr/>
        </p:nvSpPr>
        <p:spPr>
          <a:xfrm>
            <a:off x="16203168" y="4379976"/>
            <a:ext cx="96926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High</a:t>
            </a:r>
          </a:p>
        </p:txBody>
      </p:sp>
      <p:sp>
        <p:nvSpPr>
          <p:cNvPr id="335" name="S336"/>
          <p:cNvSpPr/>
          <p:nvPr/>
        </p:nvSpPr>
        <p:spPr>
          <a:xfrm>
            <a:off x="914400" y="5020056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37" name="T338"/>
          <p:cNvSpPr txBox="1"/>
          <p:nvPr/>
        </p:nvSpPr>
        <p:spPr>
          <a:xfrm>
            <a:off x="1115568" y="5020056"/>
            <a:ext cx="224942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REQ-FUNC-005</a:t>
            </a:r>
          </a:p>
        </p:txBody>
      </p:sp>
      <p:sp>
        <p:nvSpPr>
          <p:cNvPr id="339" name="S340"/>
          <p:cNvSpPr/>
          <p:nvPr/>
        </p:nvSpPr>
        <p:spPr>
          <a:xfrm>
            <a:off x="3566160" y="5020056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41" name="T342"/>
          <p:cNvSpPr txBox="1"/>
          <p:nvPr/>
        </p:nvSpPr>
        <p:spPr>
          <a:xfrm>
            <a:off x="3767328" y="5020056"/>
            <a:ext cx="325526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검토 대상 목록 조회</a:t>
            </a:r>
          </a:p>
        </p:txBody>
      </p:sp>
      <p:sp>
        <p:nvSpPr>
          <p:cNvPr id="343" name="S344"/>
          <p:cNvSpPr/>
          <p:nvPr/>
        </p:nvSpPr>
        <p:spPr>
          <a:xfrm>
            <a:off x="7223760" y="5020056"/>
            <a:ext cx="6309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45" name="T346"/>
          <p:cNvSpPr txBox="1"/>
          <p:nvPr/>
        </p:nvSpPr>
        <p:spPr>
          <a:xfrm>
            <a:off x="7424928" y="5020056"/>
            <a:ext cx="590702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REVIEW_PENDING · RESUBMITTED 필터 · 보완 요청 횟수</a:t>
            </a:r>
          </a:p>
        </p:txBody>
      </p:sp>
      <p:sp>
        <p:nvSpPr>
          <p:cNvPr id="347" name="S348"/>
          <p:cNvSpPr/>
          <p:nvPr/>
        </p:nvSpPr>
        <p:spPr>
          <a:xfrm>
            <a:off x="13533120" y="5020056"/>
            <a:ext cx="2468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49" name="T350"/>
          <p:cNvSpPr txBox="1"/>
          <p:nvPr/>
        </p:nvSpPr>
        <p:spPr>
          <a:xfrm>
            <a:off x="13734288" y="5020056"/>
            <a:ext cx="206654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SCR-REV-001</a:t>
            </a:r>
          </a:p>
        </p:txBody>
      </p:sp>
      <p:sp>
        <p:nvSpPr>
          <p:cNvPr id="351" name="S352"/>
          <p:cNvSpPr/>
          <p:nvPr/>
        </p:nvSpPr>
        <p:spPr>
          <a:xfrm>
            <a:off x="16002000" y="5020056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53" name="T354"/>
          <p:cNvSpPr txBox="1"/>
          <p:nvPr/>
        </p:nvSpPr>
        <p:spPr>
          <a:xfrm>
            <a:off x="16203168" y="5020056"/>
            <a:ext cx="96926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Medium</a:t>
            </a:r>
          </a:p>
        </p:txBody>
      </p:sp>
      <p:sp>
        <p:nvSpPr>
          <p:cNvPr id="355" name="S356"/>
          <p:cNvSpPr/>
          <p:nvPr/>
        </p:nvSpPr>
        <p:spPr>
          <a:xfrm>
            <a:off x="914400" y="5660136"/>
            <a:ext cx="26517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57" name="T358"/>
          <p:cNvSpPr txBox="1"/>
          <p:nvPr/>
        </p:nvSpPr>
        <p:spPr>
          <a:xfrm>
            <a:off x="1115568" y="5660136"/>
            <a:ext cx="224942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REQ-FUNC-006</a:t>
            </a:r>
          </a:p>
        </p:txBody>
      </p:sp>
      <p:sp>
        <p:nvSpPr>
          <p:cNvPr id="359" name="S360"/>
          <p:cNvSpPr/>
          <p:nvPr/>
        </p:nvSpPr>
        <p:spPr>
          <a:xfrm>
            <a:off x="3566160" y="5660136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61" name="T362"/>
          <p:cNvSpPr txBox="1"/>
          <p:nvPr/>
        </p:nvSpPr>
        <p:spPr>
          <a:xfrm>
            <a:off x="3767328" y="5660136"/>
            <a:ext cx="325526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상세 검토 및 보완 결정</a:t>
            </a:r>
          </a:p>
        </p:txBody>
      </p:sp>
      <p:sp>
        <p:nvSpPr>
          <p:cNvPr id="363" name="S364"/>
          <p:cNvSpPr/>
          <p:nvPr/>
        </p:nvSpPr>
        <p:spPr>
          <a:xfrm>
            <a:off x="7223760" y="5660136"/>
            <a:ext cx="63093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65" name="T366"/>
          <p:cNvSpPr txBox="1"/>
          <p:nvPr/>
        </p:nvSpPr>
        <p:spPr>
          <a:xfrm>
            <a:off x="7424928" y="5660136"/>
            <a:ext cx="590702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원본 · 추출값 · 검증 결과 비교 후 확인 완료 / 보완 요청</a:t>
            </a:r>
          </a:p>
        </p:txBody>
      </p:sp>
      <p:sp>
        <p:nvSpPr>
          <p:cNvPr id="367" name="S368"/>
          <p:cNvSpPr/>
          <p:nvPr/>
        </p:nvSpPr>
        <p:spPr>
          <a:xfrm>
            <a:off x="13533120" y="5660136"/>
            <a:ext cx="2468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69" name="T370"/>
          <p:cNvSpPr txBox="1"/>
          <p:nvPr/>
        </p:nvSpPr>
        <p:spPr>
          <a:xfrm>
            <a:off x="13734288" y="5660136"/>
            <a:ext cx="206654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SCR-REV-002</a:t>
            </a:r>
          </a:p>
        </p:txBody>
      </p:sp>
      <p:sp>
        <p:nvSpPr>
          <p:cNvPr id="371" name="S372"/>
          <p:cNvSpPr/>
          <p:nvPr/>
        </p:nvSpPr>
        <p:spPr>
          <a:xfrm>
            <a:off x="16002000" y="5660136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73" name="T374"/>
          <p:cNvSpPr txBox="1"/>
          <p:nvPr/>
        </p:nvSpPr>
        <p:spPr>
          <a:xfrm>
            <a:off x="16203168" y="5660136"/>
            <a:ext cx="969264" cy="6400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High</a:t>
            </a:r>
          </a:p>
        </p:txBody>
      </p:sp>
      <p:sp>
        <p:nvSpPr>
          <p:cNvPr id="375" name="S376"/>
          <p:cNvSpPr/>
          <p:nvPr/>
        </p:nvSpPr>
        <p:spPr>
          <a:xfrm>
            <a:off x="914400" y="6675120"/>
            <a:ext cx="100584" cy="31089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377" name="T378"/>
          <p:cNvSpPr txBox="1"/>
          <p:nvPr/>
        </p:nvSpPr>
        <p:spPr>
          <a:xfrm>
            <a:off x="1170432" y="6620256"/>
            <a:ext cx="10972800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비기능 요구사항</a:t>
            </a:r>
          </a:p>
        </p:txBody>
      </p:sp>
      <p:sp>
        <p:nvSpPr>
          <p:cNvPr id="379" name="S380"/>
          <p:cNvSpPr/>
          <p:nvPr/>
        </p:nvSpPr>
        <p:spPr>
          <a:xfrm>
            <a:off x="914400" y="7141464"/>
            <a:ext cx="3874770" cy="13533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81" name="T382"/>
          <p:cNvSpPr txBox="1"/>
          <p:nvPr/>
        </p:nvSpPr>
        <p:spPr>
          <a:xfrm>
            <a:off x="1207008" y="7251192"/>
            <a:ext cx="3326130" cy="29260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3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REQ-NFN-001</a:t>
            </a:r>
          </a:p>
        </p:txBody>
      </p:sp>
      <p:sp>
        <p:nvSpPr>
          <p:cNvPr id="383" name="T384"/>
          <p:cNvSpPr txBox="1"/>
          <p:nvPr/>
        </p:nvSpPr>
        <p:spPr>
          <a:xfrm>
            <a:off x="1207008" y="7543800"/>
            <a:ext cx="3326130" cy="347472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성능</a:t>
            </a:r>
          </a:p>
        </p:txBody>
      </p:sp>
      <p:sp>
        <p:nvSpPr>
          <p:cNvPr id="385" name="T386"/>
          <p:cNvSpPr txBox="1"/>
          <p:nvPr/>
        </p:nvSpPr>
        <p:spPr>
          <a:xfrm>
            <a:off x="1207008" y="7909560"/>
            <a:ext cx="3326130" cy="56692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로그인·목록 조회 95% 2초 이내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업로드 3초 내 처리 상태 표시</a:t>
            </a:r>
          </a:p>
        </p:txBody>
      </p:sp>
      <p:sp>
        <p:nvSpPr>
          <p:cNvPr id="387" name="S388"/>
          <p:cNvSpPr/>
          <p:nvPr/>
        </p:nvSpPr>
        <p:spPr>
          <a:xfrm>
            <a:off x="5109210" y="7141464"/>
            <a:ext cx="3874770" cy="13533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89" name="T390"/>
          <p:cNvSpPr txBox="1"/>
          <p:nvPr/>
        </p:nvSpPr>
        <p:spPr>
          <a:xfrm>
            <a:off x="5401818" y="7251192"/>
            <a:ext cx="3326130" cy="29260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3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REQ-NFN-002</a:t>
            </a:r>
          </a:p>
        </p:txBody>
      </p:sp>
      <p:sp>
        <p:nvSpPr>
          <p:cNvPr id="391" name="T392"/>
          <p:cNvSpPr txBox="1"/>
          <p:nvPr/>
        </p:nvSpPr>
        <p:spPr>
          <a:xfrm>
            <a:off x="5401818" y="7543800"/>
            <a:ext cx="3326130" cy="347472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보안</a:t>
            </a:r>
          </a:p>
        </p:txBody>
      </p:sp>
      <p:sp>
        <p:nvSpPr>
          <p:cNvPr id="393" name="T394"/>
          <p:cNvSpPr txBox="1"/>
          <p:nvPr/>
        </p:nvSpPr>
        <p:spPr>
          <a:xfrm>
            <a:off x="5401818" y="7909560"/>
            <a:ext cx="3326130" cy="56692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비밀번호·초대 토큰 해시 저장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Bearer 인증 · 역할과 소속 기업으로 제한</a:t>
            </a:r>
          </a:p>
        </p:txBody>
      </p:sp>
      <p:sp>
        <p:nvSpPr>
          <p:cNvPr id="395" name="S396"/>
          <p:cNvSpPr/>
          <p:nvPr/>
        </p:nvSpPr>
        <p:spPr>
          <a:xfrm>
            <a:off x="9304020" y="7141464"/>
            <a:ext cx="3874770" cy="13533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397" name="T398"/>
          <p:cNvSpPr txBox="1"/>
          <p:nvPr/>
        </p:nvSpPr>
        <p:spPr>
          <a:xfrm>
            <a:off x="9596628" y="7251192"/>
            <a:ext cx="3326130" cy="29260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3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REQ-NFN-003</a:t>
            </a:r>
          </a:p>
        </p:txBody>
      </p:sp>
      <p:sp>
        <p:nvSpPr>
          <p:cNvPr id="399" name="T400"/>
          <p:cNvSpPr txBox="1"/>
          <p:nvPr/>
        </p:nvSpPr>
        <p:spPr>
          <a:xfrm>
            <a:off x="9596628" y="7543800"/>
            <a:ext cx="3326130" cy="347472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호환성</a:t>
            </a:r>
          </a:p>
        </p:txBody>
      </p:sp>
      <p:sp>
        <p:nvSpPr>
          <p:cNvPr id="401" name="T402"/>
          <p:cNvSpPr txBox="1"/>
          <p:nvPr/>
        </p:nvSpPr>
        <p:spPr>
          <a:xfrm>
            <a:off x="9596628" y="7909560"/>
            <a:ext cx="3326130" cy="56692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Chrome · Edge 최신 버전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JPG · PNG · PDF · 10MB</a:t>
            </a:r>
          </a:p>
        </p:txBody>
      </p:sp>
      <p:sp>
        <p:nvSpPr>
          <p:cNvPr id="403" name="S404"/>
          <p:cNvSpPr/>
          <p:nvPr/>
        </p:nvSpPr>
        <p:spPr>
          <a:xfrm>
            <a:off x="13498830" y="7141464"/>
            <a:ext cx="3874770" cy="13533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05" name="T406"/>
          <p:cNvSpPr txBox="1"/>
          <p:nvPr/>
        </p:nvSpPr>
        <p:spPr>
          <a:xfrm>
            <a:off x="13791438" y="7251192"/>
            <a:ext cx="3326130" cy="29260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3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REQ-NFN-004</a:t>
            </a:r>
          </a:p>
        </p:txBody>
      </p:sp>
      <p:sp>
        <p:nvSpPr>
          <p:cNvPr id="407" name="T408"/>
          <p:cNvSpPr txBox="1"/>
          <p:nvPr/>
        </p:nvSpPr>
        <p:spPr>
          <a:xfrm>
            <a:off x="13791438" y="7543800"/>
            <a:ext cx="3326130" cy="347472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신뢰성</a:t>
            </a:r>
          </a:p>
        </p:txBody>
      </p:sp>
      <p:sp>
        <p:nvSpPr>
          <p:cNvPr id="409" name="T410"/>
          <p:cNvSpPr txBox="1"/>
          <p:nvPr/>
        </p:nvSpPr>
        <p:spPr>
          <a:xfrm>
            <a:off x="13791438" y="7909560"/>
            <a:ext cx="3326130" cy="56692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OCR 실패 시 원본 보존 후 3회 재시도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3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재제출은 버전과 이력 보존</a:t>
            </a:r>
          </a:p>
        </p:txBody>
      </p:sp>
      <p:sp>
        <p:nvSpPr>
          <p:cNvPr id="411" name="S412"/>
          <p:cNvSpPr/>
          <p:nvPr/>
        </p:nvSpPr>
        <p:spPr>
          <a:xfrm>
            <a:off x="914400" y="8686800"/>
            <a:ext cx="16459200" cy="86868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13" name="T414"/>
          <p:cNvSpPr txBox="1"/>
          <p:nvPr/>
        </p:nvSpPr>
        <p:spPr>
          <a:xfrm>
            <a:off x="1371600" y="8686800"/>
            <a:ext cx="15544800" cy="8686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요구사항 ID → 화면 ID → API → DB 테이블을 요구사항정의서 6장 추적표에 1:1로 연결했다.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03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화면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415" name="T416"/>
          <p:cNvSpPr txBox="1"/>
          <p:nvPr/>
        </p:nvSpPr>
        <p:spPr>
          <a:xfrm>
            <a:off x="914400" y="1874520"/>
            <a:ext cx="518160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SCR-COMP-001</a:t>
            </a: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   기업 서류 제출 현황 · 업로드</a:t>
            </a:r>
          </a:p>
        </p:txBody>
      </p:sp>
      <p:pic>
        <p:nvPicPr>
          <p:cNvPr id="417" name="P418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" y="2441448"/>
            <a:ext cx="5181600" cy="3285402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419" name="S420"/>
          <p:cNvSpPr/>
          <p:nvPr/>
        </p:nvSpPr>
        <p:spPr>
          <a:xfrm>
            <a:off x="914400" y="6876288"/>
            <a:ext cx="5181600" cy="11887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21" name="T422"/>
          <p:cNvSpPr txBox="1"/>
          <p:nvPr/>
        </p:nvSpPr>
        <p:spPr>
          <a:xfrm>
            <a:off x="1243584" y="6876288"/>
            <a:ext cx="4523232" cy="11887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필수 3종 업로드와 OCR 처리 상태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POST /documents · /retry</a:t>
            </a:r>
          </a:p>
        </p:txBody>
      </p:sp>
      <p:sp>
        <p:nvSpPr>
          <p:cNvPr id="423" name="T424"/>
          <p:cNvSpPr txBox="1"/>
          <p:nvPr/>
        </p:nvSpPr>
        <p:spPr>
          <a:xfrm>
            <a:off x="6553200" y="1874520"/>
            <a:ext cx="518160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SCR-COMP-002</a:t>
            </a: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   사전검증 결과 · 최종 제출</a:t>
            </a:r>
          </a:p>
        </p:txBody>
      </p:sp>
      <p:pic>
        <p:nvPicPr>
          <p:cNvPr id="425" name="P426"/>
          <p:cNvPicPr/>
          <p:nvPr/>
        </p:nvPicPr>
        <p:blipFill>
          <a:blip r:embed="rId4"/>
          <a:stretch>
            <a:fillRect/>
          </a:stretch>
        </p:blipFill>
        <p:spPr>
          <a:xfrm>
            <a:off x="6553200" y="2441448"/>
            <a:ext cx="5181600" cy="3869779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427" name="S428"/>
          <p:cNvSpPr/>
          <p:nvPr/>
        </p:nvSpPr>
        <p:spPr>
          <a:xfrm>
            <a:off x="6553200" y="6876288"/>
            <a:ext cx="5181600" cy="11887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29" name="T430"/>
          <p:cNvSpPr txBox="1"/>
          <p:nvPr/>
        </p:nvSpPr>
        <p:spPr>
          <a:xfrm>
            <a:off x="6882384" y="6876288"/>
            <a:ext cx="4523232" cy="11887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차단 오류의 대상·원인·해결 행동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GET /validation · POST /submit</a:t>
            </a:r>
          </a:p>
        </p:txBody>
      </p:sp>
      <p:sp>
        <p:nvSpPr>
          <p:cNvPr id="431" name="T432"/>
          <p:cNvSpPr txBox="1"/>
          <p:nvPr/>
        </p:nvSpPr>
        <p:spPr>
          <a:xfrm>
            <a:off x="12192000" y="1874520"/>
            <a:ext cx="5181600" cy="36576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7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SCR-REV-002</a:t>
            </a:r>
            <a:r>
              <a:rPr lang="ko-KR" sz="17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   은행 상세 검토</a:t>
            </a:r>
          </a:p>
        </p:txBody>
      </p:sp>
      <p:pic>
        <p:nvPicPr>
          <p:cNvPr id="433" name="P434"/>
          <p:cNvPicPr/>
          <p:nvPr/>
        </p:nvPicPr>
        <p:blipFill>
          <a:blip r:embed="rId5"/>
          <a:stretch>
            <a:fillRect/>
          </a:stretch>
        </p:blipFill>
        <p:spPr>
          <a:xfrm>
            <a:off x="12192000" y="2441448"/>
            <a:ext cx="5181600" cy="3335223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435" name="S436"/>
          <p:cNvSpPr/>
          <p:nvPr/>
        </p:nvSpPr>
        <p:spPr>
          <a:xfrm>
            <a:off x="12192000" y="6876288"/>
            <a:ext cx="5181600" cy="118872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37" name="T438"/>
          <p:cNvSpPr txBox="1"/>
          <p:nvPr/>
        </p:nvSpPr>
        <p:spPr>
          <a:xfrm>
            <a:off x="12521184" y="6876288"/>
            <a:ext cx="4523232" cy="118872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원본·추출값·검증 결과·이력 비교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lang="ko-KR" sz="15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GET /review/{id} · POST /decision</a:t>
            </a:r>
          </a:p>
        </p:txBody>
      </p:sp>
      <p:sp>
        <p:nvSpPr>
          <p:cNvPr id="439" name="S440"/>
          <p:cNvSpPr/>
          <p:nvPr/>
        </p:nvSpPr>
        <p:spPr>
          <a:xfrm>
            <a:off x="914400" y="8686800"/>
            <a:ext cx="16459200" cy="868680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/>
        </p:txBody>
      </p:sp>
      <p:sp>
        <p:nvSpPr>
          <p:cNvPr id="441" name="T442"/>
          <p:cNvSpPr txBox="1"/>
          <p:nvPr/>
        </p:nvSpPr>
        <p:spPr>
          <a:xfrm>
            <a:off x="1371600" y="8686800"/>
            <a:ext cx="15544800" cy="8686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화면 5장 전체의 와이어프레임 · 사용자 흐름 · 디스크립션 · 예외 처리는 화면설계서에 수록했다. 번호 배지와 디스크립션 표가 1:1로 대응한다.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04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데이터 모델 설계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443" name="P444"/>
          <p:cNvPicPr/>
          <p:nvPr/>
        </p:nvPicPr>
        <p:blipFill>
          <a:blip r:embed="rId3"/>
          <a:stretch>
            <a:fillRect/>
          </a:stretch>
        </p:blipFill>
        <p:spPr>
          <a:xfrm>
            <a:off x="6035040" y="1874520"/>
            <a:ext cx="11338560" cy="6798812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445" name="T446"/>
          <p:cNvSpPr txBox="1"/>
          <p:nvPr/>
        </p:nvSpPr>
        <p:spPr>
          <a:xfrm>
            <a:off x="6035040" y="1490472"/>
            <a:ext cx="11338560" cy="347472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DBDiagram 으로 작성한 판교5반-P172-홍은비-DB.dbml   —   테이블 8개 · 외래키 12개 · M:N 없음</a:t>
            </a:r>
          </a:p>
        </p:txBody>
      </p:sp>
      <p:sp>
        <p:nvSpPr>
          <p:cNvPr id="447" name="T448"/>
          <p:cNvSpPr txBox="1"/>
          <p:nvPr/>
        </p:nvSpPr>
        <p:spPr>
          <a:xfrm>
            <a:off x="914400" y="1920240"/>
            <a:ext cx="4846320" cy="40233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[ 핵심 설계 포인트 ]</a:t>
            </a:r>
          </a:p>
        </p:txBody>
      </p:sp>
      <p:sp>
        <p:nvSpPr>
          <p:cNvPr id="449" name="S450"/>
          <p:cNvSpPr/>
          <p:nvPr/>
        </p:nvSpPr>
        <p:spPr>
          <a:xfrm>
            <a:off x="950976" y="2560320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451" name="T452"/>
          <p:cNvSpPr txBox="1"/>
          <p:nvPr/>
        </p:nvSpPr>
        <p:spPr>
          <a:xfrm>
            <a:off x="1207008" y="2432304"/>
            <a:ext cx="45171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기업 기준정보를 companies로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분리해 교차검증 기준을 일원화</a:t>
            </a:r>
          </a:p>
        </p:txBody>
      </p:sp>
      <p:sp>
        <p:nvSpPr>
          <p:cNvPr id="453" name="S454"/>
          <p:cNvSpPr/>
          <p:nvPr/>
        </p:nvSpPr>
        <p:spPr>
          <a:xfrm>
            <a:off x="950976" y="3547872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455" name="T456"/>
          <p:cNvSpPr txBox="1"/>
          <p:nvPr/>
        </p:nvSpPr>
        <p:spPr>
          <a:xfrm>
            <a:off x="1207008" y="3419856"/>
            <a:ext cx="45171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문서 유형별 version_no로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이전본과 최신본을 함께 보존</a:t>
            </a:r>
          </a:p>
        </p:txBody>
      </p:sp>
      <p:sp>
        <p:nvSpPr>
          <p:cNvPr id="457" name="S458"/>
          <p:cNvSpPr/>
          <p:nvPr/>
        </p:nvSpPr>
        <p:spPr>
          <a:xfrm>
            <a:off x="950976" y="4535424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459" name="T460"/>
          <p:cNvSpPr txBox="1"/>
          <p:nvPr/>
        </p:nvSpPr>
        <p:spPr>
          <a:xfrm>
            <a:off x="1207008" y="4407408"/>
            <a:ext cx="45171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OCR 추출값을 별도 테이블에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저장하고 수정 기능을 제한</a:t>
            </a:r>
          </a:p>
        </p:txBody>
      </p:sp>
      <p:sp>
        <p:nvSpPr>
          <p:cNvPr id="461" name="S462"/>
          <p:cNvSpPr/>
          <p:nvPr/>
        </p:nvSpPr>
        <p:spPr>
          <a:xfrm>
            <a:off x="950976" y="5522976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463" name="T464"/>
          <p:cNvSpPr txBox="1"/>
          <p:nvPr/>
        </p:nvSpPr>
        <p:spPr>
          <a:xfrm>
            <a:off x="1207008" y="5394960"/>
            <a:ext cx="45171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uploaded_by와 reviewer_id로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제출자와 검토자를 구분해 추적</a:t>
            </a:r>
          </a:p>
        </p:txBody>
      </p:sp>
      <p:sp>
        <p:nvSpPr>
          <p:cNvPr id="465" name="S466"/>
          <p:cNvSpPr/>
          <p:nvPr/>
        </p:nvSpPr>
        <p:spPr>
          <a:xfrm>
            <a:off x="950976" y="6510528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467" name="T468"/>
          <p:cNvSpPr txBox="1"/>
          <p:nvPr/>
        </p:nvSpPr>
        <p:spPr>
          <a:xfrm>
            <a:off x="1207008" y="6382512"/>
            <a:ext cx="45171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모든 관계를 1:N으로 구성해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불필요한 중간 테이블을 배제</a:t>
            </a:r>
          </a:p>
        </p:txBody>
      </p:sp>
      <p:sp>
        <p:nvSpPr>
          <p:cNvPr id="469" name="S470"/>
          <p:cNvSpPr/>
          <p:nvPr/>
        </p:nvSpPr>
        <p:spPr>
          <a:xfrm>
            <a:off x="914400" y="7406640"/>
            <a:ext cx="4846320" cy="1645920"/>
          </a:xfrm>
          <a:prstGeom prst="roundRect">
            <a:avLst>
              <a:gd name="adj" fmla="val 5000"/>
            </a:avLst>
          </a:prstGeom>
          <a:solidFill>
            <a:srgbClr val="FFF4EE"/>
          </a:solidFill>
          <a:ln w="19050">
            <a:solidFill>
              <a:srgbClr val="F47725"/>
            </a:solidFill>
          </a:ln>
        </p:spPr>
        <p:txBody>
          <a:bodyPr/>
          <a:lstStyle/>
          <a:p/>
        </p:txBody>
      </p:sp>
      <p:sp>
        <p:nvSpPr>
          <p:cNvPr id="471" name="T472"/>
          <p:cNvSpPr txBox="1"/>
          <p:nvPr/>
        </p:nvSpPr>
        <p:spPr>
          <a:xfrm>
            <a:off x="1170432" y="7552944"/>
            <a:ext cx="4334256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제출 차단 오류 관리</a:t>
            </a:r>
          </a:p>
        </p:txBody>
      </p:sp>
      <p:sp>
        <p:nvSpPr>
          <p:cNvPr id="473" name="T474"/>
          <p:cNvSpPr txBox="1"/>
          <p:nvPr/>
        </p:nvSpPr>
        <p:spPr>
          <a:xfrm>
            <a:off x="1170432" y="7991856"/>
            <a:ext cx="4334256" cy="9144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validation_issues에 오류 유형과 대상 문서,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해결 상태를 저장한다. 미해결 오류 존재 여부로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최종 제출 가능 여부를 판정한다.</a:t>
            </a:r>
          </a:p>
        </p:txBody>
      </p:sp>
      <p:sp>
        <p:nvSpPr>
          <p:cNvPr id="475" name="S476"/>
          <p:cNvSpPr/>
          <p:nvPr/>
        </p:nvSpPr>
        <p:spPr>
          <a:xfrm>
            <a:off x="914400" y="8686800"/>
            <a:ext cx="16459200" cy="86868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477" name="T478"/>
          <p:cNvSpPr txBox="1"/>
          <p:nvPr/>
        </p:nvSpPr>
        <p:spPr>
          <a:xfrm>
            <a:off x="1371600" y="8686800"/>
            <a:ext cx="15544800" cy="8686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화면과 API에서 사용하는 데이터만 모델링했다. 모든 테이블에 PK를 두고 관계는 FK로 명시했다.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API 명세 정의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pic>
        <p:nvPicPr>
          <p:cNvPr id="479" name="P480"/>
          <p:cNvPicPr/>
          <p:nvPr/>
        </p:nvPicPr>
        <p:blipFill>
          <a:blip r:embed="rId3"/>
          <a:stretch>
            <a:fillRect/>
          </a:stretch>
        </p:blipFill>
        <p:spPr>
          <a:xfrm>
            <a:off x="914400" y="1965960"/>
            <a:ext cx="4462272" cy="3502152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pic>
        <p:nvPicPr>
          <p:cNvPr id="481" name="P482"/>
          <p:cNvPicPr/>
          <p:nvPr/>
        </p:nvPicPr>
        <p:blipFill>
          <a:blip r:embed="rId4"/>
          <a:stretch>
            <a:fillRect/>
          </a:stretch>
        </p:blipFill>
        <p:spPr>
          <a:xfrm>
            <a:off x="5833872" y="1965960"/>
            <a:ext cx="6153912" cy="3502152"/>
          </a:xfrm>
          <a:prstGeom prst="rect">
            <a:avLst/>
          </a:prstGeom>
          <a:ln w="9525">
            <a:solidFill>
              <a:srgbClr val="D8DCE2"/>
            </a:solidFill>
          </a:ln>
        </p:spPr>
      </p:pic>
      <p:sp>
        <p:nvSpPr>
          <p:cNvPr id="483" name="T484"/>
          <p:cNvSpPr txBox="1"/>
          <p:nvPr/>
        </p:nvSpPr>
        <p:spPr>
          <a:xfrm>
            <a:off x="914400" y="1490472"/>
            <a:ext cx="11978640" cy="347472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판교5반-P172-홍은비-API.yml (OpenAPI 3.0.3)   —   좌 : 최종 제출 오퍼레이션 원문 / 우 : 엔드포인트 명세서</a:t>
            </a:r>
          </a:p>
        </p:txBody>
      </p:sp>
      <p:sp>
        <p:nvSpPr>
          <p:cNvPr id="485" name="T486"/>
          <p:cNvSpPr txBox="1"/>
          <p:nvPr/>
        </p:nvSpPr>
        <p:spPr>
          <a:xfrm>
            <a:off x="12298680" y="1920240"/>
            <a:ext cx="5074920" cy="402336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[ 핵심 설계 포인트 ]</a:t>
            </a:r>
          </a:p>
        </p:txBody>
      </p:sp>
      <p:sp>
        <p:nvSpPr>
          <p:cNvPr id="487" name="S488"/>
          <p:cNvSpPr/>
          <p:nvPr/>
        </p:nvSpPr>
        <p:spPr>
          <a:xfrm>
            <a:off x="12335256" y="2560320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489" name="T490"/>
          <p:cNvSpPr txBox="1"/>
          <p:nvPr/>
        </p:nvSpPr>
        <p:spPr>
          <a:xfrm>
            <a:off x="12591288" y="2432304"/>
            <a:ext cx="47457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엔드포인트 11개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auth 3 · company 5 · review 3</a:t>
            </a:r>
          </a:p>
        </p:txBody>
      </p:sp>
      <p:sp>
        <p:nvSpPr>
          <p:cNvPr id="491" name="S492"/>
          <p:cNvSpPr/>
          <p:nvPr/>
        </p:nvSpPr>
        <p:spPr>
          <a:xfrm>
            <a:off x="12335256" y="3547872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493" name="T494"/>
          <p:cNvSpPr txBox="1"/>
          <p:nvPr/>
        </p:nvSpPr>
        <p:spPr>
          <a:xfrm>
            <a:off x="12591288" y="3419856"/>
            <a:ext cx="47457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$ref 로 공통 응답·오류·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파라미터 재사용 (스키마 28개)</a:t>
            </a:r>
          </a:p>
        </p:txBody>
      </p:sp>
      <p:sp>
        <p:nvSpPr>
          <p:cNvPr id="495" name="S496"/>
          <p:cNvSpPr/>
          <p:nvPr/>
        </p:nvSpPr>
        <p:spPr>
          <a:xfrm>
            <a:off x="12335256" y="4535424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497" name="T498"/>
          <p:cNvSpPr txBox="1"/>
          <p:nvPr/>
        </p:nvSpPr>
        <p:spPr>
          <a:xfrm>
            <a:off x="12591288" y="4407408"/>
            <a:ext cx="47457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화면에서 실제 호출하는 API만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정의해 범위를 명확히 제한</a:t>
            </a:r>
          </a:p>
        </p:txBody>
      </p:sp>
      <p:sp>
        <p:nvSpPr>
          <p:cNvPr id="499" name="S500"/>
          <p:cNvSpPr/>
          <p:nvPr/>
        </p:nvSpPr>
        <p:spPr>
          <a:xfrm>
            <a:off x="12335256" y="5522976"/>
            <a:ext cx="100584" cy="100584"/>
          </a:xfrm>
          <a:prstGeom prst="rect">
            <a:avLst/>
          </a:prstGeom>
          <a:solidFill>
            <a:srgbClr val="F47725"/>
          </a:solidFill>
        </p:spPr>
        <p:txBody>
          <a:bodyPr/>
          <a:lstStyle/>
          <a:p/>
        </p:txBody>
      </p:sp>
      <p:sp>
        <p:nvSpPr>
          <p:cNvPr id="501" name="T502"/>
          <p:cNvSpPr txBox="1"/>
          <p:nvPr/>
        </p:nvSpPr>
        <p:spPr>
          <a:xfrm>
            <a:off x="12591288" y="5394960"/>
            <a:ext cx="4745736" cy="877824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외부 OCR은 연동 대상으로 분리하고</a:t>
            </a:r>
          </a:p>
          <a:p>
            <a:pPr algn="l">
              <a:lnSpc>
                <a:spcPct val="136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실패와 지연을 502·504로 표현</a:t>
            </a:r>
          </a:p>
        </p:txBody>
      </p:sp>
      <p:sp>
        <p:nvSpPr>
          <p:cNvPr id="503" name="S504"/>
          <p:cNvSpPr/>
          <p:nvPr/>
        </p:nvSpPr>
        <p:spPr>
          <a:xfrm>
            <a:off x="914400" y="5760720"/>
            <a:ext cx="4462272" cy="2331720"/>
          </a:xfrm>
          <a:prstGeom prst="roundRect">
            <a:avLst>
              <a:gd name="adj" fmla="val 5000"/>
            </a:avLst>
          </a:prstGeom>
          <a:solidFill>
            <a:srgbClr val="FFF1F3"/>
          </a:solidFill>
          <a:ln w="19050">
            <a:solidFill>
              <a:srgbClr val="EA002C"/>
            </a:solidFill>
          </a:ln>
        </p:spPr>
        <p:txBody>
          <a:bodyPr/>
          <a:lstStyle/>
          <a:p/>
        </p:txBody>
      </p:sp>
      <p:sp>
        <p:nvSpPr>
          <p:cNvPr id="505" name="T506"/>
          <p:cNvSpPr txBox="1"/>
          <p:nvPr/>
        </p:nvSpPr>
        <p:spPr>
          <a:xfrm>
            <a:off x="1170432" y="5907024"/>
            <a:ext cx="3950208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예외 처리 규격화</a:t>
            </a:r>
          </a:p>
        </p:txBody>
      </p:sp>
      <p:sp>
        <p:nvSpPr>
          <p:cNvPr id="507" name="T508"/>
          <p:cNvSpPr txBox="1"/>
          <p:nvPr/>
        </p:nvSpPr>
        <p:spPr>
          <a:xfrm>
            <a:off x="1170432" y="6345936"/>
            <a:ext cx="3950208" cy="1600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성공 응답과 주요 오류 코드를 각 오퍼레이션에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명시해 화면설계서의 예외 정책과 일치시켰다.</a:t>
            </a:r>
          </a:p>
        </p:txBody>
      </p:sp>
      <p:sp>
        <p:nvSpPr>
          <p:cNvPr id="509" name="S510"/>
          <p:cNvSpPr/>
          <p:nvPr/>
        </p:nvSpPr>
        <p:spPr>
          <a:xfrm>
            <a:off x="5833872" y="5760720"/>
            <a:ext cx="6153912" cy="2331720"/>
          </a:xfrm>
          <a:prstGeom prst="roundRect">
            <a:avLst>
              <a:gd name="adj" fmla="val 5000"/>
            </a:avLst>
          </a:prstGeom>
          <a:solidFill>
            <a:srgbClr val="FFF4EE"/>
          </a:solidFill>
          <a:ln w="19050">
            <a:solidFill>
              <a:srgbClr val="F47725"/>
            </a:solidFill>
          </a:ln>
        </p:spPr>
        <p:txBody>
          <a:bodyPr/>
          <a:lstStyle/>
          <a:p/>
        </p:txBody>
      </p:sp>
      <p:sp>
        <p:nvSpPr>
          <p:cNvPr id="511" name="T512"/>
          <p:cNvSpPr txBox="1"/>
          <p:nvPr/>
        </p:nvSpPr>
        <p:spPr>
          <a:xfrm>
            <a:off x="6089904" y="5907024"/>
            <a:ext cx="5641848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F47725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오퍼레이션별 추적 정보</a:t>
            </a:r>
          </a:p>
        </p:txBody>
      </p:sp>
      <p:sp>
        <p:nvSpPr>
          <p:cNvPr id="513" name="T514"/>
          <p:cNvSpPr txBox="1"/>
          <p:nvPr/>
        </p:nvSpPr>
        <p:spPr>
          <a:xfrm>
            <a:off x="6089904" y="6345936"/>
            <a:ext cx="5641848" cy="160020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각 description에 요구사항 ID와 화면 ID,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사용 테이블을 기록해 요구사항·화면·API·DB를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상호 추적할 수 있게 구성했다.</a:t>
            </a:r>
          </a:p>
        </p:txBody>
      </p:sp>
      <p:sp>
        <p:nvSpPr>
          <p:cNvPr id="515" name="S516"/>
          <p:cNvSpPr/>
          <p:nvPr/>
        </p:nvSpPr>
        <p:spPr>
          <a:xfrm>
            <a:off x="12298680" y="6583680"/>
            <a:ext cx="5074920" cy="1508760"/>
          </a:xfrm>
          <a:prstGeom prst="roundRect">
            <a:avLst>
              <a:gd name="adj" fmla="val 5000"/>
            </a:avLst>
          </a:prstGeom>
          <a:solidFill>
            <a:srgbClr val="E8EEFC"/>
          </a:solidFill>
          <a:ln w="19050">
            <a:solidFill>
              <a:srgbClr val="2B4FA8"/>
            </a:solidFill>
          </a:ln>
        </p:spPr>
        <p:txBody>
          <a:bodyPr/>
          <a:lstStyle/>
          <a:p/>
        </p:txBody>
      </p:sp>
      <p:sp>
        <p:nvSpPr>
          <p:cNvPr id="517" name="T518"/>
          <p:cNvSpPr txBox="1"/>
          <p:nvPr/>
        </p:nvSpPr>
        <p:spPr>
          <a:xfrm>
            <a:off x="12554712" y="6729984"/>
            <a:ext cx="4562856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2B4FA8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Bearer 인증</a:t>
            </a:r>
          </a:p>
        </p:txBody>
      </p:sp>
      <p:sp>
        <p:nvSpPr>
          <p:cNvPr id="519" name="T520"/>
          <p:cNvSpPr txBox="1"/>
          <p:nvPr/>
        </p:nvSpPr>
        <p:spPr>
          <a:xfrm>
            <a:off x="12554712" y="7168896"/>
            <a:ext cx="4562856" cy="77724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로그인 응답의 accessToken을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이후 요청에 사용한다. 초대 정보 조회,</a:t>
            </a:r>
          </a:p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lang="ko-KR" sz="14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계정 활성화와 로그인은 인증 없이 호출한다.</a:t>
            </a:r>
          </a:p>
        </p:txBody>
      </p:sp>
      <p:sp>
        <p:nvSpPr>
          <p:cNvPr id="521" name="S522"/>
          <p:cNvSpPr/>
          <p:nvPr/>
        </p:nvSpPr>
        <p:spPr>
          <a:xfrm>
            <a:off x="914400" y="8686800"/>
            <a:ext cx="16459200" cy="868680"/>
          </a:xfrm>
          <a:prstGeom prst="roundRect">
            <a:avLst>
              <a:gd name="adj" fmla="val 4000"/>
            </a:avLst>
          </a:prstGeom>
          <a:solidFill>
            <a:srgbClr val="F3F0EA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23" name="T524"/>
          <p:cNvSpPr txBox="1"/>
          <p:nvPr/>
        </p:nvSpPr>
        <p:spPr>
          <a:xfrm>
            <a:off x="1371600" y="8686800"/>
            <a:ext cx="15544800" cy="86868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lang="ko-KR" sz="1600" dirty="0">
                <a:solidFill>
                  <a:srgbClr val="1A1A1A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미해결 차단 오류가 있으면 422와 blockingIssues 배열을 반환해 화면에서 해결 항목을 바로 표시할 수 있게 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3150" y="369408"/>
            <a:ext cx="860736" cy="86073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1B61B"/>
            </a:solidFill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45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91635" y="405441"/>
            <a:ext cx="743765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ctr">
              <a:lnSpc>
                <a:spcPts val="5053"/>
              </a:lnSpc>
            </a:pPr>
            <a:r>
              <a:rPr lang="en-US" sz="3887" b="1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6120" y="405441"/>
            <a:ext cx="9144000" cy="712470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마무리</a:t>
            </a:r>
          </a:p>
        </p:txBody>
      </p:sp>
      <p:sp>
        <p:nvSpPr>
          <p:cNvPr id="7" name="Freeform 7"/>
          <p:cNvSpPr/>
          <p:nvPr/>
        </p:nvSpPr>
        <p:spPr>
          <a:xfrm>
            <a:off x="16110973" y="0"/>
            <a:ext cx="2159288" cy="1079644"/>
          </a:xfrm>
          <a:custGeom>
            <a:avLst/>
            <a:gdLst/>
            <a:ahLst/>
            <a:cxnLst/>
            <a:rect l="l" t="t" r="r" b="b"/>
            <a:pathLst>
              <a:path w="2159288" h="1079644">
                <a:moveTo>
                  <a:pt x="0" y="0"/>
                </a:moveTo>
                <a:lnTo>
                  <a:pt x="2159288" y="0"/>
                </a:lnTo>
                <a:lnTo>
                  <a:pt x="2159288" y="1079644"/>
                </a:lnTo>
                <a:lnTo>
                  <a:pt x="0" y="107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ore-KR" altLang="en-US"/>
          </a:p>
        </p:txBody>
      </p:sp>
      <p:sp>
        <p:nvSpPr>
          <p:cNvPr id="525" name="S526"/>
          <p:cNvSpPr/>
          <p:nvPr/>
        </p:nvSpPr>
        <p:spPr>
          <a:xfrm>
            <a:off x="914400" y="1929384"/>
            <a:ext cx="100584" cy="31089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527" name="T528"/>
          <p:cNvSpPr txBox="1"/>
          <p:nvPr/>
        </p:nvSpPr>
        <p:spPr>
          <a:xfrm>
            <a:off x="1170432" y="1874520"/>
            <a:ext cx="10972800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고민한 점</a:t>
            </a:r>
          </a:p>
        </p:txBody>
      </p:sp>
      <p:sp>
        <p:nvSpPr>
          <p:cNvPr id="529" name="S530"/>
          <p:cNvSpPr/>
          <p:nvPr/>
        </p:nvSpPr>
        <p:spPr>
          <a:xfrm>
            <a:off x="914400" y="2441448"/>
            <a:ext cx="16459200" cy="1170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31" name="S532"/>
          <p:cNvSpPr/>
          <p:nvPr/>
        </p:nvSpPr>
        <p:spPr>
          <a:xfrm>
            <a:off x="914400" y="2441448"/>
            <a:ext cx="118872" cy="1170432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533" name="T534"/>
          <p:cNvSpPr txBox="1"/>
          <p:nvPr/>
        </p:nvSpPr>
        <p:spPr>
          <a:xfrm>
            <a:off x="1325880" y="2569464"/>
            <a:ext cx="1563624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결과 확인 버튼의 활성화 조건</a:t>
            </a:r>
          </a:p>
        </p:txBody>
      </p:sp>
      <p:sp>
        <p:nvSpPr>
          <p:cNvPr id="535" name="T536"/>
          <p:cNvSpPr txBox="1"/>
          <p:nvPr/>
        </p:nvSpPr>
        <p:spPr>
          <a:xfrm>
            <a:off x="1325880" y="2990088"/>
            <a:ext cx="15636240" cy="56692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처음에는 모든 문서가 COMPLETED 일 때만 열리게 했다. 그러면 미제출 문서가 있는 사용자는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MISSING_DOCUMENT 를 영원히 볼 수 없다. 분석 중인 문서가 없으면 열리도록 바꿨다.</a:t>
            </a:r>
          </a:p>
        </p:txBody>
      </p:sp>
      <p:sp>
        <p:nvSpPr>
          <p:cNvPr id="537" name="S538"/>
          <p:cNvSpPr/>
          <p:nvPr/>
        </p:nvSpPr>
        <p:spPr>
          <a:xfrm>
            <a:off x="914400" y="3794760"/>
            <a:ext cx="16459200" cy="1170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39" name="S540"/>
          <p:cNvSpPr/>
          <p:nvPr/>
        </p:nvSpPr>
        <p:spPr>
          <a:xfrm>
            <a:off x="914400" y="3794760"/>
            <a:ext cx="118872" cy="1170432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541" name="T542"/>
          <p:cNvSpPr txBox="1"/>
          <p:nvPr/>
        </p:nvSpPr>
        <p:spPr>
          <a:xfrm>
            <a:off x="1325880" y="3922776"/>
            <a:ext cx="1563624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은행 목록에 무엇을 보여줄 것인가</a:t>
            </a:r>
          </a:p>
        </p:txBody>
      </p:sp>
      <p:sp>
        <p:nvSpPr>
          <p:cNvPr id="543" name="T544"/>
          <p:cNvSpPr txBox="1"/>
          <p:nvPr/>
        </p:nvSpPr>
        <p:spPr>
          <a:xfrm>
            <a:off x="1325880" y="4343400"/>
            <a:ext cx="15636240" cy="56692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오류 건수를 넣으려 했으나 차단 오류가 남으면 최종 제출 자체가 불가능해 항상 0이 된다.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실제로 의미가 있는 보완 요청 횟수로 교체했다.</a:t>
            </a:r>
          </a:p>
        </p:txBody>
      </p:sp>
      <p:sp>
        <p:nvSpPr>
          <p:cNvPr id="545" name="S546"/>
          <p:cNvSpPr/>
          <p:nvPr/>
        </p:nvSpPr>
        <p:spPr>
          <a:xfrm>
            <a:off x="914400" y="5148072"/>
            <a:ext cx="16459200" cy="11704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5E0D6"/>
            </a:solidFill>
          </a:ln>
        </p:spPr>
        <p:txBody>
          <a:bodyPr/>
          <a:lstStyle/>
          <a:p/>
        </p:txBody>
      </p:sp>
      <p:sp>
        <p:nvSpPr>
          <p:cNvPr id="547" name="S548"/>
          <p:cNvSpPr/>
          <p:nvPr/>
        </p:nvSpPr>
        <p:spPr>
          <a:xfrm>
            <a:off x="914400" y="5148072"/>
            <a:ext cx="118872" cy="1170432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549" name="T550"/>
          <p:cNvSpPr txBox="1"/>
          <p:nvPr/>
        </p:nvSpPr>
        <p:spPr>
          <a:xfrm>
            <a:off x="1325880" y="5276088"/>
            <a:ext cx="15636240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재제출을 어떻게 저장할 것인가</a:t>
            </a:r>
          </a:p>
        </p:txBody>
      </p:sp>
      <p:sp>
        <p:nvSpPr>
          <p:cNvPr id="551" name="T552"/>
          <p:cNvSpPr txBox="1"/>
          <p:nvPr/>
        </p:nvSpPr>
        <p:spPr>
          <a:xfrm>
            <a:off x="1325880" y="5696712"/>
            <a:ext cx="15636240" cy="56692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같은 문서 유형을 다시 올려도 덮어쓰지 않고 version_no 를 올려 이전본과 최신본을 함께 남긴다.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5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은행 담당자가 무엇이 바뀌었는지 확인할 수 있어야 하기 때문이다.</a:t>
            </a:r>
          </a:p>
        </p:txBody>
      </p:sp>
      <p:sp>
        <p:nvSpPr>
          <p:cNvPr id="553" name="S554"/>
          <p:cNvSpPr/>
          <p:nvPr/>
        </p:nvSpPr>
        <p:spPr>
          <a:xfrm>
            <a:off x="914400" y="6665976"/>
            <a:ext cx="100584" cy="310896"/>
          </a:xfrm>
          <a:prstGeom prst="rect">
            <a:avLst/>
          </a:prstGeom>
          <a:solidFill>
            <a:srgbClr val="EA002C"/>
          </a:solidFill>
        </p:spPr>
        <p:txBody>
          <a:bodyPr/>
          <a:lstStyle/>
          <a:p/>
        </p:txBody>
      </p:sp>
      <p:sp>
        <p:nvSpPr>
          <p:cNvPr id="555" name="T556"/>
          <p:cNvSpPr txBox="1"/>
          <p:nvPr/>
        </p:nvSpPr>
        <p:spPr>
          <a:xfrm>
            <a:off x="1170432" y="6611112"/>
            <a:ext cx="10972800" cy="402336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22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다음 개발 시 주의</a:t>
            </a:r>
          </a:p>
        </p:txBody>
      </p:sp>
      <p:sp>
        <p:nvSpPr>
          <p:cNvPr id="557" name="S558"/>
          <p:cNvSpPr/>
          <p:nvPr/>
        </p:nvSpPr>
        <p:spPr>
          <a:xfrm>
            <a:off x="914400" y="7159752"/>
            <a:ext cx="5242560" cy="1417320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/>
        </p:txBody>
      </p:sp>
      <p:sp>
        <p:nvSpPr>
          <p:cNvPr id="559" name="T560"/>
          <p:cNvSpPr txBox="1"/>
          <p:nvPr/>
        </p:nvSpPr>
        <p:spPr>
          <a:xfrm>
            <a:off x="1243584" y="7287768"/>
            <a:ext cx="4584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8A5A4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OCR 추출값 정정</a:t>
            </a:r>
          </a:p>
        </p:txBody>
      </p:sp>
      <p:sp>
        <p:nvSpPr>
          <p:cNvPr id="561" name="T562"/>
          <p:cNvSpPr txBox="1"/>
          <p:nvPr/>
        </p:nvSpPr>
        <p:spPr>
          <a:xfrm>
            <a:off x="1243584" y="7708392"/>
            <a:ext cx="4584192" cy="7315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4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지금은 읽기 전용이다. 정정 기능을 열면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4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누가 언제 무엇을 고쳤는지 이력이 함께 필요하다</a:t>
            </a:r>
          </a:p>
        </p:txBody>
      </p:sp>
      <p:sp>
        <p:nvSpPr>
          <p:cNvPr id="563" name="S564"/>
          <p:cNvSpPr/>
          <p:nvPr/>
        </p:nvSpPr>
        <p:spPr>
          <a:xfrm>
            <a:off x="6522720" y="7159752"/>
            <a:ext cx="5242560" cy="1417320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/>
        </p:txBody>
      </p:sp>
      <p:sp>
        <p:nvSpPr>
          <p:cNvPr id="565" name="T566"/>
          <p:cNvSpPr txBox="1"/>
          <p:nvPr/>
        </p:nvSpPr>
        <p:spPr>
          <a:xfrm>
            <a:off x="6851904" y="7287768"/>
            <a:ext cx="4584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8A5A4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검증 규칙의 외부화</a:t>
            </a:r>
          </a:p>
        </p:txBody>
      </p:sp>
      <p:sp>
        <p:nvSpPr>
          <p:cNvPr id="567" name="T568"/>
          <p:cNvSpPr txBox="1"/>
          <p:nvPr/>
        </p:nvSpPr>
        <p:spPr>
          <a:xfrm>
            <a:off x="6851904" y="7708392"/>
            <a:ext cx="4584192" cy="7315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4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필수서류와 규칙이 코드에 고정돼 있다.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4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상품·기업 유형별로 설정할 화면이 있어야 한다</a:t>
            </a:r>
          </a:p>
        </p:txBody>
      </p:sp>
      <p:sp>
        <p:nvSpPr>
          <p:cNvPr id="569" name="S570"/>
          <p:cNvSpPr/>
          <p:nvPr/>
        </p:nvSpPr>
        <p:spPr>
          <a:xfrm>
            <a:off x="12131040" y="7159752"/>
            <a:ext cx="5242560" cy="1417320"/>
          </a:xfrm>
          <a:prstGeom prst="roundRect">
            <a:avLst>
              <a:gd name="adj" fmla="val 4000"/>
            </a:avLst>
          </a:prstGeom>
          <a:solidFill>
            <a:srgbClr val="FFF4EE"/>
          </a:solidFill>
          <a:ln w="15875">
            <a:solidFill>
              <a:srgbClr val="F6D6C4"/>
            </a:solidFill>
          </a:ln>
        </p:spPr>
        <p:txBody>
          <a:bodyPr/>
          <a:lstStyle/>
          <a:p/>
        </p:txBody>
      </p:sp>
      <p:sp>
        <p:nvSpPr>
          <p:cNvPr id="571" name="T572"/>
          <p:cNvSpPr txBox="1"/>
          <p:nvPr/>
        </p:nvSpPr>
        <p:spPr>
          <a:xfrm>
            <a:off x="12460224" y="7287768"/>
            <a:ext cx="4584192" cy="384048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lang="ko-KR" sz="1800" dirty="0">
                <a:solidFill>
                  <a:srgbClr val="8A5A4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문서 보호 정책</a:t>
            </a:r>
          </a:p>
        </p:txBody>
      </p:sp>
      <p:sp>
        <p:nvSpPr>
          <p:cNvPr id="573" name="T574"/>
          <p:cNvSpPr txBox="1"/>
          <p:nvPr/>
        </p:nvSpPr>
        <p:spPr>
          <a:xfrm>
            <a:off x="12460224" y="7708392"/>
            <a:ext cx="4584192" cy="731520"/>
          </a:xfrm>
          <a:prstGeom prst="rect">
            <a:avLst/>
          </a:prstGeom>
        </p:spPr>
        <p:txBody>
          <a:bodyPr lIns="0" tIns="0" rIns="0" bIns="0" wrap="square" anchor="t"/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4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원본에 사업자등록번호 등 민감정보가 있다.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lang="ko-KR" sz="1400" dirty="0">
                <a:solidFill>
                  <a:srgbClr val="6E6A63"/>
                </a:solidFill>
                <a:latin typeface="Pretendard Medium"/>
                <a:ea typeface="Pretendard Medium"/>
                <a:cs typeface="Pretendard Medium"/>
                <a:sym typeface="Pretendard Medium"/>
              </a:rPr>
              <a:t>암호화·마스킹·접근 로그·보관기간을 정해야 한다</a:t>
            </a:r>
          </a:p>
        </p:txBody>
      </p:sp>
      <p:sp>
        <p:nvSpPr>
          <p:cNvPr id="575" name="T576"/>
          <p:cNvSpPr txBox="1"/>
          <p:nvPr/>
        </p:nvSpPr>
        <p:spPr>
          <a:xfrm>
            <a:off x="914400" y="8732520"/>
            <a:ext cx="16459200" cy="822960"/>
          </a:xfrm>
          <a:prstGeom prst="rect">
            <a:avLst/>
          </a:prstGeom>
        </p:spPr>
        <p:txBody>
          <a:bodyPr lIns="0" tIns="0" rIns="0" bIns="0" wrap="square" anchor="ctr"/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sz="1900" dirty="0">
                <a:solidFill>
                  <a:srgbClr val="1A1A1A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서류 확인 완료는 대출 승인이 아니다. DocuFit 은 접수 전 문서 검수만 책임진다.</a:t>
            </a: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ko-KR" sz="1900" dirty="0">
                <a:solidFill>
                  <a:srgbClr val="EA002C"/>
                </a:solidFill>
                <a:latin typeface="Pretendard SemiBold"/>
                <a:ea typeface="Pretendard SemiBold"/>
                <a:cs typeface="Pretendard SemiBold"/>
                <a:sym typeface="Pretendard SemiBold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2422</Words>
  <Application>Microsoft Macintosh PowerPoint</Application>
  <DocSecurity>0</DocSecurity>
  <PresentationFormat>사용자 지정</PresentationFormat>
  <Paragraphs>308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Pretendard SemiBold</vt:lpstr>
      <vt:lpstr>Arial</vt:lpstr>
      <vt:lpstr>Pretendard Medium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홍은비</cp:lastModifiedBy>
  <cp:revision>5</cp:revision>
  <dcterms:created xsi:type="dcterms:W3CDTF">2026-09-09T02:42:12Z</dcterms:created>
  <dcterms:modified xsi:type="dcterms:W3CDTF">2026-09-09T04:37:18Z</dcterms:modified>
</cp:coreProperties>
</file>