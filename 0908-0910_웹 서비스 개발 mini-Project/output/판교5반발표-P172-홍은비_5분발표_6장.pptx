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96dd0a09cb45dd" /><Relationship Type="http://schemas.openxmlformats.org/officeDocument/2006/relationships/extended-properties" Target="/docProps/app.xml" Id="R61a83555c62d4f25" /><Relationship Type="http://schemas.openxmlformats.org/officeDocument/2006/relationships/officeDocument" Target="/ppt/presentation.xml" Id="R54f9a8cbaddb4103" /></Relationships>
</file>

<file path=ppt/presentation.xml><?xml version="1.0" encoding="utf-8"?>
<p:presentation xmlns:p="http://schemas.openxmlformats.org/presentationml/2006/main">
  <p:sldMasterIdLst>
    <p:sldMasterId xmlns:r="http://schemas.openxmlformats.org/officeDocument/2006/relationships" id="2147483648" r:id="Ra0ac60affae44773"/>
  </p:sldMasterIdLst>
  <p:notesMasterIdLst>
    <p:notesMasterId xmlns:r="http://schemas.openxmlformats.org/officeDocument/2006/relationships" r:id="R36c8e80814a64cc6"/>
  </p:notesMasterIdLst>
  <p:sldIdLst>
    <p:sldId xmlns:r="http://schemas.openxmlformats.org/officeDocument/2006/relationships" id="256" r:id="R92b6d7f8c4aa4efc"/>
    <p:sldId xmlns:r="http://schemas.openxmlformats.org/officeDocument/2006/relationships" id="257" r:id="Rdb4743310f4747ce"/>
    <p:sldId xmlns:r="http://schemas.openxmlformats.org/officeDocument/2006/relationships" id="258" r:id="R1318643198634ee6"/>
    <p:sldId xmlns:r="http://schemas.openxmlformats.org/officeDocument/2006/relationships" id="259" r:id="Re5c2338e00304287"/>
    <p:sldId xmlns:r="http://schemas.openxmlformats.org/officeDocument/2006/relationships" id="260" r:id="Rcd83c3f5b41f4121"/>
    <p:sldId xmlns:r="http://schemas.openxmlformats.org/officeDocument/2006/relationships" id="261" r:id="R09a0396d7576473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349db7e4f447ad" /><Relationship Type="http://schemas.openxmlformats.org/officeDocument/2006/relationships/slideMaster" Target="/ppt/slideMasters/slideMaster1.xml" Id="Ra0ac60affae44773" /><Relationship Type="http://schemas.openxmlformats.org/officeDocument/2006/relationships/notesMaster" Target="/ppt/notesMasters/notesMaster1.xml" Id="R36c8e80814a64cc6" /><Relationship Type="http://schemas.openxmlformats.org/officeDocument/2006/relationships/presProps" Target="/ppt/presProps.xml" Id="R6e0bfe4c7a0e45e9" /><Relationship Type="http://schemas.openxmlformats.org/officeDocument/2006/relationships/tableStyles" Target="/ppt/tableStyles.xml" Id="Rcc3164457bd44e30" /><Relationship Type="http://schemas.openxmlformats.org/officeDocument/2006/relationships/slide" Target="/ppt/slides/slide1.xml" Id="R92b6d7f8c4aa4efc" /><Relationship Type="http://schemas.openxmlformats.org/officeDocument/2006/relationships/slide" Target="/ppt/slides/slide2.xml" Id="Rdb4743310f4747ce" /><Relationship Type="http://schemas.openxmlformats.org/officeDocument/2006/relationships/slide" Target="/ppt/slides/slide3.xml" Id="R1318643198634ee6" /><Relationship Type="http://schemas.openxmlformats.org/officeDocument/2006/relationships/slide" Target="/ppt/slides/slide4.xml" Id="Re5c2338e00304287" /><Relationship Type="http://schemas.openxmlformats.org/officeDocument/2006/relationships/slide" Target="/ppt/slides/slide5.xml" Id="Rcd83c3f5b41f4121" /><Relationship Type="http://schemas.openxmlformats.org/officeDocument/2006/relationships/slide" Target="/ppt/slides/slide6.xml" Id="R09a0396d757647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e04af85d484e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cfd2db530b4aa1" /><Relationship Type="http://schemas.openxmlformats.org/officeDocument/2006/relationships/notesMaster" Target="/ppt/notesMasters/notesMaster1.xml" Id="R240a0f30e19644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bf447042ab41ad" /><Relationship Type="http://schemas.openxmlformats.org/officeDocument/2006/relationships/notesMaster" Target="/ppt/notesMasters/notesMaster1.xml" Id="Re29fcaecaa2649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b8e2efc30e42de" /><Relationship Type="http://schemas.openxmlformats.org/officeDocument/2006/relationships/notesMaster" Target="/ppt/notesMasters/notesMaster1.xml" Id="Raafbd9df8dfa42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50cbf8e44a498f" /><Relationship Type="http://schemas.openxmlformats.org/officeDocument/2006/relationships/notesMaster" Target="/ppt/notesMasters/notesMaster1.xml" Id="Re0e8d8431ae142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a0c4f6663c4d77" /><Relationship Type="http://schemas.openxmlformats.org/officeDocument/2006/relationships/notesMaster" Target="/ppt/notesMasters/notesMaster1.xml" Id="Rd8d5ccfabddb45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19d18dfe674efe" /><Relationship Type="http://schemas.openxmlformats.org/officeDocument/2006/relationships/notesMaster" Target="/ppt/notesMasters/notesMaster1.xml" Id="Rdae733a515d840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DocuFit은 기업대출 서류를 은행에 접수하기 전에 누락과 값의 불일치를 확인하는 B2B 서비스입니다. 기업 고객 담당자는 오류를 먼저 보완하고, 은행 담당자는 최신 원본과 재제출 이력을 확인합니다. 대출 승인과 신용평가는 서비스 범위에서 제외했습니다.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요구사항은 계정 활성화, 문서 업로드, 사전검증과 제출, 은행 검토로 정리했습니다. 비기능 요구사항에서는 사용자의 역할과 소속을 서버에서 검증하고 비밀번호와 초대 토큰을 해시로 저장하도록 정의했습니다.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기업 담당자는 SCR-COMP-001에서 필수서류를 올리고 문서별 버전과 OCR 상태를 확인합니다. SCR-COMP-002에서는 오류의 대상과 해결 방법을 확인한 뒤 차단 오류가 없을 때 최종 제출합니다. 은행 담당자는 SCR-REV-002에서 최신 원본과 이력을 검토하고 확인 완료 또는 보완 요청을 처리합니다.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데이터 모델은 8개 테이블로 구성하고 모든 테이블에 기본키를 정의했습니다. 외래키는 기업, 신청 건, 제출 문서와 사용자 이력을 연결하며, 문서 유형별 version_no를 증가시켜 이전본을 덮어쓰지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사전검증 화면은 GET validation을 호출해 제출 가능 여부와 해결할 오류 목록을 받습니다. 최종 제출은 POST submit으로 처리하며 차단 오류가 남으면 422와 blockingIssues 배열을 반환합니다. 은행의 확인 완료와 보완 요청은 POST decision으로 저장합니다.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과정에서는 대출 판단까지 확장하지 않고 접수 전 서류 검수에 범위를 고정했습니다. 실제 개발 전에는 기업 재무 담당자와 은행 담당자 인터뷰로 문제 가설을 검증해야 합니다. 이후에는 OCR 실패 복구, 은행 인증 연동과 개인정보 보호를 우선 확인하겠습니다.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e285ab5b864a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bf7ea518f14775" /><Relationship Type="http://schemas.openxmlformats.org/officeDocument/2006/relationships/slideLayout" Target="/ppt/slideLayouts/slideLayout1.xml" Id="R3fda48adb9e947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da48adb9e947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7ba3744db14aa1" /><Relationship Type="http://schemas.openxmlformats.org/officeDocument/2006/relationships/image" Target="/ppt/media/image.png" Id="R15aaee2bbc9142c4" /><Relationship Type="http://schemas.openxmlformats.org/officeDocument/2006/relationships/notesSlide" Target="/ppt/notesSlides/notesSlide1.xml" Id="R07fa76c727bc40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c9a12c04b646b3" /><Relationship Type="http://schemas.openxmlformats.org/officeDocument/2006/relationships/image" Target="/ppt/media/image2.png" Id="R1f7b5d27970d457d" /><Relationship Type="http://schemas.openxmlformats.org/officeDocument/2006/relationships/notesSlide" Target="/ppt/notesSlides/notesSlide2.xml" Id="Reb1b153d732341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b2ae1d69564a31" /><Relationship Type="http://schemas.openxmlformats.org/officeDocument/2006/relationships/image" Target="/ppt/media/image3.png" Id="Rc8b955c870354a7b" /><Relationship Type="http://schemas.openxmlformats.org/officeDocument/2006/relationships/image" Target="/ppt/media/image4.png" Id="R668722f06ad9466e" /><Relationship Type="http://schemas.openxmlformats.org/officeDocument/2006/relationships/image" Target="/ppt/media/image5.png" Id="R856331e6a8404675" /><Relationship Type="http://schemas.openxmlformats.org/officeDocument/2006/relationships/image" Target="/ppt/media/image6.png" Id="Rfed5800e8d954527" /><Relationship Type="http://schemas.openxmlformats.org/officeDocument/2006/relationships/notesSlide" Target="/ppt/notesSlides/notesSlide3.xml" Id="R1ab0efb7d84e41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99f52f7c0e34ac9" /><Relationship Type="http://schemas.openxmlformats.org/officeDocument/2006/relationships/image" Target="/ppt/media/image7.png" Id="R12c0484835604c67" /><Relationship Type="http://schemas.openxmlformats.org/officeDocument/2006/relationships/image" Target="/ppt/media/image8.png" Id="R0d7c0e0c1a894fbd" /><Relationship Type="http://schemas.openxmlformats.org/officeDocument/2006/relationships/notesSlide" Target="/ppt/notesSlides/notesSlide4.xml" Id="Rb43b39f44e3f40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c37f6695584870" /><Relationship Type="http://schemas.openxmlformats.org/officeDocument/2006/relationships/image" Target="/ppt/media/image9.png" Id="R886ca58e6f0d49be" /><Relationship Type="http://schemas.openxmlformats.org/officeDocument/2006/relationships/notesSlide" Target="/ppt/notesSlides/notesSlide5.xml" Id="Ra138fca158b54b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0f9b0c35574a66" /><Relationship Type="http://schemas.openxmlformats.org/officeDocument/2006/relationships/image" Target="/ppt/media/image10.png" Id="R779bf8400882464b" /><Relationship Type="http://schemas.openxmlformats.org/officeDocument/2006/relationships/notesSlide" Target="/ppt/notesSlides/notesSlide6.xml" Id="Rf1f36a6b182d489a" /></Relationships>
</file>

<file path=ppt/slides/slide1.xml><?xml version="1.0" encoding="utf-8"?>
<p:sld xmlns:p="http://schemas.openxmlformats.org/presentationml/2006/main">
  <p:cSld>
    <p:bg>
      <p:bgPr>
        <a:solidFill xmlns:a="http://schemas.openxmlformats.org/drawingml/2006/main">
          <a:srgbClr val="FBF9F6"/>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4E7AC84-CC0A-4153-A2DC-D29340FE40E3}"/>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ellipse">
            <a:avLst/>
          </a:prstGeom>
          <a:solidFill xmlns:a="http://schemas.openxmlformats.org/drawingml/2006/main">
            <a:srgbClr val="F8B81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B176B5-5250-46C2-81D4-61F4E0A51A3C}"/>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91919"/>
                </a:solidFill>
                <a:latin typeface="Pretendard"/>
                <a:ea typeface="Pretendard"/>
                <a:cs typeface="Pretendard"/>
              </a:defRPr>
            </a:pPr>
            <a:r>
              <a:rPr sz="2550" b="1">
                <a:solidFill>
                  <a:srgbClr val="191919"/>
                </a:solidFill>
                <a:latin typeface="Pretendard"/>
                <a:ea typeface="Pretendard"/>
                <a:cs typeface="Pretendard"/>
              </a:rPr>
              <a:t>01</a:t>
            </a:r>
          </a:p>
        </p:txBody>
      </p:sp>
      <p:sp>
        <p:nvSpPr>
          <p:cNvPr id="3" name="">
            <a:extLst xmlns:a="http://schemas.openxmlformats.org/drawingml/2006/main">
              <a:ext uri="{FF2B5EF4-FFF2-40B4-BE49-F238E27FC236}">
                <a16:creationId xmlns:a16="http://schemas.microsoft.com/office/drawing/2014/main" id="{AD14DFC3-BBC0-494F-9F50-5E453675D1A3}"/>
              </a:ext>
            </a:extLst>
          </p:cNvPr>
          <p:cNvSpPr>
            <a:spLocks xmlns:a="http://schemas.openxmlformats.org/drawingml/2006/main" noGrp="1"/>
          </p:cNvSpPr>
          <p:nvPr/>
        </p:nvSpPr>
        <p:spPr>
          <a:xfrm xmlns:a="http://schemas.openxmlformats.org/drawingml/2006/main">
            <a:off x="1219200" y="247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600" b="1">
                <a:solidFill>
                  <a:srgbClr val="191919"/>
                </a:solidFill>
                <a:latin typeface="Pretendard"/>
                <a:ea typeface="Pretendard"/>
                <a:cs typeface="Pretendard"/>
              </a:defRPr>
            </a:pPr>
            <a:r>
              <a:rPr sz="3600" b="1">
                <a:solidFill>
                  <a:srgbClr val="191919"/>
                </a:solidFill>
                <a:latin typeface="Pretendard"/>
                <a:ea typeface="Pretendard"/>
                <a:cs typeface="Pretendard"/>
              </a:rPr>
              <a:t>서비스 개요</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15aaee2bbc9142c4"/>
          <a:stretch xmlns:a="http://schemas.openxmlformats.org/drawingml/2006/main"/>
        </p:blipFill>
        <p:spPr>
          <a:xfrm xmlns:a="http://schemas.openxmlformats.org/drawingml/2006/main">
            <a:off x="13639800" y="185210"/>
            <a:ext cx="1123950" cy="5630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1E57AA2-8521-4528-8E75-18C73DE87FB2}"/>
              </a:ext>
            </a:extLst>
          </p:cNvPr>
          <p:cNvSpPr>
            <a:spLocks xmlns:a="http://schemas.openxmlformats.org/drawingml/2006/main" noGrp="1"/>
          </p:cNvSpPr>
          <p:nvPr/>
        </p:nvSpPr>
        <p:spPr>
          <a:xfrm xmlns:a="http://schemas.openxmlformats.org/drawingml/2006/main">
            <a:off x="762000" y="1285875"/>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F40036"/>
                </a:solidFill>
                <a:latin typeface="Pretendard"/>
                <a:ea typeface="Pretendard"/>
                <a:cs typeface="Pretendard"/>
              </a:defRPr>
            </a:pPr>
            <a:r>
              <a:rPr sz="1875" b="1">
                <a:solidFill>
                  <a:srgbClr val="F40036"/>
                </a:solidFill>
                <a:latin typeface="Pretendard"/>
                <a:ea typeface="Pretendard"/>
                <a:cs typeface="Pretendard"/>
              </a:rPr>
              <a:t>DocuFit</a:t>
            </a:r>
          </a:p>
        </p:txBody>
      </p:sp>
      <p:sp>
        <p:nvSpPr>
          <p:cNvPr id="6" name="">
            <a:extLst xmlns:a="http://schemas.openxmlformats.org/drawingml/2006/main">
              <a:ext uri="{FF2B5EF4-FFF2-40B4-BE49-F238E27FC236}">
                <a16:creationId xmlns:a16="http://schemas.microsoft.com/office/drawing/2014/main" id="{7143F4E9-0189-447B-B955-B56AF28DA476}"/>
              </a:ext>
            </a:extLst>
          </p:cNvPr>
          <p:cNvSpPr>
            <a:spLocks xmlns:a="http://schemas.openxmlformats.org/drawingml/2006/main" noGrp="1"/>
          </p:cNvSpPr>
          <p:nvPr/>
        </p:nvSpPr>
        <p:spPr>
          <a:xfrm xmlns:a="http://schemas.openxmlformats.org/drawingml/2006/main">
            <a:off x="762000" y="1695450"/>
            <a:ext cx="13525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3150" b="1">
                <a:solidFill>
                  <a:srgbClr val="191919"/>
                </a:solidFill>
                <a:latin typeface="Pretendard"/>
                <a:ea typeface="Pretendard"/>
                <a:cs typeface="Pretendard"/>
              </a:defRPr>
            </a:pPr>
            <a:r>
              <a:rPr sz="3150" b="1">
                <a:solidFill>
                  <a:srgbClr val="191919"/>
                </a:solidFill>
                <a:latin typeface="Pretendard"/>
                <a:ea typeface="Pretendard"/>
                <a:cs typeface="Pretendard"/>
              </a:rPr>
              <a:t>기업대출 서류를 접수하기 전에</a:t>
            </a:r>
          </a:p>
          <a:p xmlns:a="http://schemas.openxmlformats.org/drawingml/2006/main">
            <a:pPr algn="l">
              <a:lnSpc>
                <a:spcPct val="108000"/>
              </a:lnSpc>
              <a:buNone/>
              <a:defRPr sz="3150" b="1">
                <a:solidFill>
                  <a:srgbClr val="191919"/>
                </a:solidFill>
                <a:latin typeface="Pretendard"/>
                <a:ea typeface="Pretendard"/>
                <a:cs typeface="Pretendard"/>
              </a:defRPr>
            </a:pPr>
            <a:r>
              <a:rPr sz="3150" b="1">
                <a:solidFill>
                  <a:srgbClr val="191919"/>
                </a:solidFill>
                <a:latin typeface="Pretendard"/>
                <a:ea typeface="Pretendard"/>
                <a:cs typeface="Pretendard"/>
              </a:rPr>
              <a:t>누락·유효기간·기업정보 불일치를 확인하는 B2B 웹 서비스</a:t>
            </a:r>
          </a:p>
        </p:txBody>
      </p:sp>
      <p:sp>
        <p:nvSpPr>
          <p:cNvPr id="7" name="">
            <a:extLst xmlns:a="http://schemas.openxmlformats.org/drawingml/2006/main">
              <a:ext uri="{FF2B5EF4-FFF2-40B4-BE49-F238E27FC236}">
                <a16:creationId xmlns:a16="http://schemas.microsoft.com/office/drawing/2014/main" id="{CB4AB43D-41A3-4075-A678-34AC0BCF38F4}"/>
              </a:ext>
            </a:extLst>
          </p:cNvPr>
          <p:cNvSpPr>
            <a:spLocks xmlns:a="http://schemas.openxmlformats.org/drawingml/2006/main" noGrp="1"/>
          </p:cNvSpPr>
          <p:nvPr/>
        </p:nvSpPr>
        <p:spPr>
          <a:xfrm xmlns:a="http://schemas.openxmlformats.org/drawingml/2006/main">
            <a:off x="762000" y="3143250"/>
            <a:ext cx="13716000" cy="28575"/>
          </a:xfrm>
          <a:prstGeom xmlns:a="http://schemas.openxmlformats.org/drawingml/2006/main" prst="rect">
            <a:avLst/>
          </a:prstGeom>
          <a:solidFill xmlns:a="http://schemas.openxmlformats.org/drawingml/2006/main">
            <a:srgbClr val="F400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252C568-6D3A-4549-8871-34BD58A97AF0}"/>
              </a:ext>
            </a:extLst>
          </p:cNvPr>
          <p:cNvSpPr>
            <a:spLocks xmlns:a="http://schemas.openxmlformats.org/drawingml/2006/main" noGrp="1"/>
          </p:cNvSpPr>
          <p:nvPr/>
        </p:nvSpPr>
        <p:spPr>
          <a:xfrm xmlns:a="http://schemas.openxmlformats.org/drawingml/2006/main">
            <a:off x="762000" y="3619500"/>
            <a:ext cx="6572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E2DCD3"/>
            </a:solidFill>
          </a:ln>
        </p:spPr>
      </p:sp>
      <p:sp>
        <p:nvSpPr>
          <p:cNvPr id="9" name="">
            <a:extLst xmlns:a="http://schemas.openxmlformats.org/drawingml/2006/main">
              <a:ext uri="{FF2B5EF4-FFF2-40B4-BE49-F238E27FC236}">
                <a16:creationId xmlns:a16="http://schemas.microsoft.com/office/drawing/2014/main" id="{878A98E6-4609-446A-A40F-6772BD0515B6}"/>
              </a:ext>
            </a:extLst>
          </p:cNvPr>
          <p:cNvSpPr>
            <a:spLocks xmlns:a="http://schemas.openxmlformats.org/drawingml/2006/main" noGrp="1"/>
          </p:cNvSpPr>
          <p:nvPr/>
        </p:nvSpPr>
        <p:spPr>
          <a:xfrm xmlns:a="http://schemas.openxmlformats.org/drawingml/2006/main">
            <a:off x="1095375" y="4019550"/>
            <a:ext cx="66675" cy="285750"/>
          </a:xfrm>
          <a:prstGeom xmlns:a="http://schemas.openxmlformats.org/drawingml/2006/main" prst="rect">
            <a:avLst/>
          </a:prstGeom>
          <a:solidFill xmlns:a="http://schemas.openxmlformats.org/drawingml/2006/main">
            <a:srgbClr val="F4003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30F0574-56FC-4466-B26D-3B1F3BA0D091}"/>
              </a:ext>
            </a:extLst>
          </p:cNvPr>
          <p:cNvSpPr>
            <a:spLocks xmlns:a="http://schemas.openxmlformats.org/drawingml/2006/main" noGrp="1"/>
          </p:cNvSpPr>
          <p:nvPr/>
        </p:nvSpPr>
        <p:spPr>
          <a:xfrm xmlns:a="http://schemas.openxmlformats.org/drawingml/2006/main">
            <a:off x="1266825" y="398145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F40036"/>
                </a:solidFill>
                <a:latin typeface="Pretendard"/>
                <a:ea typeface="Pretendard"/>
                <a:cs typeface="Pretendard"/>
              </a:defRPr>
            </a:pPr>
            <a:r>
              <a:rPr sz="1800" b="1">
                <a:solidFill>
                  <a:srgbClr val="F40036"/>
                </a:solidFill>
                <a:latin typeface="Pretendard"/>
                <a:ea typeface="Pretendard"/>
                <a:cs typeface="Pretendard"/>
              </a:rPr>
              <a:t>목표</a:t>
            </a:r>
          </a:p>
        </p:txBody>
      </p:sp>
      <p:sp>
        <p:nvSpPr>
          <p:cNvPr id="11" name="">
            <a:extLst xmlns:a="http://schemas.openxmlformats.org/drawingml/2006/main">
              <a:ext uri="{FF2B5EF4-FFF2-40B4-BE49-F238E27FC236}">
                <a16:creationId xmlns:a16="http://schemas.microsoft.com/office/drawing/2014/main" id="{643E48FD-0E01-468C-AEF7-44D0DCBB6CFE}"/>
              </a:ext>
            </a:extLst>
          </p:cNvPr>
          <p:cNvSpPr>
            <a:spLocks xmlns:a="http://schemas.openxmlformats.org/drawingml/2006/main" noGrp="1"/>
          </p:cNvSpPr>
          <p:nvPr/>
        </p:nvSpPr>
        <p:spPr>
          <a:xfrm xmlns:a="http://schemas.openxmlformats.org/drawingml/2006/main">
            <a:off x="1143000" y="46291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기업 고객</a:t>
            </a:r>
          </a:p>
        </p:txBody>
      </p:sp>
      <p:sp>
        <p:nvSpPr>
          <p:cNvPr id="12" name="">
            <a:extLst xmlns:a="http://schemas.openxmlformats.org/drawingml/2006/main">
              <a:ext uri="{FF2B5EF4-FFF2-40B4-BE49-F238E27FC236}">
                <a16:creationId xmlns:a16="http://schemas.microsoft.com/office/drawing/2014/main" id="{E354432C-EF4B-4714-9A4B-0F9A07E41877}"/>
              </a:ext>
            </a:extLst>
          </p:cNvPr>
          <p:cNvSpPr>
            <a:spLocks xmlns:a="http://schemas.openxmlformats.org/drawingml/2006/main" noGrp="1"/>
          </p:cNvSpPr>
          <p:nvPr/>
        </p:nvSpPr>
        <p:spPr>
          <a:xfrm xmlns:a="http://schemas.openxmlformats.org/drawingml/2006/main">
            <a:off x="2714625" y="45720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9156"/>
          </a:bodyPr>
          <a:lstStyle xmlns:a="http://schemas.openxmlformats.org/drawingml/2006/main"/>
          <a:p xmlns:a="http://schemas.openxmlformats.org/drawingml/2006/main">
            <a:pPr algn="l">
              <a:defRPr sz="1800" b="0">
                <a:solidFill>
                  <a:srgbClr val="191919"/>
                </a:solidFill>
                <a:latin typeface="Pretendard"/>
                <a:ea typeface="Pretendard"/>
                <a:cs typeface="Pretendard"/>
              </a:defRPr>
            </a:pPr>
            <a:r>
              <a:rPr sz="1800" b="0">
                <a:solidFill>
                  <a:srgbClr val="191919"/>
                </a:solidFill>
                <a:latin typeface="Pretendard"/>
                <a:ea typeface="Pretendard"/>
                <a:cs typeface="Pretendard"/>
              </a:rPr>
              <a:t>제출 전에 오류를 확인하고 필요한 문서만 보완</a:t>
            </a:r>
          </a:p>
        </p:txBody>
      </p:sp>
      <p:sp>
        <p:nvSpPr>
          <p:cNvPr id="13" name="">
            <a:extLst xmlns:a="http://schemas.openxmlformats.org/drawingml/2006/main">
              <a:ext uri="{FF2B5EF4-FFF2-40B4-BE49-F238E27FC236}">
                <a16:creationId xmlns:a16="http://schemas.microsoft.com/office/drawing/2014/main" id="{76F8B6A1-3C21-4D1C-87DE-040DE0D28CF5}"/>
              </a:ext>
            </a:extLst>
          </p:cNvPr>
          <p:cNvSpPr>
            <a:spLocks xmlns:a="http://schemas.openxmlformats.org/drawingml/2006/main" noGrp="1"/>
          </p:cNvSpPr>
          <p:nvPr/>
        </p:nvSpPr>
        <p:spPr>
          <a:xfrm xmlns:a="http://schemas.openxmlformats.org/drawingml/2006/main">
            <a:off x="1143000" y="5400675"/>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은행 담당자</a:t>
            </a:r>
          </a:p>
        </p:txBody>
      </p:sp>
      <p:sp>
        <p:nvSpPr>
          <p:cNvPr id="14" name="">
            <a:extLst xmlns:a="http://schemas.openxmlformats.org/drawingml/2006/main">
              <a:ext uri="{FF2B5EF4-FFF2-40B4-BE49-F238E27FC236}">
                <a16:creationId xmlns:a16="http://schemas.microsoft.com/office/drawing/2014/main" id="{801E1FC4-C09C-4A3A-B7BE-1F0520560DF0}"/>
              </a:ext>
            </a:extLst>
          </p:cNvPr>
          <p:cNvSpPr>
            <a:spLocks xmlns:a="http://schemas.openxmlformats.org/drawingml/2006/main" noGrp="1"/>
          </p:cNvSpPr>
          <p:nvPr/>
        </p:nvSpPr>
        <p:spPr>
          <a:xfrm xmlns:a="http://schemas.openxmlformats.org/drawingml/2006/main">
            <a:off x="2714625" y="5324475"/>
            <a:ext cx="409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0">
                <a:solidFill>
                  <a:srgbClr val="191919"/>
                </a:solidFill>
                <a:latin typeface="Pretendard"/>
                <a:ea typeface="Pretendard"/>
                <a:cs typeface="Pretendard"/>
              </a:defRPr>
            </a:pPr>
            <a:r>
              <a:rPr sz="1800" b="0">
                <a:solidFill>
                  <a:srgbClr val="191919"/>
                </a:solidFill>
                <a:latin typeface="Pretendard"/>
                <a:ea typeface="Pretendard"/>
                <a:cs typeface="Pretendard"/>
              </a:rPr>
              <a:t>원본·검증 결과·재제출 이력을 한 흐름에서 확인</a:t>
            </a:r>
          </a:p>
        </p:txBody>
      </p:sp>
      <p:sp>
        <p:nvSpPr>
          <p:cNvPr id="15" name="">
            <a:extLst xmlns:a="http://schemas.openxmlformats.org/drawingml/2006/main">
              <a:ext uri="{FF2B5EF4-FFF2-40B4-BE49-F238E27FC236}">
                <a16:creationId xmlns:a16="http://schemas.microsoft.com/office/drawing/2014/main" id="{1600FE15-9F9E-47E9-AE31-376B9E5B6693}"/>
              </a:ext>
            </a:extLst>
          </p:cNvPr>
          <p:cNvSpPr>
            <a:spLocks xmlns:a="http://schemas.openxmlformats.org/drawingml/2006/main" noGrp="1"/>
          </p:cNvSpPr>
          <p:nvPr/>
        </p:nvSpPr>
        <p:spPr>
          <a:xfrm xmlns:a="http://schemas.openxmlformats.org/drawingml/2006/main">
            <a:off x="1123950" y="6181725"/>
            <a:ext cx="5810250" cy="9525"/>
          </a:xfrm>
          <a:prstGeom xmlns:a="http://schemas.openxmlformats.org/drawingml/2006/main" prst="rect">
            <a:avLst/>
          </a:prstGeom>
          <a:solidFill xmlns:a="http://schemas.openxmlformats.org/drawingml/2006/main">
            <a:srgbClr val="E2DC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01954BE-6DAB-4FDB-BC55-A112D90BCE66}"/>
              </a:ext>
            </a:extLst>
          </p:cNvPr>
          <p:cNvSpPr>
            <a:spLocks xmlns:a="http://schemas.openxmlformats.org/drawingml/2006/main" noGrp="1"/>
          </p:cNvSpPr>
          <p:nvPr/>
        </p:nvSpPr>
        <p:spPr>
          <a:xfrm xmlns:a="http://schemas.openxmlformats.org/drawingml/2006/main">
            <a:off x="1143000" y="6286500"/>
            <a:ext cx="576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F6A64"/>
                </a:solidFill>
                <a:latin typeface="Pretendard"/>
                <a:ea typeface="Pretendard"/>
                <a:cs typeface="Pretendard"/>
              </a:defRPr>
            </a:pPr>
            <a:r>
              <a:rPr sz="1350" b="0">
                <a:solidFill>
                  <a:srgbClr val="6F6A64"/>
                </a:solidFill>
                <a:latin typeface="Pretendard"/>
                <a:ea typeface="Pretendard"/>
                <a:cs typeface="Pretendard"/>
              </a:rPr>
              <a:t>서비스 범위는 서류 확인까지이며 대출 승인과 신용평가는 제외</a:t>
            </a:r>
          </a:p>
        </p:txBody>
      </p:sp>
      <p:sp>
        <p:nvSpPr>
          <p:cNvPr id="17" name="">
            <a:extLst xmlns:a="http://schemas.openxmlformats.org/drawingml/2006/main">
              <a:ext uri="{FF2B5EF4-FFF2-40B4-BE49-F238E27FC236}">
                <a16:creationId xmlns:a16="http://schemas.microsoft.com/office/drawing/2014/main" id="{5F9CA15D-EE2A-480B-9262-B6E16208CD02}"/>
              </a:ext>
            </a:extLst>
          </p:cNvPr>
          <p:cNvSpPr>
            <a:spLocks xmlns:a="http://schemas.openxmlformats.org/drawingml/2006/main" noGrp="1"/>
          </p:cNvSpPr>
          <p:nvPr/>
        </p:nvSpPr>
        <p:spPr>
          <a:xfrm xmlns:a="http://schemas.openxmlformats.org/drawingml/2006/main">
            <a:off x="7715250" y="3619500"/>
            <a:ext cx="6762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E2DCD3"/>
            </a:solidFill>
          </a:ln>
        </p:spPr>
      </p:sp>
      <p:sp>
        <p:nvSpPr>
          <p:cNvPr id="18" name="">
            <a:extLst xmlns:a="http://schemas.openxmlformats.org/drawingml/2006/main">
              <a:ext uri="{FF2B5EF4-FFF2-40B4-BE49-F238E27FC236}">
                <a16:creationId xmlns:a16="http://schemas.microsoft.com/office/drawing/2014/main" id="{ECE37AF2-0FB8-4CBE-8AD4-DF1F64948871}"/>
              </a:ext>
            </a:extLst>
          </p:cNvPr>
          <p:cNvSpPr>
            <a:spLocks xmlns:a="http://schemas.openxmlformats.org/drawingml/2006/main" noGrp="1"/>
          </p:cNvSpPr>
          <p:nvPr/>
        </p:nvSpPr>
        <p:spPr>
          <a:xfrm xmlns:a="http://schemas.openxmlformats.org/drawingml/2006/main">
            <a:off x="8048625" y="4019550"/>
            <a:ext cx="66675" cy="285750"/>
          </a:xfrm>
          <a:prstGeom xmlns:a="http://schemas.openxmlformats.org/drawingml/2006/main" prst="rect">
            <a:avLst/>
          </a:prstGeom>
          <a:solidFill xmlns:a="http://schemas.openxmlformats.org/drawingml/2006/main">
            <a:srgbClr val="FF782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48E7875-429D-4DF7-BA08-56C96430840D}"/>
              </a:ext>
            </a:extLst>
          </p:cNvPr>
          <p:cNvSpPr>
            <a:spLocks xmlns:a="http://schemas.openxmlformats.org/drawingml/2006/main" noGrp="1"/>
          </p:cNvSpPr>
          <p:nvPr/>
        </p:nvSpPr>
        <p:spPr>
          <a:xfrm xmlns:a="http://schemas.openxmlformats.org/drawingml/2006/main">
            <a:off x="8220075" y="398145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FF7823"/>
                </a:solidFill>
                <a:latin typeface="Pretendard"/>
                <a:ea typeface="Pretendard"/>
                <a:cs typeface="Pretendard"/>
              </a:defRPr>
            </a:pPr>
            <a:r>
              <a:rPr sz="1800" b="1">
                <a:solidFill>
                  <a:srgbClr val="FF7823"/>
                </a:solidFill>
                <a:latin typeface="Pretendard"/>
                <a:ea typeface="Pretendard"/>
                <a:cs typeface="Pretendard"/>
              </a:rPr>
              <a:t>Actor</a:t>
            </a:r>
          </a:p>
        </p:txBody>
      </p:sp>
      <p:sp>
        <p:nvSpPr>
          <p:cNvPr id="20" name="">
            <a:extLst xmlns:a="http://schemas.openxmlformats.org/drawingml/2006/main">
              <a:ext uri="{FF2B5EF4-FFF2-40B4-BE49-F238E27FC236}">
                <a16:creationId xmlns:a16="http://schemas.microsoft.com/office/drawing/2014/main" id="{78EF9F39-6EA1-45BB-9816-EF1BA070015E}"/>
              </a:ext>
            </a:extLst>
          </p:cNvPr>
          <p:cNvSpPr>
            <a:spLocks xmlns:a="http://schemas.openxmlformats.org/drawingml/2006/main" noGrp="1"/>
          </p:cNvSpPr>
          <p:nvPr/>
        </p:nvSpPr>
        <p:spPr>
          <a:xfrm xmlns:a="http://schemas.openxmlformats.org/drawingml/2006/main">
            <a:off x="8096250" y="4667250"/>
            <a:ext cx="514350" cy="514350"/>
          </a:xfrm>
          <a:prstGeom xmlns:a="http://schemas.openxmlformats.org/drawingml/2006/main" prst="ellipse">
            <a:avLst/>
          </a:prstGeom>
          <a:solidFill xmlns:a="http://schemas.openxmlformats.org/drawingml/2006/main">
            <a:srgbClr val="F4003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41DEEB6-5DE0-4A1C-B2C6-94AFA1C191D9}"/>
              </a:ext>
            </a:extLst>
          </p:cNvPr>
          <p:cNvSpPr>
            <a:spLocks xmlns:a="http://schemas.openxmlformats.org/drawingml/2006/main" noGrp="1"/>
          </p:cNvSpPr>
          <p:nvPr/>
        </p:nvSpPr>
        <p:spPr>
          <a:xfrm xmlns:a="http://schemas.openxmlformats.org/drawingml/2006/main">
            <a:off x="8096250" y="46672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FFFFFF"/>
                </a:solidFill>
                <a:latin typeface="Pretendard"/>
                <a:ea typeface="Pretendard"/>
                <a:cs typeface="Pretendard"/>
              </a:defRPr>
            </a:pPr>
            <a:r>
              <a:rPr sz="1725" b="1">
                <a:solidFill>
                  <a:srgbClr val="FFFFFF"/>
                </a:solidFill>
                <a:latin typeface="Pretendard"/>
                <a:ea typeface="Pretendard"/>
                <a:cs typeface="Pretendard"/>
              </a:rPr>
              <a:t>1</a:t>
            </a:r>
          </a:p>
        </p:txBody>
      </p:sp>
      <p:sp>
        <p:nvSpPr>
          <p:cNvPr id="22" name="">
            <a:extLst xmlns:a="http://schemas.openxmlformats.org/drawingml/2006/main">
              <a:ext uri="{FF2B5EF4-FFF2-40B4-BE49-F238E27FC236}">
                <a16:creationId xmlns:a16="http://schemas.microsoft.com/office/drawing/2014/main" id="{515196CF-CD59-46BC-873C-62E8A2AE561D}"/>
              </a:ext>
            </a:extLst>
          </p:cNvPr>
          <p:cNvSpPr>
            <a:spLocks xmlns:a="http://schemas.openxmlformats.org/drawingml/2006/main" noGrp="1"/>
          </p:cNvSpPr>
          <p:nvPr/>
        </p:nvSpPr>
        <p:spPr>
          <a:xfrm xmlns:a="http://schemas.openxmlformats.org/drawingml/2006/main">
            <a:off x="8858250" y="457200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191919"/>
                </a:solidFill>
                <a:latin typeface="Pretendard"/>
                <a:ea typeface="Pretendard"/>
                <a:cs typeface="Pretendard"/>
              </a:defRPr>
            </a:pPr>
            <a:r>
              <a:rPr sz="1875" b="1">
                <a:solidFill>
                  <a:srgbClr val="191919"/>
                </a:solidFill>
                <a:latin typeface="Pretendard"/>
                <a:ea typeface="Pretendard"/>
                <a:cs typeface="Pretendard"/>
              </a:rPr>
              <a:t>기업 고객 담당자</a:t>
            </a:r>
          </a:p>
        </p:txBody>
      </p:sp>
      <p:sp>
        <p:nvSpPr>
          <p:cNvPr id="23" name="">
            <a:extLst xmlns:a="http://schemas.openxmlformats.org/drawingml/2006/main">
              <a:ext uri="{FF2B5EF4-FFF2-40B4-BE49-F238E27FC236}">
                <a16:creationId xmlns:a16="http://schemas.microsoft.com/office/drawing/2014/main" id="{235D0F29-DDBF-4D46-99CF-654448530796}"/>
              </a:ext>
            </a:extLst>
          </p:cNvPr>
          <p:cNvSpPr>
            <a:spLocks xmlns:a="http://schemas.openxmlformats.org/drawingml/2006/main" noGrp="1"/>
          </p:cNvSpPr>
          <p:nvPr/>
        </p:nvSpPr>
        <p:spPr>
          <a:xfrm xmlns:a="http://schemas.openxmlformats.org/drawingml/2006/main">
            <a:off x="8858250" y="49434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F6A64"/>
                </a:solidFill>
                <a:latin typeface="Pretendard"/>
                <a:ea typeface="Pretendard"/>
                <a:cs typeface="Pretendard"/>
              </a:defRPr>
            </a:pPr>
            <a:r>
              <a:rPr sz="1575" b="0">
                <a:solidFill>
                  <a:srgbClr val="6F6A64"/>
                </a:solidFill>
                <a:latin typeface="Pretendard"/>
                <a:ea typeface="Pretendard"/>
                <a:cs typeface="Pretendard"/>
              </a:rPr>
              <a:t>은행 초대 계정으로 서류 업로드·검증·재제출</a:t>
            </a:r>
          </a:p>
        </p:txBody>
      </p:sp>
      <p:sp>
        <p:nvSpPr>
          <p:cNvPr id="24" name="">
            <a:extLst xmlns:a="http://schemas.openxmlformats.org/drawingml/2006/main">
              <a:ext uri="{FF2B5EF4-FFF2-40B4-BE49-F238E27FC236}">
                <a16:creationId xmlns:a16="http://schemas.microsoft.com/office/drawing/2014/main" id="{B79B9470-40AD-4278-892C-017A7BAF6695}"/>
              </a:ext>
            </a:extLst>
          </p:cNvPr>
          <p:cNvSpPr>
            <a:spLocks xmlns:a="http://schemas.openxmlformats.org/drawingml/2006/main" noGrp="1"/>
          </p:cNvSpPr>
          <p:nvPr/>
        </p:nvSpPr>
        <p:spPr>
          <a:xfrm xmlns:a="http://schemas.openxmlformats.org/drawingml/2006/main">
            <a:off x="8096250" y="5667375"/>
            <a:ext cx="514350" cy="514350"/>
          </a:xfrm>
          <a:prstGeom xmlns:a="http://schemas.openxmlformats.org/drawingml/2006/main" prst="ellipse">
            <a:avLst/>
          </a:prstGeom>
          <a:solidFill xmlns:a="http://schemas.openxmlformats.org/drawingml/2006/main">
            <a:srgbClr val="FF782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1143780-A12C-439F-9EA8-A3C1206DFA38}"/>
              </a:ext>
            </a:extLst>
          </p:cNvPr>
          <p:cNvSpPr>
            <a:spLocks xmlns:a="http://schemas.openxmlformats.org/drawingml/2006/main" noGrp="1"/>
          </p:cNvSpPr>
          <p:nvPr/>
        </p:nvSpPr>
        <p:spPr>
          <a:xfrm xmlns:a="http://schemas.openxmlformats.org/drawingml/2006/main">
            <a:off x="8096250" y="5667375"/>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FFFFFF"/>
                </a:solidFill>
                <a:latin typeface="Pretendard"/>
                <a:ea typeface="Pretendard"/>
                <a:cs typeface="Pretendard"/>
              </a:defRPr>
            </a:pPr>
            <a:r>
              <a:rPr sz="1725" b="1">
                <a:solidFill>
                  <a:srgbClr val="FFFFFF"/>
                </a:solidFill>
                <a:latin typeface="Pretendard"/>
                <a:ea typeface="Pretendard"/>
                <a:cs typeface="Pretendard"/>
              </a:rPr>
              <a:t>2</a:t>
            </a:r>
          </a:p>
        </p:txBody>
      </p:sp>
      <p:sp>
        <p:nvSpPr>
          <p:cNvPr id="26" name="">
            <a:extLst xmlns:a="http://schemas.openxmlformats.org/drawingml/2006/main">
              <a:ext uri="{FF2B5EF4-FFF2-40B4-BE49-F238E27FC236}">
                <a16:creationId xmlns:a16="http://schemas.microsoft.com/office/drawing/2014/main" id="{C9016208-B183-4A24-80F6-7EA9B79C6671}"/>
              </a:ext>
            </a:extLst>
          </p:cNvPr>
          <p:cNvSpPr>
            <a:spLocks xmlns:a="http://schemas.openxmlformats.org/drawingml/2006/main" noGrp="1"/>
          </p:cNvSpPr>
          <p:nvPr/>
        </p:nvSpPr>
        <p:spPr>
          <a:xfrm xmlns:a="http://schemas.openxmlformats.org/drawingml/2006/main">
            <a:off x="8858250" y="5562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191919"/>
                </a:solidFill>
                <a:latin typeface="Pretendard"/>
                <a:ea typeface="Pretendard"/>
                <a:cs typeface="Pretendard"/>
              </a:defRPr>
            </a:pPr>
            <a:r>
              <a:rPr sz="1875" b="1">
                <a:solidFill>
                  <a:srgbClr val="191919"/>
                </a:solidFill>
                <a:latin typeface="Pretendard"/>
                <a:ea typeface="Pretendard"/>
                <a:cs typeface="Pretendard"/>
              </a:rPr>
              <a:t>은행 기업금융 담당자</a:t>
            </a:r>
          </a:p>
        </p:txBody>
      </p:sp>
      <p:sp>
        <p:nvSpPr>
          <p:cNvPr id="27" name="">
            <a:extLst xmlns:a="http://schemas.openxmlformats.org/drawingml/2006/main">
              <a:ext uri="{FF2B5EF4-FFF2-40B4-BE49-F238E27FC236}">
                <a16:creationId xmlns:a16="http://schemas.microsoft.com/office/drawing/2014/main" id="{44351702-AB60-451B-A959-E04E552DA856}"/>
              </a:ext>
            </a:extLst>
          </p:cNvPr>
          <p:cNvSpPr>
            <a:spLocks xmlns:a="http://schemas.openxmlformats.org/drawingml/2006/main" noGrp="1"/>
          </p:cNvSpPr>
          <p:nvPr/>
        </p:nvSpPr>
        <p:spPr>
          <a:xfrm xmlns:a="http://schemas.openxmlformats.org/drawingml/2006/main">
            <a:off x="8858250" y="59340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F6A64"/>
                </a:solidFill>
                <a:latin typeface="Pretendard"/>
                <a:ea typeface="Pretendard"/>
                <a:cs typeface="Pretendard"/>
              </a:defRPr>
            </a:pPr>
            <a:r>
              <a:rPr sz="1575" b="0">
                <a:solidFill>
                  <a:srgbClr val="6F6A64"/>
                </a:solidFill>
                <a:latin typeface="Pretendard"/>
                <a:ea typeface="Pretendard"/>
                <a:cs typeface="Pretendard"/>
              </a:rPr>
              <a:t>최신 원본과 이력을 검토하고 확인 완료·보완 요청</a:t>
            </a:r>
          </a:p>
        </p:txBody>
      </p:sp>
      <p:sp>
        <p:nvSpPr>
          <p:cNvPr id="28" name="">
            <a:extLst xmlns:a="http://schemas.openxmlformats.org/drawingml/2006/main">
              <a:ext uri="{FF2B5EF4-FFF2-40B4-BE49-F238E27FC236}">
                <a16:creationId xmlns:a16="http://schemas.microsoft.com/office/drawing/2014/main" id="{88423A12-BCEE-460C-9AB5-3638D1FB9303}"/>
              </a:ext>
            </a:extLst>
          </p:cNvPr>
          <p:cNvSpPr>
            <a:spLocks xmlns:a="http://schemas.openxmlformats.org/drawingml/2006/main" noGrp="1"/>
          </p:cNvSpPr>
          <p:nvPr/>
        </p:nvSpPr>
        <p:spPr>
          <a:xfrm xmlns:a="http://schemas.openxmlformats.org/drawingml/2006/main">
            <a:off x="762000" y="7334250"/>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F40036"/>
                </a:solidFill>
                <a:latin typeface="Pretendard"/>
                <a:ea typeface="Pretendard"/>
                <a:cs typeface="Pretendard"/>
              </a:defRPr>
            </a:pPr>
            <a:r>
              <a:rPr sz="1875" b="1">
                <a:solidFill>
                  <a:srgbClr val="F40036"/>
                </a:solidFill>
                <a:latin typeface="Pretendard"/>
                <a:ea typeface="Pretendard"/>
                <a:cs typeface="Pretendard"/>
              </a:rPr>
              <a:t>핵심 흐름  초대 계정 활성화  ·  서류 업로드  ·  사전검증  ·  은행 확인</a:t>
            </a:r>
          </a:p>
        </p:txBody>
      </p:sp>
    </p:spTree>
    <p:extLst>
      <p:ext uri="{BB962C8B-B14F-4D97-AF65-F5344CB8AC3E}">
        <p14:creationId xmlns:p14="http://schemas.microsoft.com/office/powerpoint/2010/main" val="147827412"/>
      </p:ext>
    </p:extLst>
  </p:cSld>
</p:sld>
</file>

<file path=ppt/slides/slide2.xml><?xml version="1.0" encoding="utf-8"?>
<p:sld xmlns:p="http://schemas.openxmlformats.org/presentationml/2006/main">
  <p:cSld>
    <p:bg>
      <p:bgPr>
        <a:solidFill xmlns:a="http://schemas.openxmlformats.org/drawingml/2006/main">
          <a:srgbClr val="FBF9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9D9946-E175-4979-AC88-85AE12B14420}"/>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ellipse">
            <a:avLst/>
          </a:prstGeom>
          <a:solidFill xmlns:a="http://schemas.openxmlformats.org/drawingml/2006/main">
            <a:srgbClr val="F8B81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739790-C4F3-4CC8-844D-3830667281D5}"/>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91919"/>
                </a:solidFill>
                <a:latin typeface="Pretendard"/>
                <a:ea typeface="Pretendard"/>
                <a:cs typeface="Pretendard"/>
              </a:defRPr>
            </a:pPr>
            <a:r>
              <a:rPr sz="2550" b="1">
                <a:solidFill>
                  <a:srgbClr val="191919"/>
                </a:solidFill>
                <a:latin typeface="Pretendard"/>
                <a:ea typeface="Pretendard"/>
                <a:cs typeface="Pretendard"/>
              </a:rPr>
              <a:t>02</a:t>
            </a:r>
          </a:p>
        </p:txBody>
      </p:sp>
      <p:sp>
        <p:nvSpPr>
          <p:cNvPr id="3" name="">
            <a:extLst xmlns:a="http://schemas.openxmlformats.org/drawingml/2006/main">
              <a:ext uri="{FF2B5EF4-FFF2-40B4-BE49-F238E27FC236}">
                <a16:creationId xmlns:a16="http://schemas.microsoft.com/office/drawing/2014/main" id="{D05F6FDA-F8AF-497E-BD3D-FC2EE9B0916D}"/>
              </a:ext>
            </a:extLst>
          </p:cNvPr>
          <p:cNvSpPr>
            <a:spLocks xmlns:a="http://schemas.openxmlformats.org/drawingml/2006/main" noGrp="1"/>
          </p:cNvSpPr>
          <p:nvPr/>
        </p:nvSpPr>
        <p:spPr>
          <a:xfrm xmlns:a="http://schemas.openxmlformats.org/drawingml/2006/main">
            <a:off x="1219200" y="247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600" b="1">
                <a:solidFill>
                  <a:srgbClr val="191919"/>
                </a:solidFill>
                <a:latin typeface="Pretendard"/>
                <a:ea typeface="Pretendard"/>
                <a:cs typeface="Pretendard"/>
              </a:defRPr>
            </a:pPr>
            <a:r>
              <a:rPr sz="3600" b="1">
                <a:solidFill>
                  <a:srgbClr val="191919"/>
                </a:solidFill>
                <a:latin typeface="Pretendard"/>
                <a:ea typeface="Pretendard"/>
                <a:cs typeface="Pretendard"/>
              </a:rPr>
              <a:t>핵심 요구사항</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f7b5d27970d457d"/>
          <a:stretch xmlns:a="http://schemas.openxmlformats.org/drawingml/2006/main"/>
        </p:blipFill>
        <p:spPr>
          <a:xfrm xmlns:a="http://schemas.openxmlformats.org/drawingml/2006/main">
            <a:off x="13639800" y="185210"/>
            <a:ext cx="1123950" cy="5630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5357B5B-861E-4A7C-AFF5-C902033B87BA}"/>
              </a:ext>
            </a:extLst>
          </p:cNvPr>
          <p:cNvSpPr>
            <a:spLocks xmlns:a="http://schemas.openxmlformats.org/drawingml/2006/main" noGrp="1"/>
          </p:cNvSpPr>
          <p:nvPr/>
        </p:nvSpPr>
        <p:spPr>
          <a:xfrm xmlns:a="http://schemas.openxmlformats.org/drawingml/2006/main">
            <a:off x="762000" y="11906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6F6A64"/>
                </a:solidFill>
                <a:latin typeface="Pretendard"/>
                <a:ea typeface="Pretendard"/>
                <a:cs typeface="Pretendard"/>
              </a:defRPr>
            </a:pPr>
            <a:r>
              <a:rPr sz="1725" b="0">
                <a:solidFill>
                  <a:srgbClr val="6F6A64"/>
                </a:solidFill>
                <a:latin typeface="Pretendard"/>
                <a:ea typeface="Pretendard"/>
                <a:cs typeface="Pretendard"/>
              </a:rPr>
              <a:t>MVP 구현 범위를 기능 4개와 비기능 1개로 압축했습니다.</a:t>
            </a:r>
          </a:p>
        </p:txBody>
      </p:sp>
      <p:graphicFrame>
        <p:nvGraphicFramePr>
          <p:cNvPr id="14" name=""/>
          <p:cNvGraphicFramePr/>
          <p:nvPr/>
        </p:nvGraphicFramePr>
        <p:xfrm>
          <a:off xmlns:a="http://schemas.openxmlformats.org/drawingml/2006/main" x="762000" y="1762125"/>
          <a:ext xmlns:a="http://schemas.openxmlformats.org/drawingml/2006/main" cx="13716000" cy="4953000"/>
        </p:xfrm>
        <a:graphic xmlns:a="http://schemas.openxmlformats.org/drawingml/2006/main">
          <a:graphicData uri="http://schemas.openxmlformats.org/drawingml/2006/table">
            <a:tbl>
              <a:tblPr/>
              <a:tblGrid>
                <a:gridCol w="2190750"/>
                <a:gridCol w="1524000"/>
                <a:gridCol w="5619750"/>
                <a:gridCol w="4381500"/>
              </a:tblGrid>
              <a:tr h="552450">
                <a:tc>
                  <a:txBody>
                    <a:bodyPr wrap="square" lIns="95250" tIns="85725" rIns="95250" bIns="85725">
                      <a:normAutofit/>
                    </a:bodyPr>
                    <a:lstStyle/>
                    <a:p>
                      <a:r>
                        <a:rPr sz="1500" b="1">
                          <a:solidFill>
                            <a:srgbClr val="191919"/>
                          </a:solidFill>
                          <a:latin typeface="Pretendard"/>
                          <a:ea typeface="Pretendard"/>
                          <a:cs typeface="Pretendard"/>
                        </a:rPr>
                        <a:t>요구사항 ID</a:t>
                      </a:r>
                    </a:p>
                  </a:txBody>
                  <a:tcPr marL="91440" marR="91440" marT="45720" marB="45720" anchor="ctr">
                    <a:solidFill>
                      <a:srgbClr val="FFF1E8"/>
                    </a:solidFill>
                  </a:tcPr>
                </a:tc>
                <a:tc>
                  <a:txBody>
                    <a:bodyPr wrap="square" lIns="95250" tIns="85725" rIns="95250" bIns="85725">
                      <a:normAutofit/>
                    </a:bodyPr>
                    <a:lstStyle/>
                    <a:p>
                      <a:r>
                        <a:rPr sz="1500" b="1">
                          <a:solidFill>
                            <a:srgbClr val="191919"/>
                          </a:solidFill>
                          <a:latin typeface="Pretendard"/>
                          <a:ea typeface="Pretendard"/>
                          <a:cs typeface="Pretendard"/>
                        </a:rPr>
                        <a:t>구분</a:t>
                      </a:r>
                    </a:p>
                  </a:txBody>
                  <a:tcPr marL="91440" marR="91440" marT="45720" marB="45720" anchor="ctr">
                    <a:solidFill>
                      <a:srgbClr val="FFF1E8"/>
                    </a:solidFill>
                  </a:tcPr>
                </a:tc>
                <a:tc>
                  <a:txBody>
                    <a:bodyPr wrap="square" lIns="95250" tIns="85725" rIns="95250" bIns="85725">
                      <a:normAutofit/>
                    </a:bodyPr>
                    <a:lstStyle/>
                    <a:p>
                      <a:r>
                        <a:rPr sz="1500" b="1">
                          <a:solidFill>
                            <a:srgbClr val="191919"/>
                          </a:solidFill>
                          <a:latin typeface="Pretendard"/>
                          <a:ea typeface="Pretendard"/>
                          <a:cs typeface="Pretendard"/>
                        </a:rPr>
                        <a:t>요약</a:t>
                      </a:r>
                    </a:p>
                  </a:txBody>
                  <a:tcPr marL="91440" marR="91440" marT="45720" marB="45720" anchor="ctr">
                    <a:solidFill>
                      <a:srgbClr val="FFF1E8"/>
                    </a:solidFill>
                  </a:tcPr>
                </a:tc>
                <a:tc>
                  <a:txBody>
                    <a:bodyPr wrap="square" lIns="95250" tIns="85725" rIns="95250" bIns="85725">
                      <a:normAutofit/>
                    </a:bodyPr>
                    <a:lstStyle/>
                    <a:p>
                      <a:r>
                        <a:rPr sz="1500" b="1">
                          <a:solidFill>
                            <a:srgbClr val="191919"/>
                          </a:solidFill>
                          <a:latin typeface="Pretendard"/>
                          <a:ea typeface="Pretendard"/>
                          <a:cs typeface="Pretendard"/>
                        </a:rPr>
                        <a:t>확인 기준</a:t>
                      </a:r>
                    </a:p>
                  </a:txBody>
                  <a:tcPr marL="91440" marR="91440" marT="45720" marB="45720" anchor="ctr">
                    <a:solidFill>
                      <a:srgbClr val="FFF1E8"/>
                    </a:solidFill>
                  </a:tcPr>
                </a:tc>
              </a:tr>
              <a:tr h="876300">
                <a:tc>
                  <a:txBody>
                    <a:bodyPr wrap="square" lIns="95250" tIns="85725" rIns="95250" bIns="85725">
                      <a:normAutofit/>
                    </a:bodyPr>
                    <a:lstStyle/>
                    <a:p>
                      <a:r>
                        <a:rPr sz="1350" b="1">
                          <a:solidFill>
                            <a:srgbClr val="F40036"/>
                          </a:solidFill>
                          <a:latin typeface="Pretendard"/>
                          <a:ea typeface="Pretendard"/>
                          <a:cs typeface="Pretendard"/>
                        </a:rPr>
                        <a:t>REQ-FUNC-001</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인증</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은행 초대 계정 활성화와 역할 기반 로그인</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기업·은행 역할에 맞는 화면으로 이동</a:t>
                      </a:r>
                    </a:p>
                  </a:txBody>
                  <a:tcPr marL="91440" marR="91440" marT="45720" marB="45720" anchor="ctr">
                    <a:solidFill>
                      <a:srgbClr val="FFFFFF"/>
                    </a:solidFill>
                  </a:tcPr>
                </a:tc>
              </a:tr>
              <a:tr h="876300">
                <a:tc>
                  <a:txBody>
                    <a:bodyPr wrap="square" lIns="95250" tIns="85725" rIns="95250" bIns="85725">
                      <a:normAutofit/>
                    </a:bodyPr>
                    <a:lstStyle/>
                    <a:p>
                      <a:r>
                        <a:rPr sz="1350" b="1">
                          <a:solidFill>
                            <a:srgbClr val="F40036"/>
                          </a:solidFill>
                          <a:latin typeface="Pretendard"/>
                          <a:ea typeface="Pretendard"/>
                          <a:cs typeface="Pretendard"/>
                        </a:rPr>
                        <a:t>REQ-FUNC-003</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업로드</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필수서류 3종 업로드와 OCR 처리 상태 관리</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실패 시 원본을 보존하고 분석 재시도</a:t>
                      </a:r>
                    </a:p>
                  </a:txBody>
                  <a:tcPr marL="91440" marR="91440" marT="45720" marB="45720" anchor="ctr">
                    <a:solidFill>
                      <a:srgbClr val="FCFAF7"/>
                    </a:solidFill>
                  </a:tcPr>
                </a:tc>
              </a:tr>
              <a:tr h="876300">
                <a:tc>
                  <a:txBody>
                    <a:bodyPr wrap="square" lIns="95250" tIns="85725" rIns="95250" bIns="85725">
                      <a:normAutofit/>
                    </a:bodyPr>
                    <a:lstStyle/>
                    <a:p>
                      <a:r>
                        <a:rPr sz="1350" b="1">
                          <a:solidFill>
                            <a:srgbClr val="F40036"/>
                          </a:solidFill>
                          <a:latin typeface="Pretendard"/>
                          <a:ea typeface="Pretendard"/>
                          <a:cs typeface="Pretendard"/>
                        </a:rPr>
                        <a:t>REQ-FUNC-004</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검증·제출</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누락·만료·기업정보 불일치를 검증한 뒤 제출</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미해결 오류가 있으면 422로 제출 차단</a:t>
                      </a:r>
                    </a:p>
                  </a:txBody>
                  <a:tcPr marL="91440" marR="91440" marT="45720" marB="45720" anchor="ctr">
                    <a:solidFill>
                      <a:srgbClr val="FFFFFF"/>
                    </a:solidFill>
                  </a:tcPr>
                </a:tc>
              </a:tr>
              <a:tr h="876300">
                <a:tc>
                  <a:txBody>
                    <a:bodyPr wrap="square" lIns="95250" tIns="85725" rIns="95250" bIns="85725">
                      <a:normAutofit/>
                    </a:bodyPr>
                    <a:lstStyle/>
                    <a:p>
                      <a:r>
                        <a:rPr sz="1350" b="1">
                          <a:solidFill>
                            <a:srgbClr val="F40036"/>
                          </a:solidFill>
                          <a:latin typeface="Pretendard"/>
                          <a:ea typeface="Pretendard"/>
                          <a:cs typeface="Pretendard"/>
                        </a:rPr>
                        <a:t>REQ-FUNC-006</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은행 검토</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최신 원본과 버전 이력을 확인하고 보완 요청</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처리 결과와 담당자 이력을 저장</a:t>
                      </a:r>
                    </a:p>
                  </a:txBody>
                  <a:tcPr marL="91440" marR="91440" marT="45720" marB="45720" anchor="ctr">
                    <a:solidFill>
                      <a:srgbClr val="FCFAF7"/>
                    </a:solidFill>
                  </a:tcPr>
                </a:tc>
              </a:tr>
              <a:tr h="876300">
                <a:tc>
                  <a:txBody>
                    <a:bodyPr wrap="square" lIns="95250" tIns="85725" rIns="95250" bIns="85725">
                      <a:normAutofit/>
                    </a:bodyPr>
                    <a:lstStyle/>
                    <a:p>
                      <a:r>
                        <a:rPr sz="1350" b="1">
                          <a:solidFill>
                            <a:srgbClr val="F40036"/>
                          </a:solidFill>
                          <a:latin typeface="Pretendard"/>
                          <a:ea typeface="Pretendard"/>
                          <a:cs typeface="Pretendard"/>
                        </a:rPr>
                        <a:t>REQ-NFN-002</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보안</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역할·소속 검증과 비밀번호·초대 토큰 보호</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타 기업 접근은 서버에서 403 처리</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E5E9282-C5EF-4E35-A4D7-10E68407D827}"/>
              </a:ext>
            </a:extLst>
          </p:cNvPr>
          <p:cNvSpPr>
            <a:spLocks xmlns:a="http://schemas.openxmlformats.org/drawingml/2006/main" noGrp="1"/>
          </p:cNvSpPr>
          <p:nvPr/>
        </p:nvSpPr>
        <p:spPr>
          <a:xfrm xmlns:a="http://schemas.openxmlformats.org/drawingml/2006/main">
            <a:off x="762000" y="7191375"/>
            <a:ext cx="13716000" cy="742950"/>
          </a:xfrm>
          <a:prstGeom xmlns:a="http://schemas.openxmlformats.org/drawingml/2006/main" prst="roundRect">
            <a:avLst>
              <a:gd name="adj" fmla="val 15385"/>
            </a:avLst>
          </a:prstGeom>
          <a:solidFill xmlns:a="http://schemas.openxmlformats.org/drawingml/2006/main">
            <a:srgbClr val="FFF0F3"/>
          </a:solidFill>
          <a:ln xmlns:a="http://schemas.openxmlformats.org/drawingml/2006/main" w="9525">
            <a:solidFill>
              <a:srgbClr val="F40036"/>
            </a:solidFill>
          </a:ln>
        </p:spPr>
      </p:sp>
      <p:sp>
        <p:nvSpPr>
          <p:cNvPr id="8" name="">
            <a:extLst xmlns:a="http://schemas.openxmlformats.org/drawingml/2006/main">
              <a:ext uri="{FF2B5EF4-FFF2-40B4-BE49-F238E27FC236}">
                <a16:creationId xmlns:a16="http://schemas.microsoft.com/office/drawing/2014/main" id="{FE2897BC-BD01-47A0-AF2B-9F5ACBEC37E3}"/>
              </a:ext>
            </a:extLst>
          </p:cNvPr>
          <p:cNvSpPr>
            <a:spLocks xmlns:a="http://schemas.openxmlformats.org/drawingml/2006/main" noGrp="1"/>
          </p:cNvSpPr>
          <p:nvPr/>
        </p:nvSpPr>
        <p:spPr>
          <a:xfrm xmlns:a="http://schemas.openxmlformats.org/drawingml/2006/main">
            <a:off x="1047750" y="7334250"/>
            <a:ext cx="1314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F40036"/>
                </a:solidFill>
                <a:latin typeface="Pretendard"/>
                <a:ea typeface="Pretendard"/>
                <a:cs typeface="Pretendard"/>
              </a:defRPr>
            </a:pPr>
            <a:r>
              <a:rPr sz="1800" b="1">
                <a:solidFill>
                  <a:srgbClr val="F40036"/>
                </a:solidFill>
                <a:latin typeface="Pretendard"/>
                <a:ea typeface="Pretendard"/>
                <a:cs typeface="Pretendard"/>
              </a:rPr>
              <a:t>MVP 기준  필수 문서 3종  ·  검증 오류 6종  ·  화면 5개  ·  API 11개</a:t>
            </a:r>
          </a:p>
        </p:txBody>
      </p:sp>
    </p:spTree>
    <p:extLst>
      <p:ext uri="{BB962C8B-B14F-4D97-AF65-F5344CB8AC3E}">
        <p14:creationId xmlns:p14="http://schemas.microsoft.com/office/powerpoint/2010/main" val="1239581176"/>
      </p:ext>
    </p:extLst>
  </p:cSld>
</p:sld>
</file>

<file path=ppt/slides/slide3.xml><?xml version="1.0" encoding="utf-8"?>
<p:sld xmlns:p="http://schemas.openxmlformats.org/presentationml/2006/main">
  <p:cSld>
    <p:bg>
      <p:bgPr>
        <a:solidFill xmlns:a="http://schemas.openxmlformats.org/drawingml/2006/main">
          <a:srgbClr val="FBF9F6"/>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46E5F15-CDEE-4E16-9FEA-5796D513C4E6}"/>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ellipse">
            <a:avLst/>
          </a:prstGeom>
          <a:solidFill xmlns:a="http://schemas.openxmlformats.org/drawingml/2006/main">
            <a:srgbClr val="F8B81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7FE04C-34FC-4ABD-943D-78366AAF4557}"/>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91919"/>
                </a:solidFill>
                <a:latin typeface="Pretendard"/>
                <a:ea typeface="Pretendard"/>
                <a:cs typeface="Pretendard"/>
              </a:defRPr>
            </a:pPr>
            <a:r>
              <a:rPr sz="2550" b="1">
                <a:solidFill>
                  <a:srgbClr val="191919"/>
                </a:solidFill>
                <a:latin typeface="Pretendard"/>
                <a:ea typeface="Pretendard"/>
                <a:cs typeface="Pretendard"/>
              </a:rPr>
              <a:t>03</a:t>
            </a:r>
          </a:p>
        </p:txBody>
      </p:sp>
      <p:sp>
        <p:nvSpPr>
          <p:cNvPr id="3" name="">
            <a:extLst xmlns:a="http://schemas.openxmlformats.org/drawingml/2006/main">
              <a:ext uri="{FF2B5EF4-FFF2-40B4-BE49-F238E27FC236}">
                <a16:creationId xmlns:a16="http://schemas.microsoft.com/office/drawing/2014/main" id="{8A0F22A5-E8B3-4313-924F-DB94F94AF8E9}"/>
              </a:ext>
            </a:extLst>
          </p:cNvPr>
          <p:cNvSpPr>
            <a:spLocks xmlns:a="http://schemas.openxmlformats.org/drawingml/2006/main" noGrp="1"/>
          </p:cNvSpPr>
          <p:nvPr/>
        </p:nvSpPr>
        <p:spPr>
          <a:xfrm xmlns:a="http://schemas.openxmlformats.org/drawingml/2006/main">
            <a:off x="1219200" y="247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600" b="1">
                <a:solidFill>
                  <a:srgbClr val="191919"/>
                </a:solidFill>
                <a:latin typeface="Pretendard"/>
                <a:ea typeface="Pretendard"/>
                <a:cs typeface="Pretendard"/>
              </a:defRPr>
            </a:pPr>
            <a:r>
              <a:rPr sz="3600" b="1">
                <a:solidFill>
                  <a:srgbClr val="191919"/>
                </a:solidFill>
                <a:latin typeface="Pretendard"/>
                <a:ea typeface="Pretendard"/>
                <a:cs typeface="Pretendard"/>
              </a:rPr>
              <a:t>핵심 화면 흐름</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c8b955c870354a7b"/>
          <a:stretch xmlns:a="http://schemas.openxmlformats.org/drawingml/2006/main"/>
        </p:blipFill>
        <p:spPr>
          <a:xfrm xmlns:a="http://schemas.openxmlformats.org/drawingml/2006/main">
            <a:off x="13639800" y="185210"/>
            <a:ext cx="1123950" cy="5630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D3BDAC7-4E81-4B79-BE5E-272A20C6DF78}"/>
              </a:ext>
            </a:extLst>
          </p:cNvPr>
          <p:cNvSpPr>
            <a:spLocks xmlns:a="http://schemas.openxmlformats.org/drawingml/2006/main" noGrp="1"/>
          </p:cNvSpPr>
          <p:nvPr/>
        </p:nvSpPr>
        <p:spPr>
          <a:xfrm xmlns:a="http://schemas.openxmlformats.org/drawingml/2006/main">
            <a:off x="762000" y="1190625"/>
            <a:ext cx="1200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6F6A64"/>
                </a:solidFill>
                <a:latin typeface="Pretendard"/>
                <a:ea typeface="Pretendard"/>
                <a:cs typeface="Pretendard"/>
              </a:defRPr>
            </a:pPr>
            <a:r>
              <a:rPr sz="1725" b="0">
                <a:solidFill>
                  <a:srgbClr val="6F6A64"/>
                </a:solidFill>
                <a:latin typeface="Pretendard"/>
                <a:ea typeface="Pretendard"/>
                <a:cs typeface="Pretendard"/>
              </a:rPr>
              <a:t>기업의 제출 전 점검부터 은행의 보완 요청까지 3개 화면으로 연결됩니다.</a:t>
            </a:r>
          </a:p>
        </p:txBody>
      </p:sp>
      <p:sp>
        <p:nvSpPr>
          <p:cNvPr id="6" name="">
            <a:extLst xmlns:a="http://schemas.openxmlformats.org/drawingml/2006/main">
              <a:ext uri="{FF2B5EF4-FFF2-40B4-BE49-F238E27FC236}">
                <a16:creationId xmlns:a16="http://schemas.microsoft.com/office/drawing/2014/main" id="{E408B53D-EA82-4FAF-BB02-96A581718435}"/>
              </a:ext>
            </a:extLst>
          </p:cNvPr>
          <p:cNvSpPr>
            <a:spLocks xmlns:a="http://schemas.openxmlformats.org/drawingml/2006/main" noGrp="1"/>
          </p:cNvSpPr>
          <p:nvPr/>
        </p:nvSpPr>
        <p:spPr>
          <a:xfrm xmlns:a="http://schemas.openxmlformats.org/drawingml/2006/main">
            <a:off x="762000" y="1809750"/>
            <a:ext cx="4095750" cy="4524375"/>
          </a:xfrm>
          <a:prstGeom xmlns:a="http://schemas.openxmlformats.org/drawingml/2006/main" prst="roundRect">
            <a:avLst>
              <a:gd name="adj" fmla="val 3256"/>
            </a:avLst>
          </a:prstGeom>
          <a:solidFill xmlns:a="http://schemas.openxmlformats.org/drawingml/2006/main">
            <a:srgbClr val="FFFFFF"/>
          </a:solidFill>
          <a:ln xmlns:a="http://schemas.openxmlformats.org/drawingml/2006/main" w="9525">
            <a:solidFill>
              <a:srgbClr val="E2DCD3"/>
            </a:solidFill>
          </a:ln>
        </p:spPr>
      </p:sp>
      <p:sp>
        <p:nvSpPr>
          <p:cNvPr id="7" name="">
            <a:extLst xmlns:a="http://schemas.openxmlformats.org/drawingml/2006/main">
              <a:ext uri="{FF2B5EF4-FFF2-40B4-BE49-F238E27FC236}">
                <a16:creationId xmlns:a16="http://schemas.microsoft.com/office/drawing/2014/main" id="{16BA7B06-4B6A-4483-8E8D-B9F290F095C8}"/>
              </a:ext>
            </a:extLst>
          </p:cNvPr>
          <p:cNvSpPr>
            <a:spLocks xmlns:a="http://schemas.openxmlformats.org/drawingml/2006/main" noGrp="1"/>
          </p:cNvSpPr>
          <p:nvPr/>
        </p:nvSpPr>
        <p:spPr>
          <a:xfrm xmlns:a="http://schemas.openxmlformats.org/drawingml/2006/main">
            <a:off x="952500" y="20002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F40036"/>
                </a:solidFill>
                <a:latin typeface="Pretendard"/>
                <a:ea typeface="Pretendard"/>
                <a:cs typeface="Pretendard"/>
              </a:defRPr>
            </a:pPr>
            <a:r>
              <a:rPr sz="1350" b="1">
                <a:solidFill>
                  <a:srgbClr val="F40036"/>
                </a:solidFill>
                <a:latin typeface="Pretendard"/>
                <a:ea typeface="Pretendard"/>
                <a:cs typeface="Pretendard"/>
              </a:rPr>
              <a:t>SCR-COMP-001</a:t>
            </a:r>
          </a:p>
        </p:txBody>
      </p:sp>
      <p:sp>
        <p:nvSpPr>
          <p:cNvPr id="8" name="">
            <a:extLst xmlns:a="http://schemas.openxmlformats.org/drawingml/2006/main">
              <a:ext uri="{FF2B5EF4-FFF2-40B4-BE49-F238E27FC236}">
                <a16:creationId xmlns:a16="http://schemas.microsoft.com/office/drawing/2014/main" id="{36899C45-4E0D-40CC-9E37-85B9F47FBF97}"/>
              </a:ext>
            </a:extLst>
          </p:cNvPr>
          <p:cNvSpPr>
            <a:spLocks xmlns:a="http://schemas.openxmlformats.org/drawingml/2006/main" noGrp="1"/>
          </p:cNvSpPr>
          <p:nvPr/>
        </p:nvSpPr>
        <p:spPr>
          <a:xfrm xmlns:a="http://schemas.openxmlformats.org/drawingml/2006/main">
            <a:off x="952500" y="23241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서류 제출 현황·업로드</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68722f06ad9466e"/>
          <a:stretch xmlns:a="http://schemas.openxmlformats.org/drawingml/2006/main"/>
        </p:blipFill>
        <p:spPr>
          <a:xfrm xmlns:a="http://schemas.openxmlformats.org/drawingml/2006/main">
            <a:off x="933450" y="3277474"/>
            <a:ext cx="3752850" cy="237950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FC59154-2C56-4CA1-91B3-75BAED02E4BB}"/>
              </a:ext>
            </a:extLst>
          </p:cNvPr>
          <p:cNvSpPr>
            <a:spLocks xmlns:a="http://schemas.openxmlformats.org/drawingml/2006/main" noGrp="1"/>
          </p:cNvSpPr>
          <p:nvPr/>
        </p:nvSpPr>
        <p:spPr>
          <a:xfrm xmlns:a="http://schemas.openxmlformats.org/drawingml/2006/main">
            <a:off x="5286375" y="1809750"/>
            <a:ext cx="4095750" cy="4524375"/>
          </a:xfrm>
          <a:prstGeom xmlns:a="http://schemas.openxmlformats.org/drawingml/2006/main" prst="roundRect">
            <a:avLst>
              <a:gd name="adj" fmla="val 3256"/>
            </a:avLst>
          </a:prstGeom>
          <a:solidFill xmlns:a="http://schemas.openxmlformats.org/drawingml/2006/main">
            <a:srgbClr val="FFFFFF"/>
          </a:solidFill>
          <a:ln xmlns:a="http://schemas.openxmlformats.org/drawingml/2006/main" w="9525">
            <a:solidFill>
              <a:srgbClr val="E2DCD3"/>
            </a:solidFill>
          </a:ln>
        </p:spPr>
      </p:sp>
      <p:sp>
        <p:nvSpPr>
          <p:cNvPr id="11" name="">
            <a:extLst xmlns:a="http://schemas.openxmlformats.org/drawingml/2006/main">
              <a:ext uri="{FF2B5EF4-FFF2-40B4-BE49-F238E27FC236}">
                <a16:creationId xmlns:a16="http://schemas.microsoft.com/office/drawing/2014/main" id="{B2EB764C-F9A1-40C6-8999-FE08AA42BA76}"/>
              </a:ext>
            </a:extLst>
          </p:cNvPr>
          <p:cNvSpPr>
            <a:spLocks xmlns:a="http://schemas.openxmlformats.org/drawingml/2006/main" noGrp="1"/>
          </p:cNvSpPr>
          <p:nvPr/>
        </p:nvSpPr>
        <p:spPr>
          <a:xfrm xmlns:a="http://schemas.openxmlformats.org/drawingml/2006/main">
            <a:off x="5476875" y="20002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F40036"/>
                </a:solidFill>
                <a:latin typeface="Pretendard"/>
                <a:ea typeface="Pretendard"/>
                <a:cs typeface="Pretendard"/>
              </a:defRPr>
            </a:pPr>
            <a:r>
              <a:rPr sz="1350" b="1">
                <a:solidFill>
                  <a:srgbClr val="F40036"/>
                </a:solidFill>
                <a:latin typeface="Pretendard"/>
                <a:ea typeface="Pretendard"/>
                <a:cs typeface="Pretendard"/>
              </a:rPr>
              <a:t>SCR-COMP-002</a:t>
            </a:r>
          </a:p>
        </p:txBody>
      </p:sp>
      <p:sp>
        <p:nvSpPr>
          <p:cNvPr id="12" name="">
            <a:extLst xmlns:a="http://schemas.openxmlformats.org/drawingml/2006/main">
              <a:ext uri="{FF2B5EF4-FFF2-40B4-BE49-F238E27FC236}">
                <a16:creationId xmlns:a16="http://schemas.microsoft.com/office/drawing/2014/main" id="{AC72B6F2-E006-48AA-AFF2-6AF7A0B3E867}"/>
              </a:ext>
            </a:extLst>
          </p:cNvPr>
          <p:cNvSpPr>
            <a:spLocks xmlns:a="http://schemas.openxmlformats.org/drawingml/2006/main" noGrp="1"/>
          </p:cNvSpPr>
          <p:nvPr/>
        </p:nvSpPr>
        <p:spPr>
          <a:xfrm xmlns:a="http://schemas.openxmlformats.org/drawingml/2006/main">
            <a:off x="5476875" y="23241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사전검증 결과·최종 제출</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856331e6a8404675"/>
          <a:stretch xmlns:a="http://schemas.openxmlformats.org/drawingml/2006/main"/>
        </p:blipFill>
        <p:spPr>
          <a:xfrm xmlns:a="http://schemas.openxmlformats.org/drawingml/2006/main">
            <a:off x="5457825" y="3065853"/>
            <a:ext cx="3752850" cy="280274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BDF4FAF2-0253-4297-B609-7BFBECCEABDA}"/>
              </a:ext>
            </a:extLst>
          </p:cNvPr>
          <p:cNvSpPr>
            <a:spLocks xmlns:a="http://schemas.openxmlformats.org/drawingml/2006/main" noGrp="1"/>
          </p:cNvSpPr>
          <p:nvPr/>
        </p:nvSpPr>
        <p:spPr>
          <a:xfrm xmlns:a="http://schemas.openxmlformats.org/drawingml/2006/main">
            <a:off x="9810750" y="1809750"/>
            <a:ext cx="4095750" cy="4524375"/>
          </a:xfrm>
          <a:prstGeom xmlns:a="http://schemas.openxmlformats.org/drawingml/2006/main" prst="roundRect">
            <a:avLst>
              <a:gd name="adj" fmla="val 3256"/>
            </a:avLst>
          </a:prstGeom>
          <a:solidFill xmlns:a="http://schemas.openxmlformats.org/drawingml/2006/main">
            <a:srgbClr val="FFFFFF"/>
          </a:solidFill>
          <a:ln xmlns:a="http://schemas.openxmlformats.org/drawingml/2006/main" w="9525">
            <a:solidFill>
              <a:srgbClr val="E2DCD3"/>
            </a:solidFill>
          </a:ln>
        </p:spPr>
      </p:sp>
      <p:sp>
        <p:nvSpPr>
          <p:cNvPr id="15" name="">
            <a:extLst xmlns:a="http://schemas.openxmlformats.org/drawingml/2006/main">
              <a:ext uri="{FF2B5EF4-FFF2-40B4-BE49-F238E27FC236}">
                <a16:creationId xmlns:a16="http://schemas.microsoft.com/office/drawing/2014/main" id="{41EAAE52-7E75-4853-9011-A7D60C2A3A3F}"/>
              </a:ext>
            </a:extLst>
          </p:cNvPr>
          <p:cNvSpPr>
            <a:spLocks xmlns:a="http://schemas.openxmlformats.org/drawingml/2006/main" noGrp="1"/>
          </p:cNvSpPr>
          <p:nvPr/>
        </p:nvSpPr>
        <p:spPr>
          <a:xfrm xmlns:a="http://schemas.openxmlformats.org/drawingml/2006/main">
            <a:off x="10001250" y="20002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F40036"/>
                </a:solidFill>
                <a:latin typeface="Pretendard"/>
                <a:ea typeface="Pretendard"/>
                <a:cs typeface="Pretendard"/>
              </a:defRPr>
            </a:pPr>
            <a:r>
              <a:rPr sz="1350" b="1">
                <a:solidFill>
                  <a:srgbClr val="F40036"/>
                </a:solidFill>
                <a:latin typeface="Pretendard"/>
                <a:ea typeface="Pretendard"/>
                <a:cs typeface="Pretendard"/>
              </a:rPr>
              <a:t>SCR-REV-002</a:t>
            </a:r>
          </a:p>
        </p:txBody>
      </p:sp>
      <p:sp>
        <p:nvSpPr>
          <p:cNvPr id="16" name="">
            <a:extLst xmlns:a="http://schemas.openxmlformats.org/drawingml/2006/main">
              <a:ext uri="{FF2B5EF4-FFF2-40B4-BE49-F238E27FC236}">
                <a16:creationId xmlns:a16="http://schemas.microsoft.com/office/drawing/2014/main" id="{DEA81CB3-64A4-434D-B46C-EBE4D72AD269}"/>
              </a:ext>
            </a:extLst>
          </p:cNvPr>
          <p:cNvSpPr>
            <a:spLocks xmlns:a="http://schemas.openxmlformats.org/drawingml/2006/main" noGrp="1"/>
          </p:cNvSpPr>
          <p:nvPr/>
        </p:nvSpPr>
        <p:spPr>
          <a:xfrm xmlns:a="http://schemas.openxmlformats.org/drawingml/2006/main">
            <a:off x="10001250" y="23241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은행 상세 검토</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ed5800e8d954527"/>
          <a:stretch xmlns:a="http://schemas.openxmlformats.org/drawingml/2006/main"/>
        </p:blipFill>
        <p:spPr>
          <a:xfrm xmlns:a="http://schemas.openxmlformats.org/drawingml/2006/main">
            <a:off x="9982200" y="3259433"/>
            <a:ext cx="3752850" cy="2415584"/>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5BB67A42-4F6F-43F6-9F49-ABB212575552}"/>
              </a:ext>
            </a:extLst>
          </p:cNvPr>
          <p:cNvSpPr>
            <a:spLocks xmlns:a="http://schemas.openxmlformats.org/drawingml/2006/main" noGrp="1"/>
          </p:cNvSpPr>
          <p:nvPr/>
        </p:nvSpPr>
        <p:spPr>
          <a:xfrm xmlns:a="http://schemas.openxmlformats.org/drawingml/2006/main">
            <a:off x="762000" y="6810375"/>
            <a:ext cx="13716000" cy="1047750"/>
          </a:xfrm>
          <a:prstGeom xmlns:a="http://schemas.openxmlformats.org/drawingml/2006/main" prst="roundRect">
            <a:avLst>
              <a:gd name="adj" fmla="val 10909"/>
            </a:avLst>
          </a:prstGeom>
          <a:solidFill xmlns:a="http://schemas.openxmlformats.org/drawingml/2006/main">
            <a:srgbClr val="F3EFE9"/>
          </a:solidFill>
          <a:ln xmlns:a="http://schemas.openxmlformats.org/drawingml/2006/main" w="9525">
            <a:solidFill>
              <a:srgbClr val="E2DCD3"/>
            </a:solidFill>
          </a:ln>
        </p:spPr>
      </p:sp>
      <p:sp>
        <p:nvSpPr>
          <p:cNvPr id="19" name="">
            <a:extLst xmlns:a="http://schemas.openxmlformats.org/drawingml/2006/main">
              <a:ext uri="{FF2B5EF4-FFF2-40B4-BE49-F238E27FC236}">
                <a16:creationId xmlns:a16="http://schemas.microsoft.com/office/drawing/2014/main" id="{EE468ACD-FE92-41DA-B16F-13A02CC2EAE0}"/>
              </a:ext>
            </a:extLst>
          </p:cNvPr>
          <p:cNvSpPr>
            <a:spLocks xmlns:a="http://schemas.openxmlformats.org/drawingml/2006/main" noGrp="1"/>
          </p:cNvSpPr>
          <p:nvPr/>
        </p:nvSpPr>
        <p:spPr>
          <a:xfrm xmlns:a="http://schemas.openxmlformats.org/drawingml/2006/main">
            <a:off x="1143000" y="7086600"/>
            <a:ext cx="400050" cy="400050"/>
          </a:xfrm>
          <a:prstGeom xmlns:a="http://schemas.openxmlformats.org/drawingml/2006/main" prst="ellipse">
            <a:avLst/>
          </a:prstGeom>
          <a:solidFill xmlns:a="http://schemas.openxmlformats.org/drawingml/2006/main">
            <a:srgbClr val="F4003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A1F6A20-2C29-4D63-A93F-8CA81B89238D}"/>
              </a:ext>
            </a:extLst>
          </p:cNvPr>
          <p:cNvSpPr>
            <a:spLocks xmlns:a="http://schemas.openxmlformats.org/drawingml/2006/main" noGrp="1"/>
          </p:cNvSpPr>
          <p:nvPr/>
        </p:nvSpPr>
        <p:spPr>
          <a:xfrm xmlns:a="http://schemas.openxmlformats.org/drawingml/2006/main">
            <a:off x="1143000" y="70866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Pretendard"/>
                <a:ea typeface="Pretendard"/>
                <a:cs typeface="Pretendard"/>
              </a:defRPr>
            </a:pPr>
            <a:r>
              <a:rPr sz="1500" b="1">
                <a:solidFill>
                  <a:srgbClr val="FFFFFF"/>
                </a:solidFill>
                <a:latin typeface="Pretendard"/>
                <a:ea typeface="Pretendard"/>
                <a:cs typeface="Pretendard"/>
              </a:rPr>
              <a:t>1</a:t>
            </a:r>
          </a:p>
        </p:txBody>
      </p:sp>
      <p:sp>
        <p:nvSpPr>
          <p:cNvPr id="21" name="">
            <a:extLst xmlns:a="http://schemas.openxmlformats.org/drawingml/2006/main">
              <a:ext uri="{FF2B5EF4-FFF2-40B4-BE49-F238E27FC236}">
                <a16:creationId xmlns:a16="http://schemas.microsoft.com/office/drawing/2014/main" id="{A156F166-A4D0-492B-9DA9-C4652A68D56C}"/>
              </a:ext>
            </a:extLst>
          </p:cNvPr>
          <p:cNvSpPr>
            <a:spLocks xmlns:a="http://schemas.openxmlformats.org/drawingml/2006/main" noGrp="1"/>
          </p:cNvSpPr>
          <p:nvPr/>
        </p:nvSpPr>
        <p:spPr>
          <a:xfrm xmlns:a="http://schemas.openxmlformats.org/drawingml/2006/main">
            <a:off x="1676400" y="70294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업로드</a:t>
            </a:r>
          </a:p>
        </p:txBody>
      </p:sp>
      <p:sp>
        <p:nvSpPr>
          <p:cNvPr id="22" name="">
            <a:extLst xmlns:a="http://schemas.openxmlformats.org/drawingml/2006/main">
              <a:ext uri="{FF2B5EF4-FFF2-40B4-BE49-F238E27FC236}">
                <a16:creationId xmlns:a16="http://schemas.microsoft.com/office/drawing/2014/main" id="{373FC86B-6646-478F-92C5-E207EF951EC7}"/>
              </a:ext>
            </a:extLst>
          </p:cNvPr>
          <p:cNvSpPr>
            <a:spLocks xmlns:a="http://schemas.openxmlformats.org/drawingml/2006/main" noGrp="1"/>
          </p:cNvSpPr>
          <p:nvPr/>
        </p:nvSpPr>
        <p:spPr>
          <a:xfrm xmlns:a="http://schemas.openxmlformats.org/drawingml/2006/main">
            <a:off x="3000375" y="702945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F6A64"/>
                </a:solidFill>
                <a:latin typeface="Pretendard"/>
                <a:ea typeface="Pretendard"/>
                <a:cs typeface="Pretendard"/>
              </a:defRPr>
            </a:pPr>
            <a:r>
              <a:rPr sz="1500" b="0">
                <a:solidFill>
                  <a:srgbClr val="6F6A64"/>
                </a:solidFill>
                <a:latin typeface="Pretendard"/>
                <a:ea typeface="Pretendard"/>
                <a:cs typeface="Pretendard"/>
              </a:rPr>
              <a:t>서류별 버전과 OCR 상태 확인</a:t>
            </a:r>
          </a:p>
        </p:txBody>
      </p:sp>
      <p:sp>
        <p:nvSpPr>
          <p:cNvPr id="23" name="">
            <a:extLst xmlns:a="http://schemas.openxmlformats.org/drawingml/2006/main">
              <a:ext uri="{FF2B5EF4-FFF2-40B4-BE49-F238E27FC236}">
                <a16:creationId xmlns:a16="http://schemas.microsoft.com/office/drawing/2014/main" id="{52BCDBE8-E49A-4CD8-A2B1-3FAE253E9FE9}"/>
              </a:ext>
            </a:extLst>
          </p:cNvPr>
          <p:cNvSpPr>
            <a:spLocks xmlns:a="http://schemas.openxmlformats.org/drawingml/2006/main" noGrp="1"/>
          </p:cNvSpPr>
          <p:nvPr/>
        </p:nvSpPr>
        <p:spPr>
          <a:xfrm xmlns:a="http://schemas.openxmlformats.org/drawingml/2006/main">
            <a:off x="6191250" y="7086600"/>
            <a:ext cx="400050" cy="400050"/>
          </a:xfrm>
          <a:prstGeom xmlns:a="http://schemas.openxmlformats.org/drawingml/2006/main" prst="ellipse">
            <a:avLst/>
          </a:prstGeom>
          <a:solidFill xmlns:a="http://schemas.openxmlformats.org/drawingml/2006/main">
            <a:srgbClr val="FF782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2709CE1-7DF1-471E-B64F-A4D12DB3588A}"/>
              </a:ext>
            </a:extLst>
          </p:cNvPr>
          <p:cNvSpPr>
            <a:spLocks xmlns:a="http://schemas.openxmlformats.org/drawingml/2006/main" noGrp="1"/>
          </p:cNvSpPr>
          <p:nvPr/>
        </p:nvSpPr>
        <p:spPr>
          <a:xfrm xmlns:a="http://schemas.openxmlformats.org/drawingml/2006/main">
            <a:off x="6191250" y="70866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Pretendard"/>
                <a:ea typeface="Pretendard"/>
                <a:cs typeface="Pretendard"/>
              </a:defRPr>
            </a:pPr>
            <a:r>
              <a:rPr sz="1500" b="1">
                <a:solidFill>
                  <a:srgbClr val="FFFFFF"/>
                </a:solidFill>
                <a:latin typeface="Pretendard"/>
                <a:ea typeface="Pretendard"/>
                <a:cs typeface="Pretendard"/>
              </a:rPr>
              <a:t>2</a:t>
            </a:r>
          </a:p>
        </p:txBody>
      </p:sp>
      <p:sp>
        <p:nvSpPr>
          <p:cNvPr id="25" name="">
            <a:extLst xmlns:a="http://schemas.openxmlformats.org/drawingml/2006/main">
              <a:ext uri="{FF2B5EF4-FFF2-40B4-BE49-F238E27FC236}">
                <a16:creationId xmlns:a16="http://schemas.microsoft.com/office/drawing/2014/main" id="{3381022D-52AE-428A-8636-E1D607C5A344}"/>
              </a:ext>
            </a:extLst>
          </p:cNvPr>
          <p:cNvSpPr>
            <a:spLocks xmlns:a="http://schemas.openxmlformats.org/drawingml/2006/main" noGrp="1"/>
          </p:cNvSpPr>
          <p:nvPr/>
        </p:nvSpPr>
        <p:spPr>
          <a:xfrm xmlns:a="http://schemas.openxmlformats.org/drawingml/2006/main">
            <a:off x="6724650" y="70294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사전검증</a:t>
            </a:r>
          </a:p>
        </p:txBody>
      </p:sp>
      <p:sp>
        <p:nvSpPr>
          <p:cNvPr id="26" name="">
            <a:extLst xmlns:a="http://schemas.openxmlformats.org/drawingml/2006/main">
              <a:ext uri="{FF2B5EF4-FFF2-40B4-BE49-F238E27FC236}">
                <a16:creationId xmlns:a16="http://schemas.microsoft.com/office/drawing/2014/main" id="{D200BF93-5635-4932-BAF2-72EE39D1D0A0}"/>
              </a:ext>
            </a:extLst>
          </p:cNvPr>
          <p:cNvSpPr>
            <a:spLocks xmlns:a="http://schemas.openxmlformats.org/drawingml/2006/main" noGrp="1"/>
          </p:cNvSpPr>
          <p:nvPr/>
        </p:nvSpPr>
        <p:spPr>
          <a:xfrm xmlns:a="http://schemas.openxmlformats.org/drawingml/2006/main">
            <a:off x="7953375" y="70294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F6A64"/>
                </a:solidFill>
                <a:latin typeface="Pretendard"/>
                <a:ea typeface="Pretendard"/>
                <a:cs typeface="Pretendard"/>
              </a:defRPr>
            </a:pPr>
            <a:r>
              <a:rPr sz="1500" b="0">
                <a:solidFill>
                  <a:srgbClr val="6F6A64"/>
                </a:solidFill>
                <a:latin typeface="Pretendard"/>
                <a:ea typeface="Pretendard"/>
                <a:cs typeface="Pretendard"/>
              </a:rPr>
              <a:t>오류 해결 후 최종 제출</a:t>
            </a:r>
          </a:p>
        </p:txBody>
      </p:sp>
      <p:sp>
        <p:nvSpPr>
          <p:cNvPr id="27" name="">
            <a:extLst xmlns:a="http://schemas.openxmlformats.org/drawingml/2006/main">
              <a:ext uri="{FF2B5EF4-FFF2-40B4-BE49-F238E27FC236}">
                <a16:creationId xmlns:a16="http://schemas.microsoft.com/office/drawing/2014/main" id="{A19ECAB7-5F70-4320-8460-F75D78F3C20B}"/>
              </a:ext>
            </a:extLst>
          </p:cNvPr>
          <p:cNvSpPr>
            <a:spLocks xmlns:a="http://schemas.openxmlformats.org/drawingml/2006/main" noGrp="1"/>
          </p:cNvSpPr>
          <p:nvPr/>
        </p:nvSpPr>
        <p:spPr>
          <a:xfrm xmlns:a="http://schemas.openxmlformats.org/drawingml/2006/main">
            <a:off x="10620375" y="7086600"/>
            <a:ext cx="400050" cy="400050"/>
          </a:xfrm>
          <a:prstGeom xmlns:a="http://schemas.openxmlformats.org/drawingml/2006/main" prst="ellipse">
            <a:avLst/>
          </a:prstGeom>
          <a:solidFill xmlns:a="http://schemas.openxmlformats.org/drawingml/2006/main">
            <a:srgbClr val="F8B811"/>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13BEBC1-4CA6-4242-BDA5-582CDAD80DBE}"/>
              </a:ext>
            </a:extLst>
          </p:cNvPr>
          <p:cNvSpPr>
            <a:spLocks xmlns:a="http://schemas.openxmlformats.org/drawingml/2006/main" noGrp="1"/>
          </p:cNvSpPr>
          <p:nvPr/>
        </p:nvSpPr>
        <p:spPr>
          <a:xfrm xmlns:a="http://schemas.openxmlformats.org/drawingml/2006/main">
            <a:off x="10620375" y="708660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91919"/>
                </a:solidFill>
                <a:latin typeface="Pretendard"/>
                <a:ea typeface="Pretendard"/>
                <a:cs typeface="Pretendard"/>
              </a:defRPr>
            </a:pPr>
            <a:r>
              <a:rPr sz="1500" b="1">
                <a:solidFill>
                  <a:srgbClr val="191919"/>
                </a:solidFill>
                <a:latin typeface="Pretendard"/>
                <a:ea typeface="Pretendard"/>
                <a:cs typeface="Pretendard"/>
              </a:rPr>
              <a:t>3</a:t>
            </a:r>
          </a:p>
        </p:txBody>
      </p:sp>
      <p:sp>
        <p:nvSpPr>
          <p:cNvPr id="29" name="">
            <a:extLst xmlns:a="http://schemas.openxmlformats.org/drawingml/2006/main">
              <a:ext uri="{FF2B5EF4-FFF2-40B4-BE49-F238E27FC236}">
                <a16:creationId xmlns:a16="http://schemas.microsoft.com/office/drawing/2014/main" id="{0BD32D88-D152-402C-9DF0-F61F1FEEBD11}"/>
              </a:ext>
            </a:extLst>
          </p:cNvPr>
          <p:cNvSpPr>
            <a:spLocks xmlns:a="http://schemas.openxmlformats.org/drawingml/2006/main" noGrp="1"/>
          </p:cNvSpPr>
          <p:nvPr/>
        </p:nvSpPr>
        <p:spPr>
          <a:xfrm xmlns:a="http://schemas.openxmlformats.org/drawingml/2006/main">
            <a:off x="11163300" y="70294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은행 검토</a:t>
            </a:r>
          </a:p>
        </p:txBody>
      </p:sp>
      <p:sp>
        <p:nvSpPr>
          <p:cNvPr id="30" name="">
            <a:extLst xmlns:a="http://schemas.openxmlformats.org/drawingml/2006/main">
              <a:ext uri="{FF2B5EF4-FFF2-40B4-BE49-F238E27FC236}">
                <a16:creationId xmlns:a16="http://schemas.microsoft.com/office/drawing/2014/main" id="{AE7CEF27-0F46-4417-B375-3FC454480ED5}"/>
              </a:ext>
            </a:extLst>
          </p:cNvPr>
          <p:cNvSpPr>
            <a:spLocks xmlns:a="http://schemas.openxmlformats.org/drawingml/2006/main" noGrp="1"/>
          </p:cNvSpPr>
          <p:nvPr/>
        </p:nvSpPr>
        <p:spPr>
          <a:xfrm xmlns:a="http://schemas.openxmlformats.org/drawingml/2006/main">
            <a:off x="12525375" y="7029450"/>
            <a:ext cx="1666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6F6A64"/>
                </a:solidFill>
                <a:latin typeface="Pretendard"/>
                <a:ea typeface="Pretendard"/>
                <a:cs typeface="Pretendard"/>
              </a:defRPr>
            </a:pPr>
            <a:r>
              <a:rPr sz="1425" b="0">
                <a:solidFill>
                  <a:srgbClr val="6F6A64"/>
                </a:solidFill>
                <a:latin typeface="Pretendard"/>
                <a:ea typeface="Pretendard"/>
                <a:cs typeface="Pretendard"/>
              </a:rPr>
              <a:t>확인 완료 또는 보완 요청</a:t>
            </a:r>
          </a:p>
        </p:txBody>
      </p:sp>
    </p:spTree>
    <p:extLst>
      <p:ext uri="{BB962C8B-B14F-4D97-AF65-F5344CB8AC3E}">
        <p14:creationId xmlns:p14="http://schemas.microsoft.com/office/powerpoint/2010/main" val="1917491301"/>
      </p:ext>
    </p:extLst>
  </p:cSld>
</p:sld>
</file>

<file path=ppt/slides/slide4.xml><?xml version="1.0" encoding="utf-8"?>
<p:sld xmlns:p="http://schemas.openxmlformats.org/presentationml/2006/main">
  <p:cSld>
    <p:bg>
      <p:bgPr>
        <a:solidFill xmlns:a="http://schemas.openxmlformats.org/drawingml/2006/main">
          <a:srgbClr val="FBF9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9464810-CBB9-4B0E-A0DF-74D608C1D17E}"/>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ellipse">
            <a:avLst/>
          </a:prstGeom>
          <a:solidFill xmlns:a="http://schemas.openxmlformats.org/drawingml/2006/main">
            <a:srgbClr val="F8B81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12D054-0106-42BF-AE42-23CE4C5C19B6}"/>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91919"/>
                </a:solidFill>
                <a:latin typeface="Pretendard"/>
                <a:ea typeface="Pretendard"/>
                <a:cs typeface="Pretendard"/>
              </a:defRPr>
            </a:pPr>
            <a:r>
              <a:rPr sz="2550" b="1">
                <a:solidFill>
                  <a:srgbClr val="191919"/>
                </a:solidFill>
                <a:latin typeface="Pretendard"/>
                <a:ea typeface="Pretendard"/>
                <a:cs typeface="Pretendard"/>
              </a:rPr>
              <a:t>04</a:t>
            </a:r>
          </a:p>
        </p:txBody>
      </p:sp>
      <p:sp>
        <p:nvSpPr>
          <p:cNvPr id="3" name="">
            <a:extLst xmlns:a="http://schemas.openxmlformats.org/drawingml/2006/main">
              <a:ext uri="{FF2B5EF4-FFF2-40B4-BE49-F238E27FC236}">
                <a16:creationId xmlns:a16="http://schemas.microsoft.com/office/drawing/2014/main" id="{1B4E03B2-D80E-4EDA-AA12-02A740C3C777}"/>
              </a:ext>
            </a:extLst>
          </p:cNvPr>
          <p:cNvSpPr>
            <a:spLocks xmlns:a="http://schemas.openxmlformats.org/drawingml/2006/main" noGrp="1"/>
          </p:cNvSpPr>
          <p:nvPr/>
        </p:nvSpPr>
        <p:spPr>
          <a:xfrm xmlns:a="http://schemas.openxmlformats.org/drawingml/2006/main">
            <a:off x="1219200" y="247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600" b="1">
                <a:solidFill>
                  <a:srgbClr val="191919"/>
                </a:solidFill>
                <a:latin typeface="Pretendard"/>
                <a:ea typeface="Pretendard"/>
                <a:cs typeface="Pretendard"/>
              </a:defRPr>
            </a:pPr>
            <a:r>
              <a:rPr sz="3600" b="1">
                <a:solidFill>
                  <a:srgbClr val="191919"/>
                </a:solidFill>
                <a:latin typeface="Pretendard"/>
                <a:ea typeface="Pretendard"/>
                <a:cs typeface="Pretendard"/>
              </a:rPr>
              <a:t>데이터 모델</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2c0484835604c67"/>
          <a:stretch xmlns:a="http://schemas.openxmlformats.org/drawingml/2006/main"/>
        </p:blipFill>
        <p:spPr>
          <a:xfrm xmlns:a="http://schemas.openxmlformats.org/drawingml/2006/main">
            <a:off x="13639800" y="185210"/>
            <a:ext cx="1123950" cy="5630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8FFC2C7-6D9B-4731-A53C-C2AA0E92E20A}"/>
              </a:ext>
            </a:extLst>
          </p:cNvPr>
          <p:cNvSpPr>
            <a:spLocks xmlns:a="http://schemas.openxmlformats.org/drawingml/2006/main" noGrp="1"/>
          </p:cNvSpPr>
          <p:nvPr/>
        </p:nvSpPr>
        <p:spPr>
          <a:xfrm xmlns:a="http://schemas.openxmlformats.org/drawingml/2006/main">
            <a:off x="762000" y="119062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6F6A64"/>
                </a:solidFill>
                <a:latin typeface="Pretendard"/>
                <a:ea typeface="Pretendard"/>
                <a:cs typeface="Pretendard"/>
              </a:defRPr>
            </a:pPr>
            <a:r>
              <a:rPr sz="1725" b="0">
                <a:solidFill>
                  <a:srgbClr val="6F6A64"/>
                </a:solidFill>
                <a:latin typeface="Pretendard"/>
                <a:ea typeface="Pretendard"/>
                <a:cs typeface="Pretendard"/>
              </a:rPr>
              <a:t>8개 테이블과 12개 외래키로 제출·검증·보완 이력을 연결했습니다.</a:t>
            </a:r>
          </a:p>
        </p:txBody>
      </p:sp>
      <p:sp>
        <p:nvSpPr>
          <p:cNvPr id="6" name="">
            <a:extLst xmlns:a="http://schemas.openxmlformats.org/drawingml/2006/main">
              <a:ext uri="{FF2B5EF4-FFF2-40B4-BE49-F238E27FC236}">
                <a16:creationId xmlns:a16="http://schemas.microsoft.com/office/drawing/2014/main" id="{EE365FFA-29F1-4E36-962F-530DDB3235A8}"/>
              </a:ext>
            </a:extLst>
          </p:cNvPr>
          <p:cNvSpPr>
            <a:spLocks xmlns:a="http://schemas.openxmlformats.org/drawingml/2006/main" noGrp="1"/>
          </p:cNvSpPr>
          <p:nvPr/>
        </p:nvSpPr>
        <p:spPr>
          <a:xfrm xmlns:a="http://schemas.openxmlformats.org/drawingml/2006/main">
            <a:off x="762000" y="1809750"/>
            <a:ext cx="3810000" cy="5715000"/>
          </a:xfrm>
          <a:prstGeom xmlns:a="http://schemas.openxmlformats.org/drawingml/2006/main" prst="roundRect">
            <a:avLst>
              <a:gd name="adj" fmla="val 3500"/>
            </a:avLst>
          </a:prstGeom>
          <a:solidFill xmlns:a="http://schemas.openxmlformats.org/drawingml/2006/main">
            <a:srgbClr val="FFFFFF"/>
          </a:solidFill>
          <a:ln xmlns:a="http://schemas.openxmlformats.org/drawingml/2006/main" w="9525">
            <a:solidFill>
              <a:srgbClr val="E2DCD3"/>
            </a:solidFill>
          </a:ln>
        </p:spPr>
      </p:sp>
      <p:sp>
        <p:nvSpPr>
          <p:cNvPr id="7" name="">
            <a:extLst xmlns:a="http://schemas.openxmlformats.org/drawingml/2006/main">
              <a:ext uri="{FF2B5EF4-FFF2-40B4-BE49-F238E27FC236}">
                <a16:creationId xmlns:a16="http://schemas.microsoft.com/office/drawing/2014/main" id="{38A37CA5-C784-47B7-B936-395006F62232}"/>
              </a:ext>
            </a:extLst>
          </p:cNvPr>
          <p:cNvSpPr>
            <a:spLocks xmlns:a="http://schemas.openxmlformats.org/drawingml/2006/main" noGrp="1"/>
          </p:cNvSpPr>
          <p:nvPr/>
        </p:nvSpPr>
        <p:spPr>
          <a:xfrm xmlns:a="http://schemas.openxmlformats.org/drawingml/2006/main">
            <a:off x="1095375" y="2133600"/>
            <a:ext cx="66675" cy="285750"/>
          </a:xfrm>
          <a:prstGeom xmlns:a="http://schemas.openxmlformats.org/drawingml/2006/main" prst="rect">
            <a:avLst/>
          </a:prstGeom>
          <a:solidFill xmlns:a="http://schemas.openxmlformats.org/drawingml/2006/main">
            <a:srgbClr val="FF782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B32CB3C-C1EB-45AC-877C-510908CB085B}"/>
              </a:ext>
            </a:extLst>
          </p:cNvPr>
          <p:cNvSpPr>
            <a:spLocks xmlns:a="http://schemas.openxmlformats.org/drawingml/2006/main" noGrp="1"/>
          </p:cNvSpPr>
          <p:nvPr/>
        </p:nvSpPr>
        <p:spPr>
          <a:xfrm xmlns:a="http://schemas.openxmlformats.org/drawingml/2006/main">
            <a:off x="1266825" y="209550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FF7823"/>
                </a:solidFill>
                <a:latin typeface="Pretendard"/>
                <a:ea typeface="Pretendard"/>
                <a:cs typeface="Pretendard"/>
              </a:defRPr>
            </a:pPr>
            <a:r>
              <a:rPr sz="1800" b="1">
                <a:solidFill>
                  <a:srgbClr val="FF7823"/>
                </a:solidFill>
                <a:latin typeface="Pretendard"/>
                <a:ea typeface="Pretendard"/>
                <a:cs typeface="Pretendard"/>
              </a:rPr>
              <a:t>PK / FK 설계</a:t>
            </a:r>
          </a:p>
        </p:txBody>
      </p:sp>
      <p:sp>
        <p:nvSpPr>
          <p:cNvPr id="9" name="">
            <a:extLst xmlns:a="http://schemas.openxmlformats.org/drawingml/2006/main">
              <a:ext uri="{FF2B5EF4-FFF2-40B4-BE49-F238E27FC236}">
                <a16:creationId xmlns:a16="http://schemas.microsoft.com/office/drawing/2014/main" id="{B3163139-7C4B-44C2-AEE4-6ED2EB08E666}"/>
              </a:ext>
            </a:extLst>
          </p:cNvPr>
          <p:cNvSpPr>
            <a:spLocks xmlns:a="http://schemas.openxmlformats.org/drawingml/2006/main" noGrp="1"/>
          </p:cNvSpPr>
          <p:nvPr/>
        </p:nvSpPr>
        <p:spPr>
          <a:xfrm xmlns:a="http://schemas.openxmlformats.org/drawingml/2006/main">
            <a:off x="1143000" y="268605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F40036"/>
                </a:solidFill>
                <a:latin typeface="Pretendard"/>
                <a:ea typeface="Pretendard"/>
                <a:cs typeface="Pretendard"/>
              </a:defRPr>
            </a:pPr>
            <a:r>
              <a:rPr sz="1800" b="1">
                <a:solidFill>
                  <a:srgbClr val="F40036"/>
                </a:solidFill>
                <a:latin typeface="Pretendard"/>
                <a:ea typeface="Pretendard"/>
                <a:cs typeface="Pretendard"/>
              </a:rPr>
              <a:t>PK</a:t>
            </a:r>
          </a:p>
        </p:txBody>
      </p:sp>
      <p:sp>
        <p:nvSpPr>
          <p:cNvPr id="10" name="">
            <a:extLst xmlns:a="http://schemas.openxmlformats.org/drawingml/2006/main">
              <a:ext uri="{FF2B5EF4-FFF2-40B4-BE49-F238E27FC236}">
                <a16:creationId xmlns:a16="http://schemas.microsoft.com/office/drawing/2014/main" id="{161D6026-6FEA-4A41-BE5E-2894A38E488E}"/>
              </a:ext>
            </a:extLst>
          </p:cNvPr>
          <p:cNvSpPr>
            <a:spLocks xmlns:a="http://schemas.openxmlformats.org/drawingml/2006/main" noGrp="1"/>
          </p:cNvSpPr>
          <p:nvPr/>
        </p:nvSpPr>
        <p:spPr>
          <a:xfrm xmlns:a="http://schemas.openxmlformats.org/drawingml/2006/main">
            <a:off x="1952625" y="26860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모든 테이블의 id</a:t>
            </a:r>
          </a:p>
        </p:txBody>
      </p:sp>
      <p:sp>
        <p:nvSpPr>
          <p:cNvPr id="11" name="">
            <a:extLst xmlns:a="http://schemas.openxmlformats.org/drawingml/2006/main">
              <a:ext uri="{FF2B5EF4-FFF2-40B4-BE49-F238E27FC236}">
                <a16:creationId xmlns:a16="http://schemas.microsoft.com/office/drawing/2014/main" id="{82F66FFA-BAA7-4038-A3D5-A8829F7D30AA}"/>
              </a:ext>
            </a:extLst>
          </p:cNvPr>
          <p:cNvSpPr>
            <a:spLocks xmlns:a="http://schemas.openxmlformats.org/drawingml/2006/main" noGrp="1"/>
          </p:cNvSpPr>
          <p:nvPr/>
        </p:nvSpPr>
        <p:spPr>
          <a:xfrm xmlns:a="http://schemas.openxmlformats.org/drawingml/2006/main">
            <a:off x="1143000" y="333375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F40036"/>
                </a:solidFill>
                <a:latin typeface="Pretendard"/>
                <a:ea typeface="Pretendard"/>
                <a:cs typeface="Pretendard"/>
              </a:defRPr>
            </a:pPr>
            <a:r>
              <a:rPr sz="1800" b="1">
                <a:solidFill>
                  <a:srgbClr val="F40036"/>
                </a:solidFill>
                <a:latin typeface="Pretendard"/>
                <a:ea typeface="Pretendard"/>
                <a:cs typeface="Pretendard"/>
              </a:rPr>
              <a:t>FK</a:t>
            </a:r>
          </a:p>
        </p:txBody>
      </p:sp>
      <p:sp>
        <p:nvSpPr>
          <p:cNvPr id="12" name="">
            <a:extLst xmlns:a="http://schemas.openxmlformats.org/drawingml/2006/main">
              <a:ext uri="{FF2B5EF4-FFF2-40B4-BE49-F238E27FC236}">
                <a16:creationId xmlns:a16="http://schemas.microsoft.com/office/drawing/2014/main" id="{7D94D6AA-3F87-4DC3-A44D-FCC241187729}"/>
              </a:ext>
            </a:extLst>
          </p:cNvPr>
          <p:cNvSpPr>
            <a:spLocks xmlns:a="http://schemas.openxmlformats.org/drawingml/2006/main" noGrp="1"/>
          </p:cNvSpPr>
          <p:nvPr/>
        </p:nvSpPr>
        <p:spPr>
          <a:xfrm xmlns:a="http://schemas.openxmlformats.org/drawingml/2006/main">
            <a:off x="1952625" y="3276600"/>
            <a:ext cx="2190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2052"/>
          </a:bodyPr>
          <a:lstStyle xmlns:a="http://schemas.openxmlformats.org/drawingml/2006/main"/>
          <a:p xmlns:a="http://schemas.openxmlformats.org/drawingml/2006/main">
            <a:pPr algn="l">
              <a:defRPr sz="1500" b="0">
                <a:solidFill>
                  <a:srgbClr val="191919"/>
                </a:solidFill>
                <a:latin typeface="Pretendard"/>
                <a:ea typeface="Pretendard"/>
                <a:cs typeface="Pretendard"/>
              </a:defRPr>
            </a:pPr>
            <a:r>
              <a:rPr sz="1500" b="0">
                <a:solidFill>
                  <a:srgbClr val="191919"/>
                </a:solidFill>
                <a:latin typeface="Pretendard"/>
                <a:ea typeface="Pretendard"/>
                <a:cs typeface="Pretendard"/>
              </a:rPr>
              <a:t>company_id · application_id</a:t>
            </a:r>
          </a:p>
          <a:p xmlns:a="http://schemas.openxmlformats.org/drawingml/2006/main">
            <a:pPr algn="l">
              <a:defRPr sz="1500" b="0">
                <a:solidFill>
                  <a:srgbClr val="191919"/>
                </a:solidFill>
                <a:latin typeface="Pretendard"/>
                <a:ea typeface="Pretendard"/>
                <a:cs typeface="Pretendard"/>
              </a:defRPr>
            </a:pPr>
            <a:r>
              <a:rPr sz="1500" b="0">
                <a:solidFill>
                  <a:srgbClr val="191919"/>
                </a:solidFill>
                <a:latin typeface="Pretendard"/>
                <a:ea typeface="Pretendard"/>
                <a:cs typeface="Pretendard"/>
              </a:rPr>
              <a:t>document_id · reviewer_id · uploaded_by</a:t>
            </a:r>
          </a:p>
        </p:txBody>
      </p:sp>
      <p:sp>
        <p:nvSpPr>
          <p:cNvPr id="13" name="">
            <a:extLst xmlns:a="http://schemas.openxmlformats.org/drawingml/2006/main">
              <a:ext uri="{FF2B5EF4-FFF2-40B4-BE49-F238E27FC236}">
                <a16:creationId xmlns:a16="http://schemas.microsoft.com/office/drawing/2014/main" id="{DCE4D13A-0FD7-4E95-825A-3191997F1EE0}"/>
              </a:ext>
            </a:extLst>
          </p:cNvPr>
          <p:cNvSpPr>
            <a:spLocks xmlns:a="http://schemas.openxmlformats.org/drawingml/2006/main" noGrp="1"/>
          </p:cNvSpPr>
          <p:nvPr/>
        </p:nvSpPr>
        <p:spPr>
          <a:xfrm xmlns:a="http://schemas.openxmlformats.org/drawingml/2006/main">
            <a:off x="1095375" y="4333875"/>
            <a:ext cx="3143250" cy="9525"/>
          </a:xfrm>
          <a:prstGeom xmlns:a="http://schemas.openxmlformats.org/drawingml/2006/main" prst="rect">
            <a:avLst/>
          </a:prstGeom>
          <a:solidFill xmlns:a="http://schemas.openxmlformats.org/drawingml/2006/main">
            <a:srgbClr val="E2DC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CF7761F-F0D4-4BF0-8BCC-BE13444F1F84}"/>
              </a:ext>
            </a:extLst>
          </p:cNvPr>
          <p:cNvSpPr>
            <a:spLocks xmlns:a="http://schemas.openxmlformats.org/drawingml/2006/main" noGrp="1"/>
          </p:cNvSpPr>
          <p:nvPr/>
        </p:nvSpPr>
        <p:spPr>
          <a:xfrm xmlns:a="http://schemas.openxmlformats.org/drawingml/2006/main">
            <a:off x="1143000" y="45720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FF7823"/>
                </a:solidFill>
                <a:latin typeface="Pretendard"/>
                <a:ea typeface="Pretendard"/>
                <a:cs typeface="Pretendard"/>
              </a:defRPr>
            </a:pPr>
            <a:r>
              <a:rPr sz="1575" b="1">
                <a:solidFill>
                  <a:srgbClr val="FF7823"/>
                </a:solidFill>
                <a:latin typeface="Pretendard"/>
                <a:ea typeface="Pretendard"/>
                <a:cs typeface="Pretendard"/>
              </a:rPr>
              <a:t>교차검증 기준</a:t>
            </a:r>
          </a:p>
        </p:txBody>
      </p:sp>
      <p:sp>
        <p:nvSpPr>
          <p:cNvPr id="15" name="">
            <a:extLst xmlns:a="http://schemas.openxmlformats.org/drawingml/2006/main">
              <a:ext uri="{FF2B5EF4-FFF2-40B4-BE49-F238E27FC236}">
                <a16:creationId xmlns:a16="http://schemas.microsoft.com/office/drawing/2014/main" id="{A08C3BB5-2587-419E-AD31-AF20C972906F}"/>
              </a:ext>
            </a:extLst>
          </p:cNvPr>
          <p:cNvSpPr>
            <a:spLocks xmlns:a="http://schemas.openxmlformats.org/drawingml/2006/main" noGrp="1"/>
          </p:cNvSpPr>
          <p:nvPr/>
        </p:nvSpPr>
        <p:spPr>
          <a:xfrm xmlns:a="http://schemas.openxmlformats.org/drawingml/2006/main">
            <a:off x="1143000" y="495300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91919"/>
                </a:solidFill>
                <a:latin typeface="Pretendard"/>
                <a:ea typeface="Pretendard"/>
                <a:cs typeface="Pretendard"/>
              </a:defRPr>
            </a:pPr>
            <a:r>
              <a:rPr sz="1575" b="0">
                <a:solidFill>
                  <a:srgbClr val="191919"/>
                </a:solidFill>
                <a:latin typeface="Pretendard"/>
                <a:ea typeface="Pretendard"/>
                <a:cs typeface="Pretendard"/>
              </a:rPr>
              <a:t>companies에 기업명과 사업자등록번호를 분리해 기준값을 한 곳에서 관리</a:t>
            </a:r>
          </a:p>
        </p:txBody>
      </p:sp>
      <p:sp>
        <p:nvSpPr>
          <p:cNvPr id="16" name="">
            <a:extLst xmlns:a="http://schemas.openxmlformats.org/drawingml/2006/main">
              <a:ext uri="{FF2B5EF4-FFF2-40B4-BE49-F238E27FC236}">
                <a16:creationId xmlns:a16="http://schemas.microsoft.com/office/drawing/2014/main" id="{575B1C49-7175-4E38-85F4-E51F82AF705F}"/>
              </a:ext>
            </a:extLst>
          </p:cNvPr>
          <p:cNvSpPr>
            <a:spLocks xmlns:a="http://schemas.openxmlformats.org/drawingml/2006/main" noGrp="1"/>
          </p:cNvSpPr>
          <p:nvPr/>
        </p:nvSpPr>
        <p:spPr>
          <a:xfrm xmlns:a="http://schemas.openxmlformats.org/drawingml/2006/main">
            <a:off x="1143000" y="59531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FF7823"/>
                </a:solidFill>
                <a:latin typeface="Pretendard"/>
                <a:ea typeface="Pretendard"/>
                <a:cs typeface="Pretendard"/>
              </a:defRPr>
            </a:pPr>
            <a:r>
              <a:rPr sz="1575" b="1">
                <a:solidFill>
                  <a:srgbClr val="FF7823"/>
                </a:solidFill>
                <a:latin typeface="Pretendard"/>
                <a:ea typeface="Pretendard"/>
                <a:cs typeface="Pretendard"/>
              </a:rPr>
              <a:t>버전·이력</a:t>
            </a:r>
          </a:p>
        </p:txBody>
      </p:sp>
      <p:sp>
        <p:nvSpPr>
          <p:cNvPr id="17" name="">
            <a:extLst xmlns:a="http://schemas.openxmlformats.org/drawingml/2006/main">
              <a:ext uri="{FF2B5EF4-FFF2-40B4-BE49-F238E27FC236}">
                <a16:creationId xmlns:a16="http://schemas.microsoft.com/office/drawing/2014/main" id="{98A079A5-EC6D-4C70-A1D8-88AA494927F1}"/>
              </a:ext>
            </a:extLst>
          </p:cNvPr>
          <p:cNvSpPr>
            <a:spLocks xmlns:a="http://schemas.openxmlformats.org/drawingml/2006/main" noGrp="1"/>
          </p:cNvSpPr>
          <p:nvPr/>
        </p:nvSpPr>
        <p:spPr>
          <a:xfrm xmlns:a="http://schemas.openxmlformats.org/drawingml/2006/main">
            <a:off x="1143000" y="6343650"/>
            <a:ext cx="304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91919"/>
                </a:solidFill>
                <a:latin typeface="Pretendard"/>
                <a:ea typeface="Pretendard"/>
                <a:cs typeface="Pretendard"/>
              </a:defRPr>
            </a:pPr>
            <a:r>
              <a:rPr sz="1575" b="0">
                <a:solidFill>
                  <a:srgbClr val="191919"/>
                </a:solidFill>
                <a:latin typeface="Pretendard"/>
                <a:ea typeface="Pretendard"/>
                <a:cs typeface="Pretendard"/>
              </a:rPr>
              <a:t>submitted_documents.version_no와 reviews로 이전본·최신본·검토 결과를 보존</a:t>
            </a:r>
          </a:p>
        </p:txBody>
      </p:sp>
      <p:sp>
        <p:nvSpPr>
          <p:cNvPr id="18" name="">
            <a:extLst xmlns:a="http://schemas.openxmlformats.org/drawingml/2006/main">
              <a:ext uri="{FF2B5EF4-FFF2-40B4-BE49-F238E27FC236}">
                <a16:creationId xmlns:a16="http://schemas.microsoft.com/office/drawing/2014/main" id="{BDC1D4CE-D673-46B5-AEA7-BFDE0310C0F3}"/>
              </a:ext>
            </a:extLst>
          </p:cNvPr>
          <p:cNvSpPr>
            <a:spLocks xmlns:a="http://schemas.openxmlformats.org/drawingml/2006/main" noGrp="1"/>
          </p:cNvSpPr>
          <p:nvPr/>
        </p:nvSpPr>
        <p:spPr>
          <a:xfrm xmlns:a="http://schemas.openxmlformats.org/drawingml/2006/main">
            <a:off x="4953000" y="1714500"/>
            <a:ext cx="9525000" cy="5905500"/>
          </a:xfrm>
          <a:prstGeom xmlns:a="http://schemas.openxmlformats.org/drawingml/2006/main" prst="roundRect">
            <a:avLst>
              <a:gd name="adj" fmla="val 1935"/>
            </a:avLst>
          </a:prstGeom>
          <a:solidFill xmlns:a="http://schemas.openxmlformats.org/drawingml/2006/main">
            <a:srgbClr val="FFFFFF"/>
          </a:solidFill>
          <a:ln xmlns:a="http://schemas.openxmlformats.org/drawingml/2006/main" w="9525">
            <a:solidFill>
              <a:srgbClr val="E2DCD3"/>
            </a:solidFill>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0d7c0e0c1a894fbd"/>
          <a:stretch xmlns:a="http://schemas.openxmlformats.org/drawingml/2006/main"/>
        </p:blipFill>
        <p:spPr>
          <a:xfrm xmlns:a="http://schemas.openxmlformats.org/drawingml/2006/main">
            <a:off x="5445428" y="1952625"/>
            <a:ext cx="8540144" cy="54292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C7D43D5A-6F64-4528-9395-A8E17A71D711}"/>
              </a:ext>
            </a:extLst>
          </p:cNvPr>
          <p:cNvSpPr>
            <a:spLocks xmlns:a="http://schemas.openxmlformats.org/drawingml/2006/main" noGrp="1"/>
          </p:cNvSpPr>
          <p:nvPr/>
        </p:nvSpPr>
        <p:spPr>
          <a:xfrm xmlns:a="http://schemas.openxmlformats.org/drawingml/2006/main">
            <a:off x="762000" y="781050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0">
                <a:solidFill>
                  <a:srgbClr val="6F6A64"/>
                </a:solidFill>
                <a:latin typeface="Pretendard"/>
                <a:ea typeface="Pretendard"/>
                <a:cs typeface="Pretendard"/>
              </a:defRPr>
            </a:pPr>
            <a:r>
              <a:rPr sz="1575" b="0">
                <a:solidFill>
                  <a:srgbClr val="6F6A64"/>
                </a:solidFill>
                <a:latin typeface="Pretendard"/>
                <a:ea typeface="Pretendard"/>
                <a:cs typeface="Pretendard"/>
              </a:rPr>
              <a:t>관계는 모두 1:N이며 화면과 API에서 사용하는 데이터만 모델링</a:t>
            </a:r>
          </a:p>
        </p:txBody>
      </p:sp>
    </p:spTree>
    <p:extLst>
      <p:ext uri="{BB962C8B-B14F-4D97-AF65-F5344CB8AC3E}">
        <p14:creationId xmlns:p14="http://schemas.microsoft.com/office/powerpoint/2010/main" val="381636954"/>
      </p:ext>
    </p:extLst>
  </p:cSld>
</p:sld>
</file>

<file path=ppt/slides/slide5.xml><?xml version="1.0" encoding="utf-8"?>
<p:sld xmlns:p="http://schemas.openxmlformats.org/presentationml/2006/main">
  <p:cSld>
    <p:bg>
      <p:bgPr>
        <a:solidFill xmlns:a="http://schemas.openxmlformats.org/drawingml/2006/main">
          <a:srgbClr val="FBF9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613578B-57B3-4E7F-9CC1-8C6598E94578}"/>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ellipse">
            <a:avLst/>
          </a:prstGeom>
          <a:solidFill xmlns:a="http://schemas.openxmlformats.org/drawingml/2006/main">
            <a:srgbClr val="F8B81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E9BF9C-659A-41E0-B9A1-409A0A8B84D7}"/>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91919"/>
                </a:solidFill>
                <a:latin typeface="Pretendard"/>
                <a:ea typeface="Pretendard"/>
                <a:cs typeface="Pretendard"/>
              </a:defRPr>
            </a:pPr>
            <a:r>
              <a:rPr sz="2550" b="1">
                <a:solidFill>
                  <a:srgbClr val="191919"/>
                </a:solidFill>
                <a:latin typeface="Pretendard"/>
                <a:ea typeface="Pretendard"/>
                <a:cs typeface="Pretendard"/>
              </a:rPr>
              <a:t>05</a:t>
            </a:r>
          </a:p>
        </p:txBody>
      </p:sp>
      <p:sp>
        <p:nvSpPr>
          <p:cNvPr id="3" name="">
            <a:extLst xmlns:a="http://schemas.openxmlformats.org/drawingml/2006/main">
              <a:ext uri="{FF2B5EF4-FFF2-40B4-BE49-F238E27FC236}">
                <a16:creationId xmlns:a16="http://schemas.microsoft.com/office/drawing/2014/main" id="{7514BA04-2138-4243-90FC-40A69F0C97D8}"/>
              </a:ext>
            </a:extLst>
          </p:cNvPr>
          <p:cNvSpPr>
            <a:spLocks xmlns:a="http://schemas.openxmlformats.org/drawingml/2006/main" noGrp="1"/>
          </p:cNvSpPr>
          <p:nvPr/>
        </p:nvSpPr>
        <p:spPr>
          <a:xfrm xmlns:a="http://schemas.openxmlformats.org/drawingml/2006/main">
            <a:off x="1219200" y="247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600" b="1">
                <a:solidFill>
                  <a:srgbClr val="191919"/>
                </a:solidFill>
                <a:latin typeface="Pretendard"/>
                <a:ea typeface="Pretendard"/>
                <a:cs typeface="Pretendard"/>
              </a:defRPr>
            </a:pPr>
            <a:r>
              <a:rPr sz="3600" b="1">
                <a:solidFill>
                  <a:srgbClr val="191919"/>
                </a:solidFill>
                <a:latin typeface="Pretendard"/>
                <a:ea typeface="Pretendard"/>
                <a:cs typeface="Pretendard"/>
              </a:rPr>
              <a:t>핵심 API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86ca58e6f0d49be"/>
          <a:stretch xmlns:a="http://schemas.openxmlformats.org/drawingml/2006/main"/>
        </p:blipFill>
        <p:spPr>
          <a:xfrm xmlns:a="http://schemas.openxmlformats.org/drawingml/2006/main">
            <a:off x="13639800" y="185210"/>
            <a:ext cx="1123950" cy="5630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3BFDDC5-96A7-4611-A8EC-1CF6CF5B0532}"/>
              </a:ext>
            </a:extLst>
          </p:cNvPr>
          <p:cNvSpPr>
            <a:spLocks xmlns:a="http://schemas.openxmlformats.org/drawingml/2006/main" noGrp="1"/>
          </p:cNvSpPr>
          <p:nvPr/>
        </p:nvSpPr>
        <p:spPr>
          <a:xfrm xmlns:a="http://schemas.openxmlformats.org/drawingml/2006/main">
            <a:off x="762000" y="11906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6F6A64"/>
                </a:solidFill>
                <a:latin typeface="Pretendard"/>
                <a:ea typeface="Pretendard"/>
                <a:cs typeface="Pretendard"/>
              </a:defRPr>
            </a:pPr>
            <a:r>
              <a:rPr sz="1725" b="0">
                <a:solidFill>
                  <a:srgbClr val="6F6A64"/>
                </a:solidFill>
                <a:latin typeface="Pretendard"/>
                <a:ea typeface="Pretendard"/>
                <a:cs typeface="Pretendard"/>
              </a:rPr>
              <a:t>화면의 주요 사용자 행동과 직접 연결되는 API 3개입니다.</a:t>
            </a:r>
          </a:p>
        </p:txBody>
      </p:sp>
      <p:graphicFrame>
        <p:nvGraphicFramePr>
          <p:cNvPr id="15" name=""/>
          <p:cNvGraphicFramePr/>
          <p:nvPr/>
        </p:nvGraphicFramePr>
        <p:xfrm>
          <a:off xmlns:a="http://schemas.openxmlformats.org/drawingml/2006/main" x="762000" y="1809750"/>
          <a:ext xmlns:a="http://schemas.openxmlformats.org/drawingml/2006/main" cx="13716000" cy="4762500"/>
        </p:xfrm>
        <a:graphic xmlns:a="http://schemas.openxmlformats.org/drawingml/2006/main">
          <a:graphicData uri="http://schemas.openxmlformats.org/drawingml/2006/table">
            <a:tbl>
              <a:tblPr/>
              <a:tblGrid>
                <a:gridCol w="1428750"/>
                <a:gridCol w="5334000"/>
                <a:gridCol w="3143250"/>
                <a:gridCol w="3810000"/>
              </a:tblGrid>
              <a:tr h="552450">
                <a:tc>
                  <a:txBody>
                    <a:bodyPr wrap="square" lIns="95250" tIns="85725" rIns="95250" bIns="85725">
                      <a:normAutofit/>
                    </a:bodyPr>
                    <a:lstStyle/>
                    <a:p>
                      <a:r>
                        <a:rPr sz="1500" b="1">
                          <a:solidFill>
                            <a:srgbClr val="191919"/>
                          </a:solidFill>
                          <a:latin typeface="Pretendard"/>
                          <a:ea typeface="Pretendard"/>
                          <a:cs typeface="Pretendard"/>
                        </a:rPr>
                        <a:t>Method</a:t>
                      </a:r>
                    </a:p>
                  </a:txBody>
                  <a:tcPr marL="91440" marR="91440" marT="45720" marB="45720" anchor="ctr">
                    <a:solidFill>
                      <a:srgbClr val="FFF1E8"/>
                    </a:solidFill>
                  </a:tcPr>
                </a:tc>
                <a:tc>
                  <a:txBody>
                    <a:bodyPr wrap="square" lIns="95250" tIns="85725" rIns="95250" bIns="85725">
                      <a:normAutofit/>
                    </a:bodyPr>
                    <a:lstStyle/>
                    <a:p>
                      <a:r>
                        <a:rPr sz="1500" b="1">
                          <a:solidFill>
                            <a:srgbClr val="191919"/>
                          </a:solidFill>
                          <a:latin typeface="Pretendard"/>
                          <a:ea typeface="Pretendard"/>
                          <a:cs typeface="Pretendard"/>
                        </a:rPr>
                        <a:t>Path</a:t>
                      </a:r>
                    </a:p>
                  </a:txBody>
                  <a:tcPr marL="91440" marR="91440" marT="45720" marB="45720" anchor="ctr">
                    <a:solidFill>
                      <a:srgbClr val="FFF1E8"/>
                    </a:solidFill>
                  </a:tcPr>
                </a:tc>
                <a:tc>
                  <a:txBody>
                    <a:bodyPr wrap="square" lIns="95250" tIns="85725" rIns="95250" bIns="85725">
                      <a:normAutofit/>
                    </a:bodyPr>
                    <a:lstStyle/>
                    <a:p>
                      <a:r>
                        <a:rPr sz="1500" b="1">
                          <a:solidFill>
                            <a:srgbClr val="191919"/>
                          </a:solidFill>
                          <a:latin typeface="Pretendard"/>
                          <a:ea typeface="Pretendard"/>
                          <a:cs typeface="Pretendard"/>
                        </a:rPr>
                        <a:t>요청</a:t>
                      </a:r>
                    </a:p>
                  </a:txBody>
                  <a:tcPr marL="91440" marR="91440" marT="45720" marB="45720" anchor="ctr">
                    <a:solidFill>
                      <a:srgbClr val="FFF1E8"/>
                    </a:solidFill>
                  </a:tcPr>
                </a:tc>
                <a:tc>
                  <a:txBody>
                    <a:bodyPr wrap="square" lIns="95250" tIns="85725" rIns="95250" bIns="85725">
                      <a:normAutofit/>
                    </a:bodyPr>
                    <a:lstStyle/>
                    <a:p>
                      <a:r>
                        <a:rPr sz="1500" b="1">
                          <a:solidFill>
                            <a:srgbClr val="191919"/>
                          </a:solidFill>
                          <a:latin typeface="Pretendard"/>
                          <a:ea typeface="Pretendard"/>
                          <a:cs typeface="Pretendard"/>
                        </a:rPr>
                        <a:t>응답</a:t>
                      </a:r>
                    </a:p>
                  </a:txBody>
                  <a:tcPr marL="91440" marR="91440" marT="45720" marB="45720" anchor="ctr">
                    <a:solidFill>
                      <a:srgbClr val="FFF1E8"/>
                    </a:solidFill>
                  </a:tcPr>
                </a:tc>
              </a:tr>
              <a:tr h="1352550">
                <a:tc>
                  <a:txBody>
                    <a:bodyPr wrap="square" lIns="95250" tIns="85725" rIns="95250" bIns="85725">
                      <a:normAutofit/>
                    </a:bodyPr>
                    <a:lstStyle/>
                    <a:p>
                      <a:r>
                        <a:rPr sz="1350" b="1">
                          <a:solidFill>
                            <a:srgbClr val="F40036"/>
                          </a:solidFill>
                          <a:latin typeface="Pretendard"/>
                          <a:ea typeface="Pretendard"/>
                          <a:cs typeface="Pretendard"/>
                        </a:rPr>
                        <a:t>GET</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/api/loan-applications/</a:t>
                      </a:r>
                    </a:p>
                    <a:p>
                      <a:r>
                        <a:rPr sz="1350" b="0">
                          <a:solidFill>
                            <a:srgbClr val="191919"/>
                          </a:solidFill>
                          <a:latin typeface="Pretendard"/>
                          <a:ea typeface="Pretendard"/>
                          <a:cs typeface="Pretendard"/>
                        </a:rPr>
                        <a:t>{applicationId}/validation</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Path</a:t>
                      </a:r>
                    </a:p>
                    <a:p>
                      <a:r>
                        <a:rPr sz="1350" b="0">
                          <a:solidFill>
                            <a:srgbClr val="191919"/>
                          </a:solidFill>
                          <a:latin typeface="Pretendard"/>
                          <a:ea typeface="Pretendard"/>
                          <a:cs typeface="Pretendard"/>
                        </a:rPr>
                        <a:t>applicationId</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submittable</a:t>
                      </a:r>
                    </a:p>
                    <a:p>
                      <a:r>
                        <a:rPr sz="1350" b="0">
                          <a:solidFill>
                            <a:srgbClr val="191919"/>
                          </a:solidFill>
                          <a:latin typeface="Pretendard"/>
                          <a:ea typeface="Pretendard"/>
                          <a:cs typeface="Pretendard"/>
                        </a:rPr>
                        <a:t>issues[]</a:t>
                      </a:r>
                    </a:p>
                    <a:p>
                      <a:r>
                        <a:rPr sz="1350" b="0">
                          <a:solidFill>
                            <a:srgbClr val="191919"/>
                          </a:solidFill>
                          <a:latin typeface="Pretendard"/>
                          <a:ea typeface="Pretendard"/>
                          <a:cs typeface="Pretendard"/>
                        </a:rPr>
                        <a:t>extractedValues[]</a:t>
                      </a:r>
                    </a:p>
                  </a:txBody>
                  <a:tcPr marL="91440" marR="91440" marT="45720" marB="45720" anchor="ctr">
                    <a:solidFill>
                      <a:srgbClr val="FFFFFF"/>
                    </a:solidFill>
                  </a:tcPr>
                </a:tc>
              </a:tr>
              <a:tr h="1352550">
                <a:tc>
                  <a:txBody>
                    <a:bodyPr wrap="square" lIns="95250" tIns="85725" rIns="95250" bIns="85725">
                      <a:normAutofit/>
                    </a:bodyPr>
                    <a:lstStyle/>
                    <a:p>
                      <a:r>
                        <a:rPr sz="1350" b="1">
                          <a:solidFill>
                            <a:srgbClr val="F40036"/>
                          </a:solidFill>
                          <a:latin typeface="Pretendard"/>
                          <a:ea typeface="Pretendard"/>
                          <a:cs typeface="Pretendard"/>
                        </a:rPr>
                        <a:t>POST</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/api/loan-applications/</a:t>
                      </a:r>
                    </a:p>
                    <a:p>
                      <a:r>
                        <a:rPr sz="1350" b="0">
                          <a:solidFill>
                            <a:srgbClr val="191919"/>
                          </a:solidFill>
                          <a:latin typeface="Pretendard"/>
                          <a:ea typeface="Pretendard"/>
                          <a:cs typeface="Pretendard"/>
                        </a:rPr>
                        <a:t>{applicationId}/submit</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Path</a:t>
                      </a:r>
                    </a:p>
                    <a:p>
                      <a:r>
                        <a:rPr sz="1350" b="0">
                          <a:solidFill>
                            <a:srgbClr val="191919"/>
                          </a:solidFill>
                          <a:latin typeface="Pretendard"/>
                          <a:ea typeface="Pretendard"/>
                          <a:cs typeface="Pretendard"/>
                        </a:rPr>
                        <a:t>applicationId</a:t>
                      </a:r>
                    </a:p>
                  </a:txBody>
                  <a:tcPr marL="91440" marR="91440" marT="45720" marB="45720" anchor="ctr">
                    <a:solidFill>
                      <a:srgbClr val="FCFAF7"/>
                    </a:solidFill>
                  </a:tcPr>
                </a:tc>
                <a:tc>
                  <a:txBody>
                    <a:bodyPr wrap="square" lIns="95250" tIns="85725" rIns="95250" bIns="85725">
                      <a:normAutofit/>
                    </a:bodyPr>
                    <a:lstStyle/>
                    <a:p>
                      <a:r>
                        <a:rPr sz="1350" b="0">
                          <a:solidFill>
                            <a:srgbClr val="191919"/>
                          </a:solidFill>
                          <a:latin typeface="Pretendard"/>
                          <a:ea typeface="Pretendard"/>
                          <a:cs typeface="Pretendard"/>
                        </a:rPr>
                        <a:t>status · submittedAt</a:t>
                      </a:r>
                    </a:p>
                    <a:p>
                      <a:r>
                        <a:rPr sz="1350" b="0">
                          <a:solidFill>
                            <a:srgbClr val="191919"/>
                          </a:solidFill>
                          <a:latin typeface="Pretendard"/>
                          <a:ea typeface="Pretendard"/>
                          <a:cs typeface="Pretendard"/>
                        </a:rPr>
                        <a:t>422 blockingIssues[]</a:t>
                      </a:r>
                    </a:p>
                  </a:txBody>
                  <a:tcPr marL="91440" marR="91440" marT="45720" marB="45720" anchor="ctr">
                    <a:solidFill>
                      <a:srgbClr val="FCFAF7"/>
                    </a:solidFill>
                  </a:tcPr>
                </a:tc>
              </a:tr>
              <a:tr h="1352550">
                <a:tc>
                  <a:txBody>
                    <a:bodyPr wrap="square" lIns="95250" tIns="85725" rIns="95250" bIns="85725">
                      <a:normAutofit/>
                    </a:bodyPr>
                    <a:lstStyle/>
                    <a:p>
                      <a:r>
                        <a:rPr sz="1350" b="1">
                          <a:solidFill>
                            <a:srgbClr val="F40036"/>
                          </a:solidFill>
                          <a:latin typeface="Pretendard"/>
                          <a:ea typeface="Pretendard"/>
                          <a:cs typeface="Pretendard"/>
                        </a:rPr>
                        <a:t>POST</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/api/review/loan-applications/</a:t>
                      </a:r>
                    </a:p>
                    <a:p>
                      <a:r>
                        <a:rPr sz="1350" b="0">
                          <a:solidFill>
                            <a:srgbClr val="191919"/>
                          </a:solidFill>
                          <a:latin typeface="Pretendard"/>
                          <a:ea typeface="Pretendard"/>
                          <a:cs typeface="Pretendard"/>
                        </a:rPr>
                        <a:t>{applicationId}/decision</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Body</a:t>
                      </a:r>
                    </a:p>
                    <a:p>
                      <a:r>
                        <a:rPr sz="1350" b="0">
                          <a:solidFill>
                            <a:srgbClr val="191919"/>
                          </a:solidFill>
                          <a:latin typeface="Pretendard"/>
                          <a:ea typeface="Pretendard"/>
                          <a:cs typeface="Pretendard"/>
                        </a:rPr>
                        <a:t>decision</a:t>
                      </a:r>
                    </a:p>
                    <a:p>
                      <a:r>
                        <a:rPr sz="1350" b="0">
                          <a:solidFill>
                            <a:srgbClr val="191919"/>
                          </a:solidFill>
                          <a:latin typeface="Pretendard"/>
                          <a:ea typeface="Pretendard"/>
                          <a:cs typeface="Pretendard"/>
                        </a:rPr>
                        <a:t>targetDocType · reason</a:t>
                      </a:r>
                    </a:p>
                  </a:txBody>
                  <a:tcPr marL="91440" marR="91440" marT="45720" marB="45720" anchor="ctr">
                    <a:solidFill>
                      <a:srgbClr val="FFFFFF"/>
                    </a:solidFill>
                  </a:tcPr>
                </a:tc>
                <a:tc>
                  <a:txBody>
                    <a:bodyPr wrap="square" lIns="95250" tIns="85725" rIns="95250" bIns="85725">
                      <a:normAutofit/>
                    </a:bodyPr>
                    <a:lstStyle/>
                    <a:p>
                      <a:r>
                        <a:rPr sz="1350" b="0">
                          <a:solidFill>
                            <a:srgbClr val="191919"/>
                          </a:solidFill>
                          <a:latin typeface="Pretendard"/>
                          <a:ea typeface="Pretendard"/>
                          <a:cs typeface="Pretendard"/>
                        </a:rPr>
                        <a:t>status · decision</a:t>
                      </a:r>
                    </a:p>
                    <a:p>
                      <a:r>
                        <a:rPr sz="1350" b="0">
                          <a:solidFill>
                            <a:srgbClr val="191919"/>
                          </a:solidFill>
                          <a:latin typeface="Pretendard"/>
                          <a:ea typeface="Pretendard"/>
                          <a:cs typeface="Pretendard"/>
                        </a:rPr>
                        <a:t>decidedAt</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E909B17-74F9-4ADD-990B-DF3B985BDCA1}"/>
              </a:ext>
            </a:extLst>
          </p:cNvPr>
          <p:cNvSpPr>
            <a:spLocks xmlns:a="http://schemas.openxmlformats.org/drawingml/2006/main" noGrp="1"/>
          </p:cNvSpPr>
          <p:nvPr/>
        </p:nvSpPr>
        <p:spPr>
          <a:xfrm xmlns:a="http://schemas.openxmlformats.org/drawingml/2006/main">
            <a:off x="762000" y="7000875"/>
            <a:ext cx="13716000" cy="876300"/>
          </a:xfrm>
          <a:prstGeom xmlns:a="http://schemas.openxmlformats.org/drawingml/2006/main" prst="roundRect">
            <a:avLst>
              <a:gd name="adj" fmla="val 13043"/>
            </a:avLst>
          </a:prstGeom>
          <a:solidFill xmlns:a="http://schemas.openxmlformats.org/drawingml/2006/main">
            <a:srgbClr val="EEF3FF"/>
          </a:solidFill>
          <a:ln xmlns:a="http://schemas.openxmlformats.org/drawingml/2006/main" w="9525">
            <a:solidFill>
              <a:srgbClr val="2E5DB7"/>
            </a:solidFill>
          </a:ln>
        </p:spPr>
      </p:sp>
      <p:sp>
        <p:nvSpPr>
          <p:cNvPr id="8" name="">
            <a:extLst xmlns:a="http://schemas.openxmlformats.org/drawingml/2006/main">
              <a:ext uri="{FF2B5EF4-FFF2-40B4-BE49-F238E27FC236}">
                <a16:creationId xmlns:a16="http://schemas.microsoft.com/office/drawing/2014/main" id="{713AAA3D-A3A5-4361-996B-273EE6EA081D}"/>
              </a:ext>
            </a:extLst>
          </p:cNvPr>
          <p:cNvSpPr>
            <a:spLocks xmlns:a="http://schemas.openxmlformats.org/drawingml/2006/main" noGrp="1"/>
          </p:cNvSpPr>
          <p:nvPr/>
        </p:nvSpPr>
        <p:spPr>
          <a:xfrm xmlns:a="http://schemas.openxmlformats.org/drawingml/2006/main">
            <a:off x="1047750" y="7162800"/>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2E5DB7"/>
                </a:solidFill>
                <a:latin typeface="Pretendard"/>
                <a:ea typeface="Pretendard"/>
                <a:cs typeface="Pretendard"/>
              </a:defRPr>
            </a:pPr>
            <a:r>
              <a:rPr sz="1650" b="1">
                <a:solidFill>
                  <a:srgbClr val="2E5DB7"/>
                </a:solidFill>
                <a:latin typeface="Pretendard"/>
                <a:ea typeface="Pretendard"/>
                <a:cs typeface="Pretendard"/>
              </a:rPr>
              <a:t>공통 정책</a:t>
            </a:r>
          </a:p>
        </p:txBody>
      </p:sp>
      <p:sp>
        <p:nvSpPr>
          <p:cNvPr id="9" name="">
            <a:extLst xmlns:a="http://schemas.openxmlformats.org/drawingml/2006/main">
              <a:ext uri="{FF2B5EF4-FFF2-40B4-BE49-F238E27FC236}">
                <a16:creationId xmlns:a16="http://schemas.microsoft.com/office/drawing/2014/main" id="{BA566067-6236-447F-ADC2-D7B49CB25301}"/>
              </a:ext>
            </a:extLst>
          </p:cNvPr>
          <p:cNvSpPr>
            <a:spLocks xmlns:a="http://schemas.openxmlformats.org/drawingml/2006/main" noGrp="1"/>
          </p:cNvSpPr>
          <p:nvPr/>
        </p:nvSpPr>
        <p:spPr>
          <a:xfrm xmlns:a="http://schemas.openxmlformats.org/drawingml/2006/main">
            <a:off x="2571750" y="7115175"/>
            <a:ext cx="1152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91919"/>
                </a:solidFill>
                <a:latin typeface="Pretendard"/>
                <a:ea typeface="Pretendard"/>
                <a:cs typeface="Pretendard"/>
              </a:defRPr>
            </a:pPr>
            <a:r>
              <a:rPr sz="1575" b="1">
                <a:solidFill>
                  <a:srgbClr val="191919"/>
                </a:solidFill>
                <a:latin typeface="Pretendard"/>
                <a:ea typeface="Pretendard"/>
                <a:cs typeface="Pretendard"/>
              </a:rPr>
              <a:t>Bearer JWT 인증  ·  권한 오류 403  ·  중복 처리 409  ·  제출 조건 미충족 422  ·  OCR 연동 실패 502/504</a:t>
            </a:r>
          </a:p>
        </p:txBody>
      </p:sp>
    </p:spTree>
    <p:extLst>
      <p:ext uri="{BB962C8B-B14F-4D97-AF65-F5344CB8AC3E}">
        <p14:creationId xmlns:p14="http://schemas.microsoft.com/office/powerpoint/2010/main" val="1201399622"/>
      </p:ext>
    </p:extLst>
  </p:cSld>
</p:sld>
</file>

<file path=ppt/slides/slide6.xml><?xml version="1.0" encoding="utf-8"?>
<p:sld xmlns:p="http://schemas.openxmlformats.org/presentationml/2006/main">
  <p:cSld>
    <p:bg>
      <p:bgPr>
        <a:solidFill xmlns:a="http://schemas.openxmlformats.org/drawingml/2006/main">
          <a:srgbClr val="FBF9F6"/>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46B9AA1-4247-4F9C-BCB2-7EF00D4E1914}"/>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ellipse">
            <a:avLst/>
          </a:prstGeom>
          <a:solidFill xmlns:a="http://schemas.openxmlformats.org/drawingml/2006/main">
            <a:srgbClr val="F8B81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26EE49-1321-4B62-AF1A-4FBEDA19E5E6}"/>
              </a:ext>
            </a:extLst>
          </p:cNvPr>
          <p:cNvSpPr>
            <a:spLocks xmlns:a="http://schemas.openxmlformats.org/drawingml/2006/main" noGrp="1"/>
          </p:cNvSpPr>
          <p:nvPr/>
        </p:nvSpPr>
        <p:spPr>
          <a:xfrm xmlns:a="http://schemas.openxmlformats.org/drawingml/2006/main">
            <a:off x="285750" y="3048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91919"/>
                </a:solidFill>
                <a:latin typeface="Pretendard"/>
                <a:ea typeface="Pretendard"/>
                <a:cs typeface="Pretendard"/>
              </a:defRPr>
            </a:pPr>
            <a:r>
              <a:rPr sz="2550" b="1">
                <a:solidFill>
                  <a:srgbClr val="191919"/>
                </a:solidFill>
                <a:latin typeface="Pretendard"/>
                <a:ea typeface="Pretendard"/>
                <a:cs typeface="Pretendard"/>
              </a:rPr>
              <a:t>06</a:t>
            </a:r>
          </a:p>
        </p:txBody>
      </p:sp>
      <p:sp>
        <p:nvSpPr>
          <p:cNvPr id="3" name="">
            <a:extLst xmlns:a="http://schemas.openxmlformats.org/drawingml/2006/main">
              <a:ext uri="{FF2B5EF4-FFF2-40B4-BE49-F238E27FC236}">
                <a16:creationId xmlns:a16="http://schemas.microsoft.com/office/drawing/2014/main" id="{E8F81A08-F9E2-4B09-B0D0-372D9C798327}"/>
              </a:ext>
            </a:extLst>
          </p:cNvPr>
          <p:cNvSpPr>
            <a:spLocks xmlns:a="http://schemas.openxmlformats.org/drawingml/2006/main" noGrp="1"/>
          </p:cNvSpPr>
          <p:nvPr/>
        </p:nvSpPr>
        <p:spPr>
          <a:xfrm xmlns:a="http://schemas.openxmlformats.org/drawingml/2006/main">
            <a:off x="1219200" y="2476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600" b="1">
                <a:solidFill>
                  <a:srgbClr val="191919"/>
                </a:solidFill>
                <a:latin typeface="Pretendard"/>
                <a:ea typeface="Pretendard"/>
                <a:cs typeface="Pretendard"/>
              </a:defRPr>
            </a:pPr>
            <a:r>
              <a:rPr sz="3600" b="1">
                <a:solidFill>
                  <a:srgbClr val="191919"/>
                </a:solidFill>
                <a:latin typeface="Pretendard"/>
                <a:ea typeface="Pretendard"/>
                <a:cs typeface="Pretendard"/>
              </a:rPr>
              <a:t>마무리 및 개발 고려사항</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779bf8400882464b"/>
          <a:stretch xmlns:a="http://schemas.openxmlformats.org/drawingml/2006/main"/>
        </p:blipFill>
        <p:spPr>
          <a:xfrm xmlns:a="http://schemas.openxmlformats.org/drawingml/2006/main">
            <a:off x="13639800" y="185210"/>
            <a:ext cx="1123950" cy="5630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7724615-034B-496B-BFD8-BCE45792D896}"/>
              </a:ext>
            </a:extLst>
          </p:cNvPr>
          <p:cNvSpPr>
            <a:spLocks xmlns:a="http://schemas.openxmlformats.org/drawingml/2006/main" noGrp="1"/>
          </p:cNvSpPr>
          <p:nvPr/>
        </p:nvSpPr>
        <p:spPr>
          <a:xfrm xmlns:a="http://schemas.openxmlformats.org/drawingml/2006/main">
            <a:off x="762000" y="1524000"/>
            <a:ext cx="6572250" cy="4476750"/>
          </a:xfrm>
          <a:prstGeom xmlns:a="http://schemas.openxmlformats.org/drawingml/2006/main" prst="roundRect">
            <a:avLst>
              <a:gd name="adj" fmla="val 3404"/>
            </a:avLst>
          </a:prstGeom>
          <a:solidFill xmlns:a="http://schemas.openxmlformats.org/drawingml/2006/main">
            <a:srgbClr val="FFFFFF"/>
          </a:solidFill>
          <a:ln xmlns:a="http://schemas.openxmlformats.org/drawingml/2006/main" w="9525">
            <a:solidFill>
              <a:srgbClr val="E2DCD3"/>
            </a:solidFill>
          </a:ln>
        </p:spPr>
      </p:sp>
      <p:sp>
        <p:nvSpPr>
          <p:cNvPr id="6" name="">
            <a:extLst xmlns:a="http://schemas.openxmlformats.org/drawingml/2006/main">
              <a:ext uri="{FF2B5EF4-FFF2-40B4-BE49-F238E27FC236}">
                <a16:creationId xmlns:a16="http://schemas.microsoft.com/office/drawing/2014/main" id="{1A5D0649-10DA-4687-928D-C4F2EE64A119}"/>
              </a:ext>
            </a:extLst>
          </p:cNvPr>
          <p:cNvSpPr>
            <a:spLocks xmlns:a="http://schemas.openxmlformats.org/drawingml/2006/main" noGrp="1"/>
          </p:cNvSpPr>
          <p:nvPr/>
        </p:nvSpPr>
        <p:spPr>
          <a:xfrm xmlns:a="http://schemas.openxmlformats.org/drawingml/2006/main">
            <a:off x="1095375" y="1895475"/>
            <a:ext cx="66675" cy="285750"/>
          </a:xfrm>
          <a:prstGeom xmlns:a="http://schemas.openxmlformats.org/drawingml/2006/main" prst="rect">
            <a:avLst/>
          </a:prstGeom>
          <a:solidFill xmlns:a="http://schemas.openxmlformats.org/drawingml/2006/main">
            <a:srgbClr val="F4003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39D05D0-0993-42D0-95D0-2415E0493703}"/>
              </a:ext>
            </a:extLst>
          </p:cNvPr>
          <p:cNvSpPr>
            <a:spLocks xmlns:a="http://schemas.openxmlformats.org/drawingml/2006/main" noGrp="1"/>
          </p:cNvSpPr>
          <p:nvPr/>
        </p:nvSpPr>
        <p:spPr>
          <a:xfrm xmlns:a="http://schemas.openxmlformats.org/drawingml/2006/main">
            <a:off x="1266825" y="1857375"/>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F40036"/>
                </a:solidFill>
                <a:latin typeface="Pretendard"/>
                <a:ea typeface="Pretendard"/>
                <a:cs typeface="Pretendard"/>
              </a:defRPr>
            </a:pPr>
            <a:r>
              <a:rPr sz="1800" b="1">
                <a:solidFill>
                  <a:srgbClr val="F40036"/>
                </a:solidFill>
                <a:latin typeface="Pretendard"/>
                <a:ea typeface="Pretendard"/>
                <a:cs typeface="Pretendard"/>
              </a:rPr>
              <a:t>설계하며 고민한 점</a:t>
            </a:r>
          </a:p>
        </p:txBody>
      </p:sp>
      <p:sp>
        <p:nvSpPr>
          <p:cNvPr id="8" name="">
            <a:extLst xmlns:a="http://schemas.openxmlformats.org/drawingml/2006/main">
              <a:ext uri="{FF2B5EF4-FFF2-40B4-BE49-F238E27FC236}">
                <a16:creationId xmlns:a16="http://schemas.microsoft.com/office/drawing/2014/main" id="{737FAB7B-63A8-4578-AF23-9E194F9D9173}"/>
              </a:ext>
            </a:extLst>
          </p:cNvPr>
          <p:cNvSpPr>
            <a:spLocks xmlns:a="http://schemas.openxmlformats.org/drawingml/2006/main" noGrp="1"/>
          </p:cNvSpPr>
          <p:nvPr/>
        </p:nvSpPr>
        <p:spPr>
          <a:xfrm xmlns:a="http://schemas.openxmlformats.org/drawingml/2006/main">
            <a:off x="1143000" y="24765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서비스 범위</a:t>
            </a:r>
          </a:p>
        </p:txBody>
      </p:sp>
      <p:sp>
        <p:nvSpPr>
          <p:cNvPr id="9" name="">
            <a:extLst xmlns:a="http://schemas.openxmlformats.org/drawingml/2006/main">
              <a:ext uri="{FF2B5EF4-FFF2-40B4-BE49-F238E27FC236}">
                <a16:creationId xmlns:a16="http://schemas.microsoft.com/office/drawing/2014/main" id="{2EB38FA0-2DFD-4FB4-8C8D-37399B81F735}"/>
              </a:ext>
            </a:extLst>
          </p:cNvPr>
          <p:cNvSpPr>
            <a:spLocks xmlns:a="http://schemas.openxmlformats.org/drawingml/2006/main" noGrp="1"/>
          </p:cNvSpPr>
          <p:nvPr/>
        </p:nvSpPr>
        <p:spPr>
          <a:xfrm xmlns:a="http://schemas.openxmlformats.org/drawingml/2006/main">
            <a:off x="3143250" y="2409825"/>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91919"/>
                </a:solidFill>
                <a:latin typeface="Pretendard"/>
                <a:ea typeface="Pretendard"/>
                <a:cs typeface="Pretendard"/>
              </a:defRPr>
            </a:pPr>
            <a:r>
              <a:rPr sz="1650" b="0">
                <a:solidFill>
                  <a:srgbClr val="191919"/>
                </a:solidFill>
                <a:latin typeface="Pretendard"/>
                <a:ea typeface="Pretendard"/>
                <a:cs typeface="Pretendard"/>
              </a:rPr>
              <a:t>OCR과 자동 심사는 분리하고 서류 검수 보조에 집중</a:t>
            </a:r>
          </a:p>
        </p:txBody>
      </p:sp>
      <p:sp>
        <p:nvSpPr>
          <p:cNvPr id="10" name="">
            <a:extLst xmlns:a="http://schemas.openxmlformats.org/drawingml/2006/main">
              <a:ext uri="{FF2B5EF4-FFF2-40B4-BE49-F238E27FC236}">
                <a16:creationId xmlns:a16="http://schemas.microsoft.com/office/drawing/2014/main" id="{F5542DAE-7D9E-4F88-89F3-8D89C89EFC57}"/>
              </a:ext>
            </a:extLst>
          </p:cNvPr>
          <p:cNvSpPr>
            <a:spLocks xmlns:a="http://schemas.openxmlformats.org/drawingml/2006/main" noGrp="1"/>
          </p:cNvSpPr>
          <p:nvPr/>
        </p:nvSpPr>
        <p:spPr>
          <a:xfrm xmlns:a="http://schemas.openxmlformats.org/drawingml/2006/main">
            <a:off x="1143000" y="3286125"/>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계정 방식</a:t>
            </a:r>
          </a:p>
        </p:txBody>
      </p:sp>
      <p:sp>
        <p:nvSpPr>
          <p:cNvPr id="11" name="">
            <a:extLst xmlns:a="http://schemas.openxmlformats.org/drawingml/2006/main">
              <a:ext uri="{FF2B5EF4-FFF2-40B4-BE49-F238E27FC236}">
                <a16:creationId xmlns:a16="http://schemas.microsoft.com/office/drawing/2014/main" id="{61715798-C527-4D88-BC54-9D3405435A94}"/>
              </a:ext>
            </a:extLst>
          </p:cNvPr>
          <p:cNvSpPr>
            <a:spLocks xmlns:a="http://schemas.openxmlformats.org/drawingml/2006/main" noGrp="1"/>
          </p:cNvSpPr>
          <p:nvPr/>
        </p:nvSpPr>
        <p:spPr>
          <a:xfrm xmlns:a="http://schemas.openxmlformats.org/drawingml/2006/main">
            <a:off x="3143250" y="3219450"/>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91919"/>
                </a:solidFill>
                <a:latin typeface="Pretendard"/>
                <a:ea typeface="Pretendard"/>
                <a:cs typeface="Pretendard"/>
              </a:defRPr>
            </a:pPr>
            <a:r>
              <a:rPr sz="1650" b="0">
                <a:solidFill>
                  <a:srgbClr val="191919"/>
                </a:solidFill>
                <a:latin typeface="Pretendard"/>
                <a:ea typeface="Pretendard"/>
                <a:cs typeface="Pretendard"/>
              </a:rPr>
              <a:t>공개 회원가입 대신 은행 초대 기반 계정 활성화</a:t>
            </a:r>
          </a:p>
        </p:txBody>
      </p:sp>
      <p:sp>
        <p:nvSpPr>
          <p:cNvPr id="12" name="">
            <a:extLst xmlns:a="http://schemas.openxmlformats.org/drawingml/2006/main">
              <a:ext uri="{FF2B5EF4-FFF2-40B4-BE49-F238E27FC236}">
                <a16:creationId xmlns:a16="http://schemas.microsoft.com/office/drawing/2014/main" id="{7B792798-651B-40CA-93E8-C28CEE3D2111}"/>
              </a:ext>
            </a:extLst>
          </p:cNvPr>
          <p:cNvSpPr>
            <a:spLocks xmlns:a="http://schemas.openxmlformats.org/drawingml/2006/main" noGrp="1"/>
          </p:cNvSpPr>
          <p:nvPr/>
        </p:nvSpPr>
        <p:spPr>
          <a:xfrm xmlns:a="http://schemas.openxmlformats.org/drawingml/2006/main">
            <a:off x="1143000" y="40957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재제출 관리</a:t>
            </a:r>
          </a:p>
        </p:txBody>
      </p:sp>
      <p:sp>
        <p:nvSpPr>
          <p:cNvPr id="13" name="">
            <a:extLst xmlns:a="http://schemas.openxmlformats.org/drawingml/2006/main">
              <a:ext uri="{FF2B5EF4-FFF2-40B4-BE49-F238E27FC236}">
                <a16:creationId xmlns:a16="http://schemas.microsoft.com/office/drawing/2014/main" id="{045EEBBF-EE6B-4DAE-8D0F-336E331C75A5}"/>
              </a:ext>
            </a:extLst>
          </p:cNvPr>
          <p:cNvSpPr>
            <a:spLocks xmlns:a="http://schemas.openxmlformats.org/drawingml/2006/main" noGrp="1"/>
          </p:cNvSpPr>
          <p:nvPr/>
        </p:nvSpPr>
        <p:spPr>
          <a:xfrm xmlns:a="http://schemas.openxmlformats.org/drawingml/2006/main">
            <a:off x="3143250" y="4029075"/>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91919"/>
                </a:solidFill>
                <a:latin typeface="Pretendard"/>
                <a:ea typeface="Pretendard"/>
                <a:cs typeface="Pretendard"/>
              </a:defRPr>
            </a:pPr>
            <a:r>
              <a:rPr sz="1650" b="0">
                <a:solidFill>
                  <a:srgbClr val="191919"/>
                </a:solidFill>
                <a:latin typeface="Pretendard"/>
                <a:ea typeface="Pretendard"/>
                <a:cs typeface="Pretendard"/>
              </a:rPr>
              <a:t>문서를 덮어쓰지 않고 버전과 처리 이력을 보존</a:t>
            </a:r>
          </a:p>
        </p:txBody>
      </p:sp>
      <p:sp>
        <p:nvSpPr>
          <p:cNvPr id="14" name="">
            <a:extLst xmlns:a="http://schemas.openxmlformats.org/drawingml/2006/main">
              <a:ext uri="{FF2B5EF4-FFF2-40B4-BE49-F238E27FC236}">
                <a16:creationId xmlns:a16="http://schemas.microsoft.com/office/drawing/2014/main" id="{ECD1445A-13AF-4339-BA3A-EB7223C1B50F}"/>
              </a:ext>
            </a:extLst>
          </p:cNvPr>
          <p:cNvSpPr>
            <a:spLocks xmlns:a="http://schemas.openxmlformats.org/drawingml/2006/main" noGrp="1"/>
          </p:cNvSpPr>
          <p:nvPr/>
        </p:nvSpPr>
        <p:spPr>
          <a:xfrm xmlns:a="http://schemas.openxmlformats.org/drawingml/2006/main">
            <a:off x="1143000" y="4953000"/>
            <a:ext cx="5810250" cy="9525"/>
          </a:xfrm>
          <a:prstGeom xmlns:a="http://schemas.openxmlformats.org/drawingml/2006/main" prst="rect">
            <a:avLst/>
          </a:prstGeom>
          <a:solidFill xmlns:a="http://schemas.openxmlformats.org/drawingml/2006/main">
            <a:srgbClr val="E2DCD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7C36BE8-C795-49A3-8FAD-E8C2A3DEABBE}"/>
              </a:ext>
            </a:extLst>
          </p:cNvPr>
          <p:cNvSpPr>
            <a:spLocks xmlns:a="http://schemas.openxmlformats.org/drawingml/2006/main" noGrp="1"/>
          </p:cNvSpPr>
          <p:nvPr/>
        </p:nvSpPr>
        <p:spPr>
          <a:xfrm xmlns:a="http://schemas.openxmlformats.org/drawingml/2006/main">
            <a:off x="1143000" y="5191125"/>
            <a:ext cx="581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6F6A64"/>
                </a:solidFill>
                <a:latin typeface="Pretendard"/>
                <a:ea typeface="Pretendard"/>
                <a:cs typeface="Pretendard"/>
              </a:defRPr>
            </a:pPr>
            <a:r>
              <a:rPr sz="1425" b="0">
                <a:solidFill>
                  <a:srgbClr val="6F6A64"/>
                </a:solidFill>
                <a:latin typeface="Pretendard"/>
                <a:ea typeface="Pretendard"/>
                <a:cs typeface="Pretendard"/>
              </a:rPr>
              <a:t>현재 문제 정의는 업무 가설이며 실무자 인터뷰로 검증이 필요</a:t>
            </a:r>
          </a:p>
        </p:txBody>
      </p:sp>
      <p:sp>
        <p:nvSpPr>
          <p:cNvPr id="16" name="">
            <a:extLst xmlns:a="http://schemas.openxmlformats.org/drawingml/2006/main">
              <a:ext uri="{FF2B5EF4-FFF2-40B4-BE49-F238E27FC236}">
                <a16:creationId xmlns:a16="http://schemas.microsoft.com/office/drawing/2014/main" id="{2FB2F5E8-A01E-4FA2-A651-0AEDA48C8121}"/>
              </a:ext>
            </a:extLst>
          </p:cNvPr>
          <p:cNvSpPr>
            <a:spLocks xmlns:a="http://schemas.openxmlformats.org/drawingml/2006/main" noGrp="1"/>
          </p:cNvSpPr>
          <p:nvPr/>
        </p:nvSpPr>
        <p:spPr>
          <a:xfrm xmlns:a="http://schemas.openxmlformats.org/drawingml/2006/main">
            <a:off x="7715250" y="1524000"/>
            <a:ext cx="6762750" cy="4476750"/>
          </a:xfrm>
          <a:prstGeom xmlns:a="http://schemas.openxmlformats.org/drawingml/2006/main" prst="roundRect">
            <a:avLst>
              <a:gd name="adj" fmla="val 3404"/>
            </a:avLst>
          </a:prstGeom>
          <a:solidFill xmlns:a="http://schemas.openxmlformats.org/drawingml/2006/main">
            <a:srgbClr val="FFFFFF"/>
          </a:solidFill>
          <a:ln xmlns:a="http://schemas.openxmlformats.org/drawingml/2006/main" w="9525">
            <a:solidFill>
              <a:srgbClr val="E2DCD3"/>
            </a:solidFill>
          </a:ln>
        </p:spPr>
      </p:sp>
      <p:sp>
        <p:nvSpPr>
          <p:cNvPr id="17" name="">
            <a:extLst xmlns:a="http://schemas.openxmlformats.org/drawingml/2006/main">
              <a:ext uri="{FF2B5EF4-FFF2-40B4-BE49-F238E27FC236}">
                <a16:creationId xmlns:a16="http://schemas.microsoft.com/office/drawing/2014/main" id="{C48EB985-A501-4863-879D-7E874D15E20B}"/>
              </a:ext>
            </a:extLst>
          </p:cNvPr>
          <p:cNvSpPr>
            <a:spLocks xmlns:a="http://schemas.openxmlformats.org/drawingml/2006/main" noGrp="1"/>
          </p:cNvSpPr>
          <p:nvPr/>
        </p:nvSpPr>
        <p:spPr>
          <a:xfrm xmlns:a="http://schemas.openxmlformats.org/drawingml/2006/main">
            <a:off x="8048625" y="1895475"/>
            <a:ext cx="66675" cy="285750"/>
          </a:xfrm>
          <a:prstGeom xmlns:a="http://schemas.openxmlformats.org/drawingml/2006/main" prst="rect">
            <a:avLst/>
          </a:prstGeom>
          <a:solidFill xmlns:a="http://schemas.openxmlformats.org/drawingml/2006/main">
            <a:srgbClr val="FF782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7B6ECEA-F628-4335-8BFC-30608BBF485C}"/>
              </a:ext>
            </a:extLst>
          </p:cNvPr>
          <p:cNvSpPr>
            <a:spLocks xmlns:a="http://schemas.openxmlformats.org/drawingml/2006/main" noGrp="1"/>
          </p:cNvSpPr>
          <p:nvPr/>
        </p:nvSpPr>
        <p:spPr>
          <a:xfrm xmlns:a="http://schemas.openxmlformats.org/drawingml/2006/main">
            <a:off x="8220075" y="1857375"/>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FF7823"/>
                </a:solidFill>
                <a:latin typeface="Pretendard"/>
                <a:ea typeface="Pretendard"/>
                <a:cs typeface="Pretendard"/>
              </a:defRPr>
            </a:pPr>
            <a:r>
              <a:rPr sz="1800" b="1">
                <a:solidFill>
                  <a:srgbClr val="FF7823"/>
                </a:solidFill>
                <a:latin typeface="Pretendard"/>
                <a:ea typeface="Pretendard"/>
                <a:cs typeface="Pretendard"/>
              </a:rPr>
              <a:t>다음 개발 시 주의</a:t>
            </a:r>
          </a:p>
        </p:txBody>
      </p:sp>
      <p:sp>
        <p:nvSpPr>
          <p:cNvPr id="19" name="">
            <a:extLst xmlns:a="http://schemas.openxmlformats.org/drawingml/2006/main">
              <a:ext uri="{FF2B5EF4-FFF2-40B4-BE49-F238E27FC236}">
                <a16:creationId xmlns:a16="http://schemas.microsoft.com/office/drawing/2014/main" id="{8D4BD3E7-4570-46AB-AB00-44F319F94C5F}"/>
              </a:ext>
            </a:extLst>
          </p:cNvPr>
          <p:cNvSpPr>
            <a:spLocks xmlns:a="http://schemas.openxmlformats.org/drawingml/2006/main" noGrp="1"/>
          </p:cNvSpPr>
          <p:nvPr/>
        </p:nvSpPr>
        <p:spPr>
          <a:xfrm xmlns:a="http://schemas.openxmlformats.org/drawingml/2006/main">
            <a:off x="8096250" y="24765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외부 연동</a:t>
            </a:r>
          </a:p>
        </p:txBody>
      </p:sp>
      <p:sp>
        <p:nvSpPr>
          <p:cNvPr id="20" name="">
            <a:extLst xmlns:a="http://schemas.openxmlformats.org/drawingml/2006/main">
              <a:ext uri="{FF2B5EF4-FFF2-40B4-BE49-F238E27FC236}">
                <a16:creationId xmlns:a16="http://schemas.microsoft.com/office/drawing/2014/main" id="{A2A5C638-5D66-4DFB-BFE1-0856064F42D2}"/>
              </a:ext>
            </a:extLst>
          </p:cNvPr>
          <p:cNvSpPr>
            <a:spLocks xmlns:a="http://schemas.openxmlformats.org/drawingml/2006/main" noGrp="1"/>
          </p:cNvSpPr>
          <p:nvPr/>
        </p:nvSpPr>
        <p:spPr>
          <a:xfrm xmlns:a="http://schemas.openxmlformats.org/drawingml/2006/main">
            <a:off x="10096500" y="2409825"/>
            <a:ext cx="3857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91919"/>
                </a:solidFill>
                <a:latin typeface="Pretendard"/>
                <a:ea typeface="Pretendard"/>
                <a:cs typeface="Pretendard"/>
              </a:defRPr>
            </a:pPr>
            <a:r>
              <a:rPr sz="1650" b="0">
                <a:solidFill>
                  <a:srgbClr val="191919"/>
                </a:solidFill>
                <a:latin typeface="Pretendard"/>
                <a:ea typeface="Pretendard"/>
                <a:cs typeface="Pretendard"/>
              </a:rPr>
              <a:t>OCR 비동기 처리와 실패 재시도, 진위확인 기관 연동</a:t>
            </a:r>
          </a:p>
        </p:txBody>
      </p:sp>
      <p:sp>
        <p:nvSpPr>
          <p:cNvPr id="21" name="">
            <a:extLst xmlns:a="http://schemas.openxmlformats.org/drawingml/2006/main">
              <a:ext uri="{FF2B5EF4-FFF2-40B4-BE49-F238E27FC236}">
                <a16:creationId xmlns:a16="http://schemas.microsoft.com/office/drawing/2014/main" id="{7FAD45CE-15D5-4B6C-95F2-35F89CE50655}"/>
              </a:ext>
            </a:extLst>
          </p:cNvPr>
          <p:cNvSpPr>
            <a:spLocks xmlns:a="http://schemas.openxmlformats.org/drawingml/2006/main" noGrp="1"/>
          </p:cNvSpPr>
          <p:nvPr/>
        </p:nvSpPr>
        <p:spPr>
          <a:xfrm xmlns:a="http://schemas.openxmlformats.org/drawingml/2006/main">
            <a:off x="8096250" y="3381375"/>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보안</a:t>
            </a:r>
          </a:p>
        </p:txBody>
      </p:sp>
      <p:sp>
        <p:nvSpPr>
          <p:cNvPr id="22" name="">
            <a:extLst xmlns:a="http://schemas.openxmlformats.org/drawingml/2006/main">
              <a:ext uri="{FF2B5EF4-FFF2-40B4-BE49-F238E27FC236}">
                <a16:creationId xmlns:a16="http://schemas.microsoft.com/office/drawing/2014/main" id="{CECACEB6-9844-482A-81C4-FAD71825D96E}"/>
              </a:ext>
            </a:extLst>
          </p:cNvPr>
          <p:cNvSpPr>
            <a:spLocks xmlns:a="http://schemas.openxmlformats.org/drawingml/2006/main" noGrp="1"/>
          </p:cNvSpPr>
          <p:nvPr/>
        </p:nvSpPr>
        <p:spPr>
          <a:xfrm xmlns:a="http://schemas.openxmlformats.org/drawingml/2006/main">
            <a:off x="10096500" y="3314700"/>
            <a:ext cx="3857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91919"/>
                </a:solidFill>
                <a:latin typeface="Pretendard"/>
                <a:ea typeface="Pretendard"/>
                <a:cs typeface="Pretendard"/>
              </a:defRPr>
            </a:pPr>
            <a:r>
              <a:rPr sz="1650" b="0">
                <a:solidFill>
                  <a:srgbClr val="191919"/>
                </a:solidFill>
                <a:latin typeface="Pretendard"/>
                <a:ea typeface="Pretendard"/>
                <a:cs typeface="Pretendard"/>
              </a:rPr>
              <a:t>은행 SSO, 만료 URL, 개인정보 마스킹과 접근 로그</a:t>
            </a:r>
          </a:p>
        </p:txBody>
      </p:sp>
      <p:sp>
        <p:nvSpPr>
          <p:cNvPr id="23" name="">
            <a:extLst xmlns:a="http://schemas.openxmlformats.org/drawingml/2006/main">
              <a:ext uri="{FF2B5EF4-FFF2-40B4-BE49-F238E27FC236}">
                <a16:creationId xmlns:a16="http://schemas.microsoft.com/office/drawing/2014/main" id="{3C063BB7-D96D-48F4-981D-69426D4FEA87}"/>
              </a:ext>
            </a:extLst>
          </p:cNvPr>
          <p:cNvSpPr>
            <a:spLocks xmlns:a="http://schemas.openxmlformats.org/drawingml/2006/main" noGrp="1"/>
          </p:cNvSpPr>
          <p:nvPr/>
        </p:nvSpPr>
        <p:spPr>
          <a:xfrm xmlns:a="http://schemas.openxmlformats.org/drawingml/2006/main">
            <a:off x="8096250" y="4286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91919"/>
                </a:solidFill>
                <a:latin typeface="Pretendard"/>
                <a:ea typeface="Pretendard"/>
                <a:cs typeface="Pretendard"/>
              </a:defRPr>
            </a:pPr>
            <a:r>
              <a:rPr sz="1725" b="1">
                <a:solidFill>
                  <a:srgbClr val="191919"/>
                </a:solidFill>
                <a:latin typeface="Pretendard"/>
                <a:ea typeface="Pretendard"/>
                <a:cs typeface="Pretendard"/>
              </a:rPr>
              <a:t>동시 처리</a:t>
            </a:r>
          </a:p>
        </p:txBody>
      </p:sp>
      <p:sp>
        <p:nvSpPr>
          <p:cNvPr id="24" name="">
            <a:extLst xmlns:a="http://schemas.openxmlformats.org/drawingml/2006/main">
              <a:ext uri="{FF2B5EF4-FFF2-40B4-BE49-F238E27FC236}">
                <a16:creationId xmlns:a16="http://schemas.microsoft.com/office/drawing/2014/main" id="{AAB04D33-E0C9-43C7-B603-F0F59BB38493}"/>
              </a:ext>
            </a:extLst>
          </p:cNvPr>
          <p:cNvSpPr>
            <a:spLocks xmlns:a="http://schemas.openxmlformats.org/drawingml/2006/main" noGrp="1"/>
          </p:cNvSpPr>
          <p:nvPr/>
        </p:nvSpPr>
        <p:spPr>
          <a:xfrm xmlns:a="http://schemas.openxmlformats.org/drawingml/2006/main">
            <a:off x="10096500" y="4219575"/>
            <a:ext cx="3857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91919"/>
                </a:solidFill>
                <a:latin typeface="Pretendard"/>
                <a:ea typeface="Pretendard"/>
                <a:cs typeface="Pretendard"/>
              </a:defRPr>
            </a:pPr>
            <a:r>
              <a:rPr sz="1650" b="0">
                <a:solidFill>
                  <a:srgbClr val="191919"/>
                </a:solidFill>
                <a:latin typeface="Pretendard"/>
                <a:ea typeface="Pretendard"/>
                <a:cs typeface="Pretendard"/>
              </a:rPr>
              <a:t>최종 제출과 검토 결정의 중복 요청·충돌 방지</a:t>
            </a:r>
          </a:p>
        </p:txBody>
      </p:sp>
      <p:sp>
        <p:nvSpPr>
          <p:cNvPr id="25" name="">
            <a:extLst xmlns:a="http://schemas.openxmlformats.org/drawingml/2006/main">
              <a:ext uri="{FF2B5EF4-FFF2-40B4-BE49-F238E27FC236}">
                <a16:creationId xmlns:a16="http://schemas.microsoft.com/office/drawing/2014/main" id="{543ED4AD-349A-4FC9-ABE4-1AAFF5A72232}"/>
              </a:ext>
            </a:extLst>
          </p:cNvPr>
          <p:cNvSpPr>
            <a:spLocks xmlns:a="http://schemas.openxmlformats.org/drawingml/2006/main" noGrp="1"/>
          </p:cNvSpPr>
          <p:nvPr/>
        </p:nvSpPr>
        <p:spPr>
          <a:xfrm xmlns:a="http://schemas.openxmlformats.org/drawingml/2006/main">
            <a:off x="8096250" y="5095875"/>
            <a:ext cx="6000750" cy="9525"/>
          </a:xfrm>
          <a:prstGeom xmlns:a="http://schemas.openxmlformats.org/drawingml/2006/main" prst="rect">
            <a:avLst/>
          </a:prstGeom>
          <a:solidFill xmlns:a="http://schemas.openxmlformats.org/drawingml/2006/main">
            <a:srgbClr val="E2DCD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CBB03E6-4461-4DD1-B942-0AB8CB666F22}"/>
              </a:ext>
            </a:extLst>
          </p:cNvPr>
          <p:cNvSpPr>
            <a:spLocks xmlns:a="http://schemas.openxmlformats.org/drawingml/2006/main" noGrp="1"/>
          </p:cNvSpPr>
          <p:nvPr/>
        </p:nvSpPr>
        <p:spPr>
          <a:xfrm xmlns:a="http://schemas.openxmlformats.org/drawingml/2006/main">
            <a:off x="8096250" y="5286375"/>
            <a:ext cx="600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6F6A64"/>
                </a:solidFill>
                <a:latin typeface="Pretendard"/>
                <a:ea typeface="Pretendard"/>
                <a:cs typeface="Pretendard"/>
              </a:defRPr>
            </a:pPr>
            <a:r>
              <a:rPr sz="1425" b="0">
                <a:solidFill>
                  <a:srgbClr val="6F6A64"/>
                </a:solidFill>
                <a:latin typeface="Pretendard"/>
                <a:ea typeface="Pretendard"/>
                <a:cs typeface="Pretendard"/>
              </a:rPr>
              <a:t>지원 문서를 늘리기 전에 문서별 검증 규칙과 정확도 기준을 먼저 확정</a:t>
            </a:r>
          </a:p>
        </p:txBody>
      </p:sp>
      <p:sp>
        <p:nvSpPr>
          <p:cNvPr id="27" name="">
            <a:extLst xmlns:a="http://schemas.openxmlformats.org/drawingml/2006/main">
              <a:ext uri="{FF2B5EF4-FFF2-40B4-BE49-F238E27FC236}">
                <a16:creationId xmlns:a16="http://schemas.microsoft.com/office/drawing/2014/main" id="{F677C7BB-5E07-4B1C-B02D-86756A4B0366}"/>
              </a:ext>
            </a:extLst>
          </p:cNvPr>
          <p:cNvSpPr>
            <a:spLocks xmlns:a="http://schemas.openxmlformats.org/drawingml/2006/main" noGrp="1"/>
          </p:cNvSpPr>
          <p:nvPr/>
        </p:nvSpPr>
        <p:spPr>
          <a:xfrm xmlns:a="http://schemas.openxmlformats.org/drawingml/2006/main">
            <a:off x="762000" y="6572250"/>
            <a:ext cx="13716000" cy="1428750"/>
          </a:xfrm>
          <a:prstGeom xmlns:a="http://schemas.openxmlformats.org/drawingml/2006/main" prst="roundRect">
            <a:avLst>
              <a:gd name="adj" fmla="val 9333"/>
            </a:avLst>
          </a:prstGeom>
          <a:solidFill xmlns:a="http://schemas.openxmlformats.org/drawingml/2006/main">
            <a:srgbClr val="F40036"/>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A54CBED-AA13-4F61-8E76-B069BBE253A3}"/>
              </a:ext>
            </a:extLst>
          </p:cNvPr>
          <p:cNvSpPr>
            <a:spLocks xmlns:a="http://schemas.openxmlformats.org/drawingml/2006/main" noGrp="1"/>
          </p:cNvSpPr>
          <p:nvPr/>
        </p:nvSpPr>
        <p:spPr>
          <a:xfrm xmlns:a="http://schemas.openxmlformats.org/drawingml/2006/main">
            <a:off x="762000" y="6705600"/>
            <a:ext cx="1371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4050" b="1">
                <a:solidFill>
                  <a:srgbClr val="FFFFFF"/>
                </a:solidFill>
                <a:latin typeface="Pretendard"/>
                <a:ea typeface="Pretendard"/>
                <a:cs typeface="Pretendard"/>
              </a:defRPr>
            </a:pPr>
            <a:r>
              <a:rPr sz="4050" b="1">
                <a:solidFill>
                  <a:srgbClr val="FFFFFF"/>
                </a:solidFill>
                <a:latin typeface="Pretendard"/>
                <a:ea typeface="Pretendard"/>
                <a:cs typeface="Pretendard"/>
              </a:rPr>
              <a:t>Q&amp;A</a:t>
            </a:r>
          </a:p>
        </p:txBody>
      </p:sp>
      <p:sp>
        <p:nvSpPr>
          <p:cNvPr id="29" name="">
            <a:extLst xmlns:a="http://schemas.openxmlformats.org/drawingml/2006/main">
              <a:ext uri="{FF2B5EF4-FFF2-40B4-BE49-F238E27FC236}">
                <a16:creationId xmlns:a16="http://schemas.microsoft.com/office/drawing/2014/main" id="{453C3636-738F-401D-98C4-CF29FBF83E8A}"/>
              </a:ext>
            </a:extLst>
          </p:cNvPr>
          <p:cNvSpPr>
            <a:spLocks xmlns:a="http://schemas.openxmlformats.org/drawingml/2006/main" noGrp="1"/>
          </p:cNvSpPr>
          <p:nvPr/>
        </p:nvSpPr>
        <p:spPr>
          <a:xfrm xmlns:a="http://schemas.openxmlformats.org/drawingml/2006/main">
            <a:off x="762000" y="7410450"/>
            <a:ext cx="1371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0">
                <a:solidFill>
                  <a:srgbClr val="FFFFFF"/>
                </a:solidFill>
                <a:latin typeface="Pretendard"/>
                <a:ea typeface="Pretendard"/>
                <a:cs typeface="Pretendard"/>
              </a:defRPr>
            </a:pPr>
            <a:r>
              <a:rPr sz="1500" b="0">
                <a:solidFill>
                  <a:srgbClr val="FFFFFF"/>
                </a:solidFill>
                <a:latin typeface="Pretendard"/>
                <a:ea typeface="Pretendard"/>
                <a:cs typeface="Pretendard"/>
              </a:rPr>
              <a:t>감사합니다</a:t>
            </a:r>
          </a:p>
        </p:txBody>
      </p:sp>
    </p:spTree>
    <p:extLst>
      <p:ext uri="{BB962C8B-B14F-4D97-AF65-F5344CB8AC3E}">
        <p14:creationId xmlns:p14="http://schemas.microsoft.com/office/powerpoint/2010/main" val="931544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2026-09-09T05:15:57.6500000Z</dcterms:created>
  <dcterms:modified xsi:type="dcterms:W3CDTF">2026-09-09T05:15:57.6500000Z</dcterms:modified>
</coreProperties>
</file>