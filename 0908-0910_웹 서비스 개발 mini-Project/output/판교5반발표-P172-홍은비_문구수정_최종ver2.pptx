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Pretendard Medium" panose="02000503000000020004" pitchFamily="2" charset="-127"/>
      <p:regular r:id="rId18"/>
    </p:embeddedFont>
    <p:embeddedFont>
      <p:font typeface="Pretendard SemiBold" panose="02000503000000020004" pitchFamily="2" charset="-127"/>
      <p:regular r:id="rId19"/>
      <p:bold r:id="rId20"/>
    </p:embeddedFont>
  </p:embeddedFontLst>
  <p:defaultTextStyle>
    <a:defPPr>
      <a:defRPr lang="ko-Kore-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59"/>
  </p:normalViewPr>
  <p:slideViewPr>
    <p:cSldViewPr snapToGrid="0">
      <p:cViewPr varScale="1">
        <p:scale>
          <a:sx n="97" d="100"/>
          <a:sy n="97" d="100"/>
        </p:scale>
        <p:origin x="114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판교5반 홍은비입니다. 제가 설계한 DocuFit은 기업대출 서류를 은행에 제출하기 전에 누락과 불일치를 확인하는 B2B 웹 서비스입니다. 오늘은 문제를 어떻게 정의했고, 화면과 API, 데이터 모델을 어떻게 연결했는지 말씀드리겠습니다.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기획 배경은 두 단계로 봤습니다. 먼저 은행은 생성형 AI를 활용해 기업 분석과 심사의견 작성을 빠르게 바꾸고 있습니다. 다만 제가 확인한 공개 사례는 대부분 서류가 접수된 뒤 은행 내부 업무를 지원하는 데 초점이 있었습니다. 반면 기업 담당자는 여러 서류의 누락, 유효기간, 기업정보 일치 여부를 제출 전에 직접 확인해야 합니다. DocuFit은 이 접수 전 단계에서 기업 고객이 먼저 오류를 발견하고 보완하도록 설계했습니다.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문제는 사용자별로 세 가지로 정리했습니다. 기업 담당자는 무엇이 빠졌고 어떤 값이 다른지 제출 전에 확인하기 어렵습니다. 은행 담당자는 문서마다 기업명과 사업자등록번호를 반복해서 대조해야 합니다. 양쪽 모두 보완과 재제출이 반복되면 최신본과 이전본을 구분하기 어려워집니다. 그래서 누락과 유효기간 검사, 문서 간 교차검증, 버전과 처리자 이력 보존을 각각 요구사항으로 연결했습니다.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액터는 기업 고객 담당자와 은행 기업금융 담당자 두 명입니다. 서비스 운영 주체는 은행이고, 기업 담당자는 공개 회원가입 대신 은행이 보낸 초대 링크로 계정을 활성화합니다. 기업 담당자는 자기 기업의 신청 건만 조회하고 서류를 제출합니다. 은행 담당자는 최종 제출된 건의 원본과 검증 결과를 확인한 뒤 서류 확인 완료 또는 보완 요청을 처리합니다. 여기서 서류 확인 완료는 대출 승인이나 신용 판단을 뜻하지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전체 흐름은 기업 고객과 은행 담당자로 나뉩니다. 기업 고객은 서류를 업로드하고 사전검증을 통과한 뒤 최종 제출합니다. 최초 제출은 REVIEW_PENDING, 보완 후 다시 제출하면 RESUBMITTED 상태가 됩니다. 은행 담당자는 상세 검토 후 DOCUMENTS_APPROVED 또는 REVISION_REQUESTED로 처리합니다. 보완 요청이 오면 기업 고객이 해당 문서를 다시 올리고 같은 흐름을 반복합니다.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화면은 모두 다섯 개입니다. 로그인과 계정 활성화는 공통 화면으로 두고, 기업 화면은 업로드와 검증 결과를 분리했습니다. 한 화면에 처리 상태와 추출값, 오류까지 모두 넣으면 정보가 과밀해지기 때문입니다. 은행 화면은 검토 목록과 상세 검토로 나눴습니다. 각 화면은 요구사항 ID와 API를 연결했고, 정상 상태뿐 아니라 빈 화면, 로딩, 네트워크 오류와 주요 HTTP 오류도 정의했습니다.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기업의 서류 업로드 화면입니다. 이 화면은 파일명과 버전, OCR 처리 상태만 보여주고 추출값과 교차검증 결과는 다음 화면에서 확인합니다. 같은 문서 유형을 다시 올리면 기존 파일을 덮어쓰지 않고 version_no를 증가시킵니다. OCR 처리만 실패한 경우에는 파일을 다시 받지 않고 같은 원본으로 최대 세 번 재시도합니다. 은행이 보완을 요청한 경우에는 상단 배너에서 대상과 사유를 보여주고 해당 문서 카드로 바로 이동시킵니다.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사전검증 결과 화면이 서비스의 핵심입니다. 예시에서는 납세증명서의 사업자등록번호가 기준값과 다르고 재무제표가 제출되지 않아 차단 오류 두 건이 발생했습니다. 오류 카드에는 대상 문서와 원인, 해결 행동을 함께 보여줍니다. 해결 행동을 누르면 업로드 화면의 해당 카드로 이동합니다. 차단 오류가 하나라도 남아 있거나 OCR 처리가 끝나지 않으면 제출 버튼을 비활성화하고, 서버도 422로 제출을 막습니다.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은행 상세 검토 화면입니다. 문서 탭을 바꾸면 최신 원본과 OCR 추출값, 검증 결과가 함께 바뀝니다. 추출값은 참고용으로만 보여주고 직접 수정할 수 없게 했습니다. 보완 요청은 대상 문서 한 건과 기업 담당자가 이해할 수 있는 사유를 받습니다. 여러 문서에 보완이 필요하면 문서별로 요청을 등록합니다. 이력에는 문서를 올린 기업 담당자와 검토한 은행 담당자를 각각 남겨 재제출 과정을 추적할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기업명과 사업자등록번호는 companies에 한 번만 저장하고 관련 테이블은 company_id로 참조합니다. 은행 담당자와 신청 건의 N:M 관계는 reviews라는 관계 엔티티로 분리해 두 개의 1:N 관계로 구성하고, 검토 결과와 사유, 처리 시각을 건별로 저장합니다. 재제출 문서는 버전으로 보존하며 OCR 추출값과 검증 오류도 서로 다른 테이블에서 관리합니다.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API는 화면에서 실제 호출하는 열한 개만 정의했습니다. 각 오퍼레이션 description에 요구사항 ID와 화면 ID, 사용하는 테이블을 적어 요구사항부터 DB까지 추적할 수 있게 했습니다. 공통 파라미터와 오류 응답은 $ref로 재사용했습니다. 외부 OCR은 DocuFit이 제공하는 API가 아니므로 별도 엔드포인트로 노출하지 않고, 연동 실패와 지연을 502와 504로 표현했습니다. 제출 조건을 만족하지 못하면 422와 blockingIssues 배열을 반환해 화면이 해결할 항목을 그대로 표시합니다.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API는 열한 개입니다. 왼쪽이 최종 제출 오퍼레이션 원문이고 오른쪽이 명세서입니다.</a:t>
            </a:r>
          </a:p>
          <a:p>
            <a:r>
              <a:t>모든 오퍼레이션 description에 요구사항 ID, 화면 ID, 사용 테이블을 적어서 요구사항부터 DB까지 한 줄로 이어집니다.</a:t>
            </a:r>
          </a:p>
          <a:p>
            <a:r>
              <a:t>외부 OCR 호출은 우리가 제공하는 API가 아니라 명세에 넣지 않고 502와 504로 표현했습니다.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정리하면 DocuFit은 대출을 자동 심사하는 서비스가 아니라, 기업 고객이 제출 전에 서류 오류를 발견하고 은행 담당자가 최신 원본과 이력을 일관되게 확인하도록 돕는 서비스입니다. 설계하면서 접수 전 예방, 사람의 최종 확인, 재제출 이력 추적을 핵심 원칙으로 두었습니다. 이후에는 은행 SSO와 문서 진위확인 연동, 지원 문서 확대를 검토할 수 있습니다. 이상으로 발표를 마치겠습니다. 감사합니다.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F217D-89CB-4AEA-A443-DF21E0B57D35}"/>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C55B6D9A-C96A-473D-9DFA-2BC75152AC4C}"/>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9AEC7BE-C4D4-4306-9856-D4229403A647}"/>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493E0FF6-6DEF-4409-AFED-6CDD86BE39E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AAB8E4D-BD7E-4ED8-AAE7-9BD9A8F1784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EA22E-F8C4-404E-8030-39496CE87CA0}"/>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CE63381F-7C6D-4CCD-B331-395BA2D73B1A}"/>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BA721C9-4D2F-4A02-A626-95CA0D92CDB8}"/>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D7B699CA-08CF-42D8-B288-12A608CCDA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5B079AA7-F676-46F9-83B8-EF66176CC9E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691ED-42CA-4573-A2A4-12FE9535394F}"/>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57BE62A4-2831-46EB-862C-B5D8C137DD4C}"/>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6D15A3B4-82ED-49C4-8DE0-53BD8A2C861D}"/>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E00A2A4B-B45D-4A14-94D6-3AEBBA5A8D2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3EE7FF6-CE29-46A6-B906-DFAB1EC536B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36920-EBF2-497A-8922-DBCB73410E1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C93F3BB-30D8-4C03-B8EA-3A4CD5808801}"/>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C29E152-80CE-45FC-B140-5C3EB8FBE4C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F28054F0-AAFF-4907-90A7-5E4B0C0D04B2}"/>
              </a:ext>
            </a:extLst>
          </p:cNvPr>
          <p:cNvSpPr>
            <a:spLocks noGrp="1"/>
          </p:cNvSpPr>
          <p:nvPr>
            <p:ph type="dt" idx="10"/>
          </p:nvPr>
        </p:nvSpPr>
        <p:spPr/>
        <p:txBody>
          <a:bodyPr/>
          <a:lstStyle/>
          <a:p>
            <a:fld id="{1D8BD707-D9CF-40AE-B4C6-C98DA3205C09}" type="datetimeFigureOut">
              <a:t>2026. 9. 9.</a:t>
            </a:fld>
            <a:endParaRPr/>
          </a:p>
        </p:txBody>
      </p:sp>
      <p:sp>
        <p:nvSpPr>
          <p:cNvPr id="6" name="Footer Placeholder 5">
            <a:extLst>
              <a:ext uri="{FF2B5EF4-FFF2-40B4-BE49-F238E27FC236}">
                <a16:creationId xmlns:a16="http://schemas.microsoft.com/office/drawing/2014/main" id="{82D79D1D-E681-4913-A459-A01AB91E7F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C4FDF92-0E28-47B1-A822-C93977E9623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BE738-7CC8-4AD4-ABB4-D745E206E3D7}"/>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0C8DA856-2640-4587-B972-1AADDEC94572}"/>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DEFD83E2-40BF-4DB0-B00B-964A831988A5}"/>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FD647176-8D5F-4DE4-8C17-57F45EA4B680}"/>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E9319C3A-88A0-4489-A664-F852B7738603}"/>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7AB678C4-C199-48E6-A727-9C8FB3565EB5}"/>
              </a:ext>
            </a:extLst>
          </p:cNvPr>
          <p:cNvSpPr>
            <a:spLocks noGrp="1"/>
          </p:cNvSpPr>
          <p:nvPr>
            <p:ph type="dt" idx="10"/>
          </p:nvPr>
        </p:nvSpPr>
        <p:spPr/>
        <p:txBody>
          <a:bodyPr/>
          <a:lstStyle/>
          <a:p>
            <a:fld id="{1D8BD707-D9CF-40AE-B4C6-C98DA3205C09}" type="datetimeFigureOut">
              <a:t>2026. 9. 9.</a:t>
            </a:fld>
            <a:endParaRPr/>
          </a:p>
        </p:txBody>
      </p:sp>
      <p:sp>
        <p:nvSpPr>
          <p:cNvPr id="8" name="Footer Placeholder 7">
            <a:extLst>
              <a:ext uri="{FF2B5EF4-FFF2-40B4-BE49-F238E27FC236}">
                <a16:creationId xmlns:a16="http://schemas.microsoft.com/office/drawing/2014/main" id="{A4E38E8A-2AC7-44ED-853F-3AA49C2FDBD9}"/>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56B6CDC3-7089-4A00-BE7A-B6DA016E0EA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1F64E-F009-408F-829E-ABB71149D61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00588B0-4D66-4663-9DCC-77BF8780CA41}"/>
              </a:ext>
            </a:extLst>
          </p:cNvPr>
          <p:cNvSpPr>
            <a:spLocks noGrp="1"/>
          </p:cNvSpPr>
          <p:nvPr>
            <p:ph type="dt" idx="10"/>
          </p:nvPr>
        </p:nvSpPr>
        <p:spPr/>
        <p:txBody>
          <a:bodyPr/>
          <a:lstStyle/>
          <a:p>
            <a:fld id="{1D8BD707-D9CF-40AE-B4C6-C98DA3205C09}" type="datetimeFigureOut">
              <a:t>2026. 9. 9.</a:t>
            </a:fld>
            <a:endParaRPr/>
          </a:p>
        </p:txBody>
      </p:sp>
      <p:sp>
        <p:nvSpPr>
          <p:cNvPr id="4" name="Footer Placeholder 3">
            <a:extLst>
              <a:ext uri="{FF2B5EF4-FFF2-40B4-BE49-F238E27FC236}">
                <a16:creationId xmlns:a16="http://schemas.microsoft.com/office/drawing/2014/main" id="{8F971311-FC67-4ADA-A163-CD419B1817F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9B9BB38C-B965-408C-B9A7-E07067F5274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EA2AD4-CC2D-4057-AC8A-873AAC457981}"/>
              </a:ext>
            </a:extLst>
          </p:cNvPr>
          <p:cNvSpPr>
            <a:spLocks noGrp="1"/>
          </p:cNvSpPr>
          <p:nvPr>
            <p:ph type="dt" idx="10"/>
          </p:nvPr>
        </p:nvSpPr>
        <p:spPr/>
        <p:txBody>
          <a:bodyPr/>
          <a:lstStyle/>
          <a:p>
            <a:fld id="{1D8BD707-D9CF-40AE-B4C6-C98DA3205C09}" type="datetimeFigureOut">
              <a:t>2026. 9. 9.</a:t>
            </a:fld>
            <a:endParaRPr/>
          </a:p>
        </p:txBody>
      </p:sp>
      <p:sp>
        <p:nvSpPr>
          <p:cNvPr id="3" name="Footer Placeholder 2">
            <a:extLst>
              <a:ext uri="{FF2B5EF4-FFF2-40B4-BE49-F238E27FC236}">
                <a16:creationId xmlns:a16="http://schemas.microsoft.com/office/drawing/2014/main" id="{02D15F41-3EC4-49CF-BE5E-404D72E70736}"/>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58E2F54-EB27-4F83-8F89-9E19FA9140C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986F2-6F03-4BF8-AD81-3AFD096D2EB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5CAD813-D751-442F-A1A0-C47B968C9507}"/>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8178A6B-D541-4604-8C14-845366729299}"/>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1FCC2749-A5D3-4463-BD34-A2B72C6DCF4A}"/>
              </a:ext>
            </a:extLst>
          </p:cNvPr>
          <p:cNvSpPr>
            <a:spLocks noGrp="1"/>
          </p:cNvSpPr>
          <p:nvPr>
            <p:ph type="dt" idx="10"/>
          </p:nvPr>
        </p:nvSpPr>
        <p:spPr/>
        <p:txBody>
          <a:bodyPr/>
          <a:lstStyle/>
          <a:p>
            <a:fld id="{1D8BD707-D9CF-40AE-B4C6-C98DA3205C09}" type="datetimeFigureOut">
              <a:t>2026. 9. 9.</a:t>
            </a:fld>
            <a:endParaRPr/>
          </a:p>
        </p:txBody>
      </p:sp>
      <p:sp>
        <p:nvSpPr>
          <p:cNvPr id="6" name="Footer Placeholder 5">
            <a:extLst>
              <a:ext uri="{FF2B5EF4-FFF2-40B4-BE49-F238E27FC236}">
                <a16:creationId xmlns:a16="http://schemas.microsoft.com/office/drawing/2014/main" id="{F260FF1C-3CC9-4441-9BCE-18DE92ACD1F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7AAB929-02EA-4208-BB87-51692F1277BC}"/>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C4DE-076F-47E9-801D-FFDCEF73D1A8}"/>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B9149479-0E67-4C66-9C11-145FA481AD3D}"/>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1C06697-368E-4A21-893D-4871D53F84A2}"/>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EB0EAF0-D966-4894-881F-A42919AADF0F}"/>
              </a:ext>
            </a:extLst>
          </p:cNvPr>
          <p:cNvSpPr>
            <a:spLocks noGrp="1"/>
          </p:cNvSpPr>
          <p:nvPr>
            <p:ph type="dt" idx="10"/>
          </p:nvPr>
        </p:nvSpPr>
        <p:spPr/>
        <p:txBody>
          <a:bodyPr/>
          <a:lstStyle/>
          <a:p>
            <a:fld id="{1D8BD707-D9CF-40AE-B4C6-C98DA3205C09}" type="datetimeFigureOut">
              <a:t>2026. 9. 9.</a:t>
            </a:fld>
            <a:endParaRPr/>
          </a:p>
        </p:txBody>
      </p:sp>
      <p:sp>
        <p:nvSpPr>
          <p:cNvPr id="6" name="Footer Placeholder 5">
            <a:extLst>
              <a:ext uri="{FF2B5EF4-FFF2-40B4-BE49-F238E27FC236}">
                <a16:creationId xmlns:a16="http://schemas.microsoft.com/office/drawing/2014/main" id="{36234572-B31A-4C92-9A5E-CBCE47E38F2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628A92D-3CAD-49F7-B929-AC6AC87DA867}"/>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D7A0-20D8-44AB-825D-D66CF95ECEA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7D52F2A-AA78-4407-ADBF-FFF2EAD860CB}"/>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8C9A67D-76C6-4E8A-A27D-23CDB2831269}"/>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B578D184-88D5-4252-9F41-B1C4A356587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E35CBCB-9646-4AF2-A02F-6F4CE192931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B9682F-493A-4F8E-9A61-9A93A69BA90D}"/>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36F2365-AD06-4F84-BFAF-32CE6A3604DE}"/>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D084756-0E8F-4003-A5CB-4309EA962268}"/>
              </a:ext>
            </a:extLst>
          </p:cNvPr>
          <p:cNvSpPr>
            <a:spLocks noGrp="1"/>
          </p:cNvSpPr>
          <p:nvPr>
            <p:ph type="dt" idx="10"/>
          </p:nvPr>
        </p:nvSpPr>
        <p:spPr/>
        <p:txBody>
          <a:body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D5F0E7B4-3765-4D07-8A06-70D991D07D2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C0D5ACB-3ACD-4D91-A0A8-85010FD5615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92025-8792-43FA-9505-2077DD83DCDA}"/>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E6D3F6A-3908-4438-BB06-1C29D5F4773C}"/>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670741-6993-42DB-A39A-5A14D5DCB6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2026. 9. 9.</a:t>
            </a:fld>
            <a:endParaRPr/>
          </a:p>
        </p:txBody>
      </p:sp>
      <p:sp>
        <p:nvSpPr>
          <p:cNvPr id="5" name="Footer Placeholder 4">
            <a:extLst>
              <a:ext uri="{FF2B5EF4-FFF2-40B4-BE49-F238E27FC236}">
                <a16:creationId xmlns:a16="http://schemas.microsoft.com/office/drawing/2014/main" id="{5D64F616-D7A3-46EF-8A0C-2EFEBDC53C8B}"/>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5A7FD04-A8EF-4E84-A3F6-1EA217A2FAD4}"/>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002C"/>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D8CA9F9-4655-4BD7-A73D-D941E255C451}"/>
              </a:ext>
            </a:extLst>
          </p:cNvPr>
          <p:cNvSpPr>
            <a:spLocks noGrp="1"/>
          </p:cNvSpPr>
          <p:nvPr/>
        </p:nvSpPr>
        <p:spPr>
          <a:xfrm>
            <a:off x="-1987541" y="1779860"/>
            <a:ext cx="6032482" cy="603248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4" name="TextBox 4">
            <a:extLst>
              <a:ext uri="{FF2B5EF4-FFF2-40B4-BE49-F238E27FC236}">
                <a16:creationId xmlns:a16="http://schemas.microsoft.com/office/drawing/2014/main" id="{6E94580E-B6B3-47C6-9974-2134FF3B993E}"/>
              </a:ext>
            </a:extLst>
          </p:cNvPr>
          <p:cNvSpPr>
            <a:spLocks noGrp="1"/>
          </p:cNvSpPr>
          <p:nvPr/>
        </p:nvSpPr>
        <p:spPr>
          <a:xfrm>
            <a:off x="-1421996" y="1991939"/>
            <a:ext cx="4901391" cy="5254857"/>
          </a:xfrm>
          <a:prstGeom prst="rect">
            <a:avLst/>
          </a:prstGeom>
        </p:spPr>
        <p:txBody>
          <a:bodyPr lIns="50800" tIns="50800" rIns="50800" bIns="50800" anchor="ctr"/>
          <a:lstStyle/>
          <a:p>
            <a:pPr algn="ctr">
              <a:lnSpc>
                <a:spcPts val="2659"/>
              </a:lnSpc>
              <a:buNone/>
            </a:pPr>
            <a:endParaRPr/>
          </a:p>
        </p:txBody>
      </p:sp>
      <p:sp>
        <p:nvSpPr>
          <p:cNvPr id="6" name="Freeform 6">
            <a:extLst>
              <a:ext uri="{FF2B5EF4-FFF2-40B4-BE49-F238E27FC236}">
                <a16:creationId xmlns:a16="http://schemas.microsoft.com/office/drawing/2014/main" id="{34FB3866-0D72-48D3-9BB0-6BA3E6CF842F}"/>
              </a:ext>
            </a:extLst>
          </p:cNvPr>
          <p:cNvSpPr>
            <a:spLocks noGrp="1"/>
          </p:cNvSpPr>
          <p:nvPr/>
        </p:nvSpPr>
        <p:spPr>
          <a:xfrm>
            <a:off x="16710243" y="1779860"/>
            <a:ext cx="6032482" cy="603248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7" name="TextBox 7">
            <a:extLst>
              <a:ext uri="{FF2B5EF4-FFF2-40B4-BE49-F238E27FC236}">
                <a16:creationId xmlns:a16="http://schemas.microsoft.com/office/drawing/2014/main" id="{1D2BDCAD-B56B-4FB5-8DC7-571CD9CB6965}"/>
              </a:ext>
            </a:extLst>
          </p:cNvPr>
          <p:cNvSpPr>
            <a:spLocks noGrp="1"/>
          </p:cNvSpPr>
          <p:nvPr/>
        </p:nvSpPr>
        <p:spPr>
          <a:xfrm>
            <a:off x="17275788" y="1991939"/>
            <a:ext cx="4901391" cy="5254857"/>
          </a:xfrm>
          <a:prstGeom prst="rect">
            <a:avLst/>
          </a:prstGeom>
        </p:spPr>
        <p:txBody>
          <a:bodyPr lIns="50800" tIns="50800" rIns="50800" bIns="50800" anchor="ctr"/>
          <a:lstStyle/>
          <a:p>
            <a:pPr algn="ctr">
              <a:lnSpc>
                <a:spcPts val="2659"/>
              </a:lnSpc>
              <a:buNone/>
            </a:pPr>
            <a:endParaRPr/>
          </a:p>
        </p:txBody>
      </p:sp>
      <p:sp>
        <p:nvSpPr>
          <p:cNvPr id="8" name="TextBox 8">
            <a:extLst>
              <a:ext uri="{FF2B5EF4-FFF2-40B4-BE49-F238E27FC236}">
                <a16:creationId xmlns:a16="http://schemas.microsoft.com/office/drawing/2014/main" id="{F2C53E5D-03C5-42D4-A4C4-89903CA55DA0}"/>
              </a:ext>
            </a:extLst>
          </p:cNvPr>
          <p:cNvSpPr>
            <a:spLocks noGrp="1"/>
          </p:cNvSpPr>
          <p:nvPr/>
        </p:nvSpPr>
        <p:spPr>
          <a:xfrm>
            <a:off x="1028700" y="5002229"/>
            <a:ext cx="10956914" cy="764359"/>
          </a:xfrm>
          <a:prstGeom prst="rect">
            <a:avLst/>
          </a:prstGeom>
        </p:spPr>
        <p:txBody>
          <a:bodyPr lIns="0" tIns="0" rIns="0" bIns="0" anchor="t">
            <a:spAutoFit/>
          </a:bodyPr>
          <a:lstStyle/>
          <a:p>
            <a:pPr algn="l">
              <a:lnSpc>
                <a:spcPts val="6098"/>
              </a:lnSpc>
              <a:buNone/>
            </a:pPr>
            <a:r>
              <a:rPr sz="4878">
                <a:solidFill>
                  <a:srgbClr val="FFFFFF"/>
                </a:solidFill>
                <a:latin typeface="Pretendard Medium"/>
                <a:ea typeface="Pretendard Medium"/>
                <a:cs typeface="Pretendard Medium"/>
              </a:rPr>
              <a:t>기업대출 제출서류 사전검수 서비스</a:t>
            </a:r>
          </a:p>
        </p:txBody>
      </p:sp>
      <p:sp>
        <p:nvSpPr>
          <p:cNvPr id="9" name="TextBox 9">
            <a:extLst>
              <a:ext uri="{FF2B5EF4-FFF2-40B4-BE49-F238E27FC236}">
                <a16:creationId xmlns:a16="http://schemas.microsoft.com/office/drawing/2014/main" id="{83698DD3-3415-493C-B66A-A9B22CFA4A89}"/>
              </a:ext>
            </a:extLst>
          </p:cNvPr>
          <p:cNvSpPr>
            <a:spLocks noGrp="1"/>
          </p:cNvSpPr>
          <p:nvPr/>
        </p:nvSpPr>
        <p:spPr>
          <a:xfrm>
            <a:off x="1028700" y="3418972"/>
            <a:ext cx="12712945" cy="1377129"/>
          </a:xfrm>
          <a:prstGeom prst="rect">
            <a:avLst/>
          </a:prstGeom>
        </p:spPr>
        <p:txBody>
          <a:bodyPr lIns="0" tIns="0" rIns="0" bIns="0" anchor="t">
            <a:spAutoFit/>
          </a:bodyPr>
          <a:lstStyle/>
          <a:p>
            <a:pPr algn="l">
              <a:lnSpc>
                <a:spcPts val="11024"/>
              </a:lnSpc>
              <a:buNone/>
            </a:pPr>
            <a:r>
              <a:rPr sz="8819" b="1" spc="-176">
                <a:solidFill>
                  <a:srgbClr val="FFFFFF"/>
                </a:solidFill>
                <a:latin typeface="Pretendard SemiBold"/>
                <a:ea typeface="Pretendard SemiBold"/>
                <a:cs typeface="Pretendard SemiBold"/>
              </a:rPr>
              <a:t>DocuFit.</a:t>
            </a:r>
          </a:p>
        </p:txBody>
      </p:sp>
      <p:sp>
        <p:nvSpPr>
          <p:cNvPr id="10" name="TextBox 10">
            <a:extLst>
              <a:ext uri="{FF2B5EF4-FFF2-40B4-BE49-F238E27FC236}">
                <a16:creationId xmlns:a16="http://schemas.microsoft.com/office/drawing/2014/main" id="{3FE82F23-4F34-41B3-8564-6234A7FD2BB1}"/>
              </a:ext>
            </a:extLst>
          </p:cNvPr>
          <p:cNvSpPr>
            <a:spLocks noGrp="1"/>
          </p:cNvSpPr>
          <p:nvPr/>
        </p:nvSpPr>
        <p:spPr>
          <a:xfrm>
            <a:off x="1028700" y="8705595"/>
            <a:ext cx="3899716" cy="558573"/>
          </a:xfrm>
          <a:prstGeom prst="rect">
            <a:avLst/>
          </a:prstGeom>
        </p:spPr>
        <p:txBody>
          <a:bodyPr lIns="0" tIns="0" rIns="0" bIns="0" anchor="t">
            <a:spAutoFit/>
          </a:bodyPr>
          <a:lstStyle/>
          <a:p>
            <a:pPr algn="just">
              <a:lnSpc>
                <a:spcPts val="4419"/>
              </a:lnSpc>
              <a:buNone/>
            </a:pPr>
            <a:r>
              <a:rPr sz="3535">
                <a:solidFill>
                  <a:srgbClr val="FFFFFF"/>
                </a:solidFill>
                <a:latin typeface="Pretendard Medium"/>
                <a:ea typeface="Pretendard Medium"/>
                <a:cs typeface="Pretendard Medium"/>
              </a:rPr>
              <a:t>판교5 홍은비</a:t>
            </a:r>
          </a:p>
        </p:txBody>
      </p:sp>
    </p:spTree>
    <p:extLst>
      <p:ext uri="{BB962C8B-B14F-4D97-AF65-F5344CB8AC3E}">
        <p14:creationId xmlns:p14="http://schemas.microsoft.com/office/powerpoint/2010/main" val="405182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86DEDEE1-0111-49CF-B00D-88276AFDDD2A}"/>
              </a:ext>
            </a:extLst>
          </p:cNvPr>
          <p:cNvSpPr>
            <a:spLocks noGrp="1"/>
          </p:cNvSpPr>
          <p:nvPr/>
        </p:nvSpPr>
        <p:spPr>
          <a:xfrm>
            <a:off x="9144000" y="2616209"/>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4" name="TextBox 4">
            <a:extLst>
              <a:ext uri="{FF2B5EF4-FFF2-40B4-BE49-F238E27FC236}">
                <a16:creationId xmlns:a16="http://schemas.microsoft.com/office/drawing/2014/main" id="{6D1FDAB0-E467-4E4B-9838-5BFEDE466625}"/>
              </a:ext>
            </a:extLst>
          </p:cNvPr>
          <p:cNvSpPr>
            <a:spLocks noGrp="1"/>
          </p:cNvSpPr>
          <p:nvPr/>
        </p:nvSpPr>
        <p:spPr>
          <a:xfrm>
            <a:off x="9213077" y="2659382"/>
            <a:ext cx="598669" cy="624573"/>
          </a:xfrm>
          <a:prstGeom prst="rect">
            <a:avLst/>
          </a:prstGeom>
        </p:spPr>
        <p:txBody>
          <a:bodyPr lIns="50800" tIns="50800" rIns="50800" bIns="50800" anchor="ctr"/>
          <a:lstStyle/>
          <a:p>
            <a:pPr algn="ctr">
              <a:lnSpc>
                <a:spcPts val="3145"/>
              </a:lnSpc>
              <a:buNone/>
            </a:pPr>
            <a:endParaRPr/>
          </a:p>
        </p:txBody>
      </p:sp>
      <p:sp>
        <p:nvSpPr>
          <p:cNvPr id="6" name="Freeform 6">
            <a:extLst>
              <a:ext uri="{FF2B5EF4-FFF2-40B4-BE49-F238E27FC236}">
                <a16:creationId xmlns:a16="http://schemas.microsoft.com/office/drawing/2014/main" id="{F1826233-9E90-48CC-8044-2175C80DFAE6}"/>
              </a:ext>
            </a:extLst>
          </p:cNvPr>
          <p:cNvSpPr>
            <a:spLocks noGrp="1"/>
          </p:cNvSpPr>
          <p:nvPr/>
        </p:nvSpPr>
        <p:spPr>
          <a:xfrm>
            <a:off x="9144000" y="3659027"/>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7" name="TextBox 7">
            <a:extLst>
              <a:ext uri="{FF2B5EF4-FFF2-40B4-BE49-F238E27FC236}">
                <a16:creationId xmlns:a16="http://schemas.microsoft.com/office/drawing/2014/main" id="{1E80B838-273B-476B-B206-F064C52EE3D8}"/>
              </a:ext>
            </a:extLst>
          </p:cNvPr>
          <p:cNvSpPr>
            <a:spLocks noGrp="1"/>
          </p:cNvSpPr>
          <p:nvPr/>
        </p:nvSpPr>
        <p:spPr>
          <a:xfrm>
            <a:off x="9213077" y="3702200"/>
            <a:ext cx="598669" cy="624573"/>
          </a:xfrm>
          <a:prstGeom prst="rect">
            <a:avLst/>
          </a:prstGeom>
        </p:spPr>
        <p:txBody>
          <a:bodyPr lIns="50800" tIns="50800" rIns="50800" bIns="50800" anchor="ctr"/>
          <a:lstStyle/>
          <a:p>
            <a:pPr algn="ctr">
              <a:lnSpc>
                <a:spcPts val="3145"/>
              </a:lnSpc>
              <a:buNone/>
            </a:pPr>
            <a:endParaRPr/>
          </a:p>
        </p:txBody>
      </p:sp>
      <p:sp>
        <p:nvSpPr>
          <p:cNvPr id="9" name="Freeform 9">
            <a:extLst>
              <a:ext uri="{FF2B5EF4-FFF2-40B4-BE49-F238E27FC236}">
                <a16:creationId xmlns:a16="http://schemas.microsoft.com/office/drawing/2014/main" id="{2399D901-04B6-47A9-873D-3F54E0A6629C}"/>
              </a:ext>
            </a:extLst>
          </p:cNvPr>
          <p:cNvSpPr>
            <a:spLocks noGrp="1"/>
          </p:cNvSpPr>
          <p:nvPr/>
        </p:nvSpPr>
        <p:spPr>
          <a:xfrm>
            <a:off x="9144000" y="4701845"/>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0" name="TextBox 10">
            <a:extLst>
              <a:ext uri="{FF2B5EF4-FFF2-40B4-BE49-F238E27FC236}">
                <a16:creationId xmlns:a16="http://schemas.microsoft.com/office/drawing/2014/main" id="{536D0BC6-78F4-49D1-953A-4C11174E5472}"/>
              </a:ext>
            </a:extLst>
          </p:cNvPr>
          <p:cNvSpPr>
            <a:spLocks noGrp="1"/>
          </p:cNvSpPr>
          <p:nvPr/>
        </p:nvSpPr>
        <p:spPr>
          <a:xfrm>
            <a:off x="9213077" y="4745018"/>
            <a:ext cx="598669" cy="624573"/>
          </a:xfrm>
          <a:prstGeom prst="rect">
            <a:avLst/>
          </a:prstGeom>
        </p:spPr>
        <p:txBody>
          <a:bodyPr lIns="50800" tIns="50800" rIns="50800" bIns="50800" anchor="ctr"/>
          <a:lstStyle/>
          <a:p>
            <a:pPr algn="ctr">
              <a:lnSpc>
                <a:spcPts val="3145"/>
              </a:lnSpc>
              <a:buNone/>
            </a:pPr>
            <a:endParaRPr/>
          </a:p>
        </p:txBody>
      </p:sp>
      <p:sp>
        <p:nvSpPr>
          <p:cNvPr id="12" name="Freeform 12">
            <a:extLst>
              <a:ext uri="{FF2B5EF4-FFF2-40B4-BE49-F238E27FC236}">
                <a16:creationId xmlns:a16="http://schemas.microsoft.com/office/drawing/2014/main" id="{C2384B49-9B7B-439F-B524-60ED1DFE6639}"/>
              </a:ext>
            </a:extLst>
          </p:cNvPr>
          <p:cNvSpPr>
            <a:spLocks noGrp="1"/>
          </p:cNvSpPr>
          <p:nvPr/>
        </p:nvSpPr>
        <p:spPr>
          <a:xfrm>
            <a:off x="9144000" y="5744664"/>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3" name="TextBox 13">
            <a:extLst>
              <a:ext uri="{FF2B5EF4-FFF2-40B4-BE49-F238E27FC236}">
                <a16:creationId xmlns:a16="http://schemas.microsoft.com/office/drawing/2014/main" id="{4A2C8B7B-5CF2-4ED4-A14E-1118D5FCD3EB}"/>
              </a:ext>
            </a:extLst>
          </p:cNvPr>
          <p:cNvSpPr>
            <a:spLocks noGrp="1"/>
          </p:cNvSpPr>
          <p:nvPr/>
        </p:nvSpPr>
        <p:spPr>
          <a:xfrm>
            <a:off x="9213077" y="5787837"/>
            <a:ext cx="598669" cy="624573"/>
          </a:xfrm>
          <a:prstGeom prst="rect">
            <a:avLst/>
          </a:prstGeom>
        </p:spPr>
        <p:txBody>
          <a:bodyPr lIns="50800" tIns="50800" rIns="50800" bIns="50800" anchor="ctr"/>
          <a:lstStyle/>
          <a:p>
            <a:pPr algn="ctr">
              <a:lnSpc>
                <a:spcPts val="3145"/>
              </a:lnSpc>
              <a:buNone/>
            </a:pPr>
            <a:endParaRPr/>
          </a:p>
        </p:txBody>
      </p:sp>
      <p:sp>
        <p:nvSpPr>
          <p:cNvPr id="15" name="Freeform 15">
            <a:extLst>
              <a:ext uri="{FF2B5EF4-FFF2-40B4-BE49-F238E27FC236}">
                <a16:creationId xmlns:a16="http://schemas.microsoft.com/office/drawing/2014/main" id="{0DFEB487-4C3E-451B-B12B-1DFBCA389584}"/>
              </a:ext>
            </a:extLst>
          </p:cNvPr>
          <p:cNvSpPr>
            <a:spLocks noGrp="1"/>
          </p:cNvSpPr>
          <p:nvPr/>
        </p:nvSpPr>
        <p:spPr>
          <a:xfrm>
            <a:off x="9144000" y="6787482"/>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6" name="TextBox 16">
            <a:extLst>
              <a:ext uri="{FF2B5EF4-FFF2-40B4-BE49-F238E27FC236}">
                <a16:creationId xmlns:a16="http://schemas.microsoft.com/office/drawing/2014/main" id="{C7007BB9-5E1E-44E3-A9C7-74539D2266FD}"/>
              </a:ext>
            </a:extLst>
          </p:cNvPr>
          <p:cNvSpPr>
            <a:spLocks noGrp="1"/>
          </p:cNvSpPr>
          <p:nvPr/>
        </p:nvSpPr>
        <p:spPr>
          <a:xfrm>
            <a:off x="9213077" y="6830655"/>
            <a:ext cx="598669" cy="624573"/>
          </a:xfrm>
          <a:prstGeom prst="rect">
            <a:avLst/>
          </a:prstGeom>
        </p:spPr>
        <p:txBody>
          <a:bodyPr lIns="50800" tIns="50800" rIns="50800" bIns="50800" anchor="ctr"/>
          <a:lstStyle/>
          <a:p>
            <a:pPr algn="ctr">
              <a:lnSpc>
                <a:spcPts val="3145"/>
              </a:lnSpc>
              <a:buNone/>
            </a:pPr>
            <a:endParaRPr/>
          </a:p>
        </p:txBody>
      </p:sp>
      <p:sp>
        <p:nvSpPr>
          <p:cNvPr id="18" name="Freeform 18">
            <a:extLst>
              <a:ext uri="{FF2B5EF4-FFF2-40B4-BE49-F238E27FC236}">
                <a16:creationId xmlns:a16="http://schemas.microsoft.com/office/drawing/2014/main" id="{4115686E-A037-4A70-A0F7-2001B2C8F662}"/>
              </a:ext>
            </a:extLst>
          </p:cNvPr>
          <p:cNvSpPr>
            <a:spLocks noGrp="1"/>
          </p:cNvSpPr>
          <p:nvPr/>
        </p:nvSpPr>
        <p:spPr>
          <a:xfrm>
            <a:off x="9144000" y="7830300"/>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19" name="TextBox 19">
            <a:extLst>
              <a:ext uri="{FF2B5EF4-FFF2-40B4-BE49-F238E27FC236}">
                <a16:creationId xmlns:a16="http://schemas.microsoft.com/office/drawing/2014/main" id="{4A7C0585-FEF6-41A8-9AD2-A3BC654C9122}"/>
              </a:ext>
            </a:extLst>
          </p:cNvPr>
          <p:cNvSpPr>
            <a:spLocks noGrp="1"/>
          </p:cNvSpPr>
          <p:nvPr/>
        </p:nvSpPr>
        <p:spPr>
          <a:xfrm>
            <a:off x="9213077" y="7873473"/>
            <a:ext cx="598669" cy="624573"/>
          </a:xfrm>
          <a:prstGeom prst="rect">
            <a:avLst/>
          </a:prstGeom>
        </p:spPr>
        <p:txBody>
          <a:bodyPr lIns="50800" tIns="50800" rIns="50800" bIns="50800" anchor="ctr"/>
          <a:lstStyle/>
          <a:p>
            <a:pPr algn="ctr">
              <a:lnSpc>
                <a:spcPts val="3145"/>
              </a:lnSpc>
              <a:buNone/>
            </a:pPr>
            <a:endParaRPr/>
          </a:p>
        </p:txBody>
      </p:sp>
      <p:sp>
        <p:nvSpPr>
          <p:cNvPr id="20" name="Freeform 20">
            <a:extLst>
              <a:ext uri="{FF2B5EF4-FFF2-40B4-BE49-F238E27FC236}">
                <a16:creationId xmlns:a16="http://schemas.microsoft.com/office/drawing/2014/main" id="{334DE40B-F042-4F83-BB86-2E838337E276}"/>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21" name="TextBox 21">
            <a:extLst>
              <a:ext uri="{FF2B5EF4-FFF2-40B4-BE49-F238E27FC236}">
                <a16:creationId xmlns:a16="http://schemas.microsoft.com/office/drawing/2014/main" id="{EE9AA289-1BA5-485A-83A1-0004B9EEED85}"/>
              </a:ext>
            </a:extLst>
          </p:cNvPr>
          <p:cNvSpPr>
            <a:spLocks noGrp="1"/>
          </p:cNvSpPr>
          <p:nvPr/>
        </p:nvSpPr>
        <p:spPr>
          <a:xfrm>
            <a:off x="1028700" y="962025"/>
            <a:ext cx="4884180" cy="1238250"/>
          </a:xfrm>
          <a:prstGeom prst="rect">
            <a:avLst/>
          </a:prstGeom>
        </p:spPr>
        <p:txBody>
          <a:bodyPr lIns="0" tIns="0" rIns="0" bIns="0" anchor="t">
            <a:spAutoFit/>
          </a:bodyPr>
          <a:lstStyle/>
          <a:p>
            <a:pPr algn="l">
              <a:lnSpc>
                <a:spcPts val="9750"/>
              </a:lnSpc>
              <a:buNone/>
            </a:pPr>
            <a:r>
              <a:rPr sz="7500" b="1" spc="-150">
                <a:solidFill>
                  <a:srgbClr val="000000"/>
                </a:solidFill>
                <a:latin typeface="Pretendard SemiBold"/>
                <a:ea typeface="Pretendard SemiBold"/>
                <a:cs typeface="Pretendard SemiBold"/>
              </a:rPr>
              <a:t>목차</a:t>
            </a:r>
          </a:p>
        </p:txBody>
      </p:sp>
      <p:sp>
        <p:nvSpPr>
          <p:cNvPr id="22" name="TextBox 22">
            <a:extLst>
              <a:ext uri="{FF2B5EF4-FFF2-40B4-BE49-F238E27FC236}">
                <a16:creationId xmlns:a16="http://schemas.microsoft.com/office/drawing/2014/main" id="{2DFBA0D1-6239-4E05-AC29-2890C28AC134}"/>
              </a:ext>
            </a:extLst>
          </p:cNvPr>
          <p:cNvSpPr>
            <a:spLocks noGrp="1"/>
          </p:cNvSpPr>
          <p:nvPr/>
        </p:nvSpPr>
        <p:spPr>
          <a:xfrm>
            <a:off x="10074727" y="2679402"/>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기획 배경</a:t>
            </a:r>
          </a:p>
        </p:txBody>
      </p:sp>
      <p:sp>
        <p:nvSpPr>
          <p:cNvPr id="23" name="TextBox 23">
            <a:extLst>
              <a:ext uri="{FF2B5EF4-FFF2-40B4-BE49-F238E27FC236}">
                <a16:creationId xmlns:a16="http://schemas.microsoft.com/office/drawing/2014/main" id="{D35F4CC7-77F1-424C-82E0-695A3425E521}"/>
              </a:ext>
            </a:extLst>
          </p:cNvPr>
          <p:cNvSpPr>
            <a:spLocks noGrp="1"/>
          </p:cNvSpPr>
          <p:nvPr/>
        </p:nvSpPr>
        <p:spPr>
          <a:xfrm>
            <a:off x="9194066" y="2704027"/>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01</a:t>
            </a:r>
          </a:p>
        </p:txBody>
      </p:sp>
      <p:sp>
        <p:nvSpPr>
          <p:cNvPr id="24" name="TextBox 24">
            <a:extLst>
              <a:ext uri="{FF2B5EF4-FFF2-40B4-BE49-F238E27FC236}">
                <a16:creationId xmlns:a16="http://schemas.microsoft.com/office/drawing/2014/main" id="{0FC44AA4-FC96-40C6-AFE3-CE38B9DD8492}"/>
              </a:ext>
            </a:extLst>
          </p:cNvPr>
          <p:cNvSpPr>
            <a:spLocks noGrp="1"/>
          </p:cNvSpPr>
          <p:nvPr/>
        </p:nvSpPr>
        <p:spPr>
          <a:xfrm>
            <a:off x="10074727" y="3722220"/>
            <a:ext cx="6902651" cy="593471"/>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문제점</a:t>
            </a:r>
          </a:p>
        </p:txBody>
      </p:sp>
      <p:sp>
        <p:nvSpPr>
          <p:cNvPr id="25" name="TextBox 25">
            <a:extLst>
              <a:ext uri="{FF2B5EF4-FFF2-40B4-BE49-F238E27FC236}">
                <a16:creationId xmlns:a16="http://schemas.microsoft.com/office/drawing/2014/main" id="{1C261F57-96E4-4352-B1A3-79CE439D887D}"/>
              </a:ext>
            </a:extLst>
          </p:cNvPr>
          <p:cNvSpPr>
            <a:spLocks noGrp="1"/>
          </p:cNvSpPr>
          <p:nvPr/>
        </p:nvSpPr>
        <p:spPr>
          <a:xfrm>
            <a:off x="9194066" y="3746845"/>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02</a:t>
            </a:r>
          </a:p>
        </p:txBody>
      </p:sp>
      <p:sp>
        <p:nvSpPr>
          <p:cNvPr id="26" name="TextBox 26">
            <a:extLst>
              <a:ext uri="{FF2B5EF4-FFF2-40B4-BE49-F238E27FC236}">
                <a16:creationId xmlns:a16="http://schemas.microsoft.com/office/drawing/2014/main" id="{D702DD9D-88DF-4AA5-915E-750038B3DBEA}"/>
              </a:ext>
            </a:extLst>
          </p:cNvPr>
          <p:cNvSpPr>
            <a:spLocks noGrp="1"/>
          </p:cNvSpPr>
          <p:nvPr/>
        </p:nvSpPr>
        <p:spPr>
          <a:xfrm>
            <a:off x="10074727" y="4765039"/>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시스템 액터 정의</a:t>
            </a:r>
          </a:p>
        </p:txBody>
      </p:sp>
      <p:sp>
        <p:nvSpPr>
          <p:cNvPr id="27" name="TextBox 27">
            <a:extLst>
              <a:ext uri="{FF2B5EF4-FFF2-40B4-BE49-F238E27FC236}">
                <a16:creationId xmlns:a16="http://schemas.microsoft.com/office/drawing/2014/main" id="{887399A3-AB1C-44EF-9543-0BCAEC4CED56}"/>
              </a:ext>
            </a:extLst>
          </p:cNvPr>
          <p:cNvSpPr>
            <a:spLocks noGrp="1"/>
          </p:cNvSpPr>
          <p:nvPr/>
        </p:nvSpPr>
        <p:spPr>
          <a:xfrm>
            <a:off x="9194066" y="4789663"/>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03</a:t>
            </a:r>
          </a:p>
        </p:txBody>
      </p:sp>
      <p:sp>
        <p:nvSpPr>
          <p:cNvPr id="28" name="TextBox 28">
            <a:extLst>
              <a:ext uri="{FF2B5EF4-FFF2-40B4-BE49-F238E27FC236}">
                <a16:creationId xmlns:a16="http://schemas.microsoft.com/office/drawing/2014/main" id="{74D3C1E7-395E-4C13-B856-B45480617FA8}"/>
              </a:ext>
            </a:extLst>
          </p:cNvPr>
          <p:cNvSpPr>
            <a:spLocks noGrp="1"/>
          </p:cNvSpPr>
          <p:nvPr/>
        </p:nvSpPr>
        <p:spPr>
          <a:xfrm>
            <a:off x="10074727" y="5807857"/>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UI 흐름도</a:t>
            </a:r>
          </a:p>
        </p:txBody>
      </p:sp>
      <p:sp>
        <p:nvSpPr>
          <p:cNvPr id="29" name="TextBox 29">
            <a:extLst>
              <a:ext uri="{FF2B5EF4-FFF2-40B4-BE49-F238E27FC236}">
                <a16:creationId xmlns:a16="http://schemas.microsoft.com/office/drawing/2014/main" id="{71905BC9-3F3B-4BA4-9077-E8B328534BBF}"/>
              </a:ext>
            </a:extLst>
          </p:cNvPr>
          <p:cNvSpPr>
            <a:spLocks noGrp="1"/>
          </p:cNvSpPr>
          <p:nvPr/>
        </p:nvSpPr>
        <p:spPr>
          <a:xfrm>
            <a:off x="9194066" y="5832481"/>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04</a:t>
            </a:r>
          </a:p>
        </p:txBody>
      </p:sp>
      <p:sp>
        <p:nvSpPr>
          <p:cNvPr id="30" name="TextBox 30">
            <a:extLst>
              <a:ext uri="{FF2B5EF4-FFF2-40B4-BE49-F238E27FC236}">
                <a16:creationId xmlns:a16="http://schemas.microsoft.com/office/drawing/2014/main" id="{79A37442-265B-4C98-89BD-F47D2EC6BCCA}"/>
              </a:ext>
            </a:extLst>
          </p:cNvPr>
          <p:cNvSpPr>
            <a:spLocks noGrp="1"/>
          </p:cNvSpPr>
          <p:nvPr/>
        </p:nvSpPr>
        <p:spPr>
          <a:xfrm>
            <a:off x="10074727" y="6850675"/>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데이터 모델 설계</a:t>
            </a:r>
          </a:p>
        </p:txBody>
      </p:sp>
      <p:sp>
        <p:nvSpPr>
          <p:cNvPr id="31" name="TextBox 31">
            <a:extLst>
              <a:ext uri="{FF2B5EF4-FFF2-40B4-BE49-F238E27FC236}">
                <a16:creationId xmlns:a16="http://schemas.microsoft.com/office/drawing/2014/main" id="{A004AC27-22DC-49F0-86E2-AEDA1329F80E}"/>
              </a:ext>
            </a:extLst>
          </p:cNvPr>
          <p:cNvSpPr>
            <a:spLocks noGrp="1"/>
          </p:cNvSpPr>
          <p:nvPr/>
        </p:nvSpPr>
        <p:spPr>
          <a:xfrm>
            <a:off x="9194066" y="6875300"/>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05</a:t>
            </a:r>
          </a:p>
        </p:txBody>
      </p:sp>
      <p:sp>
        <p:nvSpPr>
          <p:cNvPr id="32" name="TextBox 32">
            <a:extLst>
              <a:ext uri="{FF2B5EF4-FFF2-40B4-BE49-F238E27FC236}">
                <a16:creationId xmlns:a16="http://schemas.microsoft.com/office/drawing/2014/main" id="{0817A567-AE40-4AE3-BB3E-6B787A23116D}"/>
              </a:ext>
            </a:extLst>
          </p:cNvPr>
          <p:cNvSpPr>
            <a:spLocks noGrp="1"/>
          </p:cNvSpPr>
          <p:nvPr/>
        </p:nvSpPr>
        <p:spPr>
          <a:xfrm>
            <a:off x="10074727" y="7893493"/>
            <a:ext cx="6902651" cy="577553"/>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API 명세 정의</a:t>
            </a:r>
          </a:p>
        </p:txBody>
      </p:sp>
      <p:sp>
        <p:nvSpPr>
          <p:cNvPr id="33" name="TextBox 33">
            <a:extLst>
              <a:ext uri="{FF2B5EF4-FFF2-40B4-BE49-F238E27FC236}">
                <a16:creationId xmlns:a16="http://schemas.microsoft.com/office/drawing/2014/main" id="{57112C35-BFD4-44E6-AF31-3F5A4807928C}"/>
              </a:ext>
            </a:extLst>
          </p:cNvPr>
          <p:cNvSpPr>
            <a:spLocks noGrp="1"/>
          </p:cNvSpPr>
          <p:nvPr/>
        </p:nvSpPr>
        <p:spPr>
          <a:xfrm>
            <a:off x="9194066" y="7918118"/>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06</a:t>
            </a:r>
          </a:p>
        </p:txBody>
      </p:sp>
      <p:sp>
        <p:nvSpPr>
          <p:cNvPr id="35" name="Freeform 35">
            <a:extLst>
              <a:ext uri="{FF2B5EF4-FFF2-40B4-BE49-F238E27FC236}">
                <a16:creationId xmlns:a16="http://schemas.microsoft.com/office/drawing/2014/main" id="{8A98C793-FBCA-40AA-9D30-5C1B55760BD1}"/>
              </a:ext>
            </a:extLst>
          </p:cNvPr>
          <p:cNvSpPr>
            <a:spLocks noGrp="1"/>
          </p:cNvSpPr>
          <p:nvPr/>
        </p:nvSpPr>
        <p:spPr>
          <a:xfrm>
            <a:off x="9144000" y="8877367"/>
            <a:ext cx="736824" cy="736824"/>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725"/>
          </a:solidFill>
        </p:spPr>
        <p:txBody>
          <a:bodyPr/>
          <a:lstStyle/>
          <a:p>
            <a:endParaRPr/>
          </a:p>
        </p:txBody>
      </p:sp>
      <p:sp>
        <p:nvSpPr>
          <p:cNvPr id="36" name="TextBox 36">
            <a:extLst>
              <a:ext uri="{FF2B5EF4-FFF2-40B4-BE49-F238E27FC236}">
                <a16:creationId xmlns:a16="http://schemas.microsoft.com/office/drawing/2014/main" id="{6B3E3067-AECD-4158-8AE2-4B62F33DE174}"/>
              </a:ext>
            </a:extLst>
          </p:cNvPr>
          <p:cNvSpPr>
            <a:spLocks noGrp="1"/>
          </p:cNvSpPr>
          <p:nvPr/>
        </p:nvSpPr>
        <p:spPr>
          <a:xfrm>
            <a:off x="9213077" y="8920540"/>
            <a:ext cx="598669" cy="624573"/>
          </a:xfrm>
          <a:prstGeom prst="rect">
            <a:avLst/>
          </a:prstGeom>
        </p:spPr>
        <p:txBody>
          <a:bodyPr lIns="50800" tIns="50800" rIns="50800" bIns="50800" anchor="ctr"/>
          <a:lstStyle/>
          <a:p>
            <a:pPr algn="ctr">
              <a:lnSpc>
                <a:spcPts val="3145"/>
              </a:lnSpc>
              <a:buNone/>
            </a:pPr>
            <a:endParaRPr/>
          </a:p>
        </p:txBody>
      </p:sp>
      <p:sp>
        <p:nvSpPr>
          <p:cNvPr id="37" name="TextBox 37">
            <a:extLst>
              <a:ext uri="{FF2B5EF4-FFF2-40B4-BE49-F238E27FC236}">
                <a16:creationId xmlns:a16="http://schemas.microsoft.com/office/drawing/2014/main" id="{E7B067FE-462D-4FE2-965A-FC844855F40D}"/>
              </a:ext>
            </a:extLst>
          </p:cNvPr>
          <p:cNvSpPr>
            <a:spLocks noGrp="1"/>
          </p:cNvSpPr>
          <p:nvPr/>
        </p:nvSpPr>
        <p:spPr>
          <a:xfrm>
            <a:off x="10074727" y="8940560"/>
            <a:ext cx="6902651" cy="563872"/>
          </a:xfrm>
          <a:prstGeom prst="rect">
            <a:avLst/>
          </a:prstGeom>
        </p:spPr>
        <p:txBody>
          <a:bodyPr lIns="0" tIns="0" rIns="0" bIns="0" anchor="t">
            <a:spAutoFit/>
          </a:bodyPr>
          <a:lstStyle/>
          <a:p>
            <a:pPr algn="l">
              <a:lnSpc>
                <a:spcPts val="4673"/>
              </a:lnSpc>
              <a:buNone/>
            </a:pPr>
            <a:r>
              <a:rPr sz="3594">
                <a:solidFill>
                  <a:srgbClr val="000000"/>
                </a:solidFill>
                <a:latin typeface="Pretendard Medium"/>
                <a:ea typeface="Pretendard Medium"/>
                <a:cs typeface="Pretendard Medium"/>
              </a:rPr>
              <a:t>Appendix</a:t>
            </a:r>
          </a:p>
        </p:txBody>
      </p:sp>
      <p:sp>
        <p:nvSpPr>
          <p:cNvPr id="38" name="TextBox 38">
            <a:extLst>
              <a:ext uri="{FF2B5EF4-FFF2-40B4-BE49-F238E27FC236}">
                <a16:creationId xmlns:a16="http://schemas.microsoft.com/office/drawing/2014/main" id="{42A96ECA-9B45-47EE-B5CC-93E722E4EA37}"/>
              </a:ext>
            </a:extLst>
          </p:cNvPr>
          <p:cNvSpPr>
            <a:spLocks noGrp="1"/>
          </p:cNvSpPr>
          <p:nvPr/>
        </p:nvSpPr>
        <p:spPr>
          <a:xfrm>
            <a:off x="9194066" y="8965185"/>
            <a:ext cx="636692" cy="532613"/>
          </a:xfrm>
          <a:prstGeom prst="rect">
            <a:avLst/>
          </a:prstGeom>
        </p:spPr>
        <p:txBody>
          <a:bodyPr lIns="0" tIns="0" rIns="0" bIns="0" anchor="t">
            <a:spAutoFit/>
          </a:bodyPr>
          <a:lstStyle/>
          <a:p>
            <a:pPr algn="ctr">
              <a:lnSpc>
                <a:spcPts val="4325"/>
              </a:lnSpc>
              <a:buNone/>
            </a:pPr>
            <a:r>
              <a:rPr sz="3327" b="1">
                <a:solidFill>
                  <a:srgbClr val="000000"/>
                </a:solidFill>
                <a:latin typeface="Pretendard SemiBold"/>
                <a:ea typeface="Pretendard SemiBold"/>
                <a:cs typeface="Pretendard SemiBold"/>
              </a:rPr>
              <a:t>07</a:t>
            </a:r>
          </a:p>
        </p:txBody>
      </p:sp>
    </p:spTree>
    <p:extLst>
      <p:ext uri="{BB962C8B-B14F-4D97-AF65-F5344CB8AC3E}">
        <p14:creationId xmlns:p14="http://schemas.microsoft.com/office/powerpoint/2010/main" val="1079998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D4337418-E0CD-486C-95B7-90876003A32D}"/>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75E9E202-119C-4424-A1A4-915F4A1B8878}"/>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494B3A58-0D94-4420-8DEF-97DBEE70AB32}"/>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01</a:t>
            </a:r>
          </a:p>
        </p:txBody>
      </p:sp>
      <p:sp>
        <p:nvSpPr>
          <p:cNvPr id="6" name="TextBox 6">
            <a:extLst>
              <a:ext uri="{FF2B5EF4-FFF2-40B4-BE49-F238E27FC236}">
                <a16:creationId xmlns:a16="http://schemas.microsoft.com/office/drawing/2014/main" id="{E2E3A608-49C2-47A5-9F58-064F9C3F48ED}"/>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기획 배경</a:t>
            </a:r>
          </a:p>
        </p:txBody>
      </p:sp>
      <p:sp>
        <p:nvSpPr>
          <p:cNvPr id="7" name="Freeform 7">
            <a:extLst>
              <a:ext uri="{FF2B5EF4-FFF2-40B4-BE49-F238E27FC236}">
                <a16:creationId xmlns:a16="http://schemas.microsoft.com/office/drawing/2014/main" id="{FE13A242-D229-4A7F-B08B-63BB90BA1627}"/>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101" name="S102">
            <a:extLst>
              <a:ext uri="{FF2B5EF4-FFF2-40B4-BE49-F238E27FC236}">
                <a16:creationId xmlns:a16="http://schemas.microsoft.com/office/drawing/2014/main" id="{1CAAADD8-3E6D-4A61-82BA-9FF301BFF427}"/>
              </a:ext>
            </a:extLst>
          </p:cNvPr>
          <p:cNvSpPr>
            <a:spLocks noGrp="1"/>
          </p:cNvSpPr>
          <p:nvPr/>
        </p:nvSpPr>
        <p:spPr>
          <a:xfrm>
            <a:off x="914400" y="1874520"/>
            <a:ext cx="5303520" cy="5989320"/>
          </a:xfrm>
          <a:prstGeom prst="roundRect">
            <a:avLst>
              <a:gd name="adj" fmla="val 3000"/>
            </a:avLst>
          </a:prstGeom>
          <a:solidFill>
            <a:srgbClr val="FFFFFF"/>
          </a:solidFill>
          <a:ln w="15875">
            <a:solidFill>
              <a:srgbClr val="E5E0D6"/>
            </a:solidFill>
          </a:ln>
        </p:spPr>
        <p:txBody>
          <a:bodyPr/>
          <a:lstStyle/>
          <a:p>
            <a:endParaRPr/>
          </a:p>
        </p:txBody>
      </p:sp>
      <p:sp>
        <p:nvSpPr>
          <p:cNvPr id="103" name="E104">
            <a:extLst>
              <a:ext uri="{FF2B5EF4-FFF2-40B4-BE49-F238E27FC236}">
                <a16:creationId xmlns:a16="http://schemas.microsoft.com/office/drawing/2014/main" id="{80CAC27B-F1F6-4772-BABF-1819C00FA86E}"/>
              </a:ext>
            </a:extLst>
          </p:cNvPr>
          <p:cNvSpPr>
            <a:spLocks noGrp="1"/>
          </p:cNvSpPr>
          <p:nvPr/>
        </p:nvSpPr>
        <p:spPr>
          <a:xfrm>
            <a:off x="1325880" y="2286000"/>
            <a:ext cx="658368" cy="658368"/>
          </a:xfrm>
          <a:prstGeom prst="ellipse">
            <a:avLst/>
          </a:prstGeom>
          <a:solidFill>
            <a:srgbClr val="EA002C"/>
          </a:solidFill>
        </p:spPr>
        <p:txBody>
          <a:bodyPr/>
          <a:lstStyle/>
          <a:p>
            <a:endParaRPr/>
          </a:p>
        </p:txBody>
      </p:sp>
      <p:sp>
        <p:nvSpPr>
          <p:cNvPr id="105" name="T106">
            <a:extLst>
              <a:ext uri="{FF2B5EF4-FFF2-40B4-BE49-F238E27FC236}">
                <a16:creationId xmlns:a16="http://schemas.microsoft.com/office/drawing/2014/main" id="{E44672BF-8A9A-4FBD-89FC-AFC52A5C5D9C}"/>
              </a:ext>
            </a:extLst>
          </p:cNvPr>
          <p:cNvSpPr>
            <a:spLocks noGrp="1"/>
          </p:cNvSpPr>
          <p:nvPr/>
        </p:nvSpPr>
        <p:spPr>
          <a:xfrm>
            <a:off x="1325880" y="2286000"/>
            <a:ext cx="658368" cy="658368"/>
          </a:xfrm>
          <a:prstGeom prst="rect">
            <a:avLst/>
          </a:prstGeom>
        </p:spPr>
        <p:txBody>
          <a:bodyPr wrap="square" lIns="0" tIns="0" rIns="0" bIns="0" anchor="ctr"/>
          <a:lstStyle/>
          <a:p>
            <a:pPr algn="ctr">
              <a:lnSpc>
                <a:spcPct val="135000"/>
              </a:lnSpc>
              <a:spcAft>
                <a:spcPts val="0"/>
              </a:spcAft>
              <a:buNone/>
            </a:pPr>
            <a:r>
              <a:rPr sz="2200">
                <a:solidFill>
                  <a:srgbClr val="FFFFFF"/>
                </a:solidFill>
                <a:latin typeface="Pretendard SemiBold"/>
                <a:ea typeface="Pretendard SemiBold"/>
                <a:cs typeface="Pretendard SemiBold"/>
              </a:rPr>
              <a:t>01</a:t>
            </a:r>
          </a:p>
        </p:txBody>
      </p:sp>
      <p:sp>
        <p:nvSpPr>
          <p:cNvPr id="107" name="T108">
            <a:extLst>
              <a:ext uri="{FF2B5EF4-FFF2-40B4-BE49-F238E27FC236}">
                <a16:creationId xmlns:a16="http://schemas.microsoft.com/office/drawing/2014/main" id="{E421E37C-627D-4504-9F05-942439D0CFB1}"/>
              </a:ext>
            </a:extLst>
          </p:cNvPr>
          <p:cNvSpPr>
            <a:spLocks noGrp="1"/>
          </p:cNvSpPr>
          <p:nvPr/>
        </p:nvSpPr>
        <p:spPr>
          <a:xfrm>
            <a:off x="1325880" y="3172968"/>
            <a:ext cx="4480560" cy="1234440"/>
          </a:xfrm>
          <a:prstGeom prst="rect">
            <a:avLst/>
          </a:prstGeom>
        </p:spPr>
        <p:txBody>
          <a:bodyPr wrap="square" lIns="0" tIns="0" rIns="0" bIns="0" anchor="t"/>
          <a:lstStyle/>
          <a:p>
            <a:pPr algn="l">
              <a:lnSpc>
                <a:spcPct val="125000"/>
              </a:lnSpc>
              <a:spcAft>
                <a:spcPts val="0"/>
              </a:spcAft>
              <a:buNone/>
            </a:pPr>
            <a:r>
              <a:rPr sz="2500">
                <a:solidFill>
                  <a:srgbClr val="1A1A1A"/>
                </a:solidFill>
                <a:latin typeface="Pretendard SemiBold"/>
                <a:ea typeface="Pretendard SemiBold"/>
                <a:cs typeface="Pretendard SemiBold"/>
              </a:rPr>
              <a:t>은행권은 AI 기반</a:t>
            </a:r>
          </a:p>
          <a:p>
            <a:pPr algn="l">
              <a:lnSpc>
                <a:spcPct val="125000"/>
              </a:lnSpc>
              <a:spcAft>
                <a:spcPts val="0"/>
              </a:spcAft>
              <a:buNone/>
            </a:pPr>
            <a:r>
              <a:rPr sz="2500">
                <a:solidFill>
                  <a:srgbClr val="1A1A1A"/>
                </a:solidFill>
                <a:latin typeface="Pretendard SemiBold"/>
                <a:ea typeface="Pretendard SemiBold"/>
                <a:cs typeface="Pretendard SemiBold"/>
              </a:rPr>
              <a:t>여신심사 지원을 확대하고 있다</a:t>
            </a:r>
          </a:p>
        </p:txBody>
      </p:sp>
      <p:sp>
        <p:nvSpPr>
          <p:cNvPr id="109" name="S110">
            <a:extLst>
              <a:ext uri="{FF2B5EF4-FFF2-40B4-BE49-F238E27FC236}">
                <a16:creationId xmlns:a16="http://schemas.microsoft.com/office/drawing/2014/main" id="{42A9EBCD-C2AB-4787-9C56-6BAADE795347}"/>
              </a:ext>
            </a:extLst>
          </p:cNvPr>
          <p:cNvSpPr>
            <a:spLocks noGrp="1"/>
          </p:cNvSpPr>
          <p:nvPr/>
        </p:nvSpPr>
        <p:spPr>
          <a:xfrm>
            <a:off x="1325880" y="4690872"/>
            <a:ext cx="91440" cy="91440"/>
          </a:xfrm>
          <a:prstGeom prst="rect">
            <a:avLst/>
          </a:prstGeom>
          <a:solidFill>
            <a:srgbClr val="EA002C"/>
          </a:solidFill>
        </p:spPr>
        <p:txBody>
          <a:bodyPr/>
          <a:lstStyle/>
          <a:p>
            <a:endParaRPr/>
          </a:p>
        </p:txBody>
      </p:sp>
      <p:sp>
        <p:nvSpPr>
          <p:cNvPr id="111" name="T112">
            <a:extLst>
              <a:ext uri="{FF2B5EF4-FFF2-40B4-BE49-F238E27FC236}">
                <a16:creationId xmlns:a16="http://schemas.microsoft.com/office/drawing/2014/main" id="{CEF0CE77-D283-4F39-8501-F67FF17F3D6B}"/>
              </a:ext>
            </a:extLst>
          </p:cNvPr>
          <p:cNvSpPr>
            <a:spLocks noGrp="1"/>
          </p:cNvSpPr>
          <p:nvPr/>
        </p:nvSpPr>
        <p:spPr>
          <a:xfrm>
            <a:off x="1572768" y="4572000"/>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하나은행 : 기업신용평가 심사의견 작성</a:t>
            </a:r>
          </a:p>
          <a:p>
            <a:pPr algn="l">
              <a:lnSpc>
                <a:spcPct val="132000"/>
              </a:lnSpc>
              <a:spcAft>
                <a:spcPts val="0"/>
              </a:spcAft>
              <a:buNone/>
            </a:pPr>
            <a:r>
              <a:rPr sz="1700">
                <a:solidFill>
                  <a:srgbClr val="6E6A63"/>
                </a:solidFill>
                <a:latin typeface="Pretendard Medium"/>
                <a:ea typeface="Pretendard Medium"/>
                <a:cs typeface="Pretendard Medium"/>
              </a:rPr>
              <a:t>30분 → 10초 · 연 2.7만 시간 절감 (26.3)</a:t>
            </a:r>
          </a:p>
        </p:txBody>
      </p:sp>
      <p:sp>
        <p:nvSpPr>
          <p:cNvPr id="113" name="S114">
            <a:extLst>
              <a:ext uri="{FF2B5EF4-FFF2-40B4-BE49-F238E27FC236}">
                <a16:creationId xmlns:a16="http://schemas.microsoft.com/office/drawing/2014/main" id="{4D086926-1C6D-4C00-85EF-6C552724D76B}"/>
              </a:ext>
            </a:extLst>
          </p:cNvPr>
          <p:cNvSpPr>
            <a:spLocks noGrp="1"/>
          </p:cNvSpPr>
          <p:nvPr/>
        </p:nvSpPr>
        <p:spPr>
          <a:xfrm>
            <a:off x="1325880" y="5717148"/>
            <a:ext cx="91440" cy="91440"/>
          </a:xfrm>
          <a:prstGeom prst="rect">
            <a:avLst/>
          </a:prstGeom>
          <a:solidFill>
            <a:srgbClr val="EA002C"/>
          </a:solidFill>
        </p:spPr>
        <p:txBody>
          <a:bodyPr/>
          <a:lstStyle/>
          <a:p>
            <a:endParaRPr/>
          </a:p>
        </p:txBody>
      </p:sp>
      <p:sp>
        <p:nvSpPr>
          <p:cNvPr id="115" name="T116">
            <a:extLst>
              <a:ext uri="{FF2B5EF4-FFF2-40B4-BE49-F238E27FC236}">
                <a16:creationId xmlns:a16="http://schemas.microsoft.com/office/drawing/2014/main" id="{82F5B1F7-63E5-4FA2-8E03-F0C126B7CD09}"/>
              </a:ext>
            </a:extLst>
          </p:cNvPr>
          <p:cNvSpPr>
            <a:spLocks noGrp="1"/>
          </p:cNvSpPr>
          <p:nvPr/>
        </p:nvSpPr>
        <p:spPr>
          <a:xfrm>
            <a:off x="1572768" y="5598276"/>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신한은행 : 여신심사지원 Agent 도입</a:t>
            </a:r>
          </a:p>
          <a:p>
            <a:pPr algn="l">
              <a:lnSpc>
                <a:spcPct val="132000"/>
              </a:lnSpc>
              <a:spcAft>
                <a:spcPts val="0"/>
              </a:spcAft>
              <a:buNone/>
            </a:pPr>
            <a:r>
              <a:rPr sz="1700">
                <a:solidFill>
                  <a:srgbClr val="6E6A63"/>
                </a:solidFill>
                <a:latin typeface="Pretendard Medium"/>
                <a:ea typeface="Pretendard Medium"/>
                <a:cs typeface="Pretendard Medium"/>
              </a:rPr>
              <a:t>12개 산업군별 분석 엔진 (26.3)</a:t>
            </a:r>
          </a:p>
        </p:txBody>
      </p:sp>
      <p:sp>
        <p:nvSpPr>
          <p:cNvPr id="117" name="S118">
            <a:extLst>
              <a:ext uri="{FF2B5EF4-FFF2-40B4-BE49-F238E27FC236}">
                <a16:creationId xmlns:a16="http://schemas.microsoft.com/office/drawing/2014/main" id="{CB0C1784-95F9-4950-A3AD-082B4CE53387}"/>
              </a:ext>
            </a:extLst>
          </p:cNvPr>
          <p:cNvSpPr>
            <a:spLocks noGrp="1"/>
          </p:cNvSpPr>
          <p:nvPr/>
        </p:nvSpPr>
        <p:spPr>
          <a:xfrm>
            <a:off x="1325880" y="6764136"/>
            <a:ext cx="91440" cy="91440"/>
          </a:xfrm>
          <a:prstGeom prst="rect">
            <a:avLst/>
          </a:prstGeom>
          <a:solidFill>
            <a:srgbClr val="EA002C"/>
          </a:solidFill>
        </p:spPr>
        <p:txBody>
          <a:bodyPr/>
          <a:lstStyle/>
          <a:p>
            <a:endParaRPr/>
          </a:p>
        </p:txBody>
      </p:sp>
      <p:sp>
        <p:nvSpPr>
          <p:cNvPr id="119" name="T120">
            <a:extLst>
              <a:ext uri="{FF2B5EF4-FFF2-40B4-BE49-F238E27FC236}">
                <a16:creationId xmlns:a16="http://schemas.microsoft.com/office/drawing/2014/main" id="{18EF681D-64CC-4C93-999E-29CE7D1DF3EB}"/>
              </a:ext>
            </a:extLst>
          </p:cNvPr>
          <p:cNvSpPr>
            <a:spLocks noGrp="1"/>
          </p:cNvSpPr>
          <p:nvPr/>
        </p:nvSpPr>
        <p:spPr>
          <a:xfrm>
            <a:off x="1572768" y="6645264"/>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은행장 50% 가 하반기 전략으로</a:t>
            </a:r>
          </a:p>
          <a:p>
            <a:pPr algn="l">
              <a:lnSpc>
                <a:spcPct val="132000"/>
              </a:lnSpc>
              <a:spcAft>
                <a:spcPts val="0"/>
              </a:spcAft>
              <a:buNone/>
            </a:pPr>
            <a:r>
              <a:rPr sz="1700">
                <a:solidFill>
                  <a:srgbClr val="6E6A63"/>
                </a:solidFill>
                <a:latin typeface="Pretendard Medium"/>
                <a:ea typeface="Pretendard Medium"/>
                <a:cs typeface="Pretendard Medium"/>
              </a:rPr>
              <a:t>'AI 여신심사·평가 고도화' 선정</a:t>
            </a:r>
          </a:p>
        </p:txBody>
      </p:sp>
      <p:sp>
        <p:nvSpPr>
          <p:cNvPr id="121" name="S122">
            <a:extLst>
              <a:ext uri="{FF2B5EF4-FFF2-40B4-BE49-F238E27FC236}">
                <a16:creationId xmlns:a16="http://schemas.microsoft.com/office/drawing/2014/main" id="{6A5CB9C1-A2FB-4D9F-9307-E279166AC9D9}"/>
              </a:ext>
            </a:extLst>
          </p:cNvPr>
          <p:cNvSpPr>
            <a:spLocks noGrp="1"/>
          </p:cNvSpPr>
          <p:nvPr/>
        </p:nvSpPr>
        <p:spPr>
          <a:xfrm>
            <a:off x="6492240" y="1874520"/>
            <a:ext cx="5303520" cy="5989320"/>
          </a:xfrm>
          <a:prstGeom prst="roundRect">
            <a:avLst>
              <a:gd name="adj" fmla="val 3000"/>
            </a:avLst>
          </a:prstGeom>
          <a:solidFill>
            <a:srgbClr val="FFFFFF"/>
          </a:solidFill>
          <a:ln w="15875">
            <a:solidFill>
              <a:srgbClr val="E5E0D6"/>
            </a:solidFill>
          </a:ln>
        </p:spPr>
        <p:txBody>
          <a:bodyPr/>
          <a:lstStyle/>
          <a:p>
            <a:endParaRPr/>
          </a:p>
        </p:txBody>
      </p:sp>
      <p:sp>
        <p:nvSpPr>
          <p:cNvPr id="123" name="E124">
            <a:extLst>
              <a:ext uri="{FF2B5EF4-FFF2-40B4-BE49-F238E27FC236}">
                <a16:creationId xmlns:a16="http://schemas.microsoft.com/office/drawing/2014/main" id="{468B5F84-6E3D-46AF-B7CE-349443F701E4}"/>
              </a:ext>
            </a:extLst>
          </p:cNvPr>
          <p:cNvSpPr>
            <a:spLocks noGrp="1"/>
          </p:cNvSpPr>
          <p:nvPr/>
        </p:nvSpPr>
        <p:spPr>
          <a:xfrm>
            <a:off x="6903720" y="2286000"/>
            <a:ext cx="658368" cy="658368"/>
          </a:xfrm>
          <a:prstGeom prst="ellipse">
            <a:avLst/>
          </a:prstGeom>
          <a:solidFill>
            <a:srgbClr val="F47725"/>
          </a:solidFill>
        </p:spPr>
        <p:txBody>
          <a:bodyPr/>
          <a:lstStyle/>
          <a:p>
            <a:endParaRPr/>
          </a:p>
        </p:txBody>
      </p:sp>
      <p:sp>
        <p:nvSpPr>
          <p:cNvPr id="125" name="T126">
            <a:extLst>
              <a:ext uri="{FF2B5EF4-FFF2-40B4-BE49-F238E27FC236}">
                <a16:creationId xmlns:a16="http://schemas.microsoft.com/office/drawing/2014/main" id="{7C5ABFFF-17DA-4561-8C37-7456E6A3E7B6}"/>
              </a:ext>
            </a:extLst>
          </p:cNvPr>
          <p:cNvSpPr>
            <a:spLocks noGrp="1"/>
          </p:cNvSpPr>
          <p:nvPr/>
        </p:nvSpPr>
        <p:spPr>
          <a:xfrm>
            <a:off x="6903720" y="2286000"/>
            <a:ext cx="658368" cy="658368"/>
          </a:xfrm>
          <a:prstGeom prst="rect">
            <a:avLst/>
          </a:prstGeom>
        </p:spPr>
        <p:txBody>
          <a:bodyPr wrap="square" lIns="0" tIns="0" rIns="0" bIns="0" anchor="ctr"/>
          <a:lstStyle/>
          <a:p>
            <a:pPr algn="ctr">
              <a:lnSpc>
                <a:spcPct val="135000"/>
              </a:lnSpc>
              <a:spcAft>
                <a:spcPts val="0"/>
              </a:spcAft>
              <a:buNone/>
            </a:pPr>
            <a:r>
              <a:rPr sz="2200">
                <a:solidFill>
                  <a:srgbClr val="FFFFFF"/>
                </a:solidFill>
                <a:latin typeface="Pretendard SemiBold"/>
                <a:ea typeface="Pretendard SemiBold"/>
                <a:cs typeface="Pretendard SemiBold"/>
              </a:rPr>
              <a:t>02</a:t>
            </a:r>
          </a:p>
        </p:txBody>
      </p:sp>
      <p:sp>
        <p:nvSpPr>
          <p:cNvPr id="127" name="T128">
            <a:extLst>
              <a:ext uri="{FF2B5EF4-FFF2-40B4-BE49-F238E27FC236}">
                <a16:creationId xmlns:a16="http://schemas.microsoft.com/office/drawing/2014/main" id="{9C21D61D-7076-40C3-A229-61A5CB9289EA}"/>
              </a:ext>
            </a:extLst>
          </p:cNvPr>
          <p:cNvSpPr>
            <a:spLocks noGrp="1"/>
          </p:cNvSpPr>
          <p:nvPr/>
        </p:nvSpPr>
        <p:spPr>
          <a:xfrm>
            <a:off x="6903720" y="3172968"/>
            <a:ext cx="4480560" cy="1234440"/>
          </a:xfrm>
          <a:prstGeom prst="rect">
            <a:avLst/>
          </a:prstGeom>
        </p:spPr>
        <p:txBody>
          <a:bodyPr wrap="square" lIns="0" tIns="0" rIns="0" bIns="0" anchor="t"/>
          <a:lstStyle/>
          <a:p>
            <a:pPr algn="l">
              <a:lnSpc>
                <a:spcPct val="125000"/>
              </a:lnSpc>
              <a:spcAft>
                <a:spcPts val="0"/>
              </a:spcAft>
              <a:buNone/>
            </a:pPr>
            <a:r>
              <a:rPr sz="2500">
                <a:solidFill>
                  <a:srgbClr val="1A1A1A"/>
                </a:solidFill>
                <a:latin typeface="Pretendard SemiBold"/>
                <a:ea typeface="Pretendard SemiBold"/>
                <a:cs typeface="Pretendard SemiBold"/>
              </a:rPr>
              <a:t>자동화는 접수 이후의</a:t>
            </a:r>
          </a:p>
          <a:p>
            <a:pPr algn="l">
              <a:lnSpc>
                <a:spcPct val="125000"/>
              </a:lnSpc>
              <a:spcAft>
                <a:spcPts val="0"/>
              </a:spcAft>
              <a:buNone/>
            </a:pPr>
            <a:r>
              <a:rPr sz="2500">
                <a:solidFill>
                  <a:srgbClr val="1A1A1A"/>
                </a:solidFill>
                <a:latin typeface="Pretendard SemiBold"/>
                <a:ea typeface="Pretendard SemiBold"/>
                <a:cs typeface="Pretendard SemiBold"/>
              </a:rPr>
              <a:t>심사의견 작성에 집중돼 있다</a:t>
            </a:r>
          </a:p>
        </p:txBody>
      </p:sp>
      <p:sp>
        <p:nvSpPr>
          <p:cNvPr id="129" name="S130">
            <a:extLst>
              <a:ext uri="{FF2B5EF4-FFF2-40B4-BE49-F238E27FC236}">
                <a16:creationId xmlns:a16="http://schemas.microsoft.com/office/drawing/2014/main" id="{8BA79ACC-C411-4349-8D13-6895C85D084D}"/>
              </a:ext>
            </a:extLst>
          </p:cNvPr>
          <p:cNvSpPr>
            <a:spLocks noGrp="1"/>
          </p:cNvSpPr>
          <p:nvPr/>
        </p:nvSpPr>
        <p:spPr>
          <a:xfrm>
            <a:off x="6903720" y="4690872"/>
            <a:ext cx="91440" cy="91440"/>
          </a:xfrm>
          <a:prstGeom prst="rect">
            <a:avLst/>
          </a:prstGeom>
          <a:solidFill>
            <a:srgbClr val="F47725"/>
          </a:solidFill>
        </p:spPr>
        <p:txBody>
          <a:bodyPr/>
          <a:lstStyle/>
          <a:p>
            <a:endParaRPr/>
          </a:p>
        </p:txBody>
      </p:sp>
      <p:sp>
        <p:nvSpPr>
          <p:cNvPr id="131" name="T132">
            <a:extLst>
              <a:ext uri="{FF2B5EF4-FFF2-40B4-BE49-F238E27FC236}">
                <a16:creationId xmlns:a16="http://schemas.microsoft.com/office/drawing/2014/main" id="{9DF7FBBC-5375-4811-89F8-DAF45B313E32}"/>
              </a:ext>
            </a:extLst>
          </p:cNvPr>
          <p:cNvSpPr>
            <a:spLocks noGrp="1"/>
          </p:cNvSpPr>
          <p:nvPr/>
        </p:nvSpPr>
        <p:spPr>
          <a:xfrm>
            <a:off x="7150608" y="4572000"/>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서류가 정상 접수된 이후의 업무</a:t>
            </a:r>
          </a:p>
        </p:txBody>
      </p:sp>
      <p:sp>
        <p:nvSpPr>
          <p:cNvPr id="133" name="S134">
            <a:extLst>
              <a:ext uri="{FF2B5EF4-FFF2-40B4-BE49-F238E27FC236}">
                <a16:creationId xmlns:a16="http://schemas.microsoft.com/office/drawing/2014/main" id="{1DA6341B-F7F1-4D37-B085-7028E2C659F5}"/>
              </a:ext>
            </a:extLst>
          </p:cNvPr>
          <p:cNvSpPr>
            <a:spLocks noGrp="1"/>
          </p:cNvSpPr>
          <p:nvPr/>
        </p:nvSpPr>
        <p:spPr>
          <a:xfrm>
            <a:off x="6903720" y="5633256"/>
            <a:ext cx="91440" cy="91440"/>
          </a:xfrm>
          <a:prstGeom prst="rect">
            <a:avLst/>
          </a:prstGeom>
          <a:solidFill>
            <a:srgbClr val="F47725"/>
          </a:solidFill>
        </p:spPr>
        <p:txBody>
          <a:bodyPr/>
          <a:lstStyle/>
          <a:p>
            <a:endParaRPr/>
          </a:p>
        </p:txBody>
      </p:sp>
      <p:sp>
        <p:nvSpPr>
          <p:cNvPr id="135" name="T136">
            <a:extLst>
              <a:ext uri="{FF2B5EF4-FFF2-40B4-BE49-F238E27FC236}">
                <a16:creationId xmlns:a16="http://schemas.microsoft.com/office/drawing/2014/main" id="{8F65C63E-875E-450E-A40D-AF0FA69CFC41}"/>
              </a:ext>
            </a:extLst>
          </p:cNvPr>
          <p:cNvSpPr>
            <a:spLocks noGrp="1"/>
          </p:cNvSpPr>
          <p:nvPr/>
        </p:nvSpPr>
        <p:spPr>
          <a:xfrm>
            <a:off x="7150608" y="5514384"/>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서류 접수·검증 자동화 사례도 등장</a:t>
            </a:r>
          </a:p>
          <a:p>
            <a:pPr algn="l">
              <a:lnSpc>
                <a:spcPct val="132000"/>
              </a:lnSpc>
              <a:spcAft>
                <a:spcPts val="0"/>
              </a:spcAft>
              <a:buNone/>
            </a:pPr>
            <a:r>
              <a:rPr sz="1700">
                <a:solidFill>
                  <a:srgbClr val="6E6A63"/>
                </a:solidFill>
                <a:latin typeface="Pretendard Medium"/>
                <a:ea typeface="Pretendard Medium"/>
                <a:cs typeface="Pretendard Medium"/>
              </a:rPr>
              <a:t>수출입은행이 26.7 구축 착수</a:t>
            </a:r>
          </a:p>
        </p:txBody>
      </p:sp>
      <p:sp>
        <p:nvSpPr>
          <p:cNvPr id="137" name="S138">
            <a:extLst>
              <a:ext uri="{FF2B5EF4-FFF2-40B4-BE49-F238E27FC236}">
                <a16:creationId xmlns:a16="http://schemas.microsoft.com/office/drawing/2014/main" id="{487E178B-5CB4-4D08-B217-65E05135CBFC}"/>
              </a:ext>
            </a:extLst>
          </p:cNvPr>
          <p:cNvSpPr>
            <a:spLocks noGrp="1"/>
          </p:cNvSpPr>
          <p:nvPr/>
        </p:nvSpPr>
        <p:spPr>
          <a:xfrm>
            <a:off x="6903720" y="6757416"/>
            <a:ext cx="91440" cy="91440"/>
          </a:xfrm>
          <a:prstGeom prst="rect">
            <a:avLst/>
          </a:prstGeom>
          <a:solidFill>
            <a:srgbClr val="F47725"/>
          </a:solidFill>
        </p:spPr>
        <p:txBody>
          <a:bodyPr/>
          <a:lstStyle/>
          <a:p>
            <a:endParaRPr/>
          </a:p>
        </p:txBody>
      </p:sp>
      <p:sp>
        <p:nvSpPr>
          <p:cNvPr id="139" name="T140">
            <a:extLst>
              <a:ext uri="{FF2B5EF4-FFF2-40B4-BE49-F238E27FC236}">
                <a16:creationId xmlns:a16="http://schemas.microsoft.com/office/drawing/2014/main" id="{8ED04F78-30FD-4A3A-B797-B6DDD57A4A6E}"/>
              </a:ext>
            </a:extLst>
          </p:cNvPr>
          <p:cNvSpPr>
            <a:spLocks noGrp="1"/>
          </p:cNvSpPr>
          <p:nvPr/>
        </p:nvSpPr>
        <p:spPr>
          <a:xfrm>
            <a:off x="7150608" y="6638544"/>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은행 심사역의 내부 업무 지원이 중심</a:t>
            </a:r>
          </a:p>
          <a:p>
            <a:pPr algn="l">
              <a:lnSpc>
                <a:spcPct val="132000"/>
              </a:lnSpc>
              <a:spcAft>
                <a:spcPts val="0"/>
              </a:spcAft>
              <a:buNone/>
            </a:pPr>
            <a:r>
              <a:rPr sz="1700">
                <a:solidFill>
                  <a:srgbClr val="6E6A63"/>
                </a:solidFill>
                <a:latin typeface="Pretendard Medium"/>
                <a:ea typeface="Pretendard Medium"/>
                <a:cs typeface="Pretendard Medium"/>
              </a:rPr>
              <a:t>AI결과는 보조자료로 활용하고 담당자가 최종 판단</a:t>
            </a:r>
          </a:p>
        </p:txBody>
      </p:sp>
      <p:sp>
        <p:nvSpPr>
          <p:cNvPr id="141" name="S142">
            <a:extLst>
              <a:ext uri="{FF2B5EF4-FFF2-40B4-BE49-F238E27FC236}">
                <a16:creationId xmlns:a16="http://schemas.microsoft.com/office/drawing/2014/main" id="{E986FA76-A2D7-4766-8E7F-B36747DD6B21}"/>
              </a:ext>
            </a:extLst>
          </p:cNvPr>
          <p:cNvSpPr>
            <a:spLocks noGrp="1"/>
          </p:cNvSpPr>
          <p:nvPr/>
        </p:nvSpPr>
        <p:spPr>
          <a:xfrm>
            <a:off x="12055792" y="1874520"/>
            <a:ext cx="5303520" cy="5989320"/>
          </a:xfrm>
          <a:prstGeom prst="roundRect">
            <a:avLst>
              <a:gd name="adj" fmla="val 3000"/>
            </a:avLst>
          </a:prstGeom>
          <a:solidFill>
            <a:srgbClr val="FFFFFF"/>
          </a:solidFill>
          <a:ln w="15875">
            <a:solidFill>
              <a:srgbClr val="E5E0D6"/>
            </a:solidFill>
          </a:ln>
        </p:spPr>
        <p:txBody>
          <a:bodyPr/>
          <a:lstStyle/>
          <a:p>
            <a:endParaRPr/>
          </a:p>
        </p:txBody>
      </p:sp>
      <p:sp>
        <p:nvSpPr>
          <p:cNvPr id="143" name="E144">
            <a:extLst>
              <a:ext uri="{FF2B5EF4-FFF2-40B4-BE49-F238E27FC236}">
                <a16:creationId xmlns:a16="http://schemas.microsoft.com/office/drawing/2014/main" id="{9678CB8A-A5EE-49F0-A9C7-16C7587E6F14}"/>
              </a:ext>
            </a:extLst>
          </p:cNvPr>
          <p:cNvSpPr>
            <a:spLocks noGrp="1"/>
          </p:cNvSpPr>
          <p:nvPr/>
        </p:nvSpPr>
        <p:spPr>
          <a:xfrm>
            <a:off x="12481560" y="2286000"/>
            <a:ext cx="658368" cy="658368"/>
          </a:xfrm>
          <a:prstGeom prst="ellipse">
            <a:avLst/>
          </a:prstGeom>
          <a:solidFill>
            <a:srgbClr val="F1B61B"/>
          </a:solidFill>
        </p:spPr>
        <p:txBody>
          <a:bodyPr/>
          <a:lstStyle/>
          <a:p>
            <a:endParaRPr/>
          </a:p>
        </p:txBody>
      </p:sp>
      <p:sp>
        <p:nvSpPr>
          <p:cNvPr id="145" name="T146">
            <a:extLst>
              <a:ext uri="{FF2B5EF4-FFF2-40B4-BE49-F238E27FC236}">
                <a16:creationId xmlns:a16="http://schemas.microsoft.com/office/drawing/2014/main" id="{9E4CDAA2-B2D2-4653-9C43-7A3A7435A827}"/>
              </a:ext>
            </a:extLst>
          </p:cNvPr>
          <p:cNvSpPr>
            <a:spLocks noGrp="1"/>
          </p:cNvSpPr>
          <p:nvPr/>
        </p:nvSpPr>
        <p:spPr>
          <a:xfrm>
            <a:off x="12481560" y="2286000"/>
            <a:ext cx="658368" cy="658368"/>
          </a:xfrm>
          <a:prstGeom prst="rect">
            <a:avLst/>
          </a:prstGeom>
        </p:spPr>
        <p:txBody>
          <a:bodyPr wrap="square" lIns="0" tIns="0" rIns="0" bIns="0" anchor="ctr"/>
          <a:lstStyle/>
          <a:p>
            <a:pPr algn="ctr">
              <a:lnSpc>
                <a:spcPct val="135000"/>
              </a:lnSpc>
              <a:spcAft>
                <a:spcPts val="0"/>
              </a:spcAft>
              <a:buNone/>
            </a:pPr>
            <a:r>
              <a:rPr sz="2200">
                <a:solidFill>
                  <a:srgbClr val="FFFFFF"/>
                </a:solidFill>
                <a:latin typeface="Pretendard SemiBold"/>
                <a:ea typeface="Pretendard SemiBold"/>
                <a:cs typeface="Pretendard SemiBold"/>
              </a:rPr>
              <a:t>03</a:t>
            </a:r>
          </a:p>
        </p:txBody>
      </p:sp>
      <p:sp>
        <p:nvSpPr>
          <p:cNvPr id="147" name="T148">
            <a:extLst>
              <a:ext uri="{FF2B5EF4-FFF2-40B4-BE49-F238E27FC236}">
                <a16:creationId xmlns:a16="http://schemas.microsoft.com/office/drawing/2014/main" id="{55F67FA6-E311-4AB4-9DD8-8FE5324E9C37}"/>
              </a:ext>
            </a:extLst>
          </p:cNvPr>
          <p:cNvSpPr>
            <a:spLocks noGrp="1"/>
          </p:cNvSpPr>
          <p:nvPr/>
        </p:nvSpPr>
        <p:spPr>
          <a:xfrm>
            <a:off x="12481560" y="3172968"/>
            <a:ext cx="4480560" cy="1234440"/>
          </a:xfrm>
          <a:prstGeom prst="rect">
            <a:avLst/>
          </a:prstGeom>
        </p:spPr>
        <p:txBody>
          <a:bodyPr wrap="square" lIns="0" tIns="0" rIns="0" bIns="0" anchor="t"/>
          <a:lstStyle/>
          <a:p>
            <a:pPr algn="l">
              <a:lnSpc>
                <a:spcPct val="125000"/>
              </a:lnSpc>
              <a:spcAft>
                <a:spcPts val="0"/>
              </a:spcAft>
              <a:buNone/>
            </a:pPr>
            <a:r>
              <a:rPr sz="2500">
                <a:solidFill>
                  <a:srgbClr val="1A1A1A"/>
                </a:solidFill>
                <a:latin typeface="Pretendard SemiBold"/>
                <a:ea typeface="Pretendard SemiBold"/>
                <a:cs typeface="Pretendard SemiBold"/>
              </a:rPr>
              <a:t>기업 고객의 서류 준비는</a:t>
            </a:r>
          </a:p>
          <a:p>
            <a:pPr algn="l">
              <a:lnSpc>
                <a:spcPct val="125000"/>
              </a:lnSpc>
              <a:spcAft>
                <a:spcPts val="0"/>
              </a:spcAft>
              <a:buNone/>
            </a:pPr>
            <a:r>
              <a:rPr sz="2500">
                <a:solidFill>
                  <a:srgbClr val="1A1A1A"/>
                </a:solidFill>
                <a:latin typeface="Pretendard SemiBold"/>
                <a:ea typeface="Pretendard SemiBold"/>
                <a:cs typeface="Pretendard SemiBold"/>
              </a:rPr>
              <a:t>여전히 수작업에 가깝다</a:t>
            </a:r>
          </a:p>
        </p:txBody>
      </p:sp>
      <p:sp>
        <p:nvSpPr>
          <p:cNvPr id="149" name="S150">
            <a:extLst>
              <a:ext uri="{FF2B5EF4-FFF2-40B4-BE49-F238E27FC236}">
                <a16:creationId xmlns:a16="http://schemas.microsoft.com/office/drawing/2014/main" id="{2E151884-448D-4C8B-B059-B0CD24B1F592}"/>
              </a:ext>
            </a:extLst>
          </p:cNvPr>
          <p:cNvSpPr>
            <a:spLocks noGrp="1"/>
          </p:cNvSpPr>
          <p:nvPr/>
        </p:nvSpPr>
        <p:spPr>
          <a:xfrm>
            <a:off x="12481560" y="4690872"/>
            <a:ext cx="91440" cy="91440"/>
          </a:xfrm>
          <a:prstGeom prst="rect">
            <a:avLst/>
          </a:prstGeom>
          <a:solidFill>
            <a:srgbClr val="F1B61B"/>
          </a:solidFill>
        </p:spPr>
        <p:txBody>
          <a:bodyPr/>
          <a:lstStyle/>
          <a:p>
            <a:endParaRPr/>
          </a:p>
        </p:txBody>
      </p:sp>
      <p:sp>
        <p:nvSpPr>
          <p:cNvPr id="151" name="T152">
            <a:extLst>
              <a:ext uri="{FF2B5EF4-FFF2-40B4-BE49-F238E27FC236}">
                <a16:creationId xmlns:a16="http://schemas.microsoft.com/office/drawing/2014/main" id="{6197581A-723F-4FEE-8026-3BFA7A92AF48}"/>
              </a:ext>
            </a:extLst>
          </p:cNvPr>
          <p:cNvSpPr>
            <a:spLocks noGrp="1"/>
          </p:cNvSpPr>
          <p:nvPr/>
        </p:nvSpPr>
        <p:spPr>
          <a:xfrm>
            <a:off x="12728448" y="4572000"/>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누락·만료·불일치는 접수 후 보완 요청으로 확인</a:t>
            </a:r>
          </a:p>
        </p:txBody>
      </p:sp>
      <p:sp>
        <p:nvSpPr>
          <p:cNvPr id="153" name="S154">
            <a:extLst>
              <a:ext uri="{FF2B5EF4-FFF2-40B4-BE49-F238E27FC236}">
                <a16:creationId xmlns:a16="http://schemas.microsoft.com/office/drawing/2014/main" id="{EF22A823-57B8-436D-AB21-52F9F70C0469}"/>
              </a:ext>
            </a:extLst>
          </p:cNvPr>
          <p:cNvSpPr>
            <a:spLocks noGrp="1"/>
          </p:cNvSpPr>
          <p:nvPr/>
        </p:nvSpPr>
        <p:spPr>
          <a:xfrm>
            <a:off x="12496992" y="5646696"/>
            <a:ext cx="91440" cy="91440"/>
          </a:xfrm>
          <a:prstGeom prst="rect">
            <a:avLst/>
          </a:prstGeom>
          <a:solidFill>
            <a:srgbClr val="F1B61B"/>
          </a:solidFill>
        </p:spPr>
        <p:txBody>
          <a:bodyPr/>
          <a:lstStyle/>
          <a:p>
            <a:endParaRPr/>
          </a:p>
        </p:txBody>
      </p:sp>
      <p:sp>
        <p:nvSpPr>
          <p:cNvPr id="155" name="T156">
            <a:extLst>
              <a:ext uri="{FF2B5EF4-FFF2-40B4-BE49-F238E27FC236}">
                <a16:creationId xmlns:a16="http://schemas.microsoft.com/office/drawing/2014/main" id="{1F033C9E-A807-4D49-9C74-220AF733B869}"/>
              </a:ext>
            </a:extLst>
          </p:cNvPr>
          <p:cNvSpPr>
            <a:spLocks noGrp="1"/>
          </p:cNvSpPr>
          <p:nvPr/>
        </p:nvSpPr>
        <p:spPr>
          <a:xfrm>
            <a:off x="12743880" y="5527824"/>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보완 요청 이후 재제출과 이전본 재대조가 반복</a:t>
            </a:r>
          </a:p>
        </p:txBody>
      </p:sp>
      <p:sp>
        <p:nvSpPr>
          <p:cNvPr id="157" name="S158">
            <a:extLst>
              <a:ext uri="{FF2B5EF4-FFF2-40B4-BE49-F238E27FC236}">
                <a16:creationId xmlns:a16="http://schemas.microsoft.com/office/drawing/2014/main" id="{44053A87-E02C-4EF8-B91A-F60F10CD1B22}"/>
              </a:ext>
            </a:extLst>
          </p:cNvPr>
          <p:cNvSpPr>
            <a:spLocks noGrp="1"/>
          </p:cNvSpPr>
          <p:nvPr/>
        </p:nvSpPr>
        <p:spPr>
          <a:xfrm>
            <a:off x="12496992" y="6709548"/>
            <a:ext cx="91440" cy="91440"/>
          </a:xfrm>
          <a:prstGeom prst="rect">
            <a:avLst/>
          </a:prstGeom>
          <a:solidFill>
            <a:srgbClr val="F1B61B"/>
          </a:solidFill>
        </p:spPr>
        <p:txBody>
          <a:bodyPr/>
          <a:lstStyle/>
          <a:p>
            <a:endParaRPr/>
          </a:p>
        </p:txBody>
      </p:sp>
      <p:sp>
        <p:nvSpPr>
          <p:cNvPr id="159" name="T160">
            <a:extLst>
              <a:ext uri="{FF2B5EF4-FFF2-40B4-BE49-F238E27FC236}">
                <a16:creationId xmlns:a16="http://schemas.microsoft.com/office/drawing/2014/main" id="{3C61675F-86C8-4717-B498-2B93CCE0C3EE}"/>
              </a:ext>
            </a:extLst>
          </p:cNvPr>
          <p:cNvSpPr>
            <a:spLocks noGrp="1"/>
          </p:cNvSpPr>
          <p:nvPr/>
        </p:nvSpPr>
        <p:spPr>
          <a:xfrm>
            <a:off x="12743880" y="6590676"/>
            <a:ext cx="4233672" cy="1005840"/>
          </a:xfrm>
          <a:prstGeom prst="rect">
            <a:avLst/>
          </a:prstGeom>
        </p:spPr>
        <p:txBody>
          <a:bodyPr wrap="square" lIns="0" tIns="0" rIns="0" bIns="0" anchor="t"/>
          <a:lstStyle/>
          <a:p>
            <a:pPr algn="l">
              <a:lnSpc>
                <a:spcPct val="132000"/>
              </a:lnSpc>
              <a:spcAft>
                <a:spcPts val="0"/>
              </a:spcAft>
              <a:buNone/>
            </a:pPr>
            <a:r>
              <a:rPr sz="1700">
                <a:solidFill>
                  <a:srgbClr val="6E6A63"/>
                </a:solidFill>
                <a:latin typeface="Pretendard Medium"/>
                <a:ea typeface="Pretendard Medium"/>
                <a:cs typeface="Pretendard Medium"/>
              </a:rPr>
              <a:t>AI 활용은 은행 내부 업무 지원에 집중</a:t>
            </a:r>
          </a:p>
          <a:p>
            <a:pPr algn="l">
              <a:lnSpc>
                <a:spcPct val="132000"/>
              </a:lnSpc>
              <a:spcAft>
                <a:spcPts val="0"/>
              </a:spcAft>
              <a:buNone/>
            </a:pPr>
            <a:r>
              <a:rPr sz="1700">
                <a:solidFill>
                  <a:srgbClr val="6E6A63"/>
                </a:solidFill>
                <a:latin typeface="Pretendard Medium"/>
                <a:ea typeface="Pretendard Medium"/>
                <a:cs typeface="Pretendard Medium"/>
              </a:rPr>
              <a:t>기업 고객의 접수 전 점검 과정은 수작업</a:t>
            </a:r>
          </a:p>
        </p:txBody>
      </p:sp>
      <p:sp>
        <p:nvSpPr>
          <p:cNvPr id="161" name="S162">
            <a:extLst>
              <a:ext uri="{FF2B5EF4-FFF2-40B4-BE49-F238E27FC236}">
                <a16:creationId xmlns:a16="http://schemas.microsoft.com/office/drawing/2014/main" id="{184AFE8D-5BED-44FE-871F-94208BB8F4CE}"/>
              </a:ext>
            </a:extLst>
          </p:cNvPr>
          <p:cNvSpPr>
            <a:spLocks noGrp="1"/>
          </p:cNvSpPr>
          <p:nvPr/>
        </p:nvSpPr>
        <p:spPr>
          <a:xfrm>
            <a:off x="914400" y="8183880"/>
            <a:ext cx="16459200" cy="868680"/>
          </a:xfrm>
          <a:prstGeom prst="roundRect">
            <a:avLst>
              <a:gd name="adj" fmla="val 8000"/>
            </a:avLst>
          </a:prstGeom>
          <a:solidFill>
            <a:srgbClr val="EA002C"/>
          </a:solidFill>
        </p:spPr>
        <p:txBody>
          <a:bodyPr/>
          <a:lstStyle/>
          <a:p>
            <a:endParaRPr/>
          </a:p>
        </p:txBody>
      </p:sp>
      <p:sp>
        <p:nvSpPr>
          <p:cNvPr id="163" name="T164">
            <a:extLst>
              <a:ext uri="{FF2B5EF4-FFF2-40B4-BE49-F238E27FC236}">
                <a16:creationId xmlns:a16="http://schemas.microsoft.com/office/drawing/2014/main" id="{8AA59D89-F544-46B0-B262-AE3A5E23A9DE}"/>
              </a:ext>
            </a:extLst>
          </p:cNvPr>
          <p:cNvSpPr>
            <a:spLocks noGrp="1"/>
          </p:cNvSpPr>
          <p:nvPr/>
        </p:nvSpPr>
        <p:spPr>
          <a:xfrm>
            <a:off x="914400" y="8183880"/>
            <a:ext cx="16459200" cy="868680"/>
          </a:xfrm>
          <a:prstGeom prst="rect">
            <a:avLst/>
          </a:prstGeom>
        </p:spPr>
        <p:txBody>
          <a:bodyPr wrap="square" lIns="0" tIns="0" rIns="0" bIns="0" anchor="ctr"/>
          <a:lstStyle/>
          <a:p>
            <a:pPr algn="ctr">
              <a:lnSpc>
                <a:spcPct val="135000"/>
              </a:lnSpc>
              <a:spcAft>
                <a:spcPts val="0"/>
              </a:spcAft>
              <a:buNone/>
            </a:pPr>
            <a:r>
              <a:rPr sz="2700">
                <a:solidFill>
                  <a:schemeClr val="bg1"/>
                </a:solidFill>
                <a:latin typeface="Pretendard SemiBold"/>
                <a:ea typeface="Pretendard SemiBold"/>
                <a:cs typeface="Pretendard SemiBold"/>
              </a:rPr>
              <a:t>DocuFit의 대상 : 기업 고객의 접수 전 서류 점검</a:t>
            </a:r>
          </a:p>
        </p:txBody>
      </p:sp>
      <p:sp>
        <p:nvSpPr>
          <p:cNvPr id="165" name="T166">
            <a:extLst>
              <a:ext uri="{FF2B5EF4-FFF2-40B4-BE49-F238E27FC236}">
                <a16:creationId xmlns:a16="http://schemas.microsoft.com/office/drawing/2014/main" id="{FDF38812-ABAC-4196-9C2C-1E6E7AAD6DF4}"/>
              </a:ext>
            </a:extLst>
          </p:cNvPr>
          <p:cNvSpPr>
            <a:spLocks noGrp="1"/>
          </p:cNvSpPr>
          <p:nvPr/>
        </p:nvSpPr>
        <p:spPr>
          <a:xfrm>
            <a:off x="914400" y="9189720"/>
            <a:ext cx="16459200" cy="365760"/>
          </a:xfrm>
          <a:prstGeom prst="rect">
            <a:avLst/>
          </a:prstGeom>
        </p:spPr>
        <p:txBody>
          <a:bodyPr wrap="square" lIns="0" tIns="0" rIns="0" bIns="0" anchor="t"/>
          <a:lstStyle/>
          <a:p>
            <a:pPr algn="l">
              <a:lnSpc>
                <a:spcPct val="135000"/>
              </a:lnSpc>
              <a:spcAft>
                <a:spcPts val="0"/>
              </a:spcAft>
              <a:buNone/>
            </a:pPr>
            <a:r>
              <a:rPr sz="1400">
                <a:solidFill>
                  <a:srgbClr val="9A958C"/>
                </a:solidFill>
                <a:latin typeface="Pretendard Medium"/>
                <a:ea typeface="Pretendard Medium"/>
                <a:cs typeface="Pretendard Medium"/>
              </a:rPr>
              <a:t>출처 : 전자신문 · 헤럴드경제(하나은행, 2026.03) / 신한금융 보도자료(2026.03) / 이투데이(수출입은행 2026.07, 은행장 설문)</a:t>
            </a:r>
          </a:p>
        </p:txBody>
      </p:sp>
    </p:spTree>
    <p:extLst>
      <p:ext uri="{BB962C8B-B14F-4D97-AF65-F5344CB8AC3E}">
        <p14:creationId xmlns:p14="http://schemas.microsoft.com/office/powerpoint/2010/main" val="850595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A42EBCD1-53FD-4CDF-A917-A7D53E5D8738}"/>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CFB5DB5D-D45C-460B-878B-AD0F9BC08A4F}"/>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5384067A-C9D0-4739-8B28-A7EBB17A4E8C}"/>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02</a:t>
            </a:r>
          </a:p>
        </p:txBody>
      </p:sp>
      <p:sp>
        <p:nvSpPr>
          <p:cNvPr id="6" name="TextBox 6">
            <a:extLst>
              <a:ext uri="{FF2B5EF4-FFF2-40B4-BE49-F238E27FC236}">
                <a16:creationId xmlns:a16="http://schemas.microsoft.com/office/drawing/2014/main" id="{37A37D8E-B12D-4BD5-80E3-884821926123}"/>
              </a:ext>
            </a:extLst>
          </p:cNvPr>
          <p:cNvSpPr>
            <a:spLocks noGrp="1"/>
          </p:cNvSpPr>
          <p:nvPr/>
        </p:nvSpPr>
        <p:spPr>
          <a:xfrm>
            <a:off x="1466120" y="405441"/>
            <a:ext cx="9144000" cy="74676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문제점</a:t>
            </a:r>
          </a:p>
        </p:txBody>
      </p:sp>
      <p:sp>
        <p:nvSpPr>
          <p:cNvPr id="7" name="Freeform 7">
            <a:extLst>
              <a:ext uri="{FF2B5EF4-FFF2-40B4-BE49-F238E27FC236}">
                <a16:creationId xmlns:a16="http://schemas.microsoft.com/office/drawing/2014/main" id="{44033B4E-B0E2-4E7D-9940-0E7C5ECBF387}"/>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167" name="T168">
            <a:extLst>
              <a:ext uri="{FF2B5EF4-FFF2-40B4-BE49-F238E27FC236}">
                <a16:creationId xmlns:a16="http://schemas.microsoft.com/office/drawing/2014/main" id="{2A518130-CE56-4959-BEB2-F56E811C0779}"/>
              </a:ext>
            </a:extLst>
          </p:cNvPr>
          <p:cNvSpPr>
            <a:spLocks noGrp="1"/>
          </p:cNvSpPr>
          <p:nvPr/>
        </p:nvSpPr>
        <p:spPr>
          <a:xfrm>
            <a:off x="914400" y="1874520"/>
            <a:ext cx="7315200" cy="384048"/>
          </a:xfrm>
          <a:prstGeom prst="rect">
            <a:avLst/>
          </a:prstGeom>
        </p:spPr>
        <p:txBody>
          <a:bodyPr wrap="square" lIns="0" tIns="0" rIns="0" bIns="0" anchor="ctr"/>
          <a:lstStyle/>
          <a:p>
            <a:pPr algn="l">
              <a:lnSpc>
                <a:spcPct val="135000"/>
              </a:lnSpc>
              <a:spcAft>
                <a:spcPts val="0"/>
              </a:spcAft>
              <a:buNone/>
            </a:pPr>
            <a:r>
              <a:rPr sz="2000">
                <a:solidFill>
                  <a:srgbClr val="F47725"/>
                </a:solidFill>
                <a:latin typeface="Pretendard SemiBold"/>
                <a:ea typeface="Pretendard SemiBold"/>
                <a:cs typeface="Pretendard SemiBold"/>
              </a:rPr>
              <a:t>문제 1   (기업 고객 담당자)</a:t>
            </a:r>
          </a:p>
        </p:txBody>
      </p:sp>
      <p:sp>
        <p:nvSpPr>
          <p:cNvPr id="169" name="T170">
            <a:extLst>
              <a:ext uri="{FF2B5EF4-FFF2-40B4-BE49-F238E27FC236}">
                <a16:creationId xmlns:a16="http://schemas.microsoft.com/office/drawing/2014/main" id="{98F2BC75-49BA-4A97-873B-64B78165574F}"/>
              </a:ext>
            </a:extLst>
          </p:cNvPr>
          <p:cNvSpPr>
            <a:spLocks noGrp="1"/>
          </p:cNvSpPr>
          <p:nvPr/>
        </p:nvSpPr>
        <p:spPr>
          <a:xfrm>
            <a:off x="9326880" y="1874520"/>
            <a:ext cx="8046720" cy="384048"/>
          </a:xfrm>
          <a:prstGeom prst="rect">
            <a:avLst/>
          </a:prstGeom>
        </p:spPr>
        <p:txBody>
          <a:bodyPr wrap="square" lIns="0" tIns="0" rIns="0" bIns="0" anchor="ctr"/>
          <a:lstStyle/>
          <a:p>
            <a:pPr algn="l">
              <a:lnSpc>
                <a:spcPct val="135000"/>
              </a:lnSpc>
              <a:spcAft>
                <a:spcPts val="0"/>
              </a:spcAft>
              <a:buNone/>
            </a:pPr>
            <a:r>
              <a:rPr sz="2000">
                <a:solidFill>
                  <a:srgbClr val="EA002C"/>
                </a:solidFill>
                <a:latin typeface="Pretendard SemiBold"/>
                <a:ea typeface="Pretendard SemiBold"/>
                <a:cs typeface="Pretendard SemiBold"/>
              </a:rPr>
              <a:t>해결 방안 1</a:t>
            </a:r>
          </a:p>
        </p:txBody>
      </p:sp>
      <p:sp>
        <p:nvSpPr>
          <p:cNvPr id="171" name="S172">
            <a:extLst>
              <a:ext uri="{FF2B5EF4-FFF2-40B4-BE49-F238E27FC236}">
                <a16:creationId xmlns:a16="http://schemas.microsoft.com/office/drawing/2014/main" id="{257033E6-A6FE-467C-9D4A-F709FEDB6FE3}"/>
              </a:ext>
            </a:extLst>
          </p:cNvPr>
          <p:cNvSpPr>
            <a:spLocks noGrp="1"/>
          </p:cNvSpPr>
          <p:nvPr/>
        </p:nvSpPr>
        <p:spPr>
          <a:xfrm>
            <a:off x="914400" y="2331720"/>
            <a:ext cx="7315200" cy="1572768"/>
          </a:xfrm>
          <a:prstGeom prst="roundRect">
            <a:avLst>
              <a:gd name="adj" fmla="val 4000"/>
            </a:avLst>
          </a:prstGeom>
          <a:solidFill>
            <a:srgbClr val="FFFFFF"/>
          </a:solidFill>
          <a:ln w="15875">
            <a:solidFill>
              <a:srgbClr val="E5E0D6"/>
            </a:solidFill>
          </a:ln>
        </p:spPr>
        <p:txBody>
          <a:bodyPr/>
          <a:lstStyle/>
          <a:p>
            <a:endParaRPr/>
          </a:p>
        </p:txBody>
      </p:sp>
      <p:sp>
        <p:nvSpPr>
          <p:cNvPr id="173" name="T174">
            <a:extLst>
              <a:ext uri="{FF2B5EF4-FFF2-40B4-BE49-F238E27FC236}">
                <a16:creationId xmlns:a16="http://schemas.microsoft.com/office/drawing/2014/main" id="{A1310D9A-7D2B-49AA-814A-3A7356963D35}"/>
              </a:ext>
            </a:extLst>
          </p:cNvPr>
          <p:cNvSpPr>
            <a:spLocks noGrp="1"/>
          </p:cNvSpPr>
          <p:nvPr/>
        </p:nvSpPr>
        <p:spPr>
          <a:xfrm>
            <a:off x="1371600" y="2331720"/>
            <a:ext cx="6400800" cy="1572768"/>
          </a:xfrm>
          <a:prstGeom prst="rect">
            <a:avLst/>
          </a:prstGeom>
        </p:spPr>
        <p:txBody>
          <a:bodyPr wrap="square" lIns="0" tIns="0" rIns="0" bIns="0" anchor="ctr"/>
          <a:lstStyle/>
          <a:p>
            <a:pPr algn="l">
              <a:lnSpc>
                <a:spcPct val="135000"/>
              </a:lnSpc>
              <a:spcAft>
                <a:spcPts val="0"/>
              </a:spcAft>
              <a:buNone/>
            </a:pPr>
            <a:r>
              <a:rPr sz="2100">
                <a:solidFill>
                  <a:srgbClr val="1A1A1A"/>
                </a:solidFill>
                <a:latin typeface="Pretendard Medium"/>
                <a:ea typeface="Pretendard Medium"/>
                <a:cs typeface="Pretendard Medium"/>
              </a:rPr>
              <a:t>기업 담당자는 접수 전에 필수서류의 누락과</a:t>
            </a:r>
          </a:p>
          <a:p>
            <a:pPr algn="l">
              <a:lnSpc>
                <a:spcPct val="135000"/>
              </a:lnSpc>
              <a:spcAft>
                <a:spcPts val="0"/>
              </a:spcAft>
              <a:buNone/>
            </a:pPr>
            <a:r>
              <a:rPr sz="2100">
                <a:solidFill>
                  <a:srgbClr val="1A1A1A"/>
                </a:solidFill>
                <a:latin typeface="Pretendard Medium"/>
                <a:ea typeface="Pretendard Medium"/>
                <a:cs typeface="Pretendard Medium"/>
              </a:rPr>
              <a:t>주요 값의 불일치를 확인하기 어렵다</a:t>
            </a:r>
          </a:p>
        </p:txBody>
      </p:sp>
      <p:sp>
        <p:nvSpPr>
          <p:cNvPr id="175" name="A176">
            <a:extLst>
              <a:ext uri="{FF2B5EF4-FFF2-40B4-BE49-F238E27FC236}">
                <a16:creationId xmlns:a16="http://schemas.microsoft.com/office/drawing/2014/main" id="{126E0C32-114D-41F7-966A-8504767242D0}"/>
              </a:ext>
            </a:extLst>
          </p:cNvPr>
          <p:cNvSpPr>
            <a:spLocks noGrp="1"/>
          </p:cNvSpPr>
          <p:nvPr/>
        </p:nvSpPr>
        <p:spPr>
          <a:xfrm>
            <a:off x="8343900" y="2898648"/>
            <a:ext cx="868680" cy="411480"/>
          </a:xfrm>
          <a:prstGeom prst="rightArrow">
            <a:avLst/>
          </a:prstGeom>
          <a:solidFill>
            <a:srgbClr val="F47725"/>
          </a:solidFill>
        </p:spPr>
        <p:txBody>
          <a:bodyPr/>
          <a:lstStyle/>
          <a:p>
            <a:endParaRPr/>
          </a:p>
        </p:txBody>
      </p:sp>
      <p:sp>
        <p:nvSpPr>
          <p:cNvPr id="177" name="S178">
            <a:extLst>
              <a:ext uri="{FF2B5EF4-FFF2-40B4-BE49-F238E27FC236}">
                <a16:creationId xmlns:a16="http://schemas.microsoft.com/office/drawing/2014/main" id="{9E909591-F641-418C-9579-05A2E34856CF}"/>
              </a:ext>
            </a:extLst>
          </p:cNvPr>
          <p:cNvSpPr>
            <a:spLocks noGrp="1"/>
          </p:cNvSpPr>
          <p:nvPr/>
        </p:nvSpPr>
        <p:spPr>
          <a:xfrm>
            <a:off x="9326880" y="2331720"/>
            <a:ext cx="8046720" cy="1572768"/>
          </a:xfrm>
          <a:prstGeom prst="roundRect">
            <a:avLst>
              <a:gd name="adj" fmla="val 4000"/>
            </a:avLst>
          </a:prstGeom>
          <a:solidFill>
            <a:srgbClr val="FFF4EE"/>
          </a:solidFill>
          <a:ln w="15875">
            <a:solidFill>
              <a:srgbClr val="F6D6C4"/>
            </a:solidFill>
          </a:ln>
        </p:spPr>
        <p:txBody>
          <a:bodyPr/>
          <a:lstStyle/>
          <a:p>
            <a:endParaRPr/>
          </a:p>
        </p:txBody>
      </p:sp>
      <p:sp>
        <p:nvSpPr>
          <p:cNvPr id="179" name="T180">
            <a:extLst>
              <a:ext uri="{FF2B5EF4-FFF2-40B4-BE49-F238E27FC236}">
                <a16:creationId xmlns:a16="http://schemas.microsoft.com/office/drawing/2014/main" id="{A3E0B8E7-6049-459B-83C3-A925ADA302C5}"/>
              </a:ext>
            </a:extLst>
          </p:cNvPr>
          <p:cNvSpPr>
            <a:spLocks noGrp="1"/>
          </p:cNvSpPr>
          <p:nvPr/>
        </p:nvSpPr>
        <p:spPr>
          <a:xfrm>
            <a:off x="9784080" y="2715768"/>
            <a:ext cx="7132320" cy="594360"/>
          </a:xfrm>
          <a:prstGeom prst="rect">
            <a:avLst/>
          </a:prstGeom>
        </p:spPr>
        <p:txBody>
          <a:bodyPr wrap="square" lIns="0" tIns="0" rIns="0" bIns="0" anchor="t"/>
          <a:lstStyle/>
          <a:p>
            <a:pPr algn="l">
              <a:lnSpc>
                <a:spcPct val="135000"/>
              </a:lnSpc>
              <a:spcAft>
                <a:spcPts val="0"/>
              </a:spcAft>
              <a:buNone/>
            </a:pPr>
            <a:r>
              <a:rPr sz="2100">
                <a:solidFill>
                  <a:srgbClr val="1A1A1A"/>
                </a:solidFill>
                <a:latin typeface="Pretendard SemiBold"/>
                <a:ea typeface="Pretendard SemiBold"/>
                <a:cs typeface="Pretendard SemiBold"/>
              </a:rPr>
              <a:t>필수서류 3종의 누락과 납세증명서 유효기간을 업로드 직후 자동 검증</a:t>
            </a:r>
          </a:p>
        </p:txBody>
      </p:sp>
      <p:sp>
        <p:nvSpPr>
          <p:cNvPr id="181" name="T182">
            <a:extLst>
              <a:ext uri="{FF2B5EF4-FFF2-40B4-BE49-F238E27FC236}">
                <a16:creationId xmlns:a16="http://schemas.microsoft.com/office/drawing/2014/main" id="{3B6E5C41-1DA2-4763-9CF1-3E535F9C6C6D}"/>
              </a:ext>
            </a:extLst>
          </p:cNvPr>
          <p:cNvSpPr>
            <a:spLocks noGrp="1"/>
          </p:cNvSpPr>
          <p:nvPr/>
        </p:nvSpPr>
        <p:spPr>
          <a:xfrm>
            <a:off x="9784080" y="3410712"/>
            <a:ext cx="7132320" cy="329184"/>
          </a:xfrm>
          <a:prstGeom prst="rect">
            <a:avLst/>
          </a:prstGeom>
        </p:spPr>
        <p:txBody>
          <a:bodyPr wrap="square" lIns="0" tIns="0" rIns="0" bIns="0" anchor="ctr"/>
          <a:lstStyle/>
          <a:p>
            <a:pPr algn="l">
              <a:lnSpc>
                <a:spcPct val="135000"/>
              </a:lnSpc>
              <a:spcAft>
                <a:spcPts val="0"/>
              </a:spcAft>
              <a:buNone/>
            </a:pPr>
            <a:r>
              <a:rPr sz="1400">
                <a:solidFill>
                  <a:srgbClr val="B97B65"/>
                </a:solidFill>
                <a:latin typeface="Pretendard SemiBold"/>
                <a:ea typeface="Pretendard SemiBold"/>
                <a:cs typeface="Pretendard SemiBold"/>
              </a:rPr>
              <a:t>REQ-FUNC-004  ·  MISSING_DOCUMENT / EXPIRED_TAX_CERTIFICATE</a:t>
            </a:r>
          </a:p>
        </p:txBody>
      </p:sp>
      <p:sp>
        <p:nvSpPr>
          <p:cNvPr id="183" name="T184">
            <a:extLst>
              <a:ext uri="{FF2B5EF4-FFF2-40B4-BE49-F238E27FC236}">
                <a16:creationId xmlns:a16="http://schemas.microsoft.com/office/drawing/2014/main" id="{F84D7FDF-74F1-4B3B-84A9-2822F6AE6A3B}"/>
              </a:ext>
            </a:extLst>
          </p:cNvPr>
          <p:cNvSpPr>
            <a:spLocks noGrp="1"/>
          </p:cNvSpPr>
          <p:nvPr/>
        </p:nvSpPr>
        <p:spPr>
          <a:xfrm>
            <a:off x="914400" y="4361688"/>
            <a:ext cx="7315200" cy="384048"/>
          </a:xfrm>
          <a:prstGeom prst="rect">
            <a:avLst/>
          </a:prstGeom>
        </p:spPr>
        <p:txBody>
          <a:bodyPr wrap="square" lIns="0" tIns="0" rIns="0" bIns="0" anchor="ctr"/>
          <a:lstStyle/>
          <a:p>
            <a:pPr algn="l">
              <a:lnSpc>
                <a:spcPct val="135000"/>
              </a:lnSpc>
              <a:spcAft>
                <a:spcPts val="0"/>
              </a:spcAft>
              <a:buNone/>
            </a:pPr>
            <a:r>
              <a:rPr sz="2000">
                <a:solidFill>
                  <a:srgbClr val="F47725"/>
                </a:solidFill>
                <a:latin typeface="Pretendard SemiBold"/>
                <a:ea typeface="Pretendard SemiBold"/>
                <a:cs typeface="Pretendard SemiBold"/>
              </a:rPr>
              <a:t>문제 2   (은행 기업금융 담당자)</a:t>
            </a:r>
          </a:p>
        </p:txBody>
      </p:sp>
      <p:sp>
        <p:nvSpPr>
          <p:cNvPr id="185" name="T186">
            <a:extLst>
              <a:ext uri="{FF2B5EF4-FFF2-40B4-BE49-F238E27FC236}">
                <a16:creationId xmlns:a16="http://schemas.microsoft.com/office/drawing/2014/main" id="{D169162E-0844-48BF-998D-2EB523EDA387}"/>
              </a:ext>
            </a:extLst>
          </p:cNvPr>
          <p:cNvSpPr>
            <a:spLocks noGrp="1"/>
          </p:cNvSpPr>
          <p:nvPr/>
        </p:nvSpPr>
        <p:spPr>
          <a:xfrm>
            <a:off x="9326880" y="4361688"/>
            <a:ext cx="8046720" cy="384048"/>
          </a:xfrm>
          <a:prstGeom prst="rect">
            <a:avLst/>
          </a:prstGeom>
        </p:spPr>
        <p:txBody>
          <a:bodyPr wrap="square" lIns="0" tIns="0" rIns="0" bIns="0" anchor="ctr"/>
          <a:lstStyle/>
          <a:p>
            <a:pPr algn="l">
              <a:lnSpc>
                <a:spcPct val="135000"/>
              </a:lnSpc>
              <a:spcAft>
                <a:spcPts val="0"/>
              </a:spcAft>
              <a:buNone/>
            </a:pPr>
            <a:r>
              <a:rPr sz="2000">
                <a:solidFill>
                  <a:srgbClr val="EA002C"/>
                </a:solidFill>
                <a:latin typeface="Pretendard SemiBold"/>
                <a:ea typeface="Pretendard SemiBold"/>
                <a:cs typeface="Pretendard SemiBold"/>
              </a:rPr>
              <a:t>해결 방안 2</a:t>
            </a:r>
          </a:p>
        </p:txBody>
      </p:sp>
      <p:sp>
        <p:nvSpPr>
          <p:cNvPr id="187" name="S188">
            <a:extLst>
              <a:ext uri="{FF2B5EF4-FFF2-40B4-BE49-F238E27FC236}">
                <a16:creationId xmlns:a16="http://schemas.microsoft.com/office/drawing/2014/main" id="{567594AA-3634-4021-82E4-51A3709EE241}"/>
              </a:ext>
            </a:extLst>
          </p:cNvPr>
          <p:cNvSpPr>
            <a:spLocks noGrp="1"/>
          </p:cNvSpPr>
          <p:nvPr/>
        </p:nvSpPr>
        <p:spPr>
          <a:xfrm>
            <a:off x="914400" y="4818888"/>
            <a:ext cx="7315200" cy="1572768"/>
          </a:xfrm>
          <a:prstGeom prst="roundRect">
            <a:avLst>
              <a:gd name="adj" fmla="val 4000"/>
            </a:avLst>
          </a:prstGeom>
          <a:solidFill>
            <a:srgbClr val="FFFFFF"/>
          </a:solidFill>
          <a:ln w="15875">
            <a:solidFill>
              <a:srgbClr val="E5E0D6"/>
            </a:solidFill>
          </a:ln>
        </p:spPr>
        <p:txBody>
          <a:bodyPr/>
          <a:lstStyle/>
          <a:p>
            <a:endParaRPr/>
          </a:p>
        </p:txBody>
      </p:sp>
      <p:sp>
        <p:nvSpPr>
          <p:cNvPr id="189" name="T190">
            <a:extLst>
              <a:ext uri="{FF2B5EF4-FFF2-40B4-BE49-F238E27FC236}">
                <a16:creationId xmlns:a16="http://schemas.microsoft.com/office/drawing/2014/main" id="{4C381959-88B9-49D4-BDCA-C07A2FD34BAB}"/>
              </a:ext>
            </a:extLst>
          </p:cNvPr>
          <p:cNvSpPr>
            <a:spLocks noGrp="1"/>
          </p:cNvSpPr>
          <p:nvPr/>
        </p:nvSpPr>
        <p:spPr>
          <a:xfrm>
            <a:off x="1371600" y="4818888"/>
            <a:ext cx="6400800" cy="1572768"/>
          </a:xfrm>
          <a:prstGeom prst="rect">
            <a:avLst/>
          </a:prstGeom>
        </p:spPr>
        <p:txBody>
          <a:bodyPr wrap="square" lIns="0" tIns="0" rIns="0" bIns="0" anchor="ctr"/>
          <a:lstStyle/>
          <a:p>
            <a:pPr algn="l">
              <a:lnSpc>
                <a:spcPct val="135000"/>
              </a:lnSpc>
              <a:spcAft>
                <a:spcPts val="0"/>
              </a:spcAft>
              <a:buNone/>
            </a:pPr>
            <a:r>
              <a:rPr sz="2100">
                <a:solidFill>
                  <a:srgbClr val="1A1A1A"/>
                </a:solidFill>
                <a:latin typeface="Pretendard Medium"/>
                <a:ea typeface="Pretendard Medium"/>
                <a:cs typeface="Pretendard Medium"/>
              </a:rPr>
              <a:t>은행 담당자는 문서마다 기업명과 사업자등록번호를</a:t>
            </a:r>
          </a:p>
          <a:p>
            <a:pPr algn="l">
              <a:lnSpc>
                <a:spcPct val="135000"/>
              </a:lnSpc>
              <a:spcAft>
                <a:spcPts val="0"/>
              </a:spcAft>
              <a:buNone/>
            </a:pPr>
            <a:r>
              <a:rPr sz="2100">
                <a:solidFill>
                  <a:srgbClr val="1A1A1A"/>
                </a:solidFill>
                <a:latin typeface="Pretendard Medium"/>
                <a:ea typeface="Pretendard Medium"/>
                <a:cs typeface="Pretendard Medium"/>
              </a:rPr>
              <a:t>반복해서 대조해야 한다</a:t>
            </a:r>
          </a:p>
        </p:txBody>
      </p:sp>
      <p:sp>
        <p:nvSpPr>
          <p:cNvPr id="191" name="A192">
            <a:extLst>
              <a:ext uri="{FF2B5EF4-FFF2-40B4-BE49-F238E27FC236}">
                <a16:creationId xmlns:a16="http://schemas.microsoft.com/office/drawing/2014/main" id="{711AF8E9-D3C9-4F13-91DD-13DAEF040CC0}"/>
              </a:ext>
            </a:extLst>
          </p:cNvPr>
          <p:cNvSpPr>
            <a:spLocks noGrp="1"/>
          </p:cNvSpPr>
          <p:nvPr/>
        </p:nvSpPr>
        <p:spPr>
          <a:xfrm>
            <a:off x="8343900" y="5385816"/>
            <a:ext cx="868680" cy="411480"/>
          </a:xfrm>
          <a:prstGeom prst="rightArrow">
            <a:avLst/>
          </a:prstGeom>
          <a:solidFill>
            <a:srgbClr val="F47725"/>
          </a:solidFill>
        </p:spPr>
        <p:txBody>
          <a:bodyPr/>
          <a:lstStyle/>
          <a:p>
            <a:endParaRPr/>
          </a:p>
        </p:txBody>
      </p:sp>
      <p:sp>
        <p:nvSpPr>
          <p:cNvPr id="193" name="S194">
            <a:extLst>
              <a:ext uri="{FF2B5EF4-FFF2-40B4-BE49-F238E27FC236}">
                <a16:creationId xmlns:a16="http://schemas.microsoft.com/office/drawing/2014/main" id="{8BA02F65-6935-4AA0-982F-DDC83AFEE160}"/>
              </a:ext>
            </a:extLst>
          </p:cNvPr>
          <p:cNvSpPr>
            <a:spLocks noGrp="1"/>
          </p:cNvSpPr>
          <p:nvPr/>
        </p:nvSpPr>
        <p:spPr>
          <a:xfrm>
            <a:off x="9326880" y="4818888"/>
            <a:ext cx="8046720" cy="1572768"/>
          </a:xfrm>
          <a:prstGeom prst="roundRect">
            <a:avLst>
              <a:gd name="adj" fmla="val 4000"/>
            </a:avLst>
          </a:prstGeom>
          <a:solidFill>
            <a:srgbClr val="FFF4EE"/>
          </a:solidFill>
          <a:ln w="15875">
            <a:solidFill>
              <a:srgbClr val="F6D6C4"/>
            </a:solidFill>
          </a:ln>
        </p:spPr>
        <p:txBody>
          <a:bodyPr/>
          <a:lstStyle/>
          <a:p>
            <a:endParaRPr/>
          </a:p>
        </p:txBody>
      </p:sp>
      <p:sp>
        <p:nvSpPr>
          <p:cNvPr id="195" name="T196">
            <a:extLst>
              <a:ext uri="{FF2B5EF4-FFF2-40B4-BE49-F238E27FC236}">
                <a16:creationId xmlns:a16="http://schemas.microsoft.com/office/drawing/2014/main" id="{914D2034-C287-4CF9-832C-99BF2A8AB88B}"/>
              </a:ext>
            </a:extLst>
          </p:cNvPr>
          <p:cNvSpPr>
            <a:spLocks noGrp="1"/>
          </p:cNvSpPr>
          <p:nvPr/>
        </p:nvSpPr>
        <p:spPr>
          <a:xfrm>
            <a:off x="9784080" y="5202936"/>
            <a:ext cx="7132320" cy="594360"/>
          </a:xfrm>
          <a:prstGeom prst="rect">
            <a:avLst/>
          </a:prstGeom>
        </p:spPr>
        <p:txBody>
          <a:bodyPr wrap="square" lIns="0" tIns="0" rIns="0" bIns="0" anchor="t"/>
          <a:lstStyle/>
          <a:p>
            <a:pPr algn="l">
              <a:lnSpc>
                <a:spcPct val="135000"/>
              </a:lnSpc>
              <a:spcAft>
                <a:spcPts val="0"/>
              </a:spcAft>
              <a:buNone/>
            </a:pPr>
            <a:r>
              <a:rPr sz="2100">
                <a:solidFill>
                  <a:srgbClr val="1A1A1A"/>
                </a:solidFill>
                <a:latin typeface="Pretendard SemiBold"/>
                <a:ea typeface="Pretendard SemiBold"/>
                <a:cs typeface="Pretendard SemiBold"/>
              </a:rPr>
              <a:t>기업 기준정보와 문서별 OCR 추출값을 교차검증해 불일치를 표시</a:t>
            </a:r>
          </a:p>
        </p:txBody>
      </p:sp>
      <p:sp>
        <p:nvSpPr>
          <p:cNvPr id="197" name="T198">
            <a:extLst>
              <a:ext uri="{FF2B5EF4-FFF2-40B4-BE49-F238E27FC236}">
                <a16:creationId xmlns:a16="http://schemas.microsoft.com/office/drawing/2014/main" id="{997C7870-E9F9-4870-A987-580E26C56684}"/>
              </a:ext>
            </a:extLst>
          </p:cNvPr>
          <p:cNvSpPr>
            <a:spLocks noGrp="1"/>
          </p:cNvSpPr>
          <p:nvPr/>
        </p:nvSpPr>
        <p:spPr>
          <a:xfrm>
            <a:off x="9784080" y="5897880"/>
            <a:ext cx="7132320" cy="329184"/>
          </a:xfrm>
          <a:prstGeom prst="rect">
            <a:avLst/>
          </a:prstGeom>
        </p:spPr>
        <p:txBody>
          <a:bodyPr wrap="square" lIns="0" tIns="0" rIns="0" bIns="0" anchor="ctr"/>
          <a:lstStyle/>
          <a:p>
            <a:pPr algn="l">
              <a:lnSpc>
                <a:spcPct val="135000"/>
              </a:lnSpc>
              <a:spcAft>
                <a:spcPts val="0"/>
              </a:spcAft>
              <a:buNone/>
            </a:pPr>
            <a:r>
              <a:rPr sz="1400">
                <a:solidFill>
                  <a:srgbClr val="B97B65"/>
                </a:solidFill>
                <a:latin typeface="Pretendard SemiBold"/>
                <a:ea typeface="Pretendard SemiBold"/>
                <a:cs typeface="Pretendard SemiBold"/>
              </a:rPr>
              <a:t>REQ-FUNC-004, 006  ·  COMPANY_NAME / BUSINESS_NO 불일치</a:t>
            </a:r>
          </a:p>
        </p:txBody>
      </p:sp>
      <p:sp>
        <p:nvSpPr>
          <p:cNvPr id="199" name="T200">
            <a:extLst>
              <a:ext uri="{FF2B5EF4-FFF2-40B4-BE49-F238E27FC236}">
                <a16:creationId xmlns:a16="http://schemas.microsoft.com/office/drawing/2014/main" id="{4E18D0CF-EA03-4FC4-9A2B-4A17907E4389}"/>
              </a:ext>
            </a:extLst>
          </p:cNvPr>
          <p:cNvSpPr>
            <a:spLocks noGrp="1"/>
          </p:cNvSpPr>
          <p:nvPr/>
        </p:nvSpPr>
        <p:spPr>
          <a:xfrm>
            <a:off x="914400" y="6848856"/>
            <a:ext cx="7315200" cy="384048"/>
          </a:xfrm>
          <a:prstGeom prst="rect">
            <a:avLst/>
          </a:prstGeom>
        </p:spPr>
        <p:txBody>
          <a:bodyPr wrap="square" lIns="0" tIns="0" rIns="0" bIns="0" anchor="ctr"/>
          <a:lstStyle/>
          <a:p>
            <a:pPr algn="l">
              <a:lnSpc>
                <a:spcPct val="135000"/>
              </a:lnSpc>
              <a:spcAft>
                <a:spcPts val="0"/>
              </a:spcAft>
              <a:buNone/>
            </a:pPr>
            <a:r>
              <a:rPr sz="2000">
                <a:solidFill>
                  <a:srgbClr val="F47725"/>
                </a:solidFill>
                <a:latin typeface="Pretendard SemiBold"/>
                <a:ea typeface="Pretendard SemiBold"/>
                <a:cs typeface="Pretendard SemiBold"/>
              </a:rPr>
              <a:t>문제 3   (양측 공통)</a:t>
            </a:r>
          </a:p>
        </p:txBody>
      </p:sp>
      <p:sp>
        <p:nvSpPr>
          <p:cNvPr id="201" name="T202">
            <a:extLst>
              <a:ext uri="{FF2B5EF4-FFF2-40B4-BE49-F238E27FC236}">
                <a16:creationId xmlns:a16="http://schemas.microsoft.com/office/drawing/2014/main" id="{7B22EF2A-9C46-437D-949F-E58155921853}"/>
              </a:ext>
            </a:extLst>
          </p:cNvPr>
          <p:cNvSpPr>
            <a:spLocks noGrp="1"/>
          </p:cNvSpPr>
          <p:nvPr/>
        </p:nvSpPr>
        <p:spPr>
          <a:xfrm>
            <a:off x="9326880" y="6848856"/>
            <a:ext cx="8046720" cy="384048"/>
          </a:xfrm>
          <a:prstGeom prst="rect">
            <a:avLst/>
          </a:prstGeom>
        </p:spPr>
        <p:txBody>
          <a:bodyPr wrap="square" lIns="0" tIns="0" rIns="0" bIns="0" anchor="ctr"/>
          <a:lstStyle/>
          <a:p>
            <a:pPr algn="l">
              <a:lnSpc>
                <a:spcPct val="135000"/>
              </a:lnSpc>
              <a:spcAft>
                <a:spcPts val="0"/>
              </a:spcAft>
              <a:buNone/>
            </a:pPr>
            <a:r>
              <a:rPr sz="2000">
                <a:solidFill>
                  <a:srgbClr val="EA002C"/>
                </a:solidFill>
                <a:latin typeface="Pretendard SemiBold"/>
                <a:ea typeface="Pretendard SemiBold"/>
                <a:cs typeface="Pretendard SemiBold"/>
              </a:rPr>
              <a:t>해결 방안 3</a:t>
            </a:r>
          </a:p>
        </p:txBody>
      </p:sp>
      <p:sp>
        <p:nvSpPr>
          <p:cNvPr id="203" name="S204">
            <a:extLst>
              <a:ext uri="{FF2B5EF4-FFF2-40B4-BE49-F238E27FC236}">
                <a16:creationId xmlns:a16="http://schemas.microsoft.com/office/drawing/2014/main" id="{892574E3-C71F-441C-85BF-A73BFD65F315}"/>
              </a:ext>
            </a:extLst>
          </p:cNvPr>
          <p:cNvSpPr>
            <a:spLocks noGrp="1"/>
          </p:cNvSpPr>
          <p:nvPr/>
        </p:nvSpPr>
        <p:spPr>
          <a:xfrm>
            <a:off x="914400" y="7306056"/>
            <a:ext cx="7315200" cy="1572768"/>
          </a:xfrm>
          <a:prstGeom prst="roundRect">
            <a:avLst>
              <a:gd name="adj" fmla="val 4000"/>
            </a:avLst>
          </a:prstGeom>
          <a:solidFill>
            <a:srgbClr val="FFFFFF"/>
          </a:solidFill>
          <a:ln w="15875">
            <a:solidFill>
              <a:srgbClr val="E5E0D6"/>
            </a:solidFill>
          </a:ln>
        </p:spPr>
        <p:txBody>
          <a:bodyPr/>
          <a:lstStyle/>
          <a:p>
            <a:endParaRPr/>
          </a:p>
        </p:txBody>
      </p:sp>
      <p:sp>
        <p:nvSpPr>
          <p:cNvPr id="205" name="T206">
            <a:extLst>
              <a:ext uri="{FF2B5EF4-FFF2-40B4-BE49-F238E27FC236}">
                <a16:creationId xmlns:a16="http://schemas.microsoft.com/office/drawing/2014/main" id="{29DB7B21-D849-4FC4-B51B-51689D078436}"/>
              </a:ext>
            </a:extLst>
          </p:cNvPr>
          <p:cNvSpPr>
            <a:spLocks noGrp="1"/>
          </p:cNvSpPr>
          <p:nvPr/>
        </p:nvSpPr>
        <p:spPr>
          <a:xfrm>
            <a:off x="1371600" y="7306056"/>
            <a:ext cx="6400800" cy="1572768"/>
          </a:xfrm>
          <a:prstGeom prst="rect">
            <a:avLst/>
          </a:prstGeom>
        </p:spPr>
        <p:txBody>
          <a:bodyPr wrap="square" lIns="0" tIns="0" rIns="0" bIns="0" anchor="ctr"/>
          <a:lstStyle/>
          <a:p>
            <a:pPr algn="l">
              <a:lnSpc>
                <a:spcPct val="135000"/>
              </a:lnSpc>
              <a:spcAft>
                <a:spcPts val="0"/>
              </a:spcAft>
              <a:buNone/>
            </a:pPr>
            <a:r>
              <a:rPr sz="2100">
                <a:solidFill>
                  <a:srgbClr val="1A1A1A"/>
                </a:solidFill>
                <a:latin typeface="Pretendard Medium"/>
                <a:ea typeface="Pretendard Medium"/>
                <a:cs typeface="Pretendard Medium"/>
              </a:rPr>
              <a:t>보완 제출이 반복되면 최신본과 이전본을 구분하기 어렵다</a:t>
            </a:r>
          </a:p>
        </p:txBody>
      </p:sp>
      <p:sp>
        <p:nvSpPr>
          <p:cNvPr id="207" name="A208">
            <a:extLst>
              <a:ext uri="{FF2B5EF4-FFF2-40B4-BE49-F238E27FC236}">
                <a16:creationId xmlns:a16="http://schemas.microsoft.com/office/drawing/2014/main" id="{43B04562-3916-4EB3-A8AB-F28531410E99}"/>
              </a:ext>
            </a:extLst>
          </p:cNvPr>
          <p:cNvSpPr>
            <a:spLocks noGrp="1"/>
          </p:cNvSpPr>
          <p:nvPr/>
        </p:nvSpPr>
        <p:spPr>
          <a:xfrm>
            <a:off x="8343900" y="7872984"/>
            <a:ext cx="868680" cy="411480"/>
          </a:xfrm>
          <a:prstGeom prst="rightArrow">
            <a:avLst/>
          </a:prstGeom>
          <a:solidFill>
            <a:srgbClr val="F47725"/>
          </a:solidFill>
        </p:spPr>
        <p:txBody>
          <a:bodyPr/>
          <a:lstStyle/>
          <a:p>
            <a:endParaRPr/>
          </a:p>
        </p:txBody>
      </p:sp>
      <p:sp>
        <p:nvSpPr>
          <p:cNvPr id="209" name="S210">
            <a:extLst>
              <a:ext uri="{FF2B5EF4-FFF2-40B4-BE49-F238E27FC236}">
                <a16:creationId xmlns:a16="http://schemas.microsoft.com/office/drawing/2014/main" id="{B2F8AB55-C375-47FB-8872-EA9BCF9FE5CD}"/>
              </a:ext>
            </a:extLst>
          </p:cNvPr>
          <p:cNvSpPr>
            <a:spLocks noGrp="1"/>
          </p:cNvSpPr>
          <p:nvPr/>
        </p:nvSpPr>
        <p:spPr>
          <a:xfrm>
            <a:off x="9326880" y="7306056"/>
            <a:ext cx="8046720" cy="1572768"/>
          </a:xfrm>
          <a:prstGeom prst="roundRect">
            <a:avLst>
              <a:gd name="adj" fmla="val 4000"/>
            </a:avLst>
          </a:prstGeom>
          <a:solidFill>
            <a:srgbClr val="FFF4EE"/>
          </a:solidFill>
          <a:ln w="15875">
            <a:solidFill>
              <a:srgbClr val="F6D6C4"/>
            </a:solidFill>
          </a:ln>
        </p:spPr>
        <p:txBody>
          <a:bodyPr/>
          <a:lstStyle/>
          <a:p>
            <a:endParaRPr/>
          </a:p>
        </p:txBody>
      </p:sp>
      <p:sp>
        <p:nvSpPr>
          <p:cNvPr id="211" name="T212">
            <a:extLst>
              <a:ext uri="{FF2B5EF4-FFF2-40B4-BE49-F238E27FC236}">
                <a16:creationId xmlns:a16="http://schemas.microsoft.com/office/drawing/2014/main" id="{10A789AB-BD10-4306-BA40-5345BA48DD65}"/>
              </a:ext>
            </a:extLst>
          </p:cNvPr>
          <p:cNvSpPr>
            <a:spLocks noGrp="1"/>
          </p:cNvSpPr>
          <p:nvPr/>
        </p:nvSpPr>
        <p:spPr>
          <a:xfrm>
            <a:off x="9784080" y="7690104"/>
            <a:ext cx="7132320" cy="594360"/>
          </a:xfrm>
          <a:prstGeom prst="rect">
            <a:avLst/>
          </a:prstGeom>
        </p:spPr>
        <p:txBody>
          <a:bodyPr wrap="square" lIns="0" tIns="0" rIns="0" bIns="0" anchor="t"/>
          <a:lstStyle/>
          <a:p>
            <a:pPr algn="l">
              <a:lnSpc>
                <a:spcPct val="135000"/>
              </a:lnSpc>
              <a:spcAft>
                <a:spcPts val="0"/>
              </a:spcAft>
              <a:buNone/>
            </a:pPr>
            <a:r>
              <a:rPr sz="2100">
                <a:solidFill>
                  <a:srgbClr val="1A1A1A"/>
                </a:solidFill>
                <a:latin typeface="Pretendard SemiBold"/>
                <a:ea typeface="Pretendard SemiBold"/>
                <a:cs typeface="Pretendard SemiBold"/>
              </a:rPr>
              <a:t>문서 유형별 버전과 제출·검토 이력을 함께 보존</a:t>
            </a:r>
          </a:p>
        </p:txBody>
      </p:sp>
      <p:sp>
        <p:nvSpPr>
          <p:cNvPr id="213" name="T214">
            <a:extLst>
              <a:ext uri="{FF2B5EF4-FFF2-40B4-BE49-F238E27FC236}">
                <a16:creationId xmlns:a16="http://schemas.microsoft.com/office/drawing/2014/main" id="{B299B8E8-43C4-4513-BB2C-27C1C9BB0943}"/>
              </a:ext>
            </a:extLst>
          </p:cNvPr>
          <p:cNvSpPr>
            <a:spLocks noGrp="1"/>
          </p:cNvSpPr>
          <p:nvPr/>
        </p:nvSpPr>
        <p:spPr>
          <a:xfrm>
            <a:off x="9784080" y="8385048"/>
            <a:ext cx="7132320" cy="329184"/>
          </a:xfrm>
          <a:prstGeom prst="rect">
            <a:avLst/>
          </a:prstGeom>
        </p:spPr>
        <p:txBody>
          <a:bodyPr wrap="square" lIns="0" tIns="0" rIns="0" bIns="0" anchor="ctr"/>
          <a:lstStyle/>
          <a:p>
            <a:pPr algn="l">
              <a:lnSpc>
                <a:spcPct val="135000"/>
              </a:lnSpc>
              <a:spcAft>
                <a:spcPts val="0"/>
              </a:spcAft>
              <a:buNone/>
            </a:pPr>
            <a:r>
              <a:rPr sz="1400">
                <a:solidFill>
                  <a:srgbClr val="B97B65"/>
                </a:solidFill>
                <a:latin typeface="Pretendard SemiBold"/>
                <a:ea typeface="Pretendard SemiBold"/>
                <a:cs typeface="Pretendard SemiBold"/>
              </a:rPr>
              <a:t>REQ-FUNC-003, 006  ·  REQ-NFN-004</a:t>
            </a:r>
          </a:p>
        </p:txBody>
      </p:sp>
      <p:sp>
        <p:nvSpPr>
          <p:cNvPr id="215" name="T216">
            <a:extLst>
              <a:ext uri="{FF2B5EF4-FFF2-40B4-BE49-F238E27FC236}">
                <a16:creationId xmlns:a16="http://schemas.microsoft.com/office/drawing/2014/main" id="{1E968B57-8965-4967-AE2B-A71EFB34A697}"/>
              </a:ext>
            </a:extLst>
          </p:cNvPr>
          <p:cNvSpPr>
            <a:spLocks noGrp="1"/>
          </p:cNvSpPr>
          <p:nvPr/>
        </p:nvSpPr>
        <p:spPr>
          <a:xfrm>
            <a:off x="914400" y="9227079"/>
            <a:ext cx="16459200" cy="640080"/>
          </a:xfrm>
          <a:prstGeom prst="rect">
            <a:avLst/>
          </a:prstGeom>
        </p:spPr>
        <p:txBody>
          <a:bodyPr wrap="square" lIns="0" tIns="0" rIns="0" bIns="0" anchor="ctr"/>
          <a:lstStyle/>
          <a:p>
            <a:pPr algn="ctr">
              <a:lnSpc>
                <a:spcPct val="140000"/>
              </a:lnSpc>
              <a:spcAft>
                <a:spcPts val="0"/>
              </a:spcAft>
              <a:buNone/>
            </a:pPr>
            <a:r>
              <a:rPr sz="1700">
                <a:solidFill>
                  <a:schemeClr val="bg1">
                    <a:lumMod val="50000"/>
                  </a:schemeClr>
                </a:solidFill>
                <a:latin typeface="Pretendard SemiBold"/>
                <a:ea typeface="Pretendard SemiBold"/>
                <a:cs typeface="Pretendard SemiBold"/>
              </a:rPr>
              <a:t>6가지 검증 오류는 모두 제출 차단 조건으로 처리한다. 미해결 오류가 있으면 최종 제출할 수 없으며, 은행 목록에는 오류 건수 대신 보완 요청 횟수를 표시한다.</a:t>
            </a:r>
          </a:p>
        </p:txBody>
      </p:sp>
    </p:spTree>
    <p:extLst>
      <p:ext uri="{BB962C8B-B14F-4D97-AF65-F5344CB8AC3E}">
        <p14:creationId xmlns:p14="http://schemas.microsoft.com/office/powerpoint/2010/main" val="336830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4867DB8-607D-4D1D-9A59-084F32A11C2D}"/>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B12568FE-C7A3-40CD-B458-60C3A970079B}"/>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B261542A-92C8-443B-80B9-043073C18F87}"/>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03</a:t>
            </a:r>
          </a:p>
        </p:txBody>
      </p:sp>
      <p:sp>
        <p:nvSpPr>
          <p:cNvPr id="6" name="TextBox 6">
            <a:extLst>
              <a:ext uri="{FF2B5EF4-FFF2-40B4-BE49-F238E27FC236}">
                <a16:creationId xmlns:a16="http://schemas.microsoft.com/office/drawing/2014/main" id="{A967B992-F8C5-47CD-82FE-1B77063BA13B}"/>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시스템 액터 정의</a:t>
            </a:r>
          </a:p>
        </p:txBody>
      </p:sp>
      <p:sp>
        <p:nvSpPr>
          <p:cNvPr id="7" name="Freeform 7">
            <a:extLst>
              <a:ext uri="{FF2B5EF4-FFF2-40B4-BE49-F238E27FC236}">
                <a16:creationId xmlns:a16="http://schemas.microsoft.com/office/drawing/2014/main" id="{D72DB0C6-20A1-4B11-B46E-F332E4311312}"/>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217" name="S218">
            <a:extLst>
              <a:ext uri="{FF2B5EF4-FFF2-40B4-BE49-F238E27FC236}">
                <a16:creationId xmlns:a16="http://schemas.microsoft.com/office/drawing/2014/main" id="{34DF12BB-F2BD-4396-AF1F-5F53083AE43D}"/>
              </a:ext>
            </a:extLst>
          </p:cNvPr>
          <p:cNvSpPr>
            <a:spLocks noGrp="1"/>
          </p:cNvSpPr>
          <p:nvPr/>
        </p:nvSpPr>
        <p:spPr>
          <a:xfrm>
            <a:off x="914400" y="1874520"/>
            <a:ext cx="2743200" cy="731520"/>
          </a:xfrm>
          <a:prstGeom prst="rect">
            <a:avLst/>
          </a:prstGeom>
          <a:solidFill>
            <a:srgbClr val="FBDCC8"/>
          </a:solidFill>
          <a:ln w="12700">
            <a:solidFill>
              <a:srgbClr val="E5E0D6"/>
            </a:solidFill>
          </a:ln>
        </p:spPr>
        <p:txBody>
          <a:bodyPr/>
          <a:lstStyle/>
          <a:p>
            <a:endParaRPr/>
          </a:p>
        </p:txBody>
      </p:sp>
      <p:sp>
        <p:nvSpPr>
          <p:cNvPr id="219" name="T220">
            <a:extLst>
              <a:ext uri="{FF2B5EF4-FFF2-40B4-BE49-F238E27FC236}">
                <a16:creationId xmlns:a16="http://schemas.microsoft.com/office/drawing/2014/main" id="{C2F62E77-FC3F-43E2-B9D4-681069DF9992}"/>
              </a:ext>
            </a:extLst>
          </p:cNvPr>
          <p:cNvSpPr>
            <a:spLocks noGrp="1"/>
          </p:cNvSpPr>
          <p:nvPr/>
        </p:nvSpPr>
        <p:spPr>
          <a:xfrm>
            <a:off x="1115568" y="1874520"/>
            <a:ext cx="2340864" cy="731520"/>
          </a:xfrm>
          <a:prstGeom prst="rect">
            <a:avLst/>
          </a:prstGeom>
        </p:spPr>
        <p:txBody>
          <a:bodyPr wrap="square" lIns="0" tIns="0" rIns="0" bIns="0" anchor="ctr"/>
          <a:lstStyle/>
          <a:p>
            <a:pPr algn="ctr">
              <a:lnSpc>
                <a:spcPct val="130000"/>
              </a:lnSpc>
              <a:spcAft>
                <a:spcPts val="0"/>
              </a:spcAft>
              <a:buNone/>
            </a:pPr>
            <a:r>
              <a:rPr sz="2000">
                <a:solidFill>
                  <a:srgbClr val="1A1A1A"/>
                </a:solidFill>
                <a:latin typeface="Pretendard SemiBold"/>
                <a:ea typeface="Pretendard SemiBold"/>
                <a:cs typeface="Pretendard SemiBold"/>
              </a:rPr>
              <a:t>Actor 구분</a:t>
            </a:r>
          </a:p>
        </p:txBody>
      </p:sp>
      <p:sp>
        <p:nvSpPr>
          <p:cNvPr id="221" name="S222">
            <a:extLst>
              <a:ext uri="{FF2B5EF4-FFF2-40B4-BE49-F238E27FC236}">
                <a16:creationId xmlns:a16="http://schemas.microsoft.com/office/drawing/2014/main" id="{B699818F-02E0-4774-9BE8-03341BBF0A05}"/>
              </a:ext>
            </a:extLst>
          </p:cNvPr>
          <p:cNvSpPr>
            <a:spLocks noGrp="1"/>
          </p:cNvSpPr>
          <p:nvPr/>
        </p:nvSpPr>
        <p:spPr>
          <a:xfrm>
            <a:off x="3657600" y="1874520"/>
            <a:ext cx="3291840" cy="731520"/>
          </a:xfrm>
          <a:prstGeom prst="rect">
            <a:avLst/>
          </a:prstGeom>
          <a:solidFill>
            <a:srgbClr val="FBDCC8"/>
          </a:solidFill>
          <a:ln w="12700">
            <a:solidFill>
              <a:srgbClr val="E5E0D6"/>
            </a:solidFill>
          </a:ln>
        </p:spPr>
        <p:txBody>
          <a:bodyPr/>
          <a:lstStyle/>
          <a:p>
            <a:endParaRPr/>
          </a:p>
        </p:txBody>
      </p:sp>
      <p:sp>
        <p:nvSpPr>
          <p:cNvPr id="223" name="T224">
            <a:extLst>
              <a:ext uri="{FF2B5EF4-FFF2-40B4-BE49-F238E27FC236}">
                <a16:creationId xmlns:a16="http://schemas.microsoft.com/office/drawing/2014/main" id="{258F5DA7-C70F-4E5A-AAC6-5FD82DDB2A3A}"/>
              </a:ext>
            </a:extLst>
          </p:cNvPr>
          <p:cNvSpPr>
            <a:spLocks noGrp="1"/>
          </p:cNvSpPr>
          <p:nvPr/>
        </p:nvSpPr>
        <p:spPr>
          <a:xfrm>
            <a:off x="3858768" y="1874520"/>
            <a:ext cx="2889504" cy="731520"/>
          </a:xfrm>
          <a:prstGeom prst="rect">
            <a:avLst/>
          </a:prstGeom>
        </p:spPr>
        <p:txBody>
          <a:bodyPr wrap="square" lIns="0" tIns="0" rIns="0" bIns="0" anchor="ctr"/>
          <a:lstStyle/>
          <a:p>
            <a:pPr algn="ctr">
              <a:lnSpc>
                <a:spcPct val="130000"/>
              </a:lnSpc>
              <a:spcAft>
                <a:spcPts val="0"/>
              </a:spcAft>
              <a:buNone/>
            </a:pPr>
            <a:r>
              <a:rPr sz="2000">
                <a:solidFill>
                  <a:srgbClr val="1A1A1A"/>
                </a:solidFill>
                <a:latin typeface="Pretendard SemiBold"/>
                <a:ea typeface="Pretendard SemiBold"/>
                <a:cs typeface="Pretendard SemiBold"/>
              </a:rPr>
              <a:t>역할 및 권한</a:t>
            </a:r>
          </a:p>
        </p:txBody>
      </p:sp>
      <p:sp>
        <p:nvSpPr>
          <p:cNvPr id="225" name="S226">
            <a:extLst>
              <a:ext uri="{FF2B5EF4-FFF2-40B4-BE49-F238E27FC236}">
                <a16:creationId xmlns:a16="http://schemas.microsoft.com/office/drawing/2014/main" id="{DD1E9527-8102-4C82-BC85-21D8A7C0974A}"/>
              </a:ext>
            </a:extLst>
          </p:cNvPr>
          <p:cNvSpPr>
            <a:spLocks noGrp="1"/>
          </p:cNvSpPr>
          <p:nvPr/>
        </p:nvSpPr>
        <p:spPr>
          <a:xfrm>
            <a:off x="6949440" y="1874520"/>
            <a:ext cx="10424160" cy="731520"/>
          </a:xfrm>
          <a:prstGeom prst="rect">
            <a:avLst/>
          </a:prstGeom>
          <a:solidFill>
            <a:srgbClr val="FBDCC8"/>
          </a:solidFill>
          <a:ln w="12700">
            <a:solidFill>
              <a:srgbClr val="E5E0D6"/>
            </a:solidFill>
          </a:ln>
        </p:spPr>
        <p:txBody>
          <a:bodyPr/>
          <a:lstStyle/>
          <a:p>
            <a:endParaRPr/>
          </a:p>
        </p:txBody>
      </p:sp>
      <p:sp>
        <p:nvSpPr>
          <p:cNvPr id="227" name="T228">
            <a:extLst>
              <a:ext uri="{FF2B5EF4-FFF2-40B4-BE49-F238E27FC236}">
                <a16:creationId xmlns:a16="http://schemas.microsoft.com/office/drawing/2014/main" id="{E33C4C2B-CDEB-4B64-9F8C-3463C22D466C}"/>
              </a:ext>
            </a:extLst>
          </p:cNvPr>
          <p:cNvSpPr>
            <a:spLocks noGrp="1"/>
          </p:cNvSpPr>
          <p:nvPr/>
        </p:nvSpPr>
        <p:spPr>
          <a:xfrm>
            <a:off x="7150608" y="1874520"/>
            <a:ext cx="10021824" cy="731520"/>
          </a:xfrm>
          <a:prstGeom prst="rect">
            <a:avLst/>
          </a:prstGeom>
        </p:spPr>
        <p:txBody>
          <a:bodyPr wrap="square" lIns="0" tIns="0" rIns="0" bIns="0" anchor="ctr"/>
          <a:lstStyle/>
          <a:p>
            <a:pPr algn="ctr">
              <a:lnSpc>
                <a:spcPct val="130000"/>
              </a:lnSpc>
              <a:spcAft>
                <a:spcPts val="0"/>
              </a:spcAft>
              <a:buNone/>
            </a:pPr>
            <a:r>
              <a:rPr sz="2000">
                <a:solidFill>
                  <a:srgbClr val="1A1A1A"/>
                </a:solidFill>
                <a:latin typeface="Pretendard SemiBold"/>
                <a:ea typeface="Pretendard SemiBold"/>
                <a:cs typeface="Pretendard SemiBold"/>
              </a:rPr>
              <a:t>상세 제공 기능</a:t>
            </a:r>
          </a:p>
        </p:txBody>
      </p:sp>
      <p:sp>
        <p:nvSpPr>
          <p:cNvPr id="229" name="S230">
            <a:extLst>
              <a:ext uri="{FF2B5EF4-FFF2-40B4-BE49-F238E27FC236}">
                <a16:creationId xmlns:a16="http://schemas.microsoft.com/office/drawing/2014/main" id="{C94759AE-6FEA-4A6C-981A-0851F287FA99}"/>
              </a:ext>
            </a:extLst>
          </p:cNvPr>
          <p:cNvSpPr>
            <a:spLocks noGrp="1"/>
          </p:cNvSpPr>
          <p:nvPr/>
        </p:nvSpPr>
        <p:spPr>
          <a:xfrm>
            <a:off x="914400" y="2606040"/>
            <a:ext cx="2743200" cy="1417320"/>
          </a:xfrm>
          <a:prstGeom prst="rect">
            <a:avLst/>
          </a:prstGeom>
          <a:solidFill>
            <a:srgbClr val="FFFFFF"/>
          </a:solidFill>
          <a:ln w="12700">
            <a:solidFill>
              <a:srgbClr val="E5E0D6"/>
            </a:solidFill>
          </a:ln>
        </p:spPr>
        <p:txBody>
          <a:bodyPr/>
          <a:lstStyle/>
          <a:p>
            <a:endParaRPr/>
          </a:p>
        </p:txBody>
      </p:sp>
      <p:sp>
        <p:nvSpPr>
          <p:cNvPr id="231" name="T232">
            <a:extLst>
              <a:ext uri="{FF2B5EF4-FFF2-40B4-BE49-F238E27FC236}">
                <a16:creationId xmlns:a16="http://schemas.microsoft.com/office/drawing/2014/main" id="{5A04A07A-1D4C-4C03-8F4E-1111923E5C98}"/>
              </a:ext>
            </a:extLst>
          </p:cNvPr>
          <p:cNvSpPr>
            <a:spLocks noGrp="1"/>
          </p:cNvSpPr>
          <p:nvPr/>
        </p:nvSpPr>
        <p:spPr>
          <a:xfrm>
            <a:off x="1115568" y="2606040"/>
            <a:ext cx="2340864" cy="1417320"/>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 고객
담당자</a:t>
            </a:r>
          </a:p>
        </p:txBody>
      </p:sp>
      <p:sp>
        <p:nvSpPr>
          <p:cNvPr id="233" name="S234">
            <a:extLst>
              <a:ext uri="{FF2B5EF4-FFF2-40B4-BE49-F238E27FC236}">
                <a16:creationId xmlns:a16="http://schemas.microsoft.com/office/drawing/2014/main" id="{4E82460C-FD3F-4707-ACE9-285DA265D013}"/>
              </a:ext>
            </a:extLst>
          </p:cNvPr>
          <p:cNvSpPr>
            <a:spLocks noGrp="1"/>
          </p:cNvSpPr>
          <p:nvPr/>
        </p:nvSpPr>
        <p:spPr>
          <a:xfrm>
            <a:off x="3657600" y="2606040"/>
            <a:ext cx="3291840" cy="1417320"/>
          </a:xfrm>
          <a:prstGeom prst="rect">
            <a:avLst/>
          </a:prstGeom>
          <a:solidFill>
            <a:srgbClr val="FFFFFF"/>
          </a:solidFill>
          <a:ln w="12700">
            <a:solidFill>
              <a:srgbClr val="E5E0D6"/>
            </a:solidFill>
          </a:ln>
        </p:spPr>
        <p:txBody>
          <a:bodyPr/>
          <a:lstStyle/>
          <a:p>
            <a:endParaRPr/>
          </a:p>
        </p:txBody>
      </p:sp>
      <p:sp>
        <p:nvSpPr>
          <p:cNvPr id="235" name="T236">
            <a:extLst>
              <a:ext uri="{FF2B5EF4-FFF2-40B4-BE49-F238E27FC236}">
                <a16:creationId xmlns:a16="http://schemas.microsoft.com/office/drawing/2014/main" id="{4B7780CC-6C45-4C28-873B-EFEB98E7AE97}"/>
              </a:ext>
            </a:extLst>
          </p:cNvPr>
          <p:cNvSpPr>
            <a:spLocks noGrp="1"/>
          </p:cNvSpPr>
          <p:nvPr/>
        </p:nvSpPr>
        <p:spPr>
          <a:xfrm>
            <a:off x="3858768" y="2606040"/>
            <a:ext cx="2889504" cy="1417320"/>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서류 준비 및 제출</a:t>
            </a:r>
          </a:p>
        </p:txBody>
      </p:sp>
      <p:sp>
        <p:nvSpPr>
          <p:cNvPr id="237" name="S238">
            <a:extLst>
              <a:ext uri="{FF2B5EF4-FFF2-40B4-BE49-F238E27FC236}">
                <a16:creationId xmlns:a16="http://schemas.microsoft.com/office/drawing/2014/main" id="{D8888637-5BB6-4049-8E4E-1244983E98D8}"/>
              </a:ext>
            </a:extLst>
          </p:cNvPr>
          <p:cNvSpPr>
            <a:spLocks noGrp="1"/>
          </p:cNvSpPr>
          <p:nvPr/>
        </p:nvSpPr>
        <p:spPr>
          <a:xfrm>
            <a:off x="6949440" y="2606040"/>
            <a:ext cx="10424160" cy="1417320"/>
          </a:xfrm>
          <a:prstGeom prst="rect">
            <a:avLst/>
          </a:prstGeom>
          <a:solidFill>
            <a:srgbClr val="FFFFFF"/>
          </a:solidFill>
          <a:ln w="12700">
            <a:solidFill>
              <a:srgbClr val="E5E0D6"/>
            </a:solidFill>
          </a:ln>
        </p:spPr>
        <p:txBody>
          <a:bodyPr/>
          <a:lstStyle/>
          <a:p>
            <a:endParaRPr/>
          </a:p>
        </p:txBody>
      </p:sp>
      <p:sp>
        <p:nvSpPr>
          <p:cNvPr id="239" name="T240">
            <a:extLst>
              <a:ext uri="{FF2B5EF4-FFF2-40B4-BE49-F238E27FC236}">
                <a16:creationId xmlns:a16="http://schemas.microsoft.com/office/drawing/2014/main" id="{12C43ED5-0672-4E87-9B42-69DD60200D04}"/>
              </a:ext>
            </a:extLst>
          </p:cNvPr>
          <p:cNvSpPr>
            <a:spLocks noGrp="1"/>
          </p:cNvSpPr>
          <p:nvPr/>
        </p:nvSpPr>
        <p:spPr>
          <a:xfrm>
            <a:off x="7150608" y="2606040"/>
            <a:ext cx="10021824" cy="1417320"/>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은행이 보낸 초대 링크로 계정을 활성화, 소속 기업의 신청 건만 조회</a:t>
            </a:r>
            <a:br>
              <a:rPr sz="1700">
                <a:solidFill>
                  <a:srgbClr val="1A1A1A"/>
                </a:solidFill>
                <a:latin typeface="Pretendard Medium"/>
                <a:ea typeface="Pretendard Medium"/>
                <a:cs typeface="Pretendard Medium"/>
              </a:rPr>
            </a:br>
            <a:r>
              <a:rPr sz="1700">
                <a:solidFill>
                  <a:srgbClr val="1A1A1A"/>
                </a:solidFill>
                <a:latin typeface="Pretendard Medium"/>
                <a:ea typeface="Pretendard Medium"/>
                <a:cs typeface="Pretendard Medium"/>
              </a:rPr>
              <a:t>필수서류 3종 업로드 · OCR 처리 상태 확인 · 사전검증 결과 확인 · 최종 제출 · 보완 재제출</a:t>
            </a:r>
          </a:p>
        </p:txBody>
      </p:sp>
      <p:sp>
        <p:nvSpPr>
          <p:cNvPr id="241" name="S242">
            <a:extLst>
              <a:ext uri="{FF2B5EF4-FFF2-40B4-BE49-F238E27FC236}">
                <a16:creationId xmlns:a16="http://schemas.microsoft.com/office/drawing/2014/main" id="{50A75C4F-7D81-4B4B-98CF-79C38292D0B3}"/>
              </a:ext>
            </a:extLst>
          </p:cNvPr>
          <p:cNvSpPr>
            <a:spLocks noGrp="1"/>
          </p:cNvSpPr>
          <p:nvPr/>
        </p:nvSpPr>
        <p:spPr>
          <a:xfrm>
            <a:off x="914400" y="4023360"/>
            <a:ext cx="2743200" cy="1417320"/>
          </a:xfrm>
          <a:prstGeom prst="rect">
            <a:avLst/>
          </a:prstGeom>
          <a:solidFill>
            <a:srgbClr val="FFFFFF"/>
          </a:solidFill>
          <a:ln w="12700">
            <a:solidFill>
              <a:srgbClr val="E5E0D6"/>
            </a:solidFill>
          </a:ln>
        </p:spPr>
        <p:txBody>
          <a:bodyPr/>
          <a:lstStyle/>
          <a:p>
            <a:endParaRPr/>
          </a:p>
        </p:txBody>
      </p:sp>
      <p:sp>
        <p:nvSpPr>
          <p:cNvPr id="243" name="T244">
            <a:extLst>
              <a:ext uri="{FF2B5EF4-FFF2-40B4-BE49-F238E27FC236}">
                <a16:creationId xmlns:a16="http://schemas.microsoft.com/office/drawing/2014/main" id="{BC957FFD-5CE0-44A8-8622-1B983C9F7774}"/>
              </a:ext>
            </a:extLst>
          </p:cNvPr>
          <p:cNvSpPr>
            <a:spLocks noGrp="1"/>
          </p:cNvSpPr>
          <p:nvPr/>
        </p:nvSpPr>
        <p:spPr>
          <a:xfrm>
            <a:off x="1115568" y="4023360"/>
            <a:ext cx="2340864" cy="1417320"/>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 기업금융
담당자</a:t>
            </a:r>
          </a:p>
        </p:txBody>
      </p:sp>
      <p:sp>
        <p:nvSpPr>
          <p:cNvPr id="245" name="S246">
            <a:extLst>
              <a:ext uri="{FF2B5EF4-FFF2-40B4-BE49-F238E27FC236}">
                <a16:creationId xmlns:a16="http://schemas.microsoft.com/office/drawing/2014/main" id="{0357AECF-915D-4C9C-937F-A35736C1E535}"/>
              </a:ext>
            </a:extLst>
          </p:cNvPr>
          <p:cNvSpPr>
            <a:spLocks noGrp="1"/>
          </p:cNvSpPr>
          <p:nvPr/>
        </p:nvSpPr>
        <p:spPr>
          <a:xfrm>
            <a:off x="3657600" y="4023360"/>
            <a:ext cx="3291840" cy="1417320"/>
          </a:xfrm>
          <a:prstGeom prst="rect">
            <a:avLst/>
          </a:prstGeom>
          <a:solidFill>
            <a:srgbClr val="FFFFFF"/>
          </a:solidFill>
          <a:ln w="12700">
            <a:solidFill>
              <a:srgbClr val="E5E0D6"/>
            </a:solidFill>
          </a:ln>
        </p:spPr>
        <p:txBody>
          <a:bodyPr/>
          <a:lstStyle/>
          <a:p>
            <a:endParaRPr/>
          </a:p>
        </p:txBody>
      </p:sp>
      <p:sp>
        <p:nvSpPr>
          <p:cNvPr id="247" name="T248">
            <a:extLst>
              <a:ext uri="{FF2B5EF4-FFF2-40B4-BE49-F238E27FC236}">
                <a16:creationId xmlns:a16="http://schemas.microsoft.com/office/drawing/2014/main" id="{B7F014B2-8142-4A0D-8423-35CD8CDF8908}"/>
              </a:ext>
            </a:extLst>
          </p:cNvPr>
          <p:cNvSpPr>
            <a:spLocks noGrp="1"/>
          </p:cNvSpPr>
          <p:nvPr/>
        </p:nvSpPr>
        <p:spPr>
          <a:xfrm>
            <a:off x="3858768" y="4023360"/>
            <a:ext cx="2889504" cy="1417320"/>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제출서류 검토 및 </a:t>
            </a:r>
          </a:p>
          <a:p>
            <a:pPr algn="ctr">
              <a:lnSpc>
                <a:spcPct val="130000"/>
              </a:lnSpc>
              <a:spcAft>
                <a:spcPts val="0"/>
              </a:spcAft>
              <a:buNone/>
            </a:pPr>
            <a:r>
              <a:rPr sz="1700">
                <a:solidFill>
                  <a:srgbClr val="1A1A1A"/>
                </a:solidFill>
                <a:latin typeface="Pretendard Medium"/>
                <a:ea typeface="Pretendard Medium"/>
                <a:cs typeface="Pretendard Medium"/>
              </a:rPr>
              <a:t>보완 결정</a:t>
            </a:r>
          </a:p>
        </p:txBody>
      </p:sp>
      <p:sp>
        <p:nvSpPr>
          <p:cNvPr id="249" name="S250">
            <a:extLst>
              <a:ext uri="{FF2B5EF4-FFF2-40B4-BE49-F238E27FC236}">
                <a16:creationId xmlns:a16="http://schemas.microsoft.com/office/drawing/2014/main" id="{C48662B2-A94C-4CC1-8F67-A1973168E654}"/>
              </a:ext>
            </a:extLst>
          </p:cNvPr>
          <p:cNvSpPr>
            <a:spLocks noGrp="1"/>
          </p:cNvSpPr>
          <p:nvPr/>
        </p:nvSpPr>
        <p:spPr>
          <a:xfrm>
            <a:off x="6949440" y="4023360"/>
            <a:ext cx="10424160" cy="1417320"/>
          </a:xfrm>
          <a:prstGeom prst="rect">
            <a:avLst/>
          </a:prstGeom>
          <a:solidFill>
            <a:srgbClr val="FFFFFF"/>
          </a:solidFill>
          <a:ln w="12700">
            <a:solidFill>
              <a:srgbClr val="E5E0D6"/>
            </a:solidFill>
          </a:ln>
        </p:spPr>
        <p:txBody>
          <a:bodyPr/>
          <a:lstStyle/>
          <a:p>
            <a:endParaRPr/>
          </a:p>
        </p:txBody>
      </p:sp>
      <p:sp>
        <p:nvSpPr>
          <p:cNvPr id="251" name="T252">
            <a:extLst>
              <a:ext uri="{FF2B5EF4-FFF2-40B4-BE49-F238E27FC236}">
                <a16:creationId xmlns:a16="http://schemas.microsoft.com/office/drawing/2014/main" id="{D0D2E730-EE2A-4EA7-9F0E-1E8F812F4284}"/>
              </a:ext>
            </a:extLst>
          </p:cNvPr>
          <p:cNvSpPr>
            <a:spLocks noGrp="1"/>
          </p:cNvSpPr>
          <p:nvPr/>
        </p:nvSpPr>
        <p:spPr>
          <a:xfrm>
            <a:off x="7150608" y="4023360"/>
            <a:ext cx="10021824" cy="1417320"/>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은행이 발급한 직원 계정으로 로그인, 제출된 신청 건 검토
최신 원본 · OCR 추출값 · 교차검증 결과 · 버전 이력 확인 · 서류 확인 완료 · 보완 요청</a:t>
            </a:r>
          </a:p>
        </p:txBody>
      </p:sp>
      <p:sp>
        <p:nvSpPr>
          <p:cNvPr id="253" name="T254">
            <a:extLst>
              <a:ext uri="{FF2B5EF4-FFF2-40B4-BE49-F238E27FC236}">
                <a16:creationId xmlns:a16="http://schemas.microsoft.com/office/drawing/2014/main" id="{1AE2CB11-3AB9-48D8-9434-2B434BDDD7FB}"/>
              </a:ext>
            </a:extLst>
          </p:cNvPr>
          <p:cNvSpPr>
            <a:spLocks noGrp="1"/>
          </p:cNvSpPr>
          <p:nvPr/>
        </p:nvSpPr>
        <p:spPr>
          <a:xfrm>
            <a:off x="914400" y="5605272"/>
            <a:ext cx="16459200" cy="365760"/>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외부 OCR 서비스는 시스템 액터가 아닌 외부 연동 대상으로 정의한다. 공개 회원가입과 대출 승인·신용평가는 서비스 범위에서 제외한다.</a:t>
            </a:r>
          </a:p>
        </p:txBody>
      </p:sp>
      <p:sp>
        <p:nvSpPr>
          <p:cNvPr id="255" name="S256">
            <a:extLst>
              <a:ext uri="{FF2B5EF4-FFF2-40B4-BE49-F238E27FC236}">
                <a16:creationId xmlns:a16="http://schemas.microsoft.com/office/drawing/2014/main" id="{14379F5A-619B-45D0-9E8F-E680DD3BE3E4}"/>
              </a:ext>
            </a:extLst>
          </p:cNvPr>
          <p:cNvSpPr>
            <a:spLocks noGrp="1"/>
          </p:cNvSpPr>
          <p:nvPr/>
        </p:nvSpPr>
        <p:spPr>
          <a:xfrm>
            <a:off x="914400" y="6272784"/>
            <a:ext cx="100584" cy="310896"/>
          </a:xfrm>
          <a:prstGeom prst="rect">
            <a:avLst/>
          </a:prstGeom>
          <a:solidFill>
            <a:srgbClr val="EA002C"/>
          </a:solidFill>
        </p:spPr>
        <p:txBody>
          <a:bodyPr/>
          <a:lstStyle/>
          <a:p>
            <a:endParaRPr/>
          </a:p>
        </p:txBody>
      </p:sp>
      <p:sp>
        <p:nvSpPr>
          <p:cNvPr id="257" name="T258">
            <a:extLst>
              <a:ext uri="{FF2B5EF4-FFF2-40B4-BE49-F238E27FC236}">
                <a16:creationId xmlns:a16="http://schemas.microsoft.com/office/drawing/2014/main" id="{8C880A5C-5456-4FE3-9EC9-CC1B42AB55C5}"/>
              </a:ext>
            </a:extLst>
          </p:cNvPr>
          <p:cNvSpPr>
            <a:spLocks noGrp="1"/>
          </p:cNvSpPr>
          <p:nvPr/>
        </p:nvSpPr>
        <p:spPr>
          <a:xfrm>
            <a:off x="1170432" y="6217920"/>
            <a:ext cx="10972800" cy="402336"/>
          </a:xfrm>
          <a:prstGeom prst="rect">
            <a:avLst/>
          </a:prstGeom>
        </p:spPr>
        <p:txBody>
          <a:bodyPr wrap="square" lIns="0" tIns="0" rIns="0" bIns="0" anchor="ctr"/>
          <a:lstStyle/>
          <a:p>
            <a:pPr algn="l">
              <a:lnSpc>
                <a:spcPct val="135000"/>
              </a:lnSpc>
              <a:spcAft>
                <a:spcPts val="0"/>
              </a:spcAft>
              <a:buNone/>
            </a:pPr>
            <a:r>
              <a:rPr sz="2200">
                <a:solidFill>
                  <a:srgbClr val="1A1A1A"/>
                </a:solidFill>
                <a:latin typeface="Pretendard SemiBold"/>
                <a:ea typeface="Pretendard SemiBold"/>
                <a:cs typeface="Pretendard SemiBold"/>
              </a:rPr>
              <a:t>핵심 흐름</a:t>
            </a:r>
          </a:p>
        </p:txBody>
      </p:sp>
      <p:sp>
        <p:nvSpPr>
          <p:cNvPr id="259" name="S260">
            <a:extLst>
              <a:ext uri="{FF2B5EF4-FFF2-40B4-BE49-F238E27FC236}">
                <a16:creationId xmlns:a16="http://schemas.microsoft.com/office/drawing/2014/main" id="{FE9C6FEB-A5C7-43AD-8E1E-FBAD2158455E}"/>
              </a:ext>
            </a:extLst>
          </p:cNvPr>
          <p:cNvSpPr>
            <a:spLocks noGrp="1"/>
          </p:cNvSpPr>
          <p:nvPr/>
        </p:nvSpPr>
        <p:spPr>
          <a:xfrm>
            <a:off x="914400"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261" name="E262">
            <a:extLst>
              <a:ext uri="{FF2B5EF4-FFF2-40B4-BE49-F238E27FC236}">
                <a16:creationId xmlns:a16="http://schemas.microsoft.com/office/drawing/2014/main" id="{31DD55CA-4668-4788-9B8B-AB527631E969}"/>
              </a:ext>
            </a:extLst>
          </p:cNvPr>
          <p:cNvSpPr>
            <a:spLocks noGrp="1"/>
          </p:cNvSpPr>
          <p:nvPr/>
        </p:nvSpPr>
        <p:spPr>
          <a:xfrm>
            <a:off x="1188720" y="7022592"/>
            <a:ext cx="457200" cy="457200"/>
          </a:xfrm>
          <a:prstGeom prst="ellipse">
            <a:avLst/>
          </a:prstGeom>
          <a:solidFill>
            <a:srgbClr val="EA002C"/>
          </a:solidFill>
        </p:spPr>
        <p:txBody>
          <a:bodyPr/>
          <a:lstStyle/>
          <a:p>
            <a:endParaRPr/>
          </a:p>
        </p:txBody>
      </p:sp>
      <p:sp>
        <p:nvSpPr>
          <p:cNvPr id="263" name="T264">
            <a:extLst>
              <a:ext uri="{FF2B5EF4-FFF2-40B4-BE49-F238E27FC236}">
                <a16:creationId xmlns:a16="http://schemas.microsoft.com/office/drawing/2014/main" id="{2B36FFD0-1954-4CD7-B12B-B49850CE24DE}"/>
              </a:ext>
            </a:extLst>
          </p:cNvPr>
          <p:cNvSpPr>
            <a:spLocks noGrp="1"/>
          </p:cNvSpPr>
          <p:nvPr/>
        </p:nvSpPr>
        <p:spPr>
          <a:xfrm>
            <a:off x="1188720"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1</a:t>
            </a:r>
          </a:p>
        </p:txBody>
      </p:sp>
      <p:sp>
        <p:nvSpPr>
          <p:cNvPr id="265" name="T266">
            <a:extLst>
              <a:ext uri="{FF2B5EF4-FFF2-40B4-BE49-F238E27FC236}">
                <a16:creationId xmlns:a16="http://schemas.microsoft.com/office/drawing/2014/main" id="{22FB3993-D0A1-4A9C-8EEB-24EB01EA0D5A}"/>
              </a:ext>
            </a:extLst>
          </p:cNvPr>
          <p:cNvSpPr>
            <a:spLocks noGrp="1"/>
          </p:cNvSpPr>
          <p:nvPr/>
        </p:nvSpPr>
        <p:spPr>
          <a:xfrm>
            <a:off x="1737360"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초대 계정 활성화</a:t>
            </a:r>
          </a:p>
        </p:txBody>
      </p:sp>
      <p:sp>
        <p:nvSpPr>
          <p:cNvPr id="267" name="T268">
            <a:extLst>
              <a:ext uri="{FF2B5EF4-FFF2-40B4-BE49-F238E27FC236}">
                <a16:creationId xmlns:a16="http://schemas.microsoft.com/office/drawing/2014/main" id="{64666C84-97AC-4D76-A1E9-4692DDABCC4E}"/>
              </a:ext>
            </a:extLst>
          </p:cNvPr>
          <p:cNvSpPr>
            <a:spLocks noGrp="1"/>
          </p:cNvSpPr>
          <p:nvPr/>
        </p:nvSpPr>
        <p:spPr>
          <a:xfrm>
            <a:off x="1188720"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초대 링크로만 진입</a:t>
            </a:r>
          </a:p>
        </p:txBody>
      </p:sp>
      <p:sp>
        <p:nvSpPr>
          <p:cNvPr id="269" name="T270">
            <a:extLst>
              <a:ext uri="{FF2B5EF4-FFF2-40B4-BE49-F238E27FC236}">
                <a16:creationId xmlns:a16="http://schemas.microsoft.com/office/drawing/2014/main" id="{80A5C737-EAA7-4B3A-9819-31AA86A4D4A1}"/>
              </a:ext>
            </a:extLst>
          </p:cNvPr>
          <p:cNvSpPr>
            <a:spLocks noGrp="1"/>
          </p:cNvSpPr>
          <p:nvPr/>
        </p:nvSpPr>
        <p:spPr>
          <a:xfrm>
            <a:off x="3877056"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71" name="S272">
            <a:extLst>
              <a:ext uri="{FF2B5EF4-FFF2-40B4-BE49-F238E27FC236}">
                <a16:creationId xmlns:a16="http://schemas.microsoft.com/office/drawing/2014/main" id="{1F721E35-EAC9-4C07-9831-AD740E13E653}"/>
              </a:ext>
            </a:extLst>
          </p:cNvPr>
          <p:cNvSpPr>
            <a:spLocks noGrp="1"/>
          </p:cNvSpPr>
          <p:nvPr/>
        </p:nvSpPr>
        <p:spPr>
          <a:xfrm>
            <a:off x="4261104"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273" name="E274">
            <a:extLst>
              <a:ext uri="{FF2B5EF4-FFF2-40B4-BE49-F238E27FC236}">
                <a16:creationId xmlns:a16="http://schemas.microsoft.com/office/drawing/2014/main" id="{FA1D06CE-136A-4720-859B-3C4B753DBD33}"/>
              </a:ext>
            </a:extLst>
          </p:cNvPr>
          <p:cNvSpPr>
            <a:spLocks noGrp="1"/>
          </p:cNvSpPr>
          <p:nvPr/>
        </p:nvSpPr>
        <p:spPr>
          <a:xfrm>
            <a:off x="4535424" y="7022592"/>
            <a:ext cx="457200" cy="457200"/>
          </a:xfrm>
          <a:prstGeom prst="ellipse">
            <a:avLst/>
          </a:prstGeom>
          <a:solidFill>
            <a:srgbClr val="EA002C"/>
          </a:solidFill>
        </p:spPr>
        <p:txBody>
          <a:bodyPr/>
          <a:lstStyle/>
          <a:p>
            <a:endParaRPr/>
          </a:p>
        </p:txBody>
      </p:sp>
      <p:sp>
        <p:nvSpPr>
          <p:cNvPr id="275" name="T276">
            <a:extLst>
              <a:ext uri="{FF2B5EF4-FFF2-40B4-BE49-F238E27FC236}">
                <a16:creationId xmlns:a16="http://schemas.microsoft.com/office/drawing/2014/main" id="{A215A8C2-2C70-4F06-AABF-E0FE995F4030}"/>
              </a:ext>
            </a:extLst>
          </p:cNvPr>
          <p:cNvSpPr>
            <a:spLocks noGrp="1"/>
          </p:cNvSpPr>
          <p:nvPr/>
        </p:nvSpPr>
        <p:spPr>
          <a:xfrm>
            <a:off x="4535424"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2</a:t>
            </a:r>
          </a:p>
        </p:txBody>
      </p:sp>
      <p:sp>
        <p:nvSpPr>
          <p:cNvPr id="277" name="T278">
            <a:extLst>
              <a:ext uri="{FF2B5EF4-FFF2-40B4-BE49-F238E27FC236}">
                <a16:creationId xmlns:a16="http://schemas.microsoft.com/office/drawing/2014/main" id="{068D61A9-5308-4566-B0F1-9C5E24098160}"/>
              </a:ext>
            </a:extLst>
          </p:cNvPr>
          <p:cNvSpPr>
            <a:spLocks noGrp="1"/>
          </p:cNvSpPr>
          <p:nvPr/>
        </p:nvSpPr>
        <p:spPr>
          <a:xfrm>
            <a:off x="5084064"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서류 업로드</a:t>
            </a:r>
          </a:p>
        </p:txBody>
      </p:sp>
      <p:sp>
        <p:nvSpPr>
          <p:cNvPr id="279" name="T280">
            <a:extLst>
              <a:ext uri="{FF2B5EF4-FFF2-40B4-BE49-F238E27FC236}">
                <a16:creationId xmlns:a16="http://schemas.microsoft.com/office/drawing/2014/main" id="{A8B8AB8E-A4C9-40C1-ABAF-9BDA23BBC0E2}"/>
              </a:ext>
            </a:extLst>
          </p:cNvPr>
          <p:cNvSpPr>
            <a:spLocks noGrp="1"/>
          </p:cNvSpPr>
          <p:nvPr/>
        </p:nvSpPr>
        <p:spPr>
          <a:xfrm>
            <a:off x="4535424"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필수 3종 · JPG/PNG/PDF</a:t>
            </a:r>
          </a:p>
        </p:txBody>
      </p:sp>
      <p:sp>
        <p:nvSpPr>
          <p:cNvPr id="281" name="T282">
            <a:extLst>
              <a:ext uri="{FF2B5EF4-FFF2-40B4-BE49-F238E27FC236}">
                <a16:creationId xmlns:a16="http://schemas.microsoft.com/office/drawing/2014/main" id="{59F295D3-CB89-48FD-8B3B-E7AAF6358C1B}"/>
              </a:ext>
            </a:extLst>
          </p:cNvPr>
          <p:cNvSpPr>
            <a:spLocks noGrp="1"/>
          </p:cNvSpPr>
          <p:nvPr/>
        </p:nvSpPr>
        <p:spPr>
          <a:xfrm>
            <a:off x="7223760"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83" name="S284">
            <a:extLst>
              <a:ext uri="{FF2B5EF4-FFF2-40B4-BE49-F238E27FC236}">
                <a16:creationId xmlns:a16="http://schemas.microsoft.com/office/drawing/2014/main" id="{64C78A9C-ACDC-4AC5-AED4-F7A7E3271291}"/>
              </a:ext>
            </a:extLst>
          </p:cNvPr>
          <p:cNvSpPr>
            <a:spLocks noGrp="1"/>
          </p:cNvSpPr>
          <p:nvPr/>
        </p:nvSpPr>
        <p:spPr>
          <a:xfrm>
            <a:off x="7607808" y="6766560"/>
            <a:ext cx="3072384" cy="1371600"/>
          </a:xfrm>
          <a:prstGeom prst="roundRect">
            <a:avLst>
              <a:gd name="adj" fmla="val 5000"/>
            </a:avLst>
          </a:prstGeom>
          <a:solidFill>
            <a:srgbClr val="EA002C"/>
          </a:solidFill>
          <a:ln w="15875">
            <a:solidFill>
              <a:srgbClr val="EA002C"/>
            </a:solidFill>
          </a:ln>
        </p:spPr>
        <p:txBody>
          <a:bodyPr/>
          <a:lstStyle/>
          <a:p>
            <a:endParaRPr/>
          </a:p>
        </p:txBody>
      </p:sp>
      <p:sp>
        <p:nvSpPr>
          <p:cNvPr id="285" name="E286">
            <a:extLst>
              <a:ext uri="{FF2B5EF4-FFF2-40B4-BE49-F238E27FC236}">
                <a16:creationId xmlns:a16="http://schemas.microsoft.com/office/drawing/2014/main" id="{8876EEEF-30EB-4E35-A4B9-08B79F83DCED}"/>
              </a:ext>
            </a:extLst>
          </p:cNvPr>
          <p:cNvSpPr>
            <a:spLocks noGrp="1"/>
          </p:cNvSpPr>
          <p:nvPr/>
        </p:nvSpPr>
        <p:spPr>
          <a:xfrm>
            <a:off x="7882128" y="7022592"/>
            <a:ext cx="457200" cy="457200"/>
          </a:xfrm>
          <a:prstGeom prst="ellipse">
            <a:avLst/>
          </a:prstGeom>
          <a:solidFill>
            <a:srgbClr val="FFFFFF"/>
          </a:solidFill>
        </p:spPr>
        <p:txBody>
          <a:bodyPr/>
          <a:lstStyle/>
          <a:p>
            <a:endParaRPr/>
          </a:p>
        </p:txBody>
      </p:sp>
      <p:sp>
        <p:nvSpPr>
          <p:cNvPr id="287" name="T288">
            <a:extLst>
              <a:ext uri="{FF2B5EF4-FFF2-40B4-BE49-F238E27FC236}">
                <a16:creationId xmlns:a16="http://schemas.microsoft.com/office/drawing/2014/main" id="{B73EFF95-F092-40C0-A7EF-251F77383F1C}"/>
              </a:ext>
            </a:extLst>
          </p:cNvPr>
          <p:cNvSpPr>
            <a:spLocks noGrp="1"/>
          </p:cNvSpPr>
          <p:nvPr/>
        </p:nvSpPr>
        <p:spPr>
          <a:xfrm>
            <a:off x="7882128"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EA002C"/>
                </a:solidFill>
                <a:latin typeface="Pretendard SemiBold"/>
                <a:ea typeface="Pretendard SemiBold"/>
                <a:cs typeface="Pretendard SemiBold"/>
              </a:rPr>
              <a:t>3</a:t>
            </a:r>
          </a:p>
        </p:txBody>
      </p:sp>
      <p:sp>
        <p:nvSpPr>
          <p:cNvPr id="289" name="T290">
            <a:extLst>
              <a:ext uri="{FF2B5EF4-FFF2-40B4-BE49-F238E27FC236}">
                <a16:creationId xmlns:a16="http://schemas.microsoft.com/office/drawing/2014/main" id="{95B70B9D-8CB2-4DAF-889F-DE2894D8E78D}"/>
              </a:ext>
            </a:extLst>
          </p:cNvPr>
          <p:cNvSpPr>
            <a:spLocks noGrp="1"/>
          </p:cNvSpPr>
          <p:nvPr/>
        </p:nvSpPr>
        <p:spPr>
          <a:xfrm>
            <a:off x="8430768" y="6986016"/>
            <a:ext cx="2066544" cy="530352"/>
          </a:xfrm>
          <a:prstGeom prst="rect">
            <a:avLst/>
          </a:prstGeom>
        </p:spPr>
        <p:txBody>
          <a:bodyPr wrap="square" lIns="0" tIns="0" rIns="0" bIns="0" anchor="ctr"/>
          <a:lstStyle/>
          <a:p>
            <a:pPr algn="l">
              <a:lnSpc>
                <a:spcPct val="135000"/>
              </a:lnSpc>
              <a:spcAft>
                <a:spcPts val="0"/>
              </a:spcAft>
              <a:buNone/>
            </a:pPr>
            <a:r>
              <a:rPr sz="1800">
                <a:solidFill>
                  <a:srgbClr val="FFFFFF"/>
                </a:solidFill>
                <a:latin typeface="Pretendard SemiBold"/>
                <a:ea typeface="Pretendard SemiBold"/>
                <a:cs typeface="Pretendard SemiBold"/>
              </a:rPr>
              <a:t>OCR · 자동 검증</a:t>
            </a:r>
          </a:p>
        </p:txBody>
      </p:sp>
      <p:sp>
        <p:nvSpPr>
          <p:cNvPr id="291" name="T292">
            <a:extLst>
              <a:ext uri="{FF2B5EF4-FFF2-40B4-BE49-F238E27FC236}">
                <a16:creationId xmlns:a16="http://schemas.microsoft.com/office/drawing/2014/main" id="{5F6340C9-63C0-48B7-97D6-A55D6BCDE612}"/>
              </a:ext>
            </a:extLst>
          </p:cNvPr>
          <p:cNvSpPr>
            <a:spLocks noGrp="1"/>
          </p:cNvSpPr>
          <p:nvPr/>
        </p:nvSpPr>
        <p:spPr>
          <a:xfrm>
            <a:off x="7882128" y="7607808"/>
            <a:ext cx="2523744" cy="384048"/>
          </a:xfrm>
          <a:prstGeom prst="rect">
            <a:avLst/>
          </a:prstGeom>
        </p:spPr>
        <p:txBody>
          <a:bodyPr wrap="square" lIns="0" tIns="0" rIns="0" bIns="0" anchor="t"/>
          <a:lstStyle/>
          <a:p>
            <a:pPr algn="l">
              <a:lnSpc>
                <a:spcPct val="135000"/>
              </a:lnSpc>
              <a:spcAft>
                <a:spcPts val="0"/>
              </a:spcAft>
              <a:buNone/>
            </a:pPr>
            <a:r>
              <a:rPr sz="1500">
                <a:solidFill>
                  <a:srgbClr val="FFC9D2"/>
                </a:solidFill>
                <a:latin typeface="Pretendard Medium"/>
                <a:ea typeface="Pretendard Medium"/>
                <a:cs typeface="Pretendard Medium"/>
              </a:rPr>
              <a:t>누락 · 기간 · 불일치</a:t>
            </a:r>
          </a:p>
        </p:txBody>
      </p:sp>
      <p:sp>
        <p:nvSpPr>
          <p:cNvPr id="293" name="T294">
            <a:extLst>
              <a:ext uri="{FF2B5EF4-FFF2-40B4-BE49-F238E27FC236}">
                <a16:creationId xmlns:a16="http://schemas.microsoft.com/office/drawing/2014/main" id="{10547FE2-D9B4-4377-A479-FA39EFB38046}"/>
              </a:ext>
            </a:extLst>
          </p:cNvPr>
          <p:cNvSpPr>
            <a:spLocks noGrp="1"/>
          </p:cNvSpPr>
          <p:nvPr/>
        </p:nvSpPr>
        <p:spPr>
          <a:xfrm>
            <a:off x="10570464"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295" name="S296">
            <a:extLst>
              <a:ext uri="{FF2B5EF4-FFF2-40B4-BE49-F238E27FC236}">
                <a16:creationId xmlns:a16="http://schemas.microsoft.com/office/drawing/2014/main" id="{2DDB0034-6757-4FBB-8D15-7A329C0A3AB9}"/>
              </a:ext>
            </a:extLst>
          </p:cNvPr>
          <p:cNvSpPr>
            <a:spLocks noGrp="1"/>
          </p:cNvSpPr>
          <p:nvPr/>
        </p:nvSpPr>
        <p:spPr>
          <a:xfrm>
            <a:off x="10954512"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297" name="E298">
            <a:extLst>
              <a:ext uri="{FF2B5EF4-FFF2-40B4-BE49-F238E27FC236}">
                <a16:creationId xmlns:a16="http://schemas.microsoft.com/office/drawing/2014/main" id="{1D593AF4-CACC-4074-97D5-F6C7445F8239}"/>
              </a:ext>
            </a:extLst>
          </p:cNvPr>
          <p:cNvSpPr>
            <a:spLocks noGrp="1"/>
          </p:cNvSpPr>
          <p:nvPr/>
        </p:nvSpPr>
        <p:spPr>
          <a:xfrm>
            <a:off x="11228832" y="7022592"/>
            <a:ext cx="457200" cy="457200"/>
          </a:xfrm>
          <a:prstGeom prst="ellipse">
            <a:avLst/>
          </a:prstGeom>
          <a:solidFill>
            <a:srgbClr val="EA002C"/>
          </a:solidFill>
        </p:spPr>
        <p:txBody>
          <a:bodyPr/>
          <a:lstStyle/>
          <a:p>
            <a:endParaRPr/>
          </a:p>
        </p:txBody>
      </p:sp>
      <p:sp>
        <p:nvSpPr>
          <p:cNvPr id="299" name="T300">
            <a:extLst>
              <a:ext uri="{FF2B5EF4-FFF2-40B4-BE49-F238E27FC236}">
                <a16:creationId xmlns:a16="http://schemas.microsoft.com/office/drawing/2014/main" id="{B7817D08-EE56-4CD1-AD88-17B7D6A1319E}"/>
              </a:ext>
            </a:extLst>
          </p:cNvPr>
          <p:cNvSpPr>
            <a:spLocks noGrp="1"/>
          </p:cNvSpPr>
          <p:nvPr/>
        </p:nvSpPr>
        <p:spPr>
          <a:xfrm>
            <a:off x="11228832"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4</a:t>
            </a:r>
          </a:p>
        </p:txBody>
      </p:sp>
      <p:sp>
        <p:nvSpPr>
          <p:cNvPr id="301" name="T302">
            <a:extLst>
              <a:ext uri="{FF2B5EF4-FFF2-40B4-BE49-F238E27FC236}">
                <a16:creationId xmlns:a16="http://schemas.microsoft.com/office/drawing/2014/main" id="{C545D462-6763-4884-9471-DE33C5894878}"/>
              </a:ext>
            </a:extLst>
          </p:cNvPr>
          <p:cNvSpPr>
            <a:spLocks noGrp="1"/>
          </p:cNvSpPr>
          <p:nvPr/>
        </p:nvSpPr>
        <p:spPr>
          <a:xfrm>
            <a:off x="11777472"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자가 보완</a:t>
            </a:r>
          </a:p>
        </p:txBody>
      </p:sp>
      <p:sp>
        <p:nvSpPr>
          <p:cNvPr id="303" name="T304">
            <a:extLst>
              <a:ext uri="{FF2B5EF4-FFF2-40B4-BE49-F238E27FC236}">
                <a16:creationId xmlns:a16="http://schemas.microsoft.com/office/drawing/2014/main" id="{F194071B-3ABB-48B2-83EE-B9108A848151}"/>
              </a:ext>
            </a:extLst>
          </p:cNvPr>
          <p:cNvSpPr>
            <a:spLocks noGrp="1"/>
          </p:cNvSpPr>
          <p:nvPr/>
        </p:nvSpPr>
        <p:spPr>
          <a:xfrm>
            <a:off x="11228832"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해당 문서 재업로드</a:t>
            </a:r>
          </a:p>
        </p:txBody>
      </p:sp>
      <p:sp>
        <p:nvSpPr>
          <p:cNvPr id="305" name="T306">
            <a:extLst>
              <a:ext uri="{FF2B5EF4-FFF2-40B4-BE49-F238E27FC236}">
                <a16:creationId xmlns:a16="http://schemas.microsoft.com/office/drawing/2014/main" id="{7A053831-BD19-473F-9FCE-5C2C3C708451}"/>
              </a:ext>
            </a:extLst>
          </p:cNvPr>
          <p:cNvSpPr>
            <a:spLocks noGrp="1"/>
          </p:cNvSpPr>
          <p:nvPr/>
        </p:nvSpPr>
        <p:spPr>
          <a:xfrm>
            <a:off x="13917168" y="7223760"/>
            <a:ext cx="493776" cy="457200"/>
          </a:xfrm>
          <a:prstGeom prst="rect">
            <a:avLst/>
          </a:prstGeom>
        </p:spPr>
        <p:txBody>
          <a:bodyPr wrap="square" lIns="0" tIns="0" rIns="0" bIns="0" anchor="t"/>
          <a:lstStyle/>
          <a:p>
            <a:pPr algn="ctr">
              <a:lnSpc>
                <a:spcPct val="135000"/>
              </a:lnSpc>
              <a:spcAft>
                <a:spcPts val="0"/>
              </a:spcAft>
              <a:buNone/>
            </a:pPr>
            <a:r>
              <a:rPr sz="2000">
                <a:solidFill>
                  <a:srgbClr val="F47725"/>
                </a:solidFill>
                <a:latin typeface="Pretendard SemiBold"/>
                <a:ea typeface="Pretendard SemiBold"/>
                <a:cs typeface="Pretendard SemiBold"/>
              </a:rPr>
              <a:t>›</a:t>
            </a:r>
          </a:p>
        </p:txBody>
      </p:sp>
      <p:sp>
        <p:nvSpPr>
          <p:cNvPr id="307" name="S308">
            <a:extLst>
              <a:ext uri="{FF2B5EF4-FFF2-40B4-BE49-F238E27FC236}">
                <a16:creationId xmlns:a16="http://schemas.microsoft.com/office/drawing/2014/main" id="{B769E2D9-A0AF-4987-B2E2-5267F4446B71}"/>
              </a:ext>
            </a:extLst>
          </p:cNvPr>
          <p:cNvSpPr>
            <a:spLocks noGrp="1"/>
          </p:cNvSpPr>
          <p:nvPr/>
        </p:nvSpPr>
        <p:spPr>
          <a:xfrm>
            <a:off x="14301216" y="6766560"/>
            <a:ext cx="3072384" cy="1371600"/>
          </a:xfrm>
          <a:prstGeom prst="roundRect">
            <a:avLst>
              <a:gd name="adj" fmla="val 5000"/>
            </a:avLst>
          </a:prstGeom>
          <a:solidFill>
            <a:srgbClr val="FFFFFF"/>
          </a:solidFill>
          <a:ln w="15875">
            <a:solidFill>
              <a:srgbClr val="E5E0D6"/>
            </a:solidFill>
          </a:ln>
        </p:spPr>
        <p:txBody>
          <a:bodyPr/>
          <a:lstStyle/>
          <a:p>
            <a:endParaRPr/>
          </a:p>
        </p:txBody>
      </p:sp>
      <p:sp>
        <p:nvSpPr>
          <p:cNvPr id="309" name="E310">
            <a:extLst>
              <a:ext uri="{FF2B5EF4-FFF2-40B4-BE49-F238E27FC236}">
                <a16:creationId xmlns:a16="http://schemas.microsoft.com/office/drawing/2014/main" id="{36A72362-3586-4A5D-BDF9-57BABD73A32D}"/>
              </a:ext>
            </a:extLst>
          </p:cNvPr>
          <p:cNvSpPr>
            <a:spLocks noGrp="1"/>
          </p:cNvSpPr>
          <p:nvPr/>
        </p:nvSpPr>
        <p:spPr>
          <a:xfrm>
            <a:off x="14575536" y="7022592"/>
            <a:ext cx="457200" cy="457200"/>
          </a:xfrm>
          <a:prstGeom prst="ellipse">
            <a:avLst/>
          </a:prstGeom>
          <a:solidFill>
            <a:srgbClr val="EA002C"/>
          </a:solidFill>
        </p:spPr>
        <p:txBody>
          <a:bodyPr/>
          <a:lstStyle/>
          <a:p>
            <a:endParaRPr/>
          </a:p>
        </p:txBody>
      </p:sp>
      <p:sp>
        <p:nvSpPr>
          <p:cNvPr id="311" name="T312">
            <a:extLst>
              <a:ext uri="{FF2B5EF4-FFF2-40B4-BE49-F238E27FC236}">
                <a16:creationId xmlns:a16="http://schemas.microsoft.com/office/drawing/2014/main" id="{EBE1E8A3-3FE4-4547-B5D5-FD64FE43CF9A}"/>
              </a:ext>
            </a:extLst>
          </p:cNvPr>
          <p:cNvSpPr>
            <a:spLocks noGrp="1"/>
          </p:cNvSpPr>
          <p:nvPr/>
        </p:nvSpPr>
        <p:spPr>
          <a:xfrm>
            <a:off x="14575536" y="7022592"/>
            <a:ext cx="457200" cy="457200"/>
          </a:xfrm>
          <a:prstGeom prst="rect">
            <a:avLst/>
          </a:prstGeom>
        </p:spPr>
        <p:txBody>
          <a:bodyPr wrap="square" lIns="0" tIns="0" rIns="0" bIns="0" anchor="ctr"/>
          <a:lstStyle/>
          <a:p>
            <a:pPr algn="ctr">
              <a:lnSpc>
                <a:spcPct val="135000"/>
              </a:lnSpc>
              <a:spcAft>
                <a:spcPts val="0"/>
              </a:spcAft>
              <a:buNone/>
            </a:pPr>
            <a:r>
              <a:rPr sz="1600">
                <a:solidFill>
                  <a:srgbClr val="FFFFFF"/>
                </a:solidFill>
                <a:latin typeface="Pretendard SemiBold"/>
                <a:ea typeface="Pretendard SemiBold"/>
                <a:cs typeface="Pretendard SemiBold"/>
              </a:rPr>
              <a:t>5</a:t>
            </a:r>
          </a:p>
        </p:txBody>
      </p:sp>
      <p:sp>
        <p:nvSpPr>
          <p:cNvPr id="313" name="T314">
            <a:extLst>
              <a:ext uri="{FF2B5EF4-FFF2-40B4-BE49-F238E27FC236}">
                <a16:creationId xmlns:a16="http://schemas.microsoft.com/office/drawing/2014/main" id="{7DF19DD6-103E-4C9C-8B6E-BDEAB6F9DF4A}"/>
              </a:ext>
            </a:extLst>
          </p:cNvPr>
          <p:cNvSpPr>
            <a:spLocks noGrp="1"/>
          </p:cNvSpPr>
          <p:nvPr/>
        </p:nvSpPr>
        <p:spPr>
          <a:xfrm>
            <a:off x="15124176" y="6986016"/>
            <a:ext cx="2066544" cy="530352"/>
          </a:xfrm>
          <a:prstGeom prst="rect">
            <a:avLst/>
          </a:prstGeom>
        </p:spPr>
        <p:txBody>
          <a:bodyPr wrap="square" lIns="0" tIns="0" rIns="0" bIns="0" anchor="ctr"/>
          <a:lstStyle/>
          <a:p>
            <a:pPr algn="l">
              <a:lnSpc>
                <a:spcPct val="135000"/>
              </a:lnSpc>
              <a:spcAft>
                <a:spcPts val="0"/>
              </a:spcAft>
              <a:buNone/>
            </a:pPr>
            <a:r>
              <a:rPr sz="1800">
                <a:solidFill>
                  <a:srgbClr val="1A1A1A"/>
                </a:solidFill>
                <a:latin typeface="Pretendard SemiBold"/>
                <a:ea typeface="Pretendard SemiBold"/>
                <a:cs typeface="Pretendard SemiBold"/>
              </a:rPr>
              <a:t>은행 확인</a:t>
            </a:r>
          </a:p>
        </p:txBody>
      </p:sp>
      <p:sp>
        <p:nvSpPr>
          <p:cNvPr id="315" name="T316">
            <a:extLst>
              <a:ext uri="{FF2B5EF4-FFF2-40B4-BE49-F238E27FC236}">
                <a16:creationId xmlns:a16="http://schemas.microsoft.com/office/drawing/2014/main" id="{7A794864-E6B3-494A-912D-332B5E6630F4}"/>
              </a:ext>
            </a:extLst>
          </p:cNvPr>
          <p:cNvSpPr>
            <a:spLocks noGrp="1"/>
          </p:cNvSpPr>
          <p:nvPr/>
        </p:nvSpPr>
        <p:spPr>
          <a:xfrm>
            <a:off x="14575536" y="7607808"/>
            <a:ext cx="2523744" cy="384048"/>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확인 완료 / 보완 요청</a:t>
            </a:r>
          </a:p>
        </p:txBody>
      </p:sp>
      <p:sp>
        <p:nvSpPr>
          <p:cNvPr id="317" name="S318">
            <a:extLst>
              <a:ext uri="{FF2B5EF4-FFF2-40B4-BE49-F238E27FC236}">
                <a16:creationId xmlns:a16="http://schemas.microsoft.com/office/drawing/2014/main" id="{4580345B-4517-4CD2-9F4A-7D5613401026}"/>
              </a:ext>
            </a:extLst>
          </p:cNvPr>
          <p:cNvSpPr>
            <a:spLocks noGrp="1"/>
          </p:cNvSpPr>
          <p:nvPr/>
        </p:nvSpPr>
        <p:spPr>
          <a:xfrm>
            <a:off x="914400" y="8595360"/>
            <a:ext cx="16459200" cy="960120"/>
          </a:xfrm>
          <a:prstGeom prst="roundRect">
            <a:avLst>
              <a:gd name="adj" fmla="val 4000"/>
            </a:avLst>
          </a:prstGeom>
          <a:solidFill>
            <a:srgbClr val="FFF4EE"/>
          </a:solidFill>
          <a:ln w="15875">
            <a:solidFill>
              <a:srgbClr val="F6D6C4"/>
            </a:solidFill>
          </a:ln>
        </p:spPr>
        <p:txBody>
          <a:bodyPr/>
          <a:lstStyle/>
          <a:p>
            <a:endParaRPr/>
          </a:p>
        </p:txBody>
      </p:sp>
      <p:sp>
        <p:nvSpPr>
          <p:cNvPr id="319" name="T320">
            <a:extLst>
              <a:ext uri="{FF2B5EF4-FFF2-40B4-BE49-F238E27FC236}">
                <a16:creationId xmlns:a16="http://schemas.microsoft.com/office/drawing/2014/main" id="{5F18F9DF-1A14-47BE-80CE-FC0BA2B3B8CB}"/>
              </a:ext>
            </a:extLst>
          </p:cNvPr>
          <p:cNvSpPr>
            <a:spLocks noGrp="1"/>
          </p:cNvSpPr>
          <p:nvPr/>
        </p:nvSpPr>
        <p:spPr>
          <a:xfrm>
            <a:off x="1371600" y="8595360"/>
            <a:ext cx="15544800" cy="960120"/>
          </a:xfrm>
          <a:prstGeom prst="rect">
            <a:avLst/>
          </a:prstGeom>
        </p:spPr>
        <p:txBody>
          <a:bodyPr wrap="square" lIns="0" tIns="0" rIns="0" bIns="0" anchor="ctr"/>
          <a:lstStyle/>
          <a:p>
            <a:pPr algn="l">
              <a:lnSpc>
                <a:spcPct val="140000"/>
              </a:lnSpc>
              <a:spcAft>
                <a:spcPts val="0"/>
              </a:spcAft>
              <a:buNone/>
            </a:pPr>
            <a:r>
              <a:rPr sz="1800">
                <a:solidFill>
                  <a:srgbClr val="F47725"/>
                </a:solidFill>
                <a:latin typeface="Pretendard SemiBold"/>
                <a:ea typeface="Pretendard SemiBold"/>
                <a:cs typeface="Pretendard SemiBold"/>
              </a:rPr>
              <a:t>이번에 하지 않는 것   </a:t>
            </a:r>
            <a:r>
              <a:rPr sz="1650">
                <a:solidFill>
                  <a:srgbClr val="8A5A4A"/>
                </a:solidFill>
                <a:latin typeface="Pretendard Medium"/>
                <a:ea typeface="Pretendard Medium"/>
                <a:cs typeface="Pretendard Medium"/>
              </a:rPr>
              <a:t>대출 승인 · 신용평가 · 한도/금리 산정  |  OCR 모델 학습 · 추출값 직접 수정  |  문서 진위확인 · 은행 SSO 연동  |  필수 3종 외 문서 · 알림 · 모바일 앱</a:t>
            </a:r>
          </a:p>
        </p:txBody>
      </p:sp>
    </p:spTree>
    <p:extLst>
      <p:ext uri="{BB962C8B-B14F-4D97-AF65-F5344CB8AC3E}">
        <p14:creationId xmlns:p14="http://schemas.microsoft.com/office/powerpoint/2010/main" val="136599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1BC112F9-DCFD-405A-86A7-BDAD676FA256}"/>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F4863233-3D4B-457A-A40D-253BA5ED70CC}"/>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AC20F9AE-3D3F-4195-9870-3646EEBC3560}"/>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4EA7F597-7D9B-4B5B-B93E-0A2183BF2A42}"/>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전체 UI 흐름도</a:t>
            </a:r>
          </a:p>
        </p:txBody>
      </p:sp>
      <p:sp>
        <p:nvSpPr>
          <p:cNvPr id="7" name="Freeform 7">
            <a:extLst>
              <a:ext uri="{FF2B5EF4-FFF2-40B4-BE49-F238E27FC236}">
                <a16:creationId xmlns:a16="http://schemas.microsoft.com/office/drawing/2014/main" id="{085C0262-EC79-4AFA-BA2C-DAE5186E636B}"/>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321" name="S322">
            <a:extLst>
              <a:ext uri="{FF2B5EF4-FFF2-40B4-BE49-F238E27FC236}">
                <a16:creationId xmlns:a16="http://schemas.microsoft.com/office/drawing/2014/main" id="{87A409C7-598F-474F-B7C7-EB5251B37B02}"/>
              </a:ext>
            </a:extLst>
          </p:cNvPr>
          <p:cNvSpPr>
            <a:spLocks noGrp="1"/>
          </p:cNvSpPr>
          <p:nvPr/>
        </p:nvSpPr>
        <p:spPr>
          <a:xfrm>
            <a:off x="914400" y="1874520"/>
            <a:ext cx="7863840" cy="6400800"/>
          </a:xfrm>
          <a:prstGeom prst="roundRect">
            <a:avLst>
              <a:gd name="adj" fmla="val 2500"/>
            </a:avLst>
          </a:prstGeom>
          <a:solidFill>
            <a:srgbClr val="FFFFFF"/>
          </a:solidFill>
          <a:ln w="15875">
            <a:solidFill>
              <a:srgbClr val="E5E0D6"/>
            </a:solidFill>
          </a:ln>
        </p:spPr>
        <p:txBody>
          <a:bodyPr/>
          <a:lstStyle/>
          <a:p>
            <a:endParaRPr/>
          </a:p>
        </p:txBody>
      </p:sp>
      <p:sp>
        <p:nvSpPr>
          <p:cNvPr id="323" name="S324">
            <a:extLst>
              <a:ext uri="{FF2B5EF4-FFF2-40B4-BE49-F238E27FC236}">
                <a16:creationId xmlns:a16="http://schemas.microsoft.com/office/drawing/2014/main" id="{028E556A-B3E7-4D7B-852B-8EE0C2295641}"/>
              </a:ext>
            </a:extLst>
          </p:cNvPr>
          <p:cNvSpPr>
            <a:spLocks noGrp="1"/>
          </p:cNvSpPr>
          <p:nvPr/>
        </p:nvSpPr>
        <p:spPr>
          <a:xfrm>
            <a:off x="914400" y="1874520"/>
            <a:ext cx="7863840" cy="658368"/>
          </a:xfrm>
          <a:prstGeom prst="roundRect">
            <a:avLst>
              <a:gd name="adj" fmla="val 2500"/>
            </a:avLst>
          </a:prstGeom>
          <a:solidFill>
            <a:srgbClr val="EA002C"/>
          </a:solidFill>
        </p:spPr>
        <p:txBody>
          <a:bodyPr/>
          <a:lstStyle/>
          <a:p>
            <a:endParaRPr/>
          </a:p>
        </p:txBody>
      </p:sp>
      <p:sp>
        <p:nvSpPr>
          <p:cNvPr id="325" name="T326">
            <a:extLst>
              <a:ext uri="{FF2B5EF4-FFF2-40B4-BE49-F238E27FC236}">
                <a16:creationId xmlns:a16="http://schemas.microsoft.com/office/drawing/2014/main" id="{ECCFD283-EC98-4DE9-B511-4C1D2ADB9D43}"/>
              </a:ext>
            </a:extLst>
          </p:cNvPr>
          <p:cNvSpPr>
            <a:spLocks noGrp="1"/>
          </p:cNvSpPr>
          <p:nvPr/>
        </p:nvSpPr>
        <p:spPr>
          <a:xfrm>
            <a:off x="1371600" y="1874520"/>
            <a:ext cx="6949440" cy="658368"/>
          </a:xfrm>
          <a:prstGeom prst="rect">
            <a:avLst/>
          </a:prstGeom>
        </p:spPr>
        <p:txBody>
          <a:bodyPr wrap="square" lIns="0" tIns="0" rIns="0" bIns="0" anchor="ctr"/>
          <a:lstStyle/>
          <a:p>
            <a:pPr algn="l">
              <a:lnSpc>
                <a:spcPct val="135000"/>
              </a:lnSpc>
              <a:spcAft>
                <a:spcPts val="0"/>
              </a:spcAft>
              <a:buNone/>
            </a:pPr>
            <a:r>
              <a:rPr sz="2100">
                <a:solidFill>
                  <a:srgbClr val="FFFFFF"/>
                </a:solidFill>
                <a:latin typeface="Pretendard SemiBold"/>
                <a:ea typeface="Pretendard SemiBold"/>
                <a:cs typeface="Pretendard SemiBold"/>
              </a:rPr>
              <a:t>1. 기업 고객 담당자</a:t>
            </a:r>
          </a:p>
        </p:txBody>
      </p:sp>
      <p:sp>
        <p:nvSpPr>
          <p:cNvPr id="327" name="S328">
            <a:extLst>
              <a:ext uri="{FF2B5EF4-FFF2-40B4-BE49-F238E27FC236}">
                <a16:creationId xmlns:a16="http://schemas.microsoft.com/office/drawing/2014/main" id="{EABF894C-DDD1-44F3-B373-3482CC85F219}"/>
              </a:ext>
            </a:extLst>
          </p:cNvPr>
          <p:cNvSpPr>
            <a:spLocks noGrp="1"/>
          </p:cNvSpPr>
          <p:nvPr/>
        </p:nvSpPr>
        <p:spPr>
          <a:xfrm>
            <a:off x="1188720" y="3291840"/>
            <a:ext cx="2103120" cy="1417320"/>
          </a:xfrm>
          <a:prstGeom prst="roundRect">
            <a:avLst>
              <a:gd name="adj" fmla="val 4000"/>
            </a:avLst>
          </a:prstGeom>
          <a:solidFill>
            <a:srgbClr val="FFF1F3"/>
          </a:solidFill>
          <a:ln w="15875">
            <a:solidFill>
              <a:srgbClr val="EA002C"/>
            </a:solidFill>
          </a:ln>
        </p:spPr>
        <p:txBody>
          <a:bodyPr/>
          <a:lstStyle/>
          <a:p>
            <a:endParaRPr/>
          </a:p>
        </p:txBody>
      </p:sp>
      <p:sp>
        <p:nvSpPr>
          <p:cNvPr id="329" name="T330">
            <a:extLst>
              <a:ext uri="{FF2B5EF4-FFF2-40B4-BE49-F238E27FC236}">
                <a16:creationId xmlns:a16="http://schemas.microsoft.com/office/drawing/2014/main" id="{C33D03AB-37FE-4916-9266-48EF99BBC4D4}"/>
              </a:ext>
            </a:extLst>
          </p:cNvPr>
          <p:cNvSpPr>
            <a:spLocks noGrp="1"/>
          </p:cNvSpPr>
          <p:nvPr/>
        </p:nvSpPr>
        <p:spPr>
          <a:xfrm>
            <a:off x="131673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EA002C"/>
                </a:solidFill>
                <a:latin typeface="Pretendard SemiBold"/>
                <a:ea typeface="Pretendard SemiBold"/>
                <a:cs typeface="Pretendard SemiBold"/>
              </a:rPr>
              <a:t>로그인 · 활성화</a:t>
            </a:r>
          </a:p>
        </p:txBody>
      </p:sp>
      <p:sp>
        <p:nvSpPr>
          <p:cNvPr id="331" name="T332">
            <a:extLst>
              <a:ext uri="{FF2B5EF4-FFF2-40B4-BE49-F238E27FC236}">
                <a16:creationId xmlns:a16="http://schemas.microsoft.com/office/drawing/2014/main" id="{558637DE-BCE9-4787-B5FB-8C692D3A2AE7}"/>
              </a:ext>
            </a:extLst>
          </p:cNvPr>
          <p:cNvSpPr>
            <a:spLocks noGrp="1"/>
          </p:cNvSpPr>
          <p:nvPr/>
        </p:nvSpPr>
        <p:spPr>
          <a:xfrm>
            <a:off x="131673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33" name="T334">
            <a:extLst>
              <a:ext uri="{FF2B5EF4-FFF2-40B4-BE49-F238E27FC236}">
                <a16:creationId xmlns:a16="http://schemas.microsoft.com/office/drawing/2014/main" id="{A8ACF536-45DE-439B-92D2-E1360A4AF34B}"/>
              </a:ext>
            </a:extLst>
          </p:cNvPr>
          <p:cNvSpPr>
            <a:spLocks noGrp="1"/>
          </p:cNvSpPr>
          <p:nvPr/>
        </p:nvSpPr>
        <p:spPr>
          <a:xfrm>
            <a:off x="329184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35" name="S336">
            <a:extLst>
              <a:ext uri="{FF2B5EF4-FFF2-40B4-BE49-F238E27FC236}">
                <a16:creationId xmlns:a16="http://schemas.microsoft.com/office/drawing/2014/main" id="{C2E4736B-0D7E-4317-8805-2A75A8D43488}"/>
              </a:ext>
            </a:extLst>
          </p:cNvPr>
          <p:cNvSpPr>
            <a:spLocks noGrp="1"/>
          </p:cNvSpPr>
          <p:nvPr/>
        </p:nvSpPr>
        <p:spPr>
          <a:xfrm>
            <a:off x="379476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37" name="T338">
            <a:extLst>
              <a:ext uri="{FF2B5EF4-FFF2-40B4-BE49-F238E27FC236}">
                <a16:creationId xmlns:a16="http://schemas.microsoft.com/office/drawing/2014/main" id="{3DA9F6C6-5F98-45A6-A9E5-32232C58FDEA}"/>
              </a:ext>
            </a:extLst>
          </p:cNvPr>
          <p:cNvSpPr>
            <a:spLocks noGrp="1"/>
          </p:cNvSpPr>
          <p:nvPr/>
        </p:nvSpPr>
        <p:spPr>
          <a:xfrm>
            <a:off x="392277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서류 제출 현황</a:t>
            </a:r>
          </a:p>
        </p:txBody>
      </p:sp>
      <p:sp>
        <p:nvSpPr>
          <p:cNvPr id="339" name="T340">
            <a:extLst>
              <a:ext uri="{FF2B5EF4-FFF2-40B4-BE49-F238E27FC236}">
                <a16:creationId xmlns:a16="http://schemas.microsoft.com/office/drawing/2014/main" id="{196AF810-B2A5-4535-A643-525D156A79E8}"/>
              </a:ext>
            </a:extLst>
          </p:cNvPr>
          <p:cNvSpPr>
            <a:spLocks noGrp="1"/>
          </p:cNvSpPr>
          <p:nvPr/>
        </p:nvSpPr>
        <p:spPr>
          <a:xfrm>
            <a:off x="392277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SCR-COMP-001</a:t>
            </a:r>
          </a:p>
        </p:txBody>
      </p:sp>
      <p:sp>
        <p:nvSpPr>
          <p:cNvPr id="341" name="T342">
            <a:extLst>
              <a:ext uri="{FF2B5EF4-FFF2-40B4-BE49-F238E27FC236}">
                <a16:creationId xmlns:a16="http://schemas.microsoft.com/office/drawing/2014/main" id="{79A1E2A3-640E-4857-B325-751D912528B2}"/>
              </a:ext>
            </a:extLst>
          </p:cNvPr>
          <p:cNvSpPr>
            <a:spLocks noGrp="1"/>
          </p:cNvSpPr>
          <p:nvPr/>
        </p:nvSpPr>
        <p:spPr>
          <a:xfrm>
            <a:off x="589788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43" name="S344">
            <a:extLst>
              <a:ext uri="{FF2B5EF4-FFF2-40B4-BE49-F238E27FC236}">
                <a16:creationId xmlns:a16="http://schemas.microsoft.com/office/drawing/2014/main" id="{97B94F4B-891F-4E4B-86A8-531CE2BA491B}"/>
              </a:ext>
            </a:extLst>
          </p:cNvPr>
          <p:cNvSpPr>
            <a:spLocks noGrp="1"/>
          </p:cNvSpPr>
          <p:nvPr/>
        </p:nvSpPr>
        <p:spPr>
          <a:xfrm>
            <a:off x="640080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45" name="T346">
            <a:extLst>
              <a:ext uri="{FF2B5EF4-FFF2-40B4-BE49-F238E27FC236}">
                <a16:creationId xmlns:a16="http://schemas.microsoft.com/office/drawing/2014/main" id="{CA579070-B883-45C4-B22B-20F470521C8E}"/>
              </a:ext>
            </a:extLst>
          </p:cNvPr>
          <p:cNvSpPr>
            <a:spLocks noGrp="1"/>
          </p:cNvSpPr>
          <p:nvPr/>
        </p:nvSpPr>
        <p:spPr>
          <a:xfrm>
            <a:off x="652881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사전검증 결과</a:t>
            </a:r>
          </a:p>
        </p:txBody>
      </p:sp>
      <p:sp>
        <p:nvSpPr>
          <p:cNvPr id="347" name="T348">
            <a:extLst>
              <a:ext uri="{FF2B5EF4-FFF2-40B4-BE49-F238E27FC236}">
                <a16:creationId xmlns:a16="http://schemas.microsoft.com/office/drawing/2014/main" id="{352D2468-DC0A-496D-BC0C-D335B1FDA921}"/>
              </a:ext>
            </a:extLst>
          </p:cNvPr>
          <p:cNvSpPr>
            <a:spLocks noGrp="1"/>
          </p:cNvSpPr>
          <p:nvPr/>
        </p:nvSpPr>
        <p:spPr>
          <a:xfrm>
            <a:off x="652881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SCR-COMP-002</a:t>
            </a:r>
          </a:p>
        </p:txBody>
      </p:sp>
      <p:sp>
        <p:nvSpPr>
          <p:cNvPr id="349" name="S350">
            <a:extLst>
              <a:ext uri="{FF2B5EF4-FFF2-40B4-BE49-F238E27FC236}">
                <a16:creationId xmlns:a16="http://schemas.microsoft.com/office/drawing/2014/main" id="{860E79A7-E731-44AA-AD3A-0BA323AD4995}"/>
              </a:ext>
            </a:extLst>
          </p:cNvPr>
          <p:cNvSpPr>
            <a:spLocks noGrp="1"/>
          </p:cNvSpPr>
          <p:nvPr/>
        </p:nvSpPr>
        <p:spPr>
          <a:xfrm>
            <a:off x="7442302" y="4709160"/>
            <a:ext cx="20117" cy="777240"/>
          </a:xfrm>
          <a:prstGeom prst="rect">
            <a:avLst/>
          </a:prstGeom>
          <a:solidFill>
            <a:srgbClr val="EA002C"/>
          </a:solidFill>
        </p:spPr>
        <p:txBody>
          <a:bodyPr/>
          <a:lstStyle/>
          <a:p>
            <a:endParaRPr/>
          </a:p>
        </p:txBody>
      </p:sp>
      <p:sp>
        <p:nvSpPr>
          <p:cNvPr id="351" name="S352">
            <a:extLst>
              <a:ext uri="{FF2B5EF4-FFF2-40B4-BE49-F238E27FC236}">
                <a16:creationId xmlns:a16="http://schemas.microsoft.com/office/drawing/2014/main" id="{B238FCC6-CE41-4182-A335-7B107EFC4CC5}"/>
              </a:ext>
            </a:extLst>
          </p:cNvPr>
          <p:cNvSpPr>
            <a:spLocks noGrp="1"/>
          </p:cNvSpPr>
          <p:nvPr/>
        </p:nvSpPr>
        <p:spPr>
          <a:xfrm>
            <a:off x="4846320" y="5476342"/>
            <a:ext cx="2606040" cy="20117"/>
          </a:xfrm>
          <a:prstGeom prst="rect">
            <a:avLst/>
          </a:prstGeom>
          <a:solidFill>
            <a:srgbClr val="EA002C"/>
          </a:solidFill>
        </p:spPr>
        <p:txBody>
          <a:bodyPr/>
          <a:lstStyle/>
          <a:p>
            <a:endParaRPr/>
          </a:p>
        </p:txBody>
      </p:sp>
      <p:sp>
        <p:nvSpPr>
          <p:cNvPr id="353" name="T354">
            <a:extLst>
              <a:ext uri="{FF2B5EF4-FFF2-40B4-BE49-F238E27FC236}">
                <a16:creationId xmlns:a16="http://schemas.microsoft.com/office/drawing/2014/main" id="{18DDAA6A-C0F4-4592-9471-D4726BB472B3}"/>
              </a:ext>
            </a:extLst>
          </p:cNvPr>
          <p:cNvSpPr>
            <a:spLocks noGrp="1"/>
          </p:cNvSpPr>
          <p:nvPr/>
        </p:nvSpPr>
        <p:spPr>
          <a:xfrm>
            <a:off x="1188720" y="4974336"/>
            <a:ext cx="2103120" cy="384048"/>
          </a:xfrm>
          <a:prstGeom prst="rect">
            <a:avLst/>
          </a:prstGeom>
        </p:spPr>
        <p:txBody>
          <a:bodyPr wrap="square" lIns="0" tIns="0" rIns="0" bIns="0" anchor="t"/>
          <a:lstStyle/>
          <a:p>
            <a:pPr algn="ctr">
              <a:lnSpc>
                <a:spcPct val="135000"/>
              </a:lnSpc>
              <a:spcAft>
                <a:spcPts val="0"/>
              </a:spcAft>
              <a:buNone/>
            </a:pPr>
            <a:r>
              <a:rPr sz="1400">
                <a:solidFill>
                  <a:srgbClr val="6E6A63"/>
                </a:solidFill>
                <a:latin typeface="Pretendard Medium"/>
                <a:ea typeface="Pretendard Medium"/>
                <a:cs typeface="Pretendard Medium"/>
              </a:rPr>
              <a:t>[ 제출 결과 ]</a:t>
            </a:r>
          </a:p>
        </p:txBody>
      </p:sp>
      <p:cxnSp>
        <p:nvCxnSpPr>
          <p:cNvPr id="548" name="C356"/>
          <p:cNvCxnSpPr/>
          <p:nvPr/>
        </p:nvCxnSpPr>
        <p:spPr>
          <a:xfrm>
            <a:off x="4851862" y="5476342"/>
            <a:ext cx="0" cy="769010"/>
          </a:xfrm>
          <a:prstGeom prst="straightConnector1">
            <a:avLst/>
          </a:prstGeom>
          <a:ln w="20320">
            <a:solidFill>
              <a:srgbClr val="EA002C"/>
            </a:solidFill>
            <a:tailEnd type="triangle" w="med" len="med"/>
          </a:ln>
        </p:spPr>
      </p:cxnSp>
      <p:sp>
        <p:nvSpPr>
          <p:cNvPr id="357" name="S358">
            <a:extLst>
              <a:ext uri="{FF2B5EF4-FFF2-40B4-BE49-F238E27FC236}">
                <a16:creationId xmlns:a16="http://schemas.microsoft.com/office/drawing/2014/main" id="{CE2BDAA2-CB58-481E-B80E-86B763495E14}"/>
              </a:ext>
            </a:extLst>
          </p:cNvPr>
          <p:cNvSpPr>
            <a:spLocks noGrp="1"/>
          </p:cNvSpPr>
          <p:nvPr/>
        </p:nvSpPr>
        <p:spPr>
          <a:xfrm>
            <a:off x="379476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59" name="T360">
            <a:extLst>
              <a:ext uri="{FF2B5EF4-FFF2-40B4-BE49-F238E27FC236}">
                <a16:creationId xmlns:a16="http://schemas.microsoft.com/office/drawing/2014/main" id="{56BCBCE9-236C-407E-BF71-29A9AD6F6171}"/>
              </a:ext>
            </a:extLst>
          </p:cNvPr>
          <p:cNvSpPr>
            <a:spLocks noGrp="1"/>
          </p:cNvSpPr>
          <p:nvPr/>
        </p:nvSpPr>
        <p:spPr>
          <a:xfrm>
            <a:off x="392277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최종 제출</a:t>
            </a:r>
          </a:p>
        </p:txBody>
      </p:sp>
      <p:sp>
        <p:nvSpPr>
          <p:cNvPr id="361" name="T362">
            <a:extLst>
              <a:ext uri="{FF2B5EF4-FFF2-40B4-BE49-F238E27FC236}">
                <a16:creationId xmlns:a16="http://schemas.microsoft.com/office/drawing/2014/main" id="{BD49641C-7B14-40FE-B98F-93DD981FA63F}"/>
              </a:ext>
            </a:extLst>
          </p:cNvPr>
          <p:cNvSpPr>
            <a:spLocks noGrp="1"/>
          </p:cNvSpPr>
          <p:nvPr/>
        </p:nvSpPr>
        <p:spPr>
          <a:xfrm>
            <a:off x="392277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REVIEW_PENDING</a:t>
            </a:r>
          </a:p>
        </p:txBody>
      </p:sp>
      <p:cxnSp>
        <p:nvCxnSpPr>
          <p:cNvPr id="552" name="C364"/>
          <p:cNvCxnSpPr>
            <a:endCxn id="365" idx="0"/>
          </p:cNvCxnSpPr>
          <p:nvPr/>
        </p:nvCxnSpPr>
        <p:spPr>
          <a:xfrm>
            <a:off x="7452360" y="5486400"/>
            <a:ext cx="0" cy="777240"/>
          </a:xfrm>
          <a:prstGeom prst="straightConnector1">
            <a:avLst/>
          </a:prstGeom>
          <a:ln w="20320">
            <a:solidFill>
              <a:srgbClr val="EA002C"/>
            </a:solidFill>
            <a:tailEnd type="triangle" w="med" len="med"/>
          </a:ln>
        </p:spPr>
      </p:cxnSp>
      <p:sp>
        <p:nvSpPr>
          <p:cNvPr id="365" name="S366">
            <a:extLst>
              <a:ext uri="{FF2B5EF4-FFF2-40B4-BE49-F238E27FC236}">
                <a16:creationId xmlns:a16="http://schemas.microsoft.com/office/drawing/2014/main" id="{DDE46E99-D086-4745-BD35-53C2BD834983}"/>
              </a:ext>
            </a:extLst>
          </p:cNvPr>
          <p:cNvSpPr>
            <a:spLocks noGrp="1"/>
          </p:cNvSpPr>
          <p:nvPr/>
        </p:nvSpPr>
        <p:spPr>
          <a:xfrm>
            <a:off x="640080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67" name="T368">
            <a:extLst>
              <a:ext uri="{FF2B5EF4-FFF2-40B4-BE49-F238E27FC236}">
                <a16:creationId xmlns:a16="http://schemas.microsoft.com/office/drawing/2014/main" id="{F0718D33-0100-4494-BA44-D1E5859DEC5C}"/>
              </a:ext>
            </a:extLst>
          </p:cNvPr>
          <p:cNvSpPr>
            <a:spLocks noGrp="1"/>
          </p:cNvSpPr>
          <p:nvPr/>
        </p:nvSpPr>
        <p:spPr>
          <a:xfrm>
            <a:off x="652881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보완 재제출</a:t>
            </a:r>
          </a:p>
        </p:txBody>
      </p:sp>
      <p:sp>
        <p:nvSpPr>
          <p:cNvPr id="369" name="T370">
            <a:extLst>
              <a:ext uri="{FF2B5EF4-FFF2-40B4-BE49-F238E27FC236}">
                <a16:creationId xmlns:a16="http://schemas.microsoft.com/office/drawing/2014/main" id="{F7F5FDFC-1F2B-4332-B846-0D2EA0BB96E2}"/>
              </a:ext>
            </a:extLst>
          </p:cNvPr>
          <p:cNvSpPr>
            <a:spLocks noGrp="1"/>
          </p:cNvSpPr>
          <p:nvPr/>
        </p:nvSpPr>
        <p:spPr>
          <a:xfrm>
            <a:off x="652881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RESUBMITTED</a:t>
            </a:r>
          </a:p>
        </p:txBody>
      </p:sp>
      <p:sp>
        <p:nvSpPr>
          <p:cNvPr id="371" name="S372">
            <a:extLst>
              <a:ext uri="{FF2B5EF4-FFF2-40B4-BE49-F238E27FC236}">
                <a16:creationId xmlns:a16="http://schemas.microsoft.com/office/drawing/2014/main" id="{C9B515FF-068B-4CEC-8DE6-230A270682D5}"/>
              </a:ext>
            </a:extLst>
          </p:cNvPr>
          <p:cNvSpPr>
            <a:spLocks noGrp="1"/>
          </p:cNvSpPr>
          <p:nvPr/>
        </p:nvSpPr>
        <p:spPr>
          <a:xfrm>
            <a:off x="9509760" y="1874520"/>
            <a:ext cx="7863840" cy="6400800"/>
          </a:xfrm>
          <a:prstGeom prst="roundRect">
            <a:avLst>
              <a:gd name="adj" fmla="val 2500"/>
            </a:avLst>
          </a:prstGeom>
          <a:solidFill>
            <a:srgbClr val="FFFFFF"/>
          </a:solidFill>
          <a:ln w="15875">
            <a:solidFill>
              <a:srgbClr val="E5E0D6"/>
            </a:solidFill>
          </a:ln>
        </p:spPr>
        <p:txBody>
          <a:bodyPr/>
          <a:lstStyle/>
          <a:p>
            <a:endParaRPr/>
          </a:p>
        </p:txBody>
      </p:sp>
      <p:sp>
        <p:nvSpPr>
          <p:cNvPr id="373" name="S374">
            <a:extLst>
              <a:ext uri="{FF2B5EF4-FFF2-40B4-BE49-F238E27FC236}">
                <a16:creationId xmlns:a16="http://schemas.microsoft.com/office/drawing/2014/main" id="{49EA2DFB-0A14-4941-A212-349851B1F404}"/>
              </a:ext>
            </a:extLst>
          </p:cNvPr>
          <p:cNvSpPr>
            <a:spLocks noGrp="1"/>
          </p:cNvSpPr>
          <p:nvPr/>
        </p:nvSpPr>
        <p:spPr>
          <a:xfrm>
            <a:off x="9509760" y="1874520"/>
            <a:ext cx="7863840" cy="658368"/>
          </a:xfrm>
          <a:prstGeom prst="roundRect">
            <a:avLst>
              <a:gd name="adj" fmla="val 2500"/>
            </a:avLst>
          </a:prstGeom>
          <a:solidFill>
            <a:srgbClr val="F47725"/>
          </a:solidFill>
        </p:spPr>
        <p:txBody>
          <a:bodyPr/>
          <a:lstStyle/>
          <a:p>
            <a:endParaRPr/>
          </a:p>
        </p:txBody>
      </p:sp>
      <p:sp>
        <p:nvSpPr>
          <p:cNvPr id="375" name="T376">
            <a:extLst>
              <a:ext uri="{FF2B5EF4-FFF2-40B4-BE49-F238E27FC236}">
                <a16:creationId xmlns:a16="http://schemas.microsoft.com/office/drawing/2014/main" id="{0C334A7A-6C46-4C73-A6B1-6575392BF29B}"/>
              </a:ext>
            </a:extLst>
          </p:cNvPr>
          <p:cNvSpPr>
            <a:spLocks noGrp="1"/>
          </p:cNvSpPr>
          <p:nvPr/>
        </p:nvSpPr>
        <p:spPr>
          <a:xfrm>
            <a:off x="9966960" y="1874520"/>
            <a:ext cx="6949440" cy="658368"/>
          </a:xfrm>
          <a:prstGeom prst="rect">
            <a:avLst/>
          </a:prstGeom>
        </p:spPr>
        <p:txBody>
          <a:bodyPr wrap="square" lIns="0" tIns="0" rIns="0" bIns="0" anchor="ctr"/>
          <a:lstStyle/>
          <a:p>
            <a:pPr algn="l">
              <a:lnSpc>
                <a:spcPct val="135000"/>
              </a:lnSpc>
              <a:spcAft>
                <a:spcPts val="0"/>
              </a:spcAft>
              <a:buNone/>
            </a:pPr>
            <a:r>
              <a:rPr sz="2100">
                <a:solidFill>
                  <a:srgbClr val="FFFFFF"/>
                </a:solidFill>
                <a:latin typeface="Pretendard SemiBold"/>
                <a:ea typeface="Pretendard SemiBold"/>
                <a:cs typeface="Pretendard SemiBold"/>
              </a:rPr>
              <a:t>2. 은행 기업금융 담당자</a:t>
            </a:r>
          </a:p>
        </p:txBody>
      </p:sp>
      <p:sp>
        <p:nvSpPr>
          <p:cNvPr id="377" name="S378">
            <a:extLst>
              <a:ext uri="{FF2B5EF4-FFF2-40B4-BE49-F238E27FC236}">
                <a16:creationId xmlns:a16="http://schemas.microsoft.com/office/drawing/2014/main" id="{1BC1CD9E-B496-40E9-B796-EF44D1EF375D}"/>
              </a:ext>
            </a:extLst>
          </p:cNvPr>
          <p:cNvSpPr>
            <a:spLocks noGrp="1"/>
          </p:cNvSpPr>
          <p:nvPr/>
        </p:nvSpPr>
        <p:spPr>
          <a:xfrm>
            <a:off x="9784080" y="3291840"/>
            <a:ext cx="2103120" cy="1417320"/>
          </a:xfrm>
          <a:prstGeom prst="roundRect">
            <a:avLst>
              <a:gd name="adj" fmla="val 4000"/>
            </a:avLst>
          </a:prstGeom>
          <a:solidFill>
            <a:srgbClr val="FFF1F3"/>
          </a:solidFill>
          <a:ln w="15875">
            <a:solidFill>
              <a:srgbClr val="EA002C"/>
            </a:solidFill>
          </a:ln>
        </p:spPr>
        <p:txBody>
          <a:bodyPr/>
          <a:lstStyle/>
          <a:p>
            <a:endParaRPr/>
          </a:p>
        </p:txBody>
      </p:sp>
      <p:sp>
        <p:nvSpPr>
          <p:cNvPr id="379" name="T380">
            <a:extLst>
              <a:ext uri="{FF2B5EF4-FFF2-40B4-BE49-F238E27FC236}">
                <a16:creationId xmlns:a16="http://schemas.microsoft.com/office/drawing/2014/main" id="{8966DF35-E648-45E5-9325-84447AACA62B}"/>
              </a:ext>
            </a:extLst>
          </p:cNvPr>
          <p:cNvSpPr>
            <a:spLocks noGrp="1"/>
          </p:cNvSpPr>
          <p:nvPr/>
        </p:nvSpPr>
        <p:spPr>
          <a:xfrm>
            <a:off x="991209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EA002C"/>
                </a:solidFill>
                <a:latin typeface="Pretendard SemiBold"/>
                <a:ea typeface="Pretendard SemiBold"/>
                <a:cs typeface="Pretendard SemiBold"/>
              </a:rPr>
              <a:t>로그인</a:t>
            </a:r>
          </a:p>
        </p:txBody>
      </p:sp>
      <p:sp>
        <p:nvSpPr>
          <p:cNvPr id="381" name="T382">
            <a:extLst>
              <a:ext uri="{FF2B5EF4-FFF2-40B4-BE49-F238E27FC236}">
                <a16:creationId xmlns:a16="http://schemas.microsoft.com/office/drawing/2014/main" id="{BE05AE53-1677-4624-92EF-527B17491889}"/>
              </a:ext>
            </a:extLst>
          </p:cNvPr>
          <p:cNvSpPr>
            <a:spLocks noGrp="1"/>
          </p:cNvSpPr>
          <p:nvPr/>
        </p:nvSpPr>
        <p:spPr>
          <a:xfrm>
            <a:off x="991209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SCR-AUTH-001</a:t>
            </a:r>
          </a:p>
        </p:txBody>
      </p:sp>
      <p:sp>
        <p:nvSpPr>
          <p:cNvPr id="383" name="T384">
            <a:extLst>
              <a:ext uri="{FF2B5EF4-FFF2-40B4-BE49-F238E27FC236}">
                <a16:creationId xmlns:a16="http://schemas.microsoft.com/office/drawing/2014/main" id="{C525F711-1A3B-43C0-9F47-77798A02A035}"/>
              </a:ext>
            </a:extLst>
          </p:cNvPr>
          <p:cNvSpPr>
            <a:spLocks noGrp="1"/>
          </p:cNvSpPr>
          <p:nvPr/>
        </p:nvSpPr>
        <p:spPr>
          <a:xfrm>
            <a:off x="1188720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85" name="S386">
            <a:extLst>
              <a:ext uri="{FF2B5EF4-FFF2-40B4-BE49-F238E27FC236}">
                <a16:creationId xmlns:a16="http://schemas.microsoft.com/office/drawing/2014/main" id="{B189AD61-1845-41A7-B3BC-972EB35BFF90}"/>
              </a:ext>
            </a:extLst>
          </p:cNvPr>
          <p:cNvSpPr>
            <a:spLocks noGrp="1"/>
          </p:cNvSpPr>
          <p:nvPr/>
        </p:nvSpPr>
        <p:spPr>
          <a:xfrm>
            <a:off x="1239012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87" name="T388">
            <a:extLst>
              <a:ext uri="{FF2B5EF4-FFF2-40B4-BE49-F238E27FC236}">
                <a16:creationId xmlns:a16="http://schemas.microsoft.com/office/drawing/2014/main" id="{D2C0B229-6169-4718-867C-F1601BC971BC}"/>
              </a:ext>
            </a:extLst>
          </p:cNvPr>
          <p:cNvSpPr>
            <a:spLocks noGrp="1"/>
          </p:cNvSpPr>
          <p:nvPr/>
        </p:nvSpPr>
        <p:spPr>
          <a:xfrm>
            <a:off x="1251813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검토 목록</a:t>
            </a:r>
          </a:p>
        </p:txBody>
      </p:sp>
      <p:sp>
        <p:nvSpPr>
          <p:cNvPr id="389" name="T390">
            <a:extLst>
              <a:ext uri="{FF2B5EF4-FFF2-40B4-BE49-F238E27FC236}">
                <a16:creationId xmlns:a16="http://schemas.microsoft.com/office/drawing/2014/main" id="{8E067F21-0F70-4530-A04D-C90F6E178ADC}"/>
              </a:ext>
            </a:extLst>
          </p:cNvPr>
          <p:cNvSpPr>
            <a:spLocks noGrp="1"/>
          </p:cNvSpPr>
          <p:nvPr/>
        </p:nvSpPr>
        <p:spPr>
          <a:xfrm>
            <a:off x="1251813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SCR-REV-001</a:t>
            </a:r>
          </a:p>
        </p:txBody>
      </p:sp>
      <p:sp>
        <p:nvSpPr>
          <p:cNvPr id="391" name="T392">
            <a:extLst>
              <a:ext uri="{FF2B5EF4-FFF2-40B4-BE49-F238E27FC236}">
                <a16:creationId xmlns:a16="http://schemas.microsoft.com/office/drawing/2014/main" id="{07CAF3C9-E32D-498B-9223-933E82E30A17}"/>
              </a:ext>
            </a:extLst>
          </p:cNvPr>
          <p:cNvSpPr>
            <a:spLocks noGrp="1"/>
          </p:cNvSpPr>
          <p:nvPr/>
        </p:nvSpPr>
        <p:spPr>
          <a:xfrm>
            <a:off x="14493240" y="3799332"/>
            <a:ext cx="502920" cy="411480"/>
          </a:xfrm>
          <a:prstGeom prst="rect">
            <a:avLst/>
          </a:prstGeom>
        </p:spPr>
        <p:txBody>
          <a:bodyPr wrap="square" lIns="0" tIns="0" rIns="0" bIns="0" anchor="t"/>
          <a:lstStyle/>
          <a:p>
            <a:pPr algn="ctr">
              <a:lnSpc>
                <a:spcPct val="135000"/>
              </a:lnSpc>
              <a:spcAft>
                <a:spcPts val="0"/>
              </a:spcAft>
              <a:buNone/>
            </a:pPr>
            <a:r>
              <a:rPr sz="1800">
                <a:solidFill>
                  <a:srgbClr val="F47725"/>
                </a:solidFill>
                <a:latin typeface="Pretendard SemiBold"/>
                <a:ea typeface="Pretendard SemiBold"/>
                <a:cs typeface="Pretendard SemiBold"/>
              </a:rPr>
              <a:t>→</a:t>
            </a:r>
          </a:p>
        </p:txBody>
      </p:sp>
      <p:sp>
        <p:nvSpPr>
          <p:cNvPr id="393" name="S394">
            <a:extLst>
              <a:ext uri="{FF2B5EF4-FFF2-40B4-BE49-F238E27FC236}">
                <a16:creationId xmlns:a16="http://schemas.microsoft.com/office/drawing/2014/main" id="{40FC71D1-D92C-4561-952A-2E73ABA211AA}"/>
              </a:ext>
            </a:extLst>
          </p:cNvPr>
          <p:cNvSpPr>
            <a:spLocks noGrp="1"/>
          </p:cNvSpPr>
          <p:nvPr/>
        </p:nvSpPr>
        <p:spPr>
          <a:xfrm>
            <a:off x="14996160" y="32918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395" name="T396">
            <a:extLst>
              <a:ext uri="{FF2B5EF4-FFF2-40B4-BE49-F238E27FC236}">
                <a16:creationId xmlns:a16="http://schemas.microsoft.com/office/drawing/2014/main" id="{3F73FCDB-EA44-4596-AF14-201BEB00670F}"/>
              </a:ext>
            </a:extLst>
          </p:cNvPr>
          <p:cNvSpPr>
            <a:spLocks noGrp="1"/>
          </p:cNvSpPr>
          <p:nvPr/>
        </p:nvSpPr>
        <p:spPr>
          <a:xfrm>
            <a:off x="15124176" y="35661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상세 검토</a:t>
            </a:r>
          </a:p>
        </p:txBody>
      </p:sp>
      <p:sp>
        <p:nvSpPr>
          <p:cNvPr id="397" name="T398">
            <a:extLst>
              <a:ext uri="{FF2B5EF4-FFF2-40B4-BE49-F238E27FC236}">
                <a16:creationId xmlns:a16="http://schemas.microsoft.com/office/drawing/2014/main" id="{5B9CCA86-E72D-4A52-BB75-51E4409B56DD}"/>
              </a:ext>
            </a:extLst>
          </p:cNvPr>
          <p:cNvSpPr>
            <a:spLocks noGrp="1"/>
          </p:cNvSpPr>
          <p:nvPr/>
        </p:nvSpPr>
        <p:spPr>
          <a:xfrm>
            <a:off x="15124176" y="41330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SCR-REV-002</a:t>
            </a:r>
          </a:p>
        </p:txBody>
      </p:sp>
      <p:sp>
        <p:nvSpPr>
          <p:cNvPr id="399" name="S400">
            <a:extLst>
              <a:ext uri="{FF2B5EF4-FFF2-40B4-BE49-F238E27FC236}">
                <a16:creationId xmlns:a16="http://schemas.microsoft.com/office/drawing/2014/main" id="{820281B9-7F67-4185-8EBF-45747CC4411D}"/>
              </a:ext>
            </a:extLst>
          </p:cNvPr>
          <p:cNvSpPr>
            <a:spLocks noGrp="1"/>
          </p:cNvSpPr>
          <p:nvPr/>
        </p:nvSpPr>
        <p:spPr>
          <a:xfrm>
            <a:off x="16037662" y="4709160"/>
            <a:ext cx="20117" cy="777240"/>
          </a:xfrm>
          <a:prstGeom prst="rect">
            <a:avLst/>
          </a:prstGeom>
          <a:solidFill>
            <a:srgbClr val="F47725"/>
          </a:solidFill>
        </p:spPr>
        <p:txBody>
          <a:bodyPr/>
          <a:lstStyle/>
          <a:p>
            <a:endParaRPr/>
          </a:p>
        </p:txBody>
      </p:sp>
      <p:sp>
        <p:nvSpPr>
          <p:cNvPr id="401" name="S402">
            <a:extLst>
              <a:ext uri="{FF2B5EF4-FFF2-40B4-BE49-F238E27FC236}">
                <a16:creationId xmlns:a16="http://schemas.microsoft.com/office/drawing/2014/main" id="{37A24177-8713-4304-8887-51A87CDB27D2}"/>
              </a:ext>
            </a:extLst>
          </p:cNvPr>
          <p:cNvSpPr>
            <a:spLocks noGrp="1"/>
          </p:cNvSpPr>
          <p:nvPr/>
        </p:nvSpPr>
        <p:spPr>
          <a:xfrm>
            <a:off x="13441680" y="5476342"/>
            <a:ext cx="2606040" cy="20117"/>
          </a:xfrm>
          <a:prstGeom prst="rect">
            <a:avLst/>
          </a:prstGeom>
          <a:solidFill>
            <a:srgbClr val="F47725"/>
          </a:solidFill>
        </p:spPr>
        <p:txBody>
          <a:bodyPr/>
          <a:lstStyle/>
          <a:p>
            <a:endParaRPr/>
          </a:p>
        </p:txBody>
      </p:sp>
      <p:sp>
        <p:nvSpPr>
          <p:cNvPr id="403" name="T404">
            <a:extLst>
              <a:ext uri="{FF2B5EF4-FFF2-40B4-BE49-F238E27FC236}">
                <a16:creationId xmlns:a16="http://schemas.microsoft.com/office/drawing/2014/main" id="{D7EA8243-A5A9-4AB6-B01A-BE350E03632D}"/>
              </a:ext>
            </a:extLst>
          </p:cNvPr>
          <p:cNvSpPr>
            <a:spLocks noGrp="1"/>
          </p:cNvSpPr>
          <p:nvPr/>
        </p:nvSpPr>
        <p:spPr>
          <a:xfrm>
            <a:off x="9784080" y="4974336"/>
            <a:ext cx="2103120" cy="384048"/>
          </a:xfrm>
          <a:prstGeom prst="rect">
            <a:avLst/>
          </a:prstGeom>
        </p:spPr>
        <p:txBody>
          <a:bodyPr wrap="square" lIns="0" tIns="0" rIns="0" bIns="0" anchor="t"/>
          <a:lstStyle/>
          <a:p>
            <a:pPr algn="ctr">
              <a:lnSpc>
                <a:spcPct val="135000"/>
              </a:lnSpc>
              <a:spcAft>
                <a:spcPts val="0"/>
              </a:spcAft>
              <a:buNone/>
            </a:pPr>
            <a:r>
              <a:rPr sz="1400">
                <a:solidFill>
                  <a:srgbClr val="6E6A63"/>
                </a:solidFill>
                <a:latin typeface="Pretendard Medium"/>
                <a:ea typeface="Pretendard Medium"/>
                <a:cs typeface="Pretendard Medium"/>
              </a:rPr>
              <a:t>[ 검토 결정 ]</a:t>
            </a:r>
          </a:p>
        </p:txBody>
      </p:sp>
      <p:cxnSp>
        <p:nvCxnSpPr>
          <p:cNvPr id="573" name="C406"/>
          <p:cNvCxnSpPr/>
          <p:nvPr/>
        </p:nvCxnSpPr>
        <p:spPr>
          <a:xfrm>
            <a:off x="13443074" y="5476342"/>
            <a:ext cx="0" cy="769010"/>
          </a:xfrm>
          <a:prstGeom prst="straightConnector1">
            <a:avLst/>
          </a:prstGeom>
          <a:ln w="20320">
            <a:solidFill>
              <a:srgbClr val="F47725"/>
            </a:solidFill>
            <a:tailEnd type="triangle" w="med" len="med"/>
          </a:ln>
        </p:spPr>
      </p:cxnSp>
      <p:sp>
        <p:nvSpPr>
          <p:cNvPr id="407" name="S408">
            <a:extLst>
              <a:ext uri="{FF2B5EF4-FFF2-40B4-BE49-F238E27FC236}">
                <a16:creationId xmlns:a16="http://schemas.microsoft.com/office/drawing/2014/main" id="{298C938C-D563-4325-92A5-282C6B5CAEAD}"/>
              </a:ext>
            </a:extLst>
          </p:cNvPr>
          <p:cNvSpPr>
            <a:spLocks noGrp="1"/>
          </p:cNvSpPr>
          <p:nvPr/>
        </p:nvSpPr>
        <p:spPr>
          <a:xfrm>
            <a:off x="1239012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409" name="T410">
            <a:extLst>
              <a:ext uri="{FF2B5EF4-FFF2-40B4-BE49-F238E27FC236}">
                <a16:creationId xmlns:a16="http://schemas.microsoft.com/office/drawing/2014/main" id="{7BA1E492-0DCE-4376-9749-DB1A951EA0A0}"/>
              </a:ext>
            </a:extLst>
          </p:cNvPr>
          <p:cNvSpPr>
            <a:spLocks noGrp="1"/>
          </p:cNvSpPr>
          <p:nvPr/>
        </p:nvSpPr>
        <p:spPr>
          <a:xfrm>
            <a:off x="1251813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서류 확인 완료</a:t>
            </a:r>
          </a:p>
        </p:txBody>
      </p:sp>
      <p:sp>
        <p:nvSpPr>
          <p:cNvPr id="411" name="T412">
            <a:extLst>
              <a:ext uri="{FF2B5EF4-FFF2-40B4-BE49-F238E27FC236}">
                <a16:creationId xmlns:a16="http://schemas.microsoft.com/office/drawing/2014/main" id="{C97C3960-785B-41B6-B2C3-985FC5BD4D06}"/>
              </a:ext>
            </a:extLst>
          </p:cNvPr>
          <p:cNvSpPr>
            <a:spLocks noGrp="1"/>
          </p:cNvSpPr>
          <p:nvPr/>
        </p:nvSpPr>
        <p:spPr>
          <a:xfrm>
            <a:off x="1251813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DOCUMENTS_APPROVED</a:t>
            </a:r>
          </a:p>
        </p:txBody>
      </p:sp>
      <p:cxnSp>
        <p:nvCxnSpPr>
          <p:cNvPr id="577" name="C414"/>
          <p:cNvCxnSpPr/>
          <p:nvPr/>
        </p:nvCxnSpPr>
        <p:spPr>
          <a:xfrm flipH="1">
            <a:off x="16045239" y="5476342"/>
            <a:ext cx="915" cy="769010"/>
          </a:xfrm>
          <a:prstGeom prst="straightConnector1">
            <a:avLst/>
          </a:prstGeom>
          <a:ln w="20320">
            <a:solidFill>
              <a:srgbClr val="F47725"/>
            </a:solidFill>
            <a:tailEnd type="triangle" w="med" len="med"/>
          </a:ln>
        </p:spPr>
      </p:cxnSp>
      <p:sp>
        <p:nvSpPr>
          <p:cNvPr id="415" name="S416">
            <a:extLst>
              <a:ext uri="{FF2B5EF4-FFF2-40B4-BE49-F238E27FC236}">
                <a16:creationId xmlns:a16="http://schemas.microsoft.com/office/drawing/2014/main" id="{E1D286CF-0F09-4236-92C6-E725A960F24E}"/>
              </a:ext>
            </a:extLst>
          </p:cNvPr>
          <p:cNvSpPr>
            <a:spLocks noGrp="1"/>
          </p:cNvSpPr>
          <p:nvPr/>
        </p:nvSpPr>
        <p:spPr>
          <a:xfrm>
            <a:off x="14996160" y="6263640"/>
            <a:ext cx="2103120" cy="1417320"/>
          </a:xfrm>
          <a:prstGeom prst="roundRect">
            <a:avLst>
              <a:gd name="adj" fmla="val 4000"/>
            </a:avLst>
          </a:prstGeom>
          <a:solidFill>
            <a:srgbClr val="F3F0EA"/>
          </a:solidFill>
          <a:ln w="15875">
            <a:solidFill>
              <a:srgbClr val="E5E0D6"/>
            </a:solidFill>
          </a:ln>
        </p:spPr>
        <p:txBody>
          <a:bodyPr/>
          <a:lstStyle/>
          <a:p>
            <a:endParaRPr/>
          </a:p>
        </p:txBody>
      </p:sp>
      <p:sp>
        <p:nvSpPr>
          <p:cNvPr id="417" name="T418">
            <a:extLst>
              <a:ext uri="{FF2B5EF4-FFF2-40B4-BE49-F238E27FC236}">
                <a16:creationId xmlns:a16="http://schemas.microsoft.com/office/drawing/2014/main" id="{48057705-DE76-48F6-B397-F046449E319B}"/>
              </a:ext>
            </a:extLst>
          </p:cNvPr>
          <p:cNvSpPr>
            <a:spLocks noGrp="1"/>
          </p:cNvSpPr>
          <p:nvPr/>
        </p:nvSpPr>
        <p:spPr>
          <a:xfrm>
            <a:off x="15124176" y="6537960"/>
            <a:ext cx="1847088" cy="512064"/>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SemiBold"/>
                <a:ea typeface="Pretendard SemiBold"/>
                <a:cs typeface="Pretendard SemiBold"/>
              </a:rPr>
              <a:t>보완 요청</a:t>
            </a:r>
          </a:p>
        </p:txBody>
      </p:sp>
      <p:sp>
        <p:nvSpPr>
          <p:cNvPr id="419" name="T420">
            <a:extLst>
              <a:ext uri="{FF2B5EF4-FFF2-40B4-BE49-F238E27FC236}">
                <a16:creationId xmlns:a16="http://schemas.microsoft.com/office/drawing/2014/main" id="{46A15906-68D7-4466-8DE0-EF2D44D96A23}"/>
              </a:ext>
            </a:extLst>
          </p:cNvPr>
          <p:cNvSpPr>
            <a:spLocks noGrp="1"/>
          </p:cNvSpPr>
          <p:nvPr/>
        </p:nvSpPr>
        <p:spPr>
          <a:xfrm>
            <a:off x="15124176" y="7104888"/>
            <a:ext cx="1847088" cy="310896"/>
          </a:xfrm>
          <a:prstGeom prst="rect">
            <a:avLst/>
          </a:prstGeom>
        </p:spPr>
        <p:txBody>
          <a:bodyPr wrap="square" lIns="0" tIns="0" rIns="0" bIns="0" anchor="t"/>
          <a:lstStyle/>
          <a:p>
            <a:pPr algn="ctr">
              <a:lnSpc>
                <a:spcPct val="135000"/>
              </a:lnSpc>
              <a:spcAft>
                <a:spcPts val="0"/>
              </a:spcAft>
              <a:buNone/>
            </a:pPr>
            <a:r>
              <a:rPr sz="1200">
                <a:solidFill>
                  <a:srgbClr val="6E6A63"/>
                </a:solidFill>
                <a:latin typeface="Pretendard SemiBold"/>
                <a:ea typeface="Pretendard SemiBold"/>
                <a:cs typeface="Pretendard SemiBold"/>
              </a:rPr>
              <a:t>REVISION_REQUESTED</a:t>
            </a:r>
          </a:p>
        </p:txBody>
      </p:sp>
      <p:sp>
        <p:nvSpPr>
          <p:cNvPr id="421" name="T422">
            <a:extLst>
              <a:ext uri="{FF2B5EF4-FFF2-40B4-BE49-F238E27FC236}">
                <a16:creationId xmlns:a16="http://schemas.microsoft.com/office/drawing/2014/main" id="{BC22FE7F-CC55-4D4E-B26A-E87AD339430E}"/>
              </a:ext>
            </a:extLst>
          </p:cNvPr>
          <p:cNvSpPr>
            <a:spLocks noGrp="1"/>
          </p:cNvSpPr>
          <p:nvPr/>
        </p:nvSpPr>
        <p:spPr>
          <a:xfrm>
            <a:off x="914400" y="8673084"/>
            <a:ext cx="16459200" cy="822960"/>
          </a:xfrm>
          <a:prstGeom prst="rect">
            <a:avLst/>
          </a:prstGeom>
        </p:spPr>
        <p:txBody>
          <a:bodyPr wrap="square" lIns="0" tIns="0" rIns="0" bIns="0" anchor="ctr"/>
          <a:lstStyle/>
          <a:p>
            <a:pPr algn="ctr">
              <a:lnSpc>
                <a:spcPct val="150000"/>
              </a:lnSpc>
              <a:spcAft>
                <a:spcPts val="0"/>
              </a:spcAft>
              <a:buNone/>
            </a:pPr>
            <a:r>
              <a:rPr sz="1600">
                <a:solidFill>
                  <a:schemeClr val="bg1">
                    <a:lumMod val="50000"/>
                  </a:schemeClr>
                </a:solidFill>
                <a:latin typeface="Pretendard SemiBold"/>
                <a:ea typeface="Pretendard SemiBold"/>
                <a:cs typeface="Pretendard SemiBold"/>
              </a:rPr>
              <a:t>미해결 차단 오류가 있으면 최종 제출 요청에 422를 반환한다. 이미 처리된 신청 건을 다시 처리하면 409를 반환한다.</a:t>
            </a:r>
          </a:p>
          <a:p>
            <a:pPr algn="ctr">
              <a:lnSpc>
                <a:spcPct val="150000"/>
              </a:lnSpc>
              <a:spcAft>
                <a:spcPts val="0"/>
              </a:spcAft>
              <a:buNone/>
            </a:pPr>
            <a:r>
              <a:rPr sz="1600">
                <a:solidFill>
                  <a:schemeClr val="bg1">
                    <a:lumMod val="50000"/>
                  </a:schemeClr>
                </a:solidFill>
                <a:latin typeface="Pretendard Medium"/>
                <a:ea typeface="Pretendard Medium"/>
                <a:cs typeface="Pretendard Medium"/>
              </a:rPr>
              <a:t>보완 요청은 문서 한 건 단위로 등록한다. 재제출 시 기존 문서를 덮어쓰지 않고 유형별 버전을 증가시켜 이전본과 최신본을 함께 보존한다.</a:t>
            </a:r>
          </a:p>
        </p:txBody>
      </p:sp>
    </p:spTree>
    <p:extLst>
      <p:ext uri="{BB962C8B-B14F-4D97-AF65-F5344CB8AC3E}">
        <p14:creationId xmlns:p14="http://schemas.microsoft.com/office/powerpoint/2010/main" val="2129019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8A2BE425-823B-439A-A032-E9BA71BF98CE}"/>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36F9A14E-5F12-4777-972A-42CAE3562A79}"/>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F4D018DF-43BE-4863-9B44-3B1EA607789E}"/>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20736760-7935-4E16-A710-FBCED2D27B55}"/>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화면 목록 · 예외 정책</a:t>
            </a:r>
          </a:p>
        </p:txBody>
      </p:sp>
      <p:sp>
        <p:nvSpPr>
          <p:cNvPr id="7" name="Freeform 7">
            <a:extLst>
              <a:ext uri="{FF2B5EF4-FFF2-40B4-BE49-F238E27FC236}">
                <a16:creationId xmlns:a16="http://schemas.microsoft.com/office/drawing/2014/main" id="{A08AD021-DA72-4FA9-A782-F57EBC56BA13}"/>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
        <p:nvSpPr>
          <p:cNvPr id="423" name="S424">
            <a:extLst>
              <a:ext uri="{FF2B5EF4-FFF2-40B4-BE49-F238E27FC236}">
                <a16:creationId xmlns:a16="http://schemas.microsoft.com/office/drawing/2014/main" id="{1177E595-98A1-437D-87CF-AA512D1D13D3}"/>
              </a:ext>
            </a:extLst>
          </p:cNvPr>
          <p:cNvSpPr>
            <a:spLocks noGrp="1"/>
          </p:cNvSpPr>
          <p:nvPr/>
        </p:nvSpPr>
        <p:spPr>
          <a:xfrm>
            <a:off x="914400" y="1874520"/>
            <a:ext cx="3291840" cy="731520"/>
          </a:xfrm>
          <a:prstGeom prst="rect">
            <a:avLst/>
          </a:prstGeom>
          <a:solidFill>
            <a:srgbClr val="FBDCC8"/>
          </a:solidFill>
          <a:ln w="12700">
            <a:solidFill>
              <a:srgbClr val="E5E0D6"/>
            </a:solidFill>
          </a:ln>
        </p:spPr>
        <p:txBody>
          <a:bodyPr/>
          <a:lstStyle/>
          <a:p>
            <a:endParaRPr/>
          </a:p>
        </p:txBody>
      </p:sp>
      <p:sp>
        <p:nvSpPr>
          <p:cNvPr id="425" name="T426">
            <a:extLst>
              <a:ext uri="{FF2B5EF4-FFF2-40B4-BE49-F238E27FC236}">
                <a16:creationId xmlns:a16="http://schemas.microsoft.com/office/drawing/2014/main" id="{FB56249D-0B43-4308-8EDE-A6D1F18012D1}"/>
              </a:ext>
            </a:extLst>
          </p:cNvPr>
          <p:cNvSpPr>
            <a:spLocks noGrp="1"/>
          </p:cNvSpPr>
          <p:nvPr/>
        </p:nvSpPr>
        <p:spPr>
          <a:xfrm>
            <a:off x="1115568" y="1874520"/>
            <a:ext cx="288950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화면 ID</a:t>
            </a:r>
          </a:p>
        </p:txBody>
      </p:sp>
      <p:sp>
        <p:nvSpPr>
          <p:cNvPr id="427" name="S428">
            <a:extLst>
              <a:ext uri="{FF2B5EF4-FFF2-40B4-BE49-F238E27FC236}">
                <a16:creationId xmlns:a16="http://schemas.microsoft.com/office/drawing/2014/main" id="{0F36543F-9B7A-424C-939B-B360DD4DF69A}"/>
              </a:ext>
            </a:extLst>
          </p:cNvPr>
          <p:cNvSpPr>
            <a:spLocks noGrp="1"/>
          </p:cNvSpPr>
          <p:nvPr/>
        </p:nvSpPr>
        <p:spPr>
          <a:xfrm>
            <a:off x="4206240" y="1874520"/>
            <a:ext cx="5120640" cy="731520"/>
          </a:xfrm>
          <a:prstGeom prst="rect">
            <a:avLst/>
          </a:prstGeom>
          <a:solidFill>
            <a:srgbClr val="FBDCC8"/>
          </a:solidFill>
          <a:ln w="12700">
            <a:solidFill>
              <a:srgbClr val="E5E0D6"/>
            </a:solidFill>
          </a:ln>
        </p:spPr>
        <p:txBody>
          <a:bodyPr/>
          <a:lstStyle/>
          <a:p>
            <a:endParaRPr/>
          </a:p>
        </p:txBody>
      </p:sp>
      <p:sp>
        <p:nvSpPr>
          <p:cNvPr id="429" name="T430">
            <a:extLst>
              <a:ext uri="{FF2B5EF4-FFF2-40B4-BE49-F238E27FC236}">
                <a16:creationId xmlns:a16="http://schemas.microsoft.com/office/drawing/2014/main" id="{05D57556-6943-4452-9DB3-3E49A95D6E8A}"/>
              </a:ext>
            </a:extLst>
          </p:cNvPr>
          <p:cNvSpPr>
            <a:spLocks noGrp="1"/>
          </p:cNvSpPr>
          <p:nvPr/>
        </p:nvSpPr>
        <p:spPr>
          <a:xfrm>
            <a:off x="4407408" y="1874520"/>
            <a:ext cx="471830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화면명</a:t>
            </a:r>
          </a:p>
        </p:txBody>
      </p:sp>
      <p:sp>
        <p:nvSpPr>
          <p:cNvPr id="431" name="S432">
            <a:extLst>
              <a:ext uri="{FF2B5EF4-FFF2-40B4-BE49-F238E27FC236}">
                <a16:creationId xmlns:a16="http://schemas.microsoft.com/office/drawing/2014/main" id="{E5C27871-0B3F-4839-9CB9-3788CE39AA5C}"/>
              </a:ext>
            </a:extLst>
          </p:cNvPr>
          <p:cNvSpPr>
            <a:spLocks noGrp="1"/>
          </p:cNvSpPr>
          <p:nvPr/>
        </p:nvSpPr>
        <p:spPr>
          <a:xfrm>
            <a:off x="9326880" y="1874520"/>
            <a:ext cx="1737360" cy="731520"/>
          </a:xfrm>
          <a:prstGeom prst="rect">
            <a:avLst/>
          </a:prstGeom>
          <a:solidFill>
            <a:srgbClr val="FBDCC8"/>
          </a:solidFill>
          <a:ln w="12700">
            <a:solidFill>
              <a:srgbClr val="E5E0D6"/>
            </a:solidFill>
          </a:ln>
        </p:spPr>
        <p:txBody>
          <a:bodyPr/>
          <a:lstStyle/>
          <a:p>
            <a:endParaRPr/>
          </a:p>
        </p:txBody>
      </p:sp>
      <p:sp>
        <p:nvSpPr>
          <p:cNvPr id="433" name="T434">
            <a:extLst>
              <a:ext uri="{FF2B5EF4-FFF2-40B4-BE49-F238E27FC236}">
                <a16:creationId xmlns:a16="http://schemas.microsoft.com/office/drawing/2014/main" id="{783474D3-5520-4786-BE57-C9DB765D74BB}"/>
              </a:ext>
            </a:extLst>
          </p:cNvPr>
          <p:cNvSpPr>
            <a:spLocks noGrp="1"/>
          </p:cNvSpPr>
          <p:nvPr/>
        </p:nvSpPr>
        <p:spPr>
          <a:xfrm>
            <a:off x="9528048" y="1874520"/>
            <a:ext cx="133502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사용자</a:t>
            </a:r>
          </a:p>
        </p:txBody>
      </p:sp>
      <p:sp>
        <p:nvSpPr>
          <p:cNvPr id="435" name="S436">
            <a:extLst>
              <a:ext uri="{FF2B5EF4-FFF2-40B4-BE49-F238E27FC236}">
                <a16:creationId xmlns:a16="http://schemas.microsoft.com/office/drawing/2014/main" id="{5B202ECA-47D3-4BB0-95EF-1EA49BCC9D47}"/>
              </a:ext>
            </a:extLst>
          </p:cNvPr>
          <p:cNvSpPr>
            <a:spLocks noGrp="1"/>
          </p:cNvSpPr>
          <p:nvPr/>
        </p:nvSpPr>
        <p:spPr>
          <a:xfrm>
            <a:off x="11064240" y="1874520"/>
            <a:ext cx="6309360" cy="731520"/>
          </a:xfrm>
          <a:prstGeom prst="rect">
            <a:avLst/>
          </a:prstGeom>
          <a:solidFill>
            <a:srgbClr val="FBDCC8"/>
          </a:solidFill>
          <a:ln w="12700">
            <a:solidFill>
              <a:srgbClr val="E5E0D6"/>
            </a:solidFill>
          </a:ln>
        </p:spPr>
        <p:txBody>
          <a:bodyPr/>
          <a:lstStyle/>
          <a:p>
            <a:endParaRPr/>
          </a:p>
        </p:txBody>
      </p:sp>
      <p:sp>
        <p:nvSpPr>
          <p:cNvPr id="437" name="T438">
            <a:extLst>
              <a:ext uri="{FF2B5EF4-FFF2-40B4-BE49-F238E27FC236}">
                <a16:creationId xmlns:a16="http://schemas.microsoft.com/office/drawing/2014/main" id="{B99F7ECD-8AB5-40EF-96C2-0C9D9D63044B}"/>
              </a:ext>
            </a:extLst>
          </p:cNvPr>
          <p:cNvSpPr>
            <a:spLocks noGrp="1"/>
          </p:cNvSpPr>
          <p:nvPr/>
        </p:nvSpPr>
        <p:spPr>
          <a:xfrm>
            <a:off x="11265408" y="1874520"/>
            <a:ext cx="5907024" cy="731520"/>
          </a:xfrm>
          <a:prstGeom prst="rect">
            <a:avLst/>
          </a:prstGeom>
        </p:spPr>
        <p:txBody>
          <a:bodyPr wrap="square" lIns="0" tIns="0" rIns="0" bIns="0" anchor="ctr"/>
          <a:lstStyle/>
          <a:p>
            <a:pPr algn="ctr">
              <a:lnSpc>
                <a:spcPct val="130000"/>
              </a:lnSpc>
              <a:spcAft>
                <a:spcPts val="0"/>
              </a:spcAft>
              <a:buNone/>
            </a:pPr>
            <a:r>
              <a:rPr sz="1900">
                <a:solidFill>
                  <a:srgbClr val="1A1A1A"/>
                </a:solidFill>
                <a:latin typeface="Pretendard SemiBold"/>
                <a:ea typeface="Pretendard SemiBold"/>
                <a:cs typeface="Pretendard SemiBold"/>
              </a:rPr>
              <a:t>관련 요구사항 ID</a:t>
            </a:r>
          </a:p>
        </p:txBody>
      </p:sp>
      <p:sp>
        <p:nvSpPr>
          <p:cNvPr id="439" name="S440">
            <a:extLst>
              <a:ext uri="{FF2B5EF4-FFF2-40B4-BE49-F238E27FC236}">
                <a16:creationId xmlns:a16="http://schemas.microsoft.com/office/drawing/2014/main" id="{A59323EB-0900-4481-BF21-26444FCC10E3}"/>
              </a:ext>
            </a:extLst>
          </p:cNvPr>
          <p:cNvSpPr>
            <a:spLocks noGrp="1"/>
          </p:cNvSpPr>
          <p:nvPr/>
        </p:nvSpPr>
        <p:spPr>
          <a:xfrm>
            <a:off x="914400" y="2606040"/>
            <a:ext cx="3291840" cy="786384"/>
          </a:xfrm>
          <a:prstGeom prst="rect">
            <a:avLst/>
          </a:prstGeom>
          <a:solidFill>
            <a:srgbClr val="FFFFFF"/>
          </a:solidFill>
          <a:ln w="12700">
            <a:solidFill>
              <a:srgbClr val="E5E0D6"/>
            </a:solidFill>
          </a:ln>
        </p:spPr>
        <p:txBody>
          <a:bodyPr/>
          <a:lstStyle/>
          <a:p>
            <a:endParaRPr/>
          </a:p>
        </p:txBody>
      </p:sp>
      <p:sp>
        <p:nvSpPr>
          <p:cNvPr id="441" name="T442">
            <a:extLst>
              <a:ext uri="{FF2B5EF4-FFF2-40B4-BE49-F238E27FC236}">
                <a16:creationId xmlns:a16="http://schemas.microsoft.com/office/drawing/2014/main" id="{652B8465-1CFE-4A35-B433-44003097C4A7}"/>
              </a:ext>
            </a:extLst>
          </p:cNvPr>
          <p:cNvSpPr>
            <a:spLocks noGrp="1"/>
          </p:cNvSpPr>
          <p:nvPr/>
        </p:nvSpPr>
        <p:spPr>
          <a:xfrm>
            <a:off x="1115568" y="2606040"/>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SCR-AUTH-001</a:t>
            </a:r>
          </a:p>
        </p:txBody>
      </p:sp>
      <p:sp>
        <p:nvSpPr>
          <p:cNvPr id="443" name="S444">
            <a:extLst>
              <a:ext uri="{FF2B5EF4-FFF2-40B4-BE49-F238E27FC236}">
                <a16:creationId xmlns:a16="http://schemas.microsoft.com/office/drawing/2014/main" id="{5FCF3C91-D94F-410D-B146-31FC867D6A52}"/>
              </a:ext>
            </a:extLst>
          </p:cNvPr>
          <p:cNvSpPr>
            <a:spLocks noGrp="1"/>
          </p:cNvSpPr>
          <p:nvPr/>
        </p:nvSpPr>
        <p:spPr>
          <a:xfrm>
            <a:off x="4206240" y="2606040"/>
            <a:ext cx="5120640" cy="786384"/>
          </a:xfrm>
          <a:prstGeom prst="rect">
            <a:avLst/>
          </a:prstGeom>
          <a:solidFill>
            <a:srgbClr val="FFFFFF"/>
          </a:solidFill>
          <a:ln w="12700">
            <a:solidFill>
              <a:srgbClr val="E5E0D6"/>
            </a:solidFill>
          </a:ln>
        </p:spPr>
        <p:txBody>
          <a:bodyPr/>
          <a:lstStyle/>
          <a:p>
            <a:endParaRPr/>
          </a:p>
        </p:txBody>
      </p:sp>
      <p:sp>
        <p:nvSpPr>
          <p:cNvPr id="445" name="T446">
            <a:extLst>
              <a:ext uri="{FF2B5EF4-FFF2-40B4-BE49-F238E27FC236}">
                <a16:creationId xmlns:a16="http://schemas.microsoft.com/office/drawing/2014/main" id="{B03BF19F-556C-431E-8082-E6D5A1D9A6A5}"/>
              </a:ext>
            </a:extLst>
          </p:cNvPr>
          <p:cNvSpPr>
            <a:spLocks noGrp="1"/>
          </p:cNvSpPr>
          <p:nvPr/>
        </p:nvSpPr>
        <p:spPr>
          <a:xfrm>
            <a:off x="4407408" y="2606040"/>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로그인 · 초대 계정 활성화</a:t>
            </a:r>
          </a:p>
        </p:txBody>
      </p:sp>
      <p:sp>
        <p:nvSpPr>
          <p:cNvPr id="447" name="S448">
            <a:extLst>
              <a:ext uri="{FF2B5EF4-FFF2-40B4-BE49-F238E27FC236}">
                <a16:creationId xmlns:a16="http://schemas.microsoft.com/office/drawing/2014/main" id="{6334B08C-641D-40CD-8192-40EB4DC408DF}"/>
              </a:ext>
            </a:extLst>
          </p:cNvPr>
          <p:cNvSpPr>
            <a:spLocks noGrp="1"/>
          </p:cNvSpPr>
          <p:nvPr/>
        </p:nvSpPr>
        <p:spPr>
          <a:xfrm>
            <a:off x="9326880" y="2606040"/>
            <a:ext cx="1737360" cy="786384"/>
          </a:xfrm>
          <a:prstGeom prst="rect">
            <a:avLst/>
          </a:prstGeom>
          <a:solidFill>
            <a:srgbClr val="FFFFFF"/>
          </a:solidFill>
          <a:ln w="12700">
            <a:solidFill>
              <a:srgbClr val="E5E0D6"/>
            </a:solidFill>
          </a:ln>
        </p:spPr>
        <p:txBody>
          <a:bodyPr/>
          <a:lstStyle/>
          <a:p>
            <a:endParaRPr/>
          </a:p>
        </p:txBody>
      </p:sp>
      <p:sp>
        <p:nvSpPr>
          <p:cNvPr id="449" name="T450">
            <a:extLst>
              <a:ext uri="{FF2B5EF4-FFF2-40B4-BE49-F238E27FC236}">
                <a16:creationId xmlns:a16="http://schemas.microsoft.com/office/drawing/2014/main" id="{5093B155-1D8B-4A8C-B807-FA77F9D37B56}"/>
              </a:ext>
            </a:extLst>
          </p:cNvPr>
          <p:cNvSpPr>
            <a:spLocks noGrp="1"/>
          </p:cNvSpPr>
          <p:nvPr/>
        </p:nvSpPr>
        <p:spPr>
          <a:xfrm>
            <a:off x="9528048" y="2606040"/>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공통</a:t>
            </a:r>
          </a:p>
        </p:txBody>
      </p:sp>
      <p:sp>
        <p:nvSpPr>
          <p:cNvPr id="451" name="S452">
            <a:extLst>
              <a:ext uri="{FF2B5EF4-FFF2-40B4-BE49-F238E27FC236}">
                <a16:creationId xmlns:a16="http://schemas.microsoft.com/office/drawing/2014/main" id="{E5E7FD86-04D6-4835-AB2D-0AD028F47CD5}"/>
              </a:ext>
            </a:extLst>
          </p:cNvPr>
          <p:cNvSpPr>
            <a:spLocks noGrp="1"/>
          </p:cNvSpPr>
          <p:nvPr/>
        </p:nvSpPr>
        <p:spPr>
          <a:xfrm>
            <a:off x="11064240" y="2606040"/>
            <a:ext cx="6309360" cy="786384"/>
          </a:xfrm>
          <a:prstGeom prst="rect">
            <a:avLst/>
          </a:prstGeom>
          <a:solidFill>
            <a:srgbClr val="FFFFFF"/>
          </a:solidFill>
          <a:ln w="12700">
            <a:solidFill>
              <a:srgbClr val="E5E0D6"/>
            </a:solidFill>
          </a:ln>
        </p:spPr>
        <p:txBody>
          <a:bodyPr/>
          <a:lstStyle/>
          <a:p>
            <a:endParaRPr/>
          </a:p>
        </p:txBody>
      </p:sp>
      <p:sp>
        <p:nvSpPr>
          <p:cNvPr id="453" name="T454">
            <a:extLst>
              <a:ext uri="{FF2B5EF4-FFF2-40B4-BE49-F238E27FC236}">
                <a16:creationId xmlns:a16="http://schemas.microsoft.com/office/drawing/2014/main" id="{95C1061E-95FE-4C50-9391-134DBB82D328}"/>
              </a:ext>
            </a:extLst>
          </p:cNvPr>
          <p:cNvSpPr>
            <a:spLocks noGrp="1"/>
          </p:cNvSpPr>
          <p:nvPr/>
        </p:nvSpPr>
        <p:spPr>
          <a:xfrm>
            <a:off x="11265408" y="2606040"/>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REQ-FUNC-001</a:t>
            </a:r>
          </a:p>
        </p:txBody>
      </p:sp>
      <p:sp>
        <p:nvSpPr>
          <p:cNvPr id="455" name="S456">
            <a:extLst>
              <a:ext uri="{FF2B5EF4-FFF2-40B4-BE49-F238E27FC236}">
                <a16:creationId xmlns:a16="http://schemas.microsoft.com/office/drawing/2014/main" id="{81947CE4-5E6D-4C2A-AC04-262F8DF42064}"/>
              </a:ext>
            </a:extLst>
          </p:cNvPr>
          <p:cNvSpPr>
            <a:spLocks noGrp="1"/>
          </p:cNvSpPr>
          <p:nvPr/>
        </p:nvSpPr>
        <p:spPr>
          <a:xfrm>
            <a:off x="914400" y="3392424"/>
            <a:ext cx="3291840" cy="786384"/>
          </a:xfrm>
          <a:prstGeom prst="rect">
            <a:avLst/>
          </a:prstGeom>
          <a:solidFill>
            <a:srgbClr val="FFFFFF"/>
          </a:solidFill>
          <a:ln w="12700">
            <a:solidFill>
              <a:srgbClr val="E5E0D6"/>
            </a:solidFill>
          </a:ln>
        </p:spPr>
        <p:txBody>
          <a:bodyPr/>
          <a:lstStyle/>
          <a:p>
            <a:endParaRPr/>
          </a:p>
        </p:txBody>
      </p:sp>
      <p:sp>
        <p:nvSpPr>
          <p:cNvPr id="457" name="T458">
            <a:extLst>
              <a:ext uri="{FF2B5EF4-FFF2-40B4-BE49-F238E27FC236}">
                <a16:creationId xmlns:a16="http://schemas.microsoft.com/office/drawing/2014/main" id="{B049A55C-A205-4064-8ACC-D820FF9B6DC3}"/>
              </a:ext>
            </a:extLst>
          </p:cNvPr>
          <p:cNvSpPr>
            <a:spLocks noGrp="1"/>
          </p:cNvSpPr>
          <p:nvPr/>
        </p:nvSpPr>
        <p:spPr>
          <a:xfrm>
            <a:off x="1115568" y="3392424"/>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SCR-COMP-001</a:t>
            </a:r>
          </a:p>
        </p:txBody>
      </p:sp>
      <p:sp>
        <p:nvSpPr>
          <p:cNvPr id="459" name="S460">
            <a:extLst>
              <a:ext uri="{FF2B5EF4-FFF2-40B4-BE49-F238E27FC236}">
                <a16:creationId xmlns:a16="http://schemas.microsoft.com/office/drawing/2014/main" id="{08885679-A8E8-46BA-9463-22A25BB37F47}"/>
              </a:ext>
            </a:extLst>
          </p:cNvPr>
          <p:cNvSpPr>
            <a:spLocks noGrp="1"/>
          </p:cNvSpPr>
          <p:nvPr/>
        </p:nvSpPr>
        <p:spPr>
          <a:xfrm>
            <a:off x="4206240" y="3392424"/>
            <a:ext cx="5120640" cy="786384"/>
          </a:xfrm>
          <a:prstGeom prst="rect">
            <a:avLst/>
          </a:prstGeom>
          <a:solidFill>
            <a:srgbClr val="FFFFFF"/>
          </a:solidFill>
          <a:ln w="12700">
            <a:solidFill>
              <a:srgbClr val="E5E0D6"/>
            </a:solidFill>
          </a:ln>
        </p:spPr>
        <p:txBody>
          <a:bodyPr/>
          <a:lstStyle/>
          <a:p>
            <a:endParaRPr/>
          </a:p>
        </p:txBody>
      </p:sp>
      <p:sp>
        <p:nvSpPr>
          <p:cNvPr id="461" name="T462">
            <a:extLst>
              <a:ext uri="{FF2B5EF4-FFF2-40B4-BE49-F238E27FC236}">
                <a16:creationId xmlns:a16="http://schemas.microsoft.com/office/drawing/2014/main" id="{DBE34CC4-6299-4AF3-B3DD-7DD465D0197D}"/>
              </a:ext>
            </a:extLst>
          </p:cNvPr>
          <p:cNvSpPr>
            <a:spLocks noGrp="1"/>
          </p:cNvSpPr>
          <p:nvPr/>
        </p:nvSpPr>
        <p:spPr>
          <a:xfrm>
            <a:off x="4407408" y="3392424"/>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 서류 제출 현황 · 업로드</a:t>
            </a:r>
          </a:p>
        </p:txBody>
      </p:sp>
      <p:sp>
        <p:nvSpPr>
          <p:cNvPr id="463" name="S464">
            <a:extLst>
              <a:ext uri="{FF2B5EF4-FFF2-40B4-BE49-F238E27FC236}">
                <a16:creationId xmlns:a16="http://schemas.microsoft.com/office/drawing/2014/main" id="{8C386CA2-2F2D-434E-A42C-44801D707930}"/>
              </a:ext>
            </a:extLst>
          </p:cNvPr>
          <p:cNvSpPr>
            <a:spLocks noGrp="1"/>
          </p:cNvSpPr>
          <p:nvPr/>
        </p:nvSpPr>
        <p:spPr>
          <a:xfrm>
            <a:off x="9326880" y="3392424"/>
            <a:ext cx="1737360" cy="786384"/>
          </a:xfrm>
          <a:prstGeom prst="rect">
            <a:avLst/>
          </a:prstGeom>
          <a:solidFill>
            <a:srgbClr val="FFFFFF"/>
          </a:solidFill>
          <a:ln w="12700">
            <a:solidFill>
              <a:srgbClr val="E5E0D6"/>
            </a:solidFill>
          </a:ln>
        </p:spPr>
        <p:txBody>
          <a:bodyPr/>
          <a:lstStyle/>
          <a:p>
            <a:endParaRPr/>
          </a:p>
        </p:txBody>
      </p:sp>
      <p:sp>
        <p:nvSpPr>
          <p:cNvPr id="465" name="T466">
            <a:extLst>
              <a:ext uri="{FF2B5EF4-FFF2-40B4-BE49-F238E27FC236}">
                <a16:creationId xmlns:a16="http://schemas.microsoft.com/office/drawing/2014/main" id="{9F7CFDE7-25FB-4249-96E5-A4A543427D9E}"/>
              </a:ext>
            </a:extLst>
          </p:cNvPr>
          <p:cNvSpPr>
            <a:spLocks noGrp="1"/>
          </p:cNvSpPr>
          <p:nvPr/>
        </p:nvSpPr>
        <p:spPr>
          <a:xfrm>
            <a:off x="9528048" y="3392424"/>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67" name="S468">
            <a:extLst>
              <a:ext uri="{FF2B5EF4-FFF2-40B4-BE49-F238E27FC236}">
                <a16:creationId xmlns:a16="http://schemas.microsoft.com/office/drawing/2014/main" id="{CE3154FC-D542-4B36-8842-14C61977A5E9}"/>
              </a:ext>
            </a:extLst>
          </p:cNvPr>
          <p:cNvSpPr>
            <a:spLocks noGrp="1"/>
          </p:cNvSpPr>
          <p:nvPr/>
        </p:nvSpPr>
        <p:spPr>
          <a:xfrm>
            <a:off x="11064240" y="3392424"/>
            <a:ext cx="6309360" cy="786384"/>
          </a:xfrm>
          <a:prstGeom prst="rect">
            <a:avLst/>
          </a:prstGeom>
          <a:solidFill>
            <a:srgbClr val="FFFFFF"/>
          </a:solidFill>
          <a:ln w="12700">
            <a:solidFill>
              <a:srgbClr val="E5E0D6"/>
            </a:solidFill>
          </a:ln>
        </p:spPr>
        <p:txBody>
          <a:bodyPr/>
          <a:lstStyle/>
          <a:p>
            <a:endParaRPr/>
          </a:p>
        </p:txBody>
      </p:sp>
      <p:sp>
        <p:nvSpPr>
          <p:cNvPr id="469" name="T470">
            <a:extLst>
              <a:ext uri="{FF2B5EF4-FFF2-40B4-BE49-F238E27FC236}">
                <a16:creationId xmlns:a16="http://schemas.microsoft.com/office/drawing/2014/main" id="{045065FD-9BBF-40AE-8884-8E6B21336B11}"/>
              </a:ext>
            </a:extLst>
          </p:cNvPr>
          <p:cNvSpPr>
            <a:spLocks noGrp="1"/>
          </p:cNvSpPr>
          <p:nvPr/>
        </p:nvSpPr>
        <p:spPr>
          <a:xfrm>
            <a:off x="11265408" y="3392424"/>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REQ-FUNC-002, REQ-FUNC-003</a:t>
            </a:r>
          </a:p>
        </p:txBody>
      </p:sp>
      <p:sp>
        <p:nvSpPr>
          <p:cNvPr id="471" name="S472">
            <a:extLst>
              <a:ext uri="{FF2B5EF4-FFF2-40B4-BE49-F238E27FC236}">
                <a16:creationId xmlns:a16="http://schemas.microsoft.com/office/drawing/2014/main" id="{64E0206B-1D73-448B-BE4E-753B5F28BC51}"/>
              </a:ext>
            </a:extLst>
          </p:cNvPr>
          <p:cNvSpPr>
            <a:spLocks noGrp="1"/>
          </p:cNvSpPr>
          <p:nvPr/>
        </p:nvSpPr>
        <p:spPr>
          <a:xfrm>
            <a:off x="914400" y="4178808"/>
            <a:ext cx="3291840" cy="786384"/>
          </a:xfrm>
          <a:prstGeom prst="rect">
            <a:avLst/>
          </a:prstGeom>
          <a:solidFill>
            <a:srgbClr val="FFFFFF"/>
          </a:solidFill>
          <a:ln w="12700">
            <a:solidFill>
              <a:srgbClr val="E5E0D6"/>
            </a:solidFill>
          </a:ln>
        </p:spPr>
        <p:txBody>
          <a:bodyPr/>
          <a:lstStyle/>
          <a:p>
            <a:endParaRPr/>
          </a:p>
        </p:txBody>
      </p:sp>
      <p:sp>
        <p:nvSpPr>
          <p:cNvPr id="473" name="T474">
            <a:extLst>
              <a:ext uri="{FF2B5EF4-FFF2-40B4-BE49-F238E27FC236}">
                <a16:creationId xmlns:a16="http://schemas.microsoft.com/office/drawing/2014/main" id="{18AA3EDC-F979-433D-BE1B-778120281628}"/>
              </a:ext>
            </a:extLst>
          </p:cNvPr>
          <p:cNvSpPr>
            <a:spLocks noGrp="1"/>
          </p:cNvSpPr>
          <p:nvPr/>
        </p:nvSpPr>
        <p:spPr>
          <a:xfrm>
            <a:off x="1115568" y="4178808"/>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SCR-COMP-002</a:t>
            </a:r>
          </a:p>
        </p:txBody>
      </p:sp>
      <p:sp>
        <p:nvSpPr>
          <p:cNvPr id="475" name="S476">
            <a:extLst>
              <a:ext uri="{FF2B5EF4-FFF2-40B4-BE49-F238E27FC236}">
                <a16:creationId xmlns:a16="http://schemas.microsoft.com/office/drawing/2014/main" id="{D3EE2AF9-34F7-4B2E-8830-87B07A76F624}"/>
              </a:ext>
            </a:extLst>
          </p:cNvPr>
          <p:cNvSpPr>
            <a:spLocks noGrp="1"/>
          </p:cNvSpPr>
          <p:nvPr/>
        </p:nvSpPr>
        <p:spPr>
          <a:xfrm>
            <a:off x="4206240" y="4178808"/>
            <a:ext cx="5120640" cy="786384"/>
          </a:xfrm>
          <a:prstGeom prst="rect">
            <a:avLst/>
          </a:prstGeom>
          <a:solidFill>
            <a:srgbClr val="FFFFFF"/>
          </a:solidFill>
          <a:ln w="12700">
            <a:solidFill>
              <a:srgbClr val="E5E0D6"/>
            </a:solidFill>
          </a:ln>
        </p:spPr>
        <p:txBody>
          <a:bodyPr/>
          <a:lstStyle/>
          <a:p>
            <a:endParaRPr/>
          </a:p>
        </p:txBody>
      </p:sp>
      <p:sp>
        <p:nvSpPr>
          <p:cNvPr id="477" name="T478">
            <a:extLst>
              <a:ext uri="{FF2B5EF4-FFF2-40B4-BE49-F238E27FC236}">
                <a16:creationId xmlns:a16="http://schemas.microsoft.com/office/drawing/2014/main" id="{DE429899-E560-43D8-9F2E-F232B8120D32}"/>
              </a:ext>
            </a:extLst>
          </p:cNvPr>
          <p:cNvSpPr>
            <a:spLocks noGrp="1"/>
          </p:cNvSpPr>
          <p:nvPr/>
        </p:nvSpPr>
        <p:spPr>
          <a:xfrm>
            <a:off x="4407408" y="4178808"/>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사전검증 결과 · 최종 제출</a:t>
            </a:r>
          </a:p>
        </p:txBody>
      </p:sp>
      <p:sp>
        <p:nvSpPr>
          <p:cNvPr id="479" name="S480">
            <a:extLst>
              <a:ext uri="{FF2B5EF4-FFF2-40B4-BE49-F238E27FC236}">
                <a16:creationId xmlns:a16="http://schemas.microsoft.com/office/drawing/2014/main" id="{90C4BCD6-A756-47FF-97CC-DC4373C4D498}"/>
              </a:ext>
            </a:extLst>
          </p:cNvPr>
          <p:cNvSpPr>
            <a:spLocks noGrp="1"/>
          </p:cNvSpPr>
          <p:nvPr/>
        </p:nvSpPr>
        <p:spPr>
          <a:xfrm>
            <a:off x="9326880" y="4178808"/>
            <a:ext cx="1737360" cy="786384"/>
          </a:xfrm>
          <a:prstGeom prst="rect">
            <a:avLst/>
          </a:prstGeom>
          <a:solidFill>
            <a:srgbClr val="FFFFFF"/>
          </a:solidFill>
          <a:ln w="12700">
            <a:solidFill>
              <a:srgbClr val="E5E0D6"/>
            </a:solidFill>
          </a:ln>
        </p:spPr>
        <p:txBody>
          <a:bodyPr/>
          <a:lstStyle/>
          <a:p>
            <a:endParaRPr/>
          </a:p>
        </p:txBody>
      </p:sp>
      <p:sp>
        <p:nvSpPr>
          <p:cNvPr id="481" name="T482">
            <a:extLst>
              <a:ext uri="{FF2B5EF4-FFF2-40B4-BE49-F238E27FC236}">
                <a16:creationId xmlns:a16="http://schemas.microsoft.com/office/drawing/2014/main" id="{7750039F-7863-45E2-9EF7-9F7E75A862C9}"/>
              </a:ext>
            </a:extLst>
          </p:cNvPr>
          <p:cNvSpPr>
            <a:spLocks noGrp="1"/>
          </p:cNvSpPr>
          <p:nvPr/>
        </p:nvSpPr>
        <p:spPr>
          <a:xfrm>
            <a:off x="9528048" y="4178808"/>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기업</a:t>
            </a:r>
          </a:p>
        </p:txBody>
      </p:sp>
      <p:sp>
        <p:nvSpPr>
          <p:cNvPr id="483" name="S484">
            <a:extLst>
              <a:ext uri="{FF2B5EF4-FFF2-40B4-BE49-F238E27FC236}">
                <a16:creationId xmlns:a16="http://schemas.microsoft.com/office/drawing/2014/main" id="{2A39A9A8-832D-408D-BA1C-BE8F7D1E7A7E}"/>
              </a:ext>
            </a:extLst>
          </p:cNvPr>
          <p:cNvSpPr>
            <a:spLocks noGrp="1"/>
          </p:cNvSpPr>
          <p:nvPr/>
        </p:nvSpPr>
        <p:spPr>
          <a:xfrm>
            <a:off x="11064240" y="4178808"/>
            <a:ext cx="6309360" cy="786384"/>
          </a:xfrm>
          <a:prstGeom prst="rect">
            <a:avLst/>
          </a:prstGeom>
          <a:solidFill>
            <a:srgbClr val="FFFFFF"/>
          </a:solidFill>
          <a:ln w="12700">
            <a:solidFill>
              <a:srgbClr val="E5E0D6"/>
            </a:solidFill>
          </a:ln>
        </p:spPr>
        <p:txBody>
          <a:bodyPr/>
          <a:lstStyle/>
          <a:p>
            <a:endParaRPr/>
          </a:p>
        </p:txBody>
      </p:sp>
      <p:sp>
        <p:nvSpPr>
          <p:cNvPr id="485" name="T486">
            <a:extLst>
              <a:ext uri="{FF2B5EF4-FFF2-40B4-BE49-F238E27FC236}">
                <a16:creationId xmlns:a16="http://schemas.microsoft.com/office/drawing/2014/main" id="{C9050005-46F7-47A8-BE97-C0468A2B570B}"/>
              </a:ext>
            </a:extLst>
          </p:cNvPr>
          <p:cNvSpPr>
            <a:spLocks noGrp="1"/>
          </p:cNvSpPr>
          <p:nvPr/>
        </p:nvSpPr>
        <p:spPr>
          <a:xfrm>
            <a:off x="11265408" y="4178808"/>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REQ-FUNC-004</a:t>
            </a:r>
          </a:p>
        </p:txBody>
      </p:sp>
      <p:sp>
        <p:nvSpPr>
          <p:cNvPr id="487" name="S488">
            <a:extLst>
              <a:ext uri="{FF2B5EF4-FFF2-40B4-BE49-F238E27FC236}">
                <a16:creationId xmlns:a16="http://schemas.microsoft.com/office/drawing/2014/main" id="{E17BB048-5DA1-443F-941A-A5E909D1E0F6}"/>
              </a:ext>
            </a:extLst>
          </p:cNvPr>
          <p:cNvSpPr>
            <a:spLocks noGrp="1"/>
          </p:cNvSpPr>
          <p:nvPr/>
        </p:nvSpPr>
        <p:spPr>
          <a:xfrm>
            <a:off x="914400" y="4965192"/>
            <a:ext cx="3291840" cy="786384"/>
          </a:xfrm>
          <a:prstGeom prst="rect">
            <a:avLst/>
          </a:prstGeom>
          <a:solidFill>
            <a:srgbClr val="FFFFFF"/>
          </a:solidFill>
          <a:ln w="12700">
            <a:solidFill>
              <a:srgbClr val="E5E0D6"/>
            </a:solidFill>
          </a:ln>
        </p:spPr>
        <p:txBody>
          <a:bodyPr/>
          <a:lstStyle/>
          <a:p>
            <a:endParaRPr/>
          </a:p>
        </p:txBody>
      </p:sp>
      <p:sp>
        <p:nvSpPr>
          <p:cNvPr id="489" name="T490">
            <a:extLst>
              <a:ext uri="{FF2B5EF4-FFF2-40B4-BE49-F238E27FC236}">
                <a16:creationId xmlns:a16="http://schemas.microsoft.com/office/drawing/2014/main" id="{65307F37-782C-43E1-B100-CBE5D32A921B}"/>
              </a:ext>
            </a:extLst>
          </p:cNvPr>
          <p:cNvSpPr>
            <a:spLocks noGrp="1"/>
          </p:cNvSpPr>
          <p:nvPr/>
        </p:nvSpPr>
        <p:spPr>
          <a:xfrm>
            <a:off x="1115568" y="4965192"/>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SCR-REV-001</a:t>
            </a:r>
          </a:p>
        </p:txBody>
      </p:sp>
      <p:sp>
        <p:nvSpPr>
          <p:cNvPr id="491" name="S492">
            <a:extLst>
              <a:ext uri="{FF2B5EF4-FFF2-40B4-BE49-F238E27FC236}">
                <a16:creationId xmlns:a16="http://schemas.microsoft.com/office/drawing/2014/main" id="{BCC2C18F-0254-4EF7-A4B2-BC7FEAC967A9}"/>
              </a:ext>
            </a:extLst>
          </p:cNvPr>
          <p:cNvSpPr>
            <a:spLocks noGrp="1"/>
          </p:cNvSpPr>
          <p:nvPr/>
        </p:nvSpPr>
        <p:spPr>
          <a:xfrm>
            <a:off x="4206240" y="4965192"/>
            <a:ext cx="5120640" cy="786384"/>
          </a:xfrm>
          <a:prstGeom prst="rect">
            <a:avLst/>
          </a:prstGeom>
          <a:solidFill>
            <a:srgbClr val="FFFFFF"/>
          </a:solidFill>
          <a:ln w="12700">
            <a:solidFill>
              <a:srgbClr val="E5E0D6"/>
            </a:solidFill>
          </a:ln>
        </p:spPr>
        <p:txBody>
          <a:bodyPr/>
          <a:lstStyle/>
          <a:p>
            <a:endParaRPr/>
          </a:p>
        </p:txBody>
      </p:sp>
      <p:sp>
        <p:nvSpPr>
          <p:cNvPr id="493" name="T494">
            <a:extLst>
              <a:ext uri="{FF2B5EF4-FFF2-40B4-BE49-F238E27FC236}">
                <a16:creationId xmlns:a16="http://schemas.microsoft.com/office/drawing/2014/main" id="{6EA87B13-7244-4CF0-B30D-C2CBF522A25D}"/>
              </a:ext>
            </a:extLst>
          </p:cNvPr>
          <p:cNvSpPr>
            <a:spLocks noGrp="1"/>
          </p:cNvSpPr>
          <p:nvPr/>
        </p:nvSpPr>
        <p:spPr>
          <a:xfrm>
            <a:off x="4407408" y="4965192"/>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 검토 목록</a:t>
            </a:r>
          </a:p>
        </p:txBody>
      </p:sp>
      <p:sp>
        <p:nvSpPr>
          <p:cNvPr id="495" name="S496">
            <a:extLst>
              <a:ext uri="{FF2B5EF4-FFF2-40B4-BE49-F238E27FC236}">
                <a16:creationId xmlns:a16="http://schemas.microsoft.com/office/drawing/2014/main" id="{908B1809-BFC0-4492-B53E-118E1001947F}"/>
              </a:ext>
            </a:extLst>
          </p:cNvPr>
          <p:cNvSpPr>
            <a:spLocks noGrp="1"/>
          </p:cNvSpPr>
          <p:nvPr/>
        </p:nvSpPr>
        <p:spPr>
          <a:xfrm>
            <a:off x="9326880" y="4965192"/>
            <a:ext cx="1737360" cy="786384"/>
          </a:xfrm>
          <a:prstGeom prst="rect">
            <a:avLst/>
          </a:prstGeom>
          <a:solidFill>
            <a:srgbClr val="FFFFFF"/>
          </a:solidFill>
          <a:ln w="12700">
            <a:solidFill>
              <a:srgbClr val="E5E0D6"/>
            </a:solidFill>
          </a:ln>
        </p:spPr>
        <p:txBody>
          <a:bodyPr/>
          <a:lstStyle/>
          <a:p>
            <a:endParaRPr/>
          </a:p>
        </p:txBody>
      </p:sp>
      <p:sp>
        <p:nvSpPr>
          <p:cNvPr id="497" name="T498">
            <a:extLst>
              <a:ext uri="{FF2B5EF4-FFF2-40B4-BE49-F238E27FC236}">
                <a16:creationId xmlns:a16="http://schemas.microsoft.com/office/drawing/2014/main" id="{61056FA8-B7FF-4CBB-A78E-AC8CD741E008}"/>
              </a:ext>
            </a:extLst>
          </p:cNvPr>
          <p:cNvSpPr>
            <a:spLocks noGrp="1"/>
          </p:cNvSpPr>
          <p:nvPr/>
        </p:nvSpPr>
        <p:spPr>
          <a:xfrm>
            <a:off x="9528048" y="4965192"/>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499" name="S500">
            <a:extLst>
              <a:ext uri="{FF2B5EF4-FFF2-40B4-BE49-F238E27FC236}">
                <a16:creationId xmlns:a16="http://schemas.microsoft.com/office/drawing/2014/main" id="{16717511-076B-422F-BDEC-084172EE476D}"/>
              </a:ext>
            </a:extLst>
          </p:cNvPr>
          <p:cNvSpPr>
            <a:spLocks noGrp="1"/>
          </p:cNvSpPr>
          <p:nvPr/>
        </p:nvSpPr>
        <p:spPr>
          <a:xfrm>
            <a:off x="11064240" y="4965192"/>
            <a:ext cx="6309360" cy="786384"/>
          </a:xfrm>
          <a:prstGeom prst="rect">
            <a:avLst/>
          </a:prstGeom>
          <a:solidFill>
            <a:srgbClr val="FFFFFF"/>
          </a:solidFill>
          <a:ln w="12700">
            <a:solidFill>
              <a:srgbClr val="E5E0D6"/>
            </a:solidFill>
          </a:ln>
        </p:spPr>
        <p:txBody>
          <a:bodyPr/>
          <a:lstStyle/>
          <a:p>
            <a:endParaRPr/>
          </a:p>
        </p:txBody>
      </p:sp>
      <p:sp>
        <p:nvSpPr>
          <p:cNvPr id="501" name="T502">
            <a:extLst>
              <a:ext uri="{FF2B5EF4-FFF2-40B4-BE49-F238E27FC236}">
                <a16:creationId xmlns:a16="http://schemas.microsoft.com/office/drawing/2014/main" id="{B001B958-42DC-4356-A2C0-2606F3E641CA}"/>
              </a:ext>
            </a:extLst>
          </p:cNvPr>
          <p:cNvSpPr>
            <a:spLocks noGrp="1"/>
          </p:cNvSpPr>
          <p:nvPr/>
        </p:nvSpPr>
        <p:spPr>
          <a:xfrm>
            <a:off x="11265408" y="4965192"/>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REQ-FUNC-005</a:t>
            </a:r>
          </a:p>
        </p:txBody>
      </p:sp>
      <p:sp>
        <p:nvSpPr>
          <p:cNvPr id="503" name="S504">
            <a:extLst>
              <a:ext uri="{FF2B5EF4-FFF2-40B4-BE49-F238E27FC236}">
                <a16:creationId xmlns:a16="http://schemas.microsoft.com/office/drawing/2014/main" id="{1F54CF42-C0F7-4AC7-9491-B3B862CF1157}"/>
              </a:ext>
            </a:extLst>
          </p:cNvPr>
          <p:cNvSpPr>
            <a:spLocks noGrp="1"/>
          </p:cNvSpPr>
          <p:nvPr/>
        </p:nvSpPr>
        <p:spPr>
          <a:xfrm>
            <a:off x="914400" y="5751576"/>
            <a:ext cx="3291840" cy="786384"/>
          </a:xfrm>
          <a:prstGeom prst="rect">
            <a:avLst/>
          </a:prstGeom>
          <a:solidFill>
            <a:srgbClr val="FFFFFF"/>
          </a:solidFill>
          <a:ln w="12700">
            <a:solidFill>
              <a:srgbClr val="E5E0D6"/>
            </a:solidFill>
          </a:ln>
        </p:spPr>
        <p:txBody>
          <a:bodyPr/>
          <a:lstStyle/>
          <a:p>
            <a:endParaRPr/>
          </a:p>
        </p:txBody>
      </p:sp>
      <p:sp>
        <p:nvSpPr>
          <p:cNvPr id="505" name="T506">
            <a:extLst>
              <a:ext uri="{FF2B5EF4-FFF2-40B4-BE49-F238E27FC236}">
                <a16:creationId xmlns:a16="http://schemas.microsoft.com/office/drawing/2014/main" id="{1F813496-9747-42FF-A1EF-44A8AE6647B8}"/>
              </a:ext>
            </a:extLst>
          </p:cNvPr>
          <p:cNvSpPr>
            <a:spLocks noGrp="1"/>
          </p:cNvSpPr>
          <p:nvPr/>
        </p:nvSpPr>
        <p:spPr>
          <a:xfrm>
            <a:off x="1115568" y="5751576"/>
            <a:ext cx="28895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SCR-REV-002</a:t>
            </a:r>
          </a:p>
        </p:txBody>
      </p:sp>
      <p:sp>
        <p:nvSpPr>
          <p:cNvPr id="507" name="S508">
            <a:extLst>
              <a:ext uri="{FF2B5EF4-FFF2-40B4-BE49-F238E27FC236}">
                <a16:creationId xmlns:a16="http://schemas.microsoft.com/office/drawing/2014/main" id="{05EDDC13-6F58-470C-B168-2D28B38B6EC7}"/>
              </a:ext>
            </a:extLst>
          </p:cNvPr>
          <p:cNvSpPr>
            <a:spLocks noGrp="1"/>
          </p:cNvSpPr>
          <p:nvPr/>
        </p:nvSpPr>
        <p:spPr>
          <a:xfrm>
            <a:off x="4206240" y="5751576"/>
            <a:ext cx="5120640" cy="786384"/>
          </a:xfrm>
          <a:prstGeom prst="rect">
            <a:avLst/>
          </a:prstGeom>
          <a:solidFill>
            <a:srgbClr val="FFFFFF"/>
          </a:solidFill>
          <a:ln w="12700">
            <a:solidFill>
              <a:srgbClr val="E5E0D6"/>
            </a:solidFill>
          </a:ln>
        </p:spPr>
        <p:txBody>
          <a:bodyPr/>
          <a:lstStyle/>
          <a:p>
            <a:endParaRPr/>
          </a:p>
        </p:txBody>
      </p:sp>
      <p:sp>
        <p:nvSpPr>
          <p:cNvPr id="509" name="T510">
            <a:extLst>
              <a:ext uri="{FF2B5EF4-FFF2-40B4-BE49-F238E27FC236}">
                <a16:creationId xmlns:a16="http://schemas.microsoft.com/office/drawing/2014/main" id="{6DB1FC42-A977-43FC-A145-D41C8E9A49D4}"/>
              </a:ext>
            </a:extLst>
          </p:cNvPr>
          <p:cNvSpPr>
            <a:spLocks noGrp="1"/>
          </p:cNvSpPr>
          <p:nvPr/>
        </p:nvSpPr>
        <p:spPr>
          <a:xfrm>
            <a:off x="4407408" y="5751576"/>
            <a:ext cx="471830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 상세 검토</a:t>
            </a:r>
          </a:p>
        </p:txBody>
      </p:sp>
      <p:sp>
        <p:nvSpPr>
          <p:cNvPr id="511" name="S512">
            <a:extLst>
              <a:ext uri="{FF2B5EF4-FFF2-40B4-BE49-F238E27FC236}">
                <a16:creationId xmlns:a16="http://schemas.microsoft.com/office/drawing/2014/main" id="{604B7D7B-CA59-49BB-96E1-F96D30614859}"/>
              </a:ext>
            </a:extLst>
          </p:cNvPr>
          <p:cNvSpPr>
            <a:spLocks noGrp="1"/>
          </p:cNvSpPr>
          <p:nvPr/>
        </p:nvSpPr>
        <p:spPr>
          <a:xfrm>
            <a:off x="9326880" y="5751576"/>
            <a:ext cx="1737360" cy="786384"/>
          </a:xfrm>
          <a:prstGeom prst="rect">
            <a:avLst/>
          </a:prstGeom>
          <a:solidFill>
            <a:srgbClr val="FFFFFF"/>
          </a:solidFill>
          <a:ln w="12700">
            <a:solidFill>
              <a:srgbClr val="E5E0D6"/>
            </a:solidFill>
          </a:ln>
        </p:spPr>
        <p:txBody>
          <a:bodyPr/>
          <a:lstStyle/>
          <a:p>
            <a:endParaRPr/>
          </a:p>
        </p:txBody>
      </p:sp>
      <p:sp>
        <p:nvSpPr>
          <p:cNvPr id="513" name="T514">
            <a:extLst>
              <a:ext uri="{FF2B5EF4-FFF2-40B4-BE49-F238E27FC236}">
                <a16:creationId xmlns:a16="http://schemas.microsoft.com/office/drawing/2014/main" id="{59CE57B5-F1CD-496D-B238-4A88F40A661A}"/>
              </a:ext>
            </a:extLst>
          </p:cNvPr>
          <p:cNvSpPr>
            <a:spLocks noGrp="1"/>
          </p:cNvSpPr>
          <p:nvPr/>
        </p:nvSpPr>
        <p:spPr>
          <a:xfrm>
            <a:off x="9528048" y="5751576"/>
            <a:ext cx="1335024" cy="786384"/>
          </a:xfrm>
          <a:prstGeom prst="rect">
            <a:avLst/>
          </a:prstGeom>
        </p:spPr>
        <p:txBody>
          <a:bodyPr wrap="square" lIns="0" tIns="0" rIns="0" bIns="0" anchor="ctr"/>
          <a:lstStyle/>
          <a:p>
            <a:pPr algn="ctr">
              <a:lnSpc>
                <a:spcPct val="130000"/>
              </a:lnSpc>
              <a:spcAft>
                <a:spcPts val="0"/>
              </a:spcAft>
              <a:buNone/>
            </a:pPr>
            <a:r>
              <a:rPr sz="1700">
                <a:solidFill>
                  <a:srgbClr val="1A1A1A"/>
                </a:solidFill>
                <a:latin typeface="Pretendard Medium"/>
                <a:ea typeface="Pretendard Medium"/>
                <a:cs typeface="Pretendard Medium"/>
              </a:rPr>
              <a:t>은행</a:t>
            </a:r>
          </a:p>
        </p:txBody>
      </p:sp>
      <p:sp>
        <p:nvSpPr>
          <p:cNvPr id="515" name="S516">
            <a:extLst>
              <a:ext uri="{FF2B5EF4-FFF2-40B4-BE49-F238E27FC236}">
                <a16:creationId xmlns:a16="http://schemas.microsoft.com/office/drawing/2014/main" id="{40536960-A570-4388-B61C-36928701FF52}"/>
              </a:ext>
            </a:extLst>
          </p:cNvPr>
          <p:cNvSpPr>
            <a:spLocks noGrp="1"/>
          </p:cNvSpPr>
          <p:nvPr/>
        </p:nvSpPr>
        <p:spPr>
          <a:xfrm>
            <a:off x="11064240" y="5751576"/>
            <a:ext cx="6309360" cy="786384"/>
          </a:xfrm>
          <a:prstGeom prst="rect">
            <a:avLst/>
          </a:prstGeom>
          <a:solidFill>
            <a:srgbClr val="FFFFFF"/>
          </a:solidFill>
          <a:ln w="12700">
            <a:solidFill>
              <a:srgbClr val="E5E0D6"/>
            </a:solidFill>
          </a:ln>
        </p:spPr>
        <p:txBody>
          <a:bodyPr/>
          <a:lstStyle/>
          <a:p>
            <a:endParaRPr/>
          </a:p>
        </p:txBody>
      </p:sp>
      <p:sp>
        <p:nvSpPr>
          <p:cNvPr id="517" name="T518">
            <a:extLst>
              <a:ext uri="{FF2B5EF4-FFF2-40B4-BE49-F238E27FC236}">
                <a16:creationId xmlns:a16="http://schemas.microsoft.com/office/drawing/2014/main" id="{329BFC97-1C77-430C-BA06-32DED95E273E}"/>
              </a:ext>
            </a:extLst>
          </p:cNvPr>
          <p:cNvSpPr>
            <a:spLocks noGrp="1"/>
          </p:cNvSpPr>
          <p:nvPr/>
        </p:nvSpPr>
        <p:spPr>
          <a:xfrm>
            <a:off x="11265408" y="5751576"/>
            <a:ext cx="5907024" cy="786384"/>
          </a:xfrm>
          <a:prstGeom prst="rect">
            <a:avLst/>
          </a:prstGeom>
        </p:spPr>
        <p:txBody>
          <a:bodyPr wrap="square" lIns="0" tIns="0" rIns="0" bIns="0" anchor="ctr"/>
          <a:lstStyle/>
          <a:p>
            <a:pPr algn="l">
              <a:lnSpc>
                <a:spcPct val="130000"/>
              </a:lnSpc>
              <a:spcAft>
                <a:spcPts val="0"/>
              </a:spcAft>
              <a:buNone/>
            </a:pPr>
            <a:r>
              <a:rPr sz="1700">
                <a:solidFill>
                  <a:srgbClr val="1A1A1A"/>
                </a:solidFill>
                <a:latin typeface="Pretendard Medium"/>
                <a:ea typeface="Pretendard Medium"/>
                <a:cs typeface="Pretendard Medium"/>
              </a:rPr>
              <a:t>REQ-FUNC-006</a:t>
            </a:r>
          </a:p>
        </p:txBody>
      </p:sp>
      <p:sp>
        <p:nvSpPr>
          <p:cNvPr id="519" name="T520">
            <a:extLst>
              <a:ext uri="{FF2B5EF4-FFF2-40B4-BE49-F238E27FC236}">
                <a16:creationId xmlns:a16="http://schemas.microsoft.com/office/drawing/2014/main" id="{8536EA45-25D8-4089-A906-17CBCA76AC84}"/>
              </a:ext>
            </a:extLst>
          </p:cNvPr>
          <p:cNvSpPr>
            <a:spLocks noGrp="1"/>
          </p:cNvSpPr>
          <p:nvPr/>
        </p:nvSpPr>
        <p:spPr>
          <a:xfrm>
            <a:off x="11265408" y="1517904"/>
            <a:ext cx="6309360" cy="365760"/>
          </a:xfrm>
          <a:prstGeom prst="rect">
            <a:avLst/>
          </a:prstGeom>
        </p:spPr>
        <p:txBody>
          <a:bodyPr wrap="square" lIns="0" tIns="0" rIns="0" bIns="0" anchor="t"/>
          <a:lstStyle/>
          <a:p>
            <a:pPr algn="l">
              <a:lnSpc>
                <a:spcPct val="135000"/>
              </a:lnSpc>
              <a:spcAft>
                <a:spcPts val="0"/>
              </a:spcAft>
              <a:buNone/>
            </a:pPr>
            <a:r>
              <a:rPr sz="1200">
                <a:solidFill>
                  <a:srgbClr val="6E6A63"/>
                </a:solidFill>
                <a:latin typeface="Pretendard Medium"/>
                <a:ea typeface="Pretendard Medium"/>
                <a:cs typeface="Pretendard Medium"/>
              </a:rPr>
              <a:t>업로드 화면과 검증 결과 화면을 분리해 정보 과밀 해소. 와이어프레임의 요소 번호와 설명표를 1:1로 연결</a:t>
            </a:r>
          </a:p>
        </p:txBody>
      </p:sp>
      <p:sp>
        <p:nvSpPr>
          <p:cNvPr id="521" name="S522">
            <a:extLst>
              <a:ext uri="{FF2B5EF4-FFF2-40B4-BE49-F238E27FC236}">
                <a16:creationId xmlns:a16="http://schemas.microsoft.com/office/drawing/2014/main" id="{EE2D28FF-48BC-44C4-9840-6586E6949394}"/>
              </a:ext>
            </a:extLst>
          </p:cNvPr>
          <p:cNvSpPr>
            <a:spLocks noGrp="1"/>
          </p:cNvSpPr>
          <p:nvPr/>
        </p:nvSpPr>
        <p:spPr>
          <a:xfrm>
            <a:off x="914400" y="7159752"/>
            <a:ext cx="100584" cy="310896"/>
          </a:xfrm>
          <a:prstGeom prst="rect">
            <a:avLst/>
          </a:prstGeom>
          <a:solidFill>
            <a:srgbClr val="EA002C"/>
          </a:solidFill>
        </p:spPr>
        <p:txBody>
          <a:bodyPr/>
          <a:lstStyle/>
          <a:p>
            <a:endParaRPr/>
          </a:p>
        </p:txBody>
      </p:sp>
      <p:sp>
        <p:nvSpPr>
          <p:cNvPr id="523" name="T524">
            <a:extLst>
              <a:ext uri="{FF2B5EF4-FFF2-40B4-BE49-F238E27FC236}">
                <a16:creationId xmlns:a16="http://schemas.microsoft.com/office/drawing/2014/main" id="{F902051C-FF73-4209-B8DD-014BCE86CC2C}"/>
              </a:ext>
            </a:extLst>
          </p:cNvPr>
          <p:cNvSpPr>
            <a:spLocks noGrp="1"/>
          </p:cNvSpPr>
          <p:nvPr/>
        </p:nvSpPr>
        <p:spPr>
          <a:xfrm>
            <a:off x="1170432" y="7104888"/>
            <a:ext cx="10972800" cy="402336"/>
          </a:xfrm>
          <a:prstGeom prst="rect">
            <a:avLst/>
          </a:prstGeom>
        </p:spPr>
        <p:txBody>
          <a:bodyPr wrap="square" lIns="0" tIns="0" rIns="0" bIns="0" anchor="ctr"/>
          <a:lstStyle/>
          <a:p>
            <a:pPr algn="l">
              <a:lnSpc>
                <a:spcPct val="135000"/>
              </a:lnSpc>
              <a:spcAft>
                <a:spcPts val="0"/>
              </a:spcAft>
              <a:buNone/>
            </a:pPr>
            <a:r>
              <a:rPr sz="2200">
                <a:solidFill>
                  <a:srgbClr val="1A1A1A"/>
                </a:solidFill>
                <a:latin typeface="Pretendard SemiBold"/>
                <a:ea typeface="Pretendard SemiBold"/>
                <a:cs typeface="Pretendard SemiBold"/>
              </a:rPr>
              <a:t>화면 공통 예외 처리</a:t>
            </a:r>
          </a:p>
        </p:txBody>
      </p:sp>
      <p:sp>
        <p:nvSpPr>
          <p:cNvPr id="525" name="S526">
            <a:extLst>
              <a:ext uri="{FF2B5EF4-FFF2-40B4-BE49-F238E27FC236}">
                <a16:creationId xmlns:a16="http://schemas.microsoft.com/office/drawing/2014/main" id="{8ED4B5B7-5481-4176-B6F3-2CE31F755C26}"/>
              </a:ext>
            </a:extLst>
          </p:cNvPr>
          <p:cNvSpPr>
            <a:spLocks noGrp="1"/>
          </p:cNvSpPr>
          <p:nvPr/>
        </p:nvSpPr>
        <p:spPr>
          <a:xfrm>
            <a:off x="914400"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27" name="T528">
            <a:extLst>
              <a:ext uri="{FF2B5EF4-FFF2-40B4-BE49-F238E27FC236}">
                <a16:creationId xmlns:a16="http://schemas.microsoft.com/office/drawing/2014/main" id="{1BCD286F-2C91-4A6B-ABB1-B1F95E8A1D4A}"/>
              </a:ext>
            </a:extLst>
          </p:cNvPr>
          <p:cNvSpPr>
            <a:spLocks noGrp="1"/>
          </p:cNvSpPr>
          <p:nvPr/>
        </p:nvSpPr>
        <p:spPr>
          <a:xfrm>
            <a:off x="1005840"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200 · 201</a:t>
            </a:r>
          </a:p>
        </p:txBody>
      </p:sp>
      <p:sp>
        <p:nvSpPr>
          <p:cNvPr id="529" name="T530">
            <a:extLst>
              <a:ext uri="{FF2B5EF4-FFF2-40B4-BE49-F238E27FC236}">
                <a16:creationId xmlns:a16="http://schemas.microsoft.com/office/drawing/2014/main" id="{15952971-1579-4EED-933B-4867CABD3E78}"/>
              </a:ext>
            </a:extLst>
          </p:cNvPr>
          <p:cNvSpPr>
            <a:spLocks noGrp="1"/>
          </p:cNvSpPr>
          <p:nvPr/>
        </p:nvSpPr>
        <p:spPr>
          <a:xfrm>
            <a:off x="1005840"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정상 조회 · 생성</a:t>
            </a:r>
          </a:p>
        </p:txBody>
      </p:sp>
      <p:sp>
        <p:nvSpPr>
          <p:cNvPr id="531" name="S532">
            <a:extLst>
              <a:ext uri="{FF2B5EF4-FFF2-40B4-BE49-F238E27FC236}">
                <a16:creationId xmlns:a16="http://schemas.microsoft.com/office/drawing/2014/main" id="{DF45C5B5-48D8-46FF-8D7B-624CBFECCE51}"/>
              </a:ext>
            </a:extLst>
          </p:cNvPr>
          <p:cNvSpPr>
            <a:spLocks noGrp="1"/>
          </p:cNvSpPr>
          <p:nvPr/>
        </p:nvSpPr>
        <p:spPr>
          <a:xfrm>
            <a:off x="3666744"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33" name="T534">
            <a:extLst>
              <a:ext uri="{FF2B5EF4-FFF2-40B4-BE49-F238E27FC236}">
                <a16:creationId xmlns:a16="http://schemas.microsoft.com/office/drawing/2014/main" id="{91C2B07A-7867-4774-9443-AA40AA791202}"/>
              </a:ext>
            </a:extLst>
          </p:cNvPr>
          <p:cNvSpPr>
            <a:spLocks noGrp="1"/>
          </p:cNvSpPr>
          <p:nvPr/>
        </p:nvSpPr>
        <p:spPr>
          <a:xfrm>
            <a:off x="3758184"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400</a:t>
            </a:r>
          </a:p>
        </p:txBody>
      </p:sp>
      <p:sp>
        <p:nvSpPr>
          <p:cNvPr id="535" name="T536">
            <a:extLst>
              <a:ext uri="{FF2B5EF4-FFF2-40B4-BE49-F238E27FC236}">
                <a16:creationId xmlns:a16="http://schemas.microsoft.com/office/drawing/2014/main" id="{3A69EF82-196F-4F1F-BEEC-A5620760148C}"/>
              </a:ext>
            </a:extLst>
          </p:cNvPr>
          <p:cNvSpPr>
            <a:spLocks noGrp="1"/>
          </p:cNvSpPr>
          <p:nvPr/>
        </p:nvSpPr>
        <p:spPr>
          <a:xfrm>
            <a:off x="3758184"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필수값 · 형식 오류</a:t>
            </a:r>
          </a:p>
        </p:txBody>
      </p:sp>
      <p:sp>
        <p:nvSpPr>
          <p:cNvPr id="537" name="S538">
            <a:extLst>
              <a:ext uri="{FF2B5EF4-FFF2-40B4-BE49-F238E27FC236}">
                <a16:creationId xmlns:a16="http://schemas.microsoft.com/office/drawing/2014/main" id="{5EFD23E2-E940-48BD-95B8-3923C44C14DA}"/>
              </a:ext>
            </a:extLst>
          </p:cNvPr>
          <p:cNvSpPr>
            <a:spLocks noGrp="1"/>
          </p:cNvSpPr>
          <p:nvPr/>
        </p:nvSpPr>
        <p:spPr>
          <a:xfrm>
            <a:off x="6419088"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39" name="T540">
            <a:extLst>
              <a:ext uri="{FF2B5EF4-FFF2-40B4-BE49-F238E27FC236}">
                <a16:creationId xmlns:a16="http://schemas.microsoft.com/office/drawing/2014/main" id="{6649702B-9E81-4C5F-89B4-2672F893C5D6}"/>
              </a:ext>
            </a:extLst>
          </p:cNvPr>
          <p:cNvSpPr>
            <a:spLocks noGrp="1"/>
          </p:cNvSpPr>
          <p:nvPr/>
        </p:nvSpPr>
        <p:spPr>
          <a:xfrm>
            <a:off x="6510528"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401 · 403</a:t>
            </a:r>
          </a:p>
        </p:txBody>
      </p:sp>
      <p:sp>
        <p:nvSpPr>
          <p:cNvPr id="541" name="T542">
            <a:extLst>
              <a:ext uri="{FF2B5EF4-FFF2-40B4-BE49-F238E27FC236}">
                <a16:creationId xmlns:a16="http://schemas.microsoft.com/office/drawing/2014/main" id="{38378F7B-0B2B-40A3-B6F8-DD52A20D3A84}"/>
              </a:ext>
            </a:extLst>
          </p:cNvPr>
          <p:cNvSpPr>
            <a:spLocks noGrp="1"/>
          </p:cNvSpPr>
          <p:nvPr/>
        </p:nvSpPr>
        <p:spPr>
          <a:xfrm>
            <a:off x="6510528"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인증 실패 · 만료 초대</a:t>
            </a:r>
          </a:p>
          <a:p>
            <a:pPr algn="ctr">
              <a:lnSpc>
                <a:spcPct val="125000"/>
              </a:lnSpc>
              <a:spcAft>
                <a:spcPts val="0"/>
              </a:spcAft>
              <a:buNone/>
            </a:pPr>
            <a:r>
              <a:rPr sz="1300">
                <a:solidFill>
                  <a:srgbClr val="6E6A63"/>
                </a:solidFill>
                <a:latin typeface="Pretendard Medium"/>
                <a:ea typeface="Pretendard Medium"/>
                <a:cs typeface="Pretendard Medium"/>
              </a:rPr>
              <a:t>타 기업 · 역할 위반</a:t>
            </a:r>
          </a:p>
        </p:txBody>
      </p:sp>
      <p:sp>
        <p:nvSpPr>
          <p:cNvPr id="543" name="S544">
            <a:extLst>
              <a:ext uri="{FF2B5EF4-FFF2-40B4-BE49-F238E27FC236}">
                <a16:creationId xmlns:a16="http://schemas.microsoft.com/office/drawing/2014/main" id="{4C9F5F79-5552-46CC-84FE-67823404ABBE}"/>
              </a:ext>
            </a:extLst>
          </p:cNvPr>
          <p:cNvSpPr>
            <a:spLocks noGrp="1"/>
          </p:cNvSpPr>
          <p:nvPr/>
        </p:nvSpPr>
        <p:spPr>
          <a:xfrm>
            <a:off x="9171432" y="7616952"/>
            <a:ext cx="2624328" cy="1005840"/>
          </a:xfrm>
          <a:prstGeom prst="roundRect">
            <a:avLst>
              <a:gd name="adj" fmla="val 5000"/>
            </a:avLst>
          </a:prstGeom>
          <a:solidFill>
            <a:srgbClr val="FFFFFF"/>
          </a:solidFill>
          <a:ln w="15875">
            <a:solidFill>
              <a:srgbClr val="E5E0D6"/>
            </a:solidFill>
          </a:ln>
        </p:spPr>
        <p:txBody>
          <a:bodyPr/>
          <a:lstStyle/>
          <a:p>
            <a:endParaRPr/>
          </a:p>
        </p:txBody>
      </p:sp>
      <p:sp>
        <p:nvSpPr>
          <p:cNvPr id="545" name="T546">
            <a:extLst>
              <a:ext uri="{FF2B5EF4-FFF2-40B4-BE49-F238E27FC236}">
                <a16:creationId xmlns:a16="http://schemas.microsoft.com/office/drawing/2014/main" id="{78053790-809E-4871-A7B3-21C035135769}"/>
              </a:ext>
            </a:extLst>
          </p:cNvPr>
          <p:cNvSpPr>
            <a:spLocks noGrp="1"/>
          </p:cNvSpPr>
          <p:nvPr/>
        </p:nvSpPr>
        <p:spPr>
          <a:xfrm>
            <a:off x="9262872" y="7726680"/>
            <a:ext cx="2441448" cy="384048"/>
          </a:xfrm>
          <a:prstGeom prst="rect">
            <a:avLst/>
          </a:prstGeom>
        </p:spPr>
        <p:txBody>
          <a:bodyPr wrap="square" lIns="0" tIns="0" rIns="0" bIns="0" anchor="t"/>
          <a:lstStyle/>
          <a:p>
            <a:pPr algn="ctr">
              <a:lnSpc>
                <a:spcPct val="135000"/>
              </a:lnSpc>
              <a:spcAft>
                <a:spcPts val="0"/>
              </a:spcAft>
              <a:buNone/>
            </a:pPr>
            <a:r>
              <a:rPr sz="1700">
                <a:solidFill>
                  <a:srgbClr val="1A1A1A"/>
                </a:solidFill>
                <a:latin typeface="Pretendard SemiBold"/>
                <a:ea typeface="Pretendard SemiBold"/>
                <a:cs typeface="Pretendard SemiBold"/>
              </a:rPr>
              <a:t>404</a:t>
            </a:r>
          </a:p>
        </p:txBody>
      </p:sp>
      <p:sp>
        <p:nvSpPr>
          <p:cNvPr id="547" name="T548">
            <a:extLst>
              <a:ext uri="{FF2B5EF4-FFF2-40B4-BE49-F238E27FC236}">
                <a16:creationId xmlns:a16="http://schemas.microsoft.com/office/drawing/2014/main" id="{0D76DE89-E40E-45DF-A099-66CDEBAE2D56}"/>
              </a:ext>
            </a:extLst>
          </p:cNvPr>
          <p:cNvSpPr>
            <a:spLocks noGrp="1"/>
          </p:cNvSpPr>
          <p:nvPr/>
        </p:nvSpPr>
        <p:spPr>
          <a:xfrm>
            <a:off x="9262872"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없는 신청 · 문서</a:t>
            </a:r>
          </a:p>
        </p:txBody>
      </p:sp>
      <p:sp>
        <p:nvSpPr>
          <p:cNvPr id="549" name="S550">
            <a:extLst>
              <a:ext uri="{FF2B5EF4-FFF2-40B4-BE49-F238E27FC236}">
                <a16:creationId xmlns:a16="http://schemas.microsoft.com/office/drawing/2014/main" id="{FC270805-82CC-402B-973D-A8A4F46A8F34}"/>
              </a:ext>
            </a:extLst>
          </p:cNvPr>
          <p:cNvSpPr>
            <a:spLocks noGrp="1"/>
          </p:cNvSpPr>
          <p:nvPr/>
        </p:nvSpPr>
        <p:spPr>
          <a:xfrm>
            <a:off x="11923776" y="7616952"/>
            <a:ext cx="2624328" cy="1005840"/>
          </a:xfrm>
          <a:prstGeom prst="roundRect">
            <a:avLst>
              <a:gd name="adj" fmla="val 5000"/>
            </a:avLst>
          </a:prstGeom>
          <a:solidFill>
            <a:srgbClr val="FFF1F3"/>
          </a:solidFill>
          <a:ln w="15875">
            <a:solidFill>
              <a:srgbClr val="EA002C"/>
            </a:solidFill>
          </a:ln>
        </p:spPr>
        <p:txBody>
          <a:bodyPr/>
          <a:lstStyle/>
          <a:p>
            <a:endParaRPr/>
          </a:p>
        </p:txBody>
      </p:sp>
      <p:sp>
        <p:nvSpPr>
          <p:cNvPr id="551" name="T552">
            <a:extLst>
              <a:ext uri="{FF2B5EF4-FFF2-40B4-BE49-F238E27FC236}">
                <a16:creationId xmlns:a16="http://schemas.microsoft.com/office/drawing/2014/main" id="{269E7D7D-D822-469F-812A-DFB45913F6EF}"/>
              </a:ext>
            </a:extLst>
          </p:cNvPr>
          <p:cNvSpPr>
            <a:spLocks noGrp="1"/>
          </p:cNvSpPr>
          <p:nvPr/>
        </p:nvSpPr>
        <p:spPr>
          <a:xfrm>
            <a:off x="12015216" y="7726680"/>
            <a:ext cx="2441448" cy="384048"/>
          </a:xfrm>
          <a:prstGeom prst="rect">
            <a:avLst/>
          </a:prstGeom>
        </p:spPr>
        <p:txBody>
          <a:bodyPr wrap="square" lIns="0" tIns="0" rIns="0" bIns="0" anchor="t"/>
          <a:lstStyle/>
          <a:p>
            <a:pPr algn="ctr">
              <a:lnSpc>
                <a:spcPct val="135000"/>
              </a:lnSpc>
              <a:spcAft>
                <a:spcPts val="0"/>
              </a:spcAft>
              <a:buNone/>
            </a:pPr>
            <a:r>
              <a:rPr sz="1700">
                <a:solidFill>
                  <a:srgbClr val="EA002C"/>
                </a:solidFill>
                <a:latin typeface="Pretendard SemiBold"/>
                <a:ea typeface="Pretendard SemiBold"/>
                <a:cs typeface="Pretendard SemiBold"/>
              </a:rPr>
              <a:t>409 · 422</a:t>
            </a:r>
          </a:p>
        </p:txBody>
      </p:sp>
      <p:sp>
        <p:nvSpPr>
          <p:cNvPr id="553" name="T554">
            <a:extLst>
              <a:ext uri="{FF2B5EF4-FFF2-40B4-BE49-F238E27FC236}">
                <a16:creationId xmlns:a16="http://schemas.microsoft.com/office/drawing/2014/main" id="{CE36DB95-7BF6-49A4-88C0-45D821338EE6}"/>
              </a:ext>
            </a:extLst>
          </p:cNvPr>
          <p:cNvSpPr>
            <a:spLocks noGrp="1"/>
          </p:cNvSpPr>
          <p:nvPr/>
        </p:nvSpPr>
        <p:spPr>
          <a:xfrm>
            <a:off x="12015216"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이미 처리된 건</a:t>
            </a:r>
          </a:p>
          <a:p>
            <a:pPr algn="ctr">
              <a:lnSpc>
                <a:spcPct val="125000"/>
              </a:lnSpc>
              <a:spcAft>
                <a:spcPts val="0"/>
              </a:spcAft>
              <a:buNone/>
            </a:pPr>
            <a:r>
              <a:rPr sz="1300">
                <a:solidFill>
                  <a:srgbClr val="6E6A63"/>
                </a:solidFill>
                <a:latin typeface="Pretendard Medium"/>
                <a:ea typeface="Pretendard Medium"/>
                <a:cs typeface="Pretendard Medium"/>
              </a:rPr>
              <a:t>차단 오류 미해결</a:t>
            </a:r>
          </a:p>
        </p:txBody>
      </p:sp>
      <p:sp>
        <p:nvSpPr>
          <p:cNvPr id="555" name="S556">
            <a:extLst>
              <a:ext uri="{FF2B5EF4-FFF2-40B4-BE49-F238E27FC236}">
                <a16:creationId xmlns:a16="http://schemas.microsoft.com/office/drawing/2014/main" id="{3EBC72B4-FDA8-4381-B447-76C234DFE3C4}"/>
              </a:ext>
            </a:extLst>
          </p:cNvPr>
          <p:cNvSpPr>
            <a:spLocks noGrp="1"/>
          </p:cNvSpPr>
          <p:nvPr/>
        </p:nvSpPr>
        <p:spPr>
          <a:xfrm>
            <a:off x="14676120" y="7616952"/>
            <a:ext cx="2624328" cy="1005840"/>
          </a:xfrm>
          <a:prstGeom prst="roundRect">
            <a:avLst>
              <a:gd name="adj" fmla="val 5000"/>
            </a:avLst>
          </a:prstGeom>
          <a:solidFill>
            <a:srgbClr val="FFF1F3"/>
          </a:solidFill>
          <a:ln w="15875">
            <a:solidFill>
              <a:srgbClr val="EA002C"/>
            </a:solidFill>
          </a:ln>
        </p:spPr>
        <p:txBody>
          <a:bodyPr/>
          <a:lstStyle/>
          <a:p>
            <a:endParaRPr/>
          </a:p>
        </p:txBody>
      </p:sp>
      <p:sp>
        <p:nvSpPr>
          <p:cNvPr id="557" name="T558">
            <a:extLst>
              <a:ext uri="{FF2B5EF4-FFF2-40B4-BE49-F238E27FC236}">
                <a16:creationId xmlns:a16="http://schemas.microsoft.com/office/drawing/2014/main" id="{847937BD-2F58-4019-8C1C-B8FE691E91E4}"/>
              </a:ext>
            </a:extLst>
          </p:cNvPr>
          <p:cNvSpPr>
            <a:spLocks noGrp="1"/>
          </p:cNvSpPr>
          <p:nvPr/>
        </p:nvSpPr>
        <p:spPr>
          <a:xfrm>
            <a:off x="14767560" y="7726680"/>
            <a:ext cx="2441448" cy="384048"/>
          </a:xfrm>
          <a:prstGeom prst="rect">
            <a:avLst/>
          </a:prstGeom>
        </p:spPr>
        <p:txBody>
          <a:bodyPr wrap="square" lIns="0" tIns="0" rIns="0" bIns="0" anchor="t"/>
          <a:lstStyle/>
          <a:p>
            <a:pPr algn="ctr">
              <a:lnSpc>
                <a:spcPct val="135000"/>
              </a:lnSpc>
              <a:spcAft>
                <a:spcPts val="0"/>
              </a:spcAft>
              <a:buNone/>
            </a:pPr>
            <a:r>
              <a:rPr sz="1700">
                <a:solidFill>
                  <a:srgbClr val="EA002C"/>
                </a:solidFill>
                <a:latin typeface="Pretendard SemiBold"/>
                <a:ea typeface="Pretendard SemiBold"/>
                <a:cs typeface="Pretendard SemiBold"/>
              </a:rPr>
              <a:t>500 · 502 · 504</a:t>
            </a:r>
          </a:p>
        </p:txBody>
      </p:sp>
      <p:sp>
        <p:nvSpPr>
          <p:cNvPr id="559" name="T560">
            <a:extLst>
              <a:ext uri="{FF2B5EF4-FFF2-40B4-BE49-F238E27FC236}">
                <a16:creationId xmlns:a16="http://schemas.microsoft.com/office/drawing/2014/main" id="{D2D1FEC2-F392-4B05-9781-4B915E14E62F}"/>
              </a:ext>
            </a:extLst>
          </p:cNvPr>
          <p:cNvSpPr>
            <a:spLocks noGrp="1"/>
          </p:cNvSpPr>
          <p:nvPr/>
        </p:nvSpPr>
        <p:spPr>
          <a:xfrm>
            <a:off x="14767560" y="8092440"/>
            <a:ext cx="2441448" cy="493776"/>
          </a:xfrm>
          <a:prstGeom prst="rect">
            <a:avLst/>
          </a:prstGeom>
        </p:spPr>
        <p:txBody>
          <a:bodyPr wrap="square" lIns="0" tIns="0" rIns="0" bIns="0" anchor="t"/>
          <a:lstStyle/>
          <a:p>
            <a:pPr algn="ctr">
              <a:lnSpc>
                <a:spcPct val="125000"/>
              </a:lnSpc>
              <a:spcAft>
                <a:spcPts val="0"/>
              </a:spcAft>
              <a:buNone/>
            </a:pPr>
            <a:r>
              <a:rPr sz="1300">
                <a:solidFill>
                  <a:srgbClr val="6E6A63"/>
                </a:solidFill>
                <a:latin typeface="Pretendard Medium"/>
                <a:ea typeface="Pretendard Medium"/>
                <a:cs typeface="Pretendard Medium"/>
              </a:rPr>
              <a:t>서버 내부 오류</a:t>
            </a:r>
          </a:p>
          <a:p>
            <a:pPr algn="ctr">
              <a:lnSpc>
                <a:spcPct val="125000"/>
              </a:lnSpc>
              <a:spcAft>
                <a:spcPts val="0"/>
              </a:spcAft>
              <a:buNone/>
            </a:pPr>
            <a:r>
              <a:rPr sz="1300">
                <a:solidFill>
                  <a:srgbClr val="6E6A63"/>
                </a:solidFill>
                <a:latin typeface="Pretendard Medium"/>
                <a:ea typeface="Pretendard Medium"/>
                <a:cs typeface="Pretendard Medium"/>
              </a:rPr>
              <a:t>외부 OCR 연동 실패</a:t>
            </a:r>
          </a:p>
        </p:txBody>
      </p:sp>
      <p:sp>
        <p:nvSpPr>
          <p:cNvPr id="561" name="S562">
            <a:extLst>
              <a:ext uri="{FF2B5EF4-FFF2-40B4-BE49-F238E27FC236}">
                <a16:creationId xmlns:a16="http://schemas.microsoft.com/office/drawing/2014/main" id="{78E7CC65-1827-4EC6-8816-4605AC4CB53B}"/>
              </a:ext>
            </a:extLst>
          </p:cNvPr>
          <p:cNvSpPr>
            <a:spLocks noGrp="1"/>
          </p:cNvSpPr>
          <p:nvPr/>
        </p:nvSpPr>
        <p:spPr>
          <a:xfrm>
            <a:off x="914400" y="8778240"/>
            <a:ext cx="16459200" cy="777240"/>
          </a:xfrm>
          <a:prstGeom prst="roundRect">
            <a:avLst>
              <a:gd name="adj" fmla="val 6000"/>
            </a:avLst>
          </a:prstGeom>
          <a:solidFill>
            <a:srgbClr val="F3F0EA"/>
          </a:solidFill>
          <a:ln w="15875">
            <a:solidFill>
              <a:srgbClr val="E5E0D6"/>
            </a:solidFill>
            <a:prstDash val="dash"/>
          </a:ln>
        </p:spPr>
        <p:txBody>
          <a:bodyPr/>
          <a:lstStyle/>
          <a:p>
            <a:endParaRPr/>
          </a:p>
        </p:txBody>
      </p:sp>
      <p:sp>
        <p:nvSpPr>
          <p:cNvPr id="563" name="T564">
            <a:extLst>
              <a:ext uri="{FF2B5EF4-FFF2-40B4-BE49-F238E27FC236}">
                <a16:creationId xmlns:a16="http://schemas.microsoft.com/office/drawing/2014/main" id="{B1E5A99C-480A-4758-9306-91D158B71E45}"/>
              </a:ext>
            </a:extLst>
          </p:cNvPr>
          <p:cNvSpPr>
            <a:spLocks noGrp="1"/>
          </p:cNvSpPr>
          <p:nvPr/>
        </p:nvSpPr>
        <p:spPr>
          <a:xfrm>
            <a:off x="914400" y="8778240"/>
            <a:ext cx="16459200" cy="777240"/>
          </a:xfrm>
          <a:prstGeom prst="rect">
            <a:avLst/>
          </a:prstGeom>
        </p:spPr>
        <p:txBody>
          <a:bodyPr wrap="square" lIns="0" tIns="0" rIns="0" bIns="0" anchor="ctr"/>
          <a:lstStyle/>
          <a:p>
            <a:pPr algn="ctr">
              <a:lnSpc>
                <a:spcPct val="135000"/>
              </a:lnSpc>
              <a:spcAft>
                <a:spcPts val="0"/>
              </a:spcAft>
              <a:buNone/>
            </a:pPr>
            <a:r>
              <a:rPr sz="1600">
                <a:solidFill>
                  <a:srgbClr val="6E6A63"/>
                </a:solidFill>
                <a:latin typeface="Pretendard Medium"/>
                <a:ea typeface="Pretendard Medium"/>
                <a:cs typeface="Pretendard Medium"/>
              </a:rPr>
              <a:t>화면설계서에는 5개 화면의 와이어프레임, 사용자 흐름, 요소별 설명과 예외 처리 수록</a:t>
            </a:r>
          </a:p>
        </p:txBody>
      </p:sp>
    </p:spTree>
    <p:extLst>
      <p:ext uri="{BB962C8B-B14F-4D97-AF65-F5344CB8AC3E}">
        <p14:creationId xmlns:p14="http://schemas.microsoft.com/office/powerpoint/2010/main" val="503478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4A050EC6-4559-4003-97B3-CE976B7B8FF1}"/>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53C6925B-94B0-46ED-8B5E-F0CACE886C23}"/>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718FBFD0-4E9B-4F63-B53A-00EB8197BEE8}"/>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CAF5471F-04CF-4423-A558-B73DBDB84E36}"/>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UI 흐름 — 서류 업로드</a:t>
            </a:r>
          </a:p>
        </p:txBody>
      </p:sp>
      <p:sp>
        <p:nvSpPr>
          <p:cNvPr id="7" name="Freeform 7">
            <a:extLst>
              <a:ext uri="{FF2B5EF4-FFF2-40B4-BE49-F238E27FC236}">
                <a16:creationId xmlns:a16="http://schemas.microsoft.com/office/drawing/2014/main" id="{2C957D99-FC28-43CA-8F17-250DA7402667}"/>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642" name="P566"/>
          <p:cNvPicPr>
            <a:picLocks noChangeAspect="1"/>
          </p:cNvPicPr>
          <p:nvPr/>
        </p:nvPicPr>
        <p:blipFill>
          <a:blip r:embed="rId4"/>
          <a:stretch>
            <a:fillRect/>
          </a:stretch>
        </p:blipFill>
        <p:spPr>
          <a:xfrm>
            <a:off x="914400" y="1965960"/>
            <a:ext cx="9950860" cy="6309360"/>
          </a:xfrm>
          <a:prstGeom prst="rect">
            <a:avLst/>
          </a:prstGeom>
          <a:ln w="9525">
            <a:solidFill>
              <a:srgbClr val="D8DCE2"/>
            </a:solidFill>
          </a:ln>
        </p:spPr>
      </p:pic>
      <p:sp>
        <p:nvSpPr>
          <p:cNvPr id="567" name="T568">
            <a:extLst>
              <a:ext uri="{FF2B5EF4-FFF2-40B4-BE49-F238E27FC236}">
                <a16:creationId xmlns:a16="http://schemas.microsoft.com/office/drawing/2014/main" id="{EC0330A8-AB76-4F11-82C9-942C85C6FC0B}"/>
              </a:ext>
            </a:extLst>
          </p:cNvPr>
          <p:cNvSpPr>
            <a:spLocks noGrp="1"/>
          </p:cNvSpPr>
          <p:nvPr/>
        </p:nvSpPr>
        <p:spPr>
          <a:xfrm>
            <a:off x="914400" y="1490472"/>
            <a:ext cx="1645920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SCR-COMP-001 · 기업 서류 제출 현황 · 업로드   —   대표 상태 : 보완 요청 후 재업로드 분석 중</a:t>
            </a:r>
          </a:p>
        </p:txBody>
      </p:sp>
      <p:sp>
        <p:nvSpPr>
          <p:cNvPr id="569" name="S570">
            <a:extLst>
              <a:ext uri="{FF2B5EF4-FFF2-40B4-BE49-F238E27FC236}">
                <a16:creationId xmlns:a16="http://schemas.microsoft.com/office/drawing/2014/main" id="{FCB48ECF-0163-43BC-BF28-81D8E7A7E334}"/>
              </a:ext>
            </a:extLst>
          </p:cNvPr>
          <p:cNvSpPr>
            <a:spLocks noGrp="1"/>
          </p:cNvSpPr>
          <p:nvPr/>
        </p:nvSpPr>
        <p:spPr>
          <a:xfrm>
            <a:off x="11276740" y="1965960"/>
            <a:ext cx="6096860" cy="1591056"/>
          </a:xfrm>
          <a:prstGeom prst="roundRect">
            <a:avLst>
              <a:gd name="adj" fmla="val 5000"/>
            </a:avLst>
          </a:prstGeom>
          <a:solidFill>
            <a:srgbClr val="FFF1F3"/>
          </a:solidFill>
          <a:ln w="19050">
            <a:solidFill>
              <a:srgbClr val="EA002C"/>
            </a:solidFill>
          </a:ln>
        </p:spPr>
        <p:txBody>
          <a:bodyPr/>
          <a:lstStyle/>
          <a:p>
            <a:endParaRPr/>
          </a:p>
        </p:txBody>
      </p:sp>
      <p:sp>
        <p:nvSpPr>
          <p:cNvPr id="571" name="T572">
            <a:extLst>
              <a:ext uri="{FF2B5EF4-FFF2-40B4-BE49-F238E27FC236}">
                <a16:creationId xmlns:a16="http://schemas.microsoft.com/office/drawing/2014/main" id="{C18324E6-A47A-418A-95D7-8FBC3E7B5008}"/>
              </a:ext>
            </a:extLst>
          </p:cNvPr>
          <p:cNvSpPr>
            <a:spLocks noGrp="1"/>
          </p:cNvSpPr>
          <p:nvPr/>
        </p:nvSpPr>
        <p:spPr>
          <a:xfrm>
            <a:off x="11532772" y="2112264"/>
            <a:ext cx="5584796"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POST /documents</a:t>
            </a:r>
          </a:p>
        </p:txBody>
      </p:sp>
      <p:sp>
        <p:nvSpPr>
          <p:cNvPr id="573" name="T574">
            <a:extLst>
              <a:ext uri="{FF2B5EF4-FFF2-40B4-BE49-F238E27FC236}">
                <a16:creationId xmlns:a16="http://schemas.microsoft.com/office/drawing/2014/main" id="{46B15B21-7AB9-49C8-B00A-FB7AABEC7DC6}"/>
              </a:ext>
            </a:extLst>
          </p:cNvPr>
          <p:cNvSpPr>
            <a:spLocks noGrp="1"/>
          </p:cNvSpPr>
          <p:nvPr/>
        </p:nvSpPr>
        <p:spPr>
          <a:xfrm>
            <a:off x="11532772" y="2660904"/>
            <a:ext cx="5584796" cy="749808"/>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문서 유형을 지정해 원본 파일 업로드</a:t>
            </a:r>
          </a:p>
          <a:p>
            <a:pPr algn="l">
              <a:lnSpc>
                <a:spcPct val="138000"/>
              </a:lnSpc>
              <a:spcAft>
                <a:spcPts val="0"/>
              </a:spcAft>
              <a:buNone/>
            </a:pPr>
            <a:r>
              <a:rPr sz="1400">
                <a:solidFill>
                  <a:srgbClr val="1A1A1A"/>
                </a:solidFill>
                <a:latin typeface="Pretendard Medium"/>
                <a:ea typeface="Pretendard Medium"/>
                <a:cs typeface="Pretendard Medium"/>
              </a:rPr>
              <a:t>같은 유형을 다시 올리면 version_no 증가 (이전 파일 유지)</a:t>
            </a:r>
          </a:p>
        </p:txBody>
      </p:sp>
      <p:cxnSp>
        <p:nvCxnSpPr>
          <p:cNvPr id="647" name="C576"/>
          <p:cNvCxnSpPr/>
          <p:nvPr/>
        </p:nvCxnSpPr>
        <p:spPr>
          <a:xfrm flipH="1">
            <a:off x="8868578" y="2761488"/>
            <a:ext cx="2335010" cy="2642616"/>
          </a:xfrm>
          <a:prstGeom prst="straightConnector1">
            <a:avLst/>
          </a:prstGeom>
          <a:ln w="22225">
            <a:solidFill>
              <a:srgbClr val="EA002C"/>
            </a:solidFill>
            <a:tailEnd type="triangle" w="med" len="med"/>
          </a:ln>
        </p:spPr>
      </p:cxnSp>
      <p:sp>
        <p:nvSpPr>
          <p:cNvPr id="577" name="S578">
            <a:extLst>
              <a:ext uri="{FF2B5EF4-FFF2-40B4-BE49-F238E27FC236}">
                <a16:creationId xmlns:a16="http://schemas.microsoft.com/office/drawing/2014/main" id="{A1835E27-510C-42DF-85F0-6892444DB1ED}"/>
              </a:ext>
            </a:extLst>
          </p:cNvPr>
          <p:cNvSpPr>
            <a:spLocks noGrp="1"/>
          </p:cNvSpPr>
          <p:nvPr/>
        </p:nvSpPr>
        <p:spPr>
          <a:xfrm>
            <a:off x="11276740" y="3813048"/>
            <a:ext cx="6096860" cy="1591056"/>
          </a:xfrm>
          <a:prstGeom prst="roundRect">
            <a:avLst>
              <a:gd name="adj" fmla="val 5000"/>
            </a:avLst>
          </a:prstGeom>
          <a:solidFill>
            <a:srgbClr val="FFF1F3"/>
          </a:solidFill>
          <a:ln w="19050">
            <a:solidFill>
              <a:srgbClr val="EA002C"/>
            </a:solidFill>
          </a:ln>
        </p:spPr>
        <p:txBody>
          <a:bodyPr/>
          <a:lstStyle/>
          <a:p>
            <a:endParaRPr/>
          </a:p>
        </p:txBody>
      </p:sp>
      <p:sp>
        <p:nvSpPr>
          <p:cNvPr id="579" name="T580">
            <a:extLst>
              <a:ext uri="{FF2B5EF4-FFF2-40B4-BE49-F238E27FC236}">
                <a16:creationId xmlns:a16="http://schemas.microsoft.com/office/drawing/2014/main" id="{6C76B76C-EC91-48E5-9120-1C8ECAF3AB13}"/>
              </a:ext>
            </a:extLst>
          </p:cNvPr>
          <p:cNvSpPr>
            <a:spLocks noGrp="1"/>
          </p:cNvSpPr>
          <p:nvPr/>
        </p:nvSpPr>
        <p:spPr>
          <a:xfrm>
            <a:off x="11532772" y="3959352"/>
            <a:ext cx="5584796"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POST /documents/{id}/retry</a:t>
            </a:r>
          </a:p>
        </p:txBody>
      </p:sp>
      <p:sp>
        <p:nvSpPr>
          <p:cNvPr id="581" name="T582">
            <a:extLst>
              <a:ext uri="{FF2B5EF4-FFF2-40B4-BE49-F238E27FC236}">
                <a16:creationId xmlns:a16="http://schemas.microsoft.com/office/drawing/2014/main" id="{0AA26111-F6BF-4B45-BA10-0823945F9756}"/>
              </a:ext>
            </a:extLst>
          </p:cNvPr>
          <p:cNvSpPr>
            <a:spLocks noGrp="1"/>
          </p:cNvSpPr>
          <p:nvPr/>
        </p:nvSpPr>
        <p:spPr>
          <a:xfrm>
            <a:off x="11532772" y="4507992"/>
            <a:ext cx="5584796" cy="749808"/>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OCR 실패 시 파일 재업로드 없이 분석만 최대 3회 재시도</a:t>
            </a:r>
          </a:p>
          <a:p>
            <a:pPr algn="l">
              <a:lnSpc>
                <a:spcPct val="138000"/>
              </a:lnSpc>
              <a:spcAft>
                <a:spcPts val="0"/>
              </a:spcAft>
              <a:buNone/>
            </a:pPr>
            <a:r>
              <a:rPr sz="1400">
                <a:solidFill>
                  <a:srgbClr val="1A1A1A"/>
                </a:solidFill>
                <a:latin typeface="Pretendard Medium"/>
                <a:ea typeface="Pretendard Medium"/>
                <a:cs typeface="Pretendard Medium"/>
              </a:rPr>
              <a:t>원본 파일과 신청 상태 유지</a:t>
            </a:r>
          </a:p>
        </p:txBody>
      </p:sp>
      <p:cxnSp>
        <p:nvCxnSpPr>
          <p:cNvPr id="651" name="C584"/>
          <p:cNvCxnSpPr/>
          <p:nvPr/>
        </p:nvCxnSpPr>
        <p:spPr>
          <a:xfrm flipH="1">
            <a:off x="7880002" y="4608576"/>
            <a:ext cx="3323586" cy="2783434"/>
          </a:xfrm>
          <a:prstGeom prst="straightConnector1">
            <a:avLst/>
          </a:prstGeom>
          <a:ln w="22225">
            <a:solidFill>
              <a:srgbClr val="EA002C"/>
            </a:solidFill>
            <a:tailEnd type="triangle" w="med" len="med"/>
          </a:ln>
        </p:spPr>
      </p:cxnSp>
      <p:sp>
        <p:nvSpPr>
          <p:cNvPr id="585" name="S586">
            <a:extLst>
              <a:ext uri="{FF2B5EF4-FFF2-40B4-BE49-F238E27FC236}">
                <a16:creationId xmlns:a16="http://schemas.microsoft.com/office/drawing/2014/main" id="{75E6E9DC-9930-460E-9FEA-790D5DD4162C}"/>
              </a:ext>
            </a:extLst>
          </p:cNvPr>
          <p:cNvSpPr>
            <a:spLocks noGrp="1"/>
          </p:cNvSpPr>
          <p:nvPr/>
        </p:nvSpPr>
        <p:spPr>
          <a:xfrm>
            <a:off x="11276740" y="5660136"/>
            <a:ext cx="6096860" cy="1591056"/>
          </a:xfrm>
          <a:prstGeom prst="roundRect">
            <a:avLst>
              <a:gd name="adj" fmla="val 5000"/>
            </a:avLst>
          </a:prstGeom>
          <a:solidFill>
            <a:srgbClr val="EAF4EC"/>
          </a:solidFill>
          <a:ln w="19050">
            <a:solidFill>
              <a:srgbClr val="1F7A45"/>
            </a:solidFill>
          </a:ln>
        </p:spPr>
        <p:txBody>
          <a:bodyPr/>
          <a:lstStyle/>
          <a:p>
            <a:endParaRPr/>
          </a:p>
        </p:txBody>
      </p:sp>
      <p:sp>
        <p:nvSpPr>
          <p:cNvPr id="587" name="T588">
            <a:extLst>
              <a:ext uri="{FF2B5EF4-FFF2-40B4-BE49-F238E27FC236}">
                <a16:creationId xmlns:a16="http://schemas.microsoft.com/office/drawing/2014/main" id="{B1372E80-53BA-49EF-BC2C-4AC9C41DBB58}"/>
              </a:ext>
            </a:extLst>
          </p:cNvPr>
          <p:cNvSpPr>
            <a:spLocks noGrp="1"/>
          </p:cNvSpPr>
          <p:nvPr/>
        </p:nvSpPr>
        <p:spPr>
          <a:xfrm>
            <a:off x="11532772" y="5806440"/>
            <a:ext cx="5584796" cy="402336"/>
          </a:xfrm>
          <a:prstGeom prst="rect">
            <a:avLst/>
          </a:prstGeom>
        </p:spPr>
        <p:txBody>
          <a:bodyPr wrap="square" lIns="0" tIns="0" rIns="0" bIns="0" anchor="ctr"/>
          <a:lstStyle/>
          <a:p>
            <a:pPr algn="l">
              <a:lnSpc>
                <a:spcPct val="135000"/>
              </a:lnSpc>
              <a:spcAft>
                <a:spcPts val="0"/>
              </a:spcAft>
              <a:buNone/>
            </a:pPr>
            <a:r>
              <a:rPr sz="1600">
                <a:solidFill>
                  <a:srgbClr val="1F7A45"/>
                </a:solidFill>
                <a:latin typeface="Pretendard SemiBold"/>
                <a:ea typeface="Pretendard SemiBold"/>
                <a:cs typeface="Pretendard SemiBold"/>
              </a:rPr>
              <a:t>⑨ 사전검증 결과 확인</a:t>
            </a:r>
          </a:p>
        </p:txBody>
      </p:sp>
      <p:sp>
        <p:nvSpPr>
          <p:cNvPr id="589" name="T590">
            <a:extLst>
              <a:ext uri="{FF2B5EF4-FFF2-40B4-BE49-F238E27FC236}">
                <a16:creationId xmlns:a16="http://schemas.microsoft.com/office/drawing/2014/main" id="{E17FEC86-53BB-4EF0-B785-0515D91F1BF2}"/>
              </a:ext>
            </a:extLst>
          </p:cNvPr>
          <p:cNvSpPr>
            <a:spLocks noGrp="1"/>
          </p:cNvSpPr>
          <p:nvPr/>
        </p:nvSpPr>
        <p:spPr>
          <a:xfrm>
            <a:off x="11532772" y="6355080"/>
            <a:ext cx="5584796" cy="749808"/>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모든 문서의 분석이 끝나면 활성화</a:t>
            </a:r>
          </a:p>
          <a:p>
            <a:pPr algn="l">
              <a:lnSpc>
                <a:spcPct val="138000"/>
              </a:lnSpc>
              <a:spcAft>
                <a:spcPts val="0"/>
              </a:spcAft>
              <a:buNone/>
            </a:pPr>
            <a:r>
              <a:rPr sz="1400">
                <a:solidFill>
                  <a:srgbClr val="1A1A1A"/>
                </a:solidFill>
                <a:latin typeface="Pretendard Medium"/>
                <a:ea typeface="Pretendard Medium"/>
                <a:cs typeface="Pretendard Medium"/>
              </a:rPr>
              <a:t>미제출 문서가 있어도 진입하여 누락 오류 확인</a:t>
            </a:r>
          </a:p>
        </p:txBody>
      </p:sp>
      <p:cxnSp>
        <p:nvCxnSpPr>
          <p:cNvPr id="655" name="C592"/>
          <p:cNvCxnSpPr/>
          <p:nvPr/>
        </p:nvCxnSpPr>
        <p:spPr>
          <a:xfrm flipH="1">
            <a:off x="10069417" y="6455664"/>
            <a:ext cx="1134171" cy="551064"/>
          </a:xfrm>
          <a:prstGeom prst="straightConnector1">
            <a:avLst/>
          </a:prstGeom>
          <a:ln w="22225">
            <a:solidFill>
              <a:srgbClr val="1F7A45"/>
            </a:solidFill>
            <a:tailEnd type="triangle" w="med" len="med"/>
          </a:ln>
        </p:spPr>
      </p:cxnSp>
      <p:sp>
        <p:nvSpPr>
          <p:cNvPr id="593" name="S594">
            <a:extLst>
              <a:ext uri="{FF2B5EF4-FFF2-40B4-BE49-F238E27FC236}">
                <a16:creationId xmlns:a16="http://schemas.microsoft.com/office/drawing/2014/main" id="{C0AFEF4E-6B4B-4150-8040-05872827E834}"/>
              </a:ext>
            </a:extLst>
          </p:cNvPr>
          <p:cNvSpPr>
            <a:spLocks noGrp="1"/>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595" name="T596">
            <a:extLst>
              <a:ext uri="{FF2B5EF4-FFF2-40B4-BE49-F238E27FC236}">
                <a16:creationId xmlns:a16="http://schemas.microsoft.com/office/drawing/2014/main" id="{48BBA070-B264-4682-BF80-DA99708DF6BC}"/>
              </a:ext>
            </a:extLst>
          </p:cNvPr>
          <p:cNvSpPr>
            <a:spLocks noGrp="1"/>
          </p:cNvSpPr>
          <p:nvPr/>
        </p:nvSpPr>
        <p:spPr>
          <a:xfrm>
            <a:off x="1371600" y="8686800"/>
            <a:ext cx="15544800" cy="868680"/>
          </a:xfrm>
          <a:prstGeom prst="rect">
            <a:avLst/>
          </a:prstGeom>
        </p:spPr>
        <p:txBody>
          <a:bodyPr wrap="square" lIns="0" tIns="0" rIns="0" bIns="0" anchor="ctr"/>
          <a:lstStyle/>
          <a:p>
            <a:pPr algn="l">
              <a:lnSpc>
                <a:spcPct val="140000"/>
              </a:lnSpc>
              <a:spcAft>
                <a:spcPts val="0"/>
              </a:spcAft>
              <a:buNone/>
            </a:pPr>
            <a:r>
              <a:rPr sz="1600">
                <a:solidFill>
                  <a:srgbClr val="1A1A1A"/>
                </a:solidFill>
                <a:latin typeface="Pretendard Medium"/>
                <a:ea typeface="Pretendard Medium"/>
                <a:cs typeface="Pretendard Medium"/>
              </a:rPr>
              <a:t>해당 화면에서는 문서별 처리 상태를 확인한다. OCR 추출값과 교차검증 결과는 다음 화면에서 제공한다.</a:t>
            </a:r>
          </a:p>
          <a:p>
            <a:pPr algn="l">
              <a:lnSpc>
                <a:spcPct val="140000"/>
              </a:lnSpc>
              <a:spcAft>
                <a:spcPts val="0"/>
              </a:spcAft>
              <a:buNone/>
            </a:pPr>
            <a:r>
              <a:rPr sz="1600">
                <a:solidFill>
                  <a:srgbClr val="1A1A1A"/>
                </a:solidFill>
                <a:latin typeface="Pretendard Medium"/>
                <a:ea typeface="Pretendard Medium"/>
                <a:cs typeface="Pretendard Medium"/>
              </a:rPr>
              <a:t>④ 보완 요청 배너는 REVISION_REQUESTED 상태에서만 표시되며 선택하면 대상 문서 카드로 이동한다.</a:t>
            </a:r>
          </a:p>
        </p:txBody>
      </p:sp>
    </p:spTree>
    <p:extLst>
      <p:ext uri="{BB962C8B-B14F-4D97-AF65-F5344CB8AC3E}">
        <p14:creationId xmlns:p14="http://schemas.microsoft.com/office/powerpoint/2010/main" val="379399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FB436B1B-9304-467A-8DEA-28A5F574D388}"/>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51F8CC23-6BE2-41FE-9335-D75A92789800}"/>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40AA91C1-CD4C-471D-9279-A47AC74AD318}"/>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4E4354A5-88DA-4279-BFB9-B325F7AF4818}"/>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UI 흐름 — 사전검증 결과</a:t>
            </a:r>
          </a:p>
        </p:txBody>
      </p:sp>
      <p:sp>
        <p:nvSpPr>
          <p:cNvPr id="7" name="Freeform 7">
            <a:extLst>
              <a:ext uri="{FF2B5EF4-FFF2-40B4-BE49-F238E27FC236}">
                <a16:creationId xmlns:a16="http://schemas.microsoft.com/office/drawing/2014/main" id="{F80E2459-B373-4EA9-910C-0FD1BA4608B1}"/>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674" name="P598"/>
          <p:cNvPicPr>
            <a:picLocks noChangeAspect="1"/>
          </p:cNvPicPr>
          <p:nvPr/>
        </p:nvPicPr>
        <p:blipFill>
          <a:blip r:embed="rId4"/>
          <a:stretch>
            <a:fillRect/>
          </a:stretch>
        </p:blipFill>
        <p:spPr>
          <a:xfrm>
            <a:off x="914400" y="1965960"/>
            <a:ext cx="8448177" cy="6309360"/>
          </a:xfrm>
          <a:prstGeom prst="rect">
            <a:avLst/>
          </a:prstGeom>
          <a:ln w="9525">
            <a:solidFill>
              <a:srgbClr val="D8DCE2"/>
            </a:solidFill>
          </a:ln>
        </p:spPr>
      </p:pic>
      <p:sp>
        <p:nvSpPr>
          <p:cNvPr id="599" name="T600">
            <a:extLst>
              <a:ext uri="{FF2B5EF4-FFF2-40B4-BE49-F238E27FC236}">
                <a16:creationId xmlns:a16="http://schemas.microsoft.com/office/drawing/2014/main" id="{3AC2FB5F-1E71-4361-AAFF-37FC386EBD01}"/>
              </a:ext>
            </a:extLst>
          </p:cNvPr>
          <p:cNvSpPr>
            <a:spLocks noGrp="1"/>
          </p:cNvSpPr>
          <p:nvPr/>
        </p:nvSpPr>
        <p:spPr>
          <a:xfrm>
            <a:off x="914400" y="1490472"/>
            <a:ext cx="1645920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SCR-COMP-002 · 사전검증 결과 · 최종 제출   —   대표 상태 : 차단 오류 2건 (제출 불가)</a:t>
            </a:r>
          </a:p>
        </p:txBody>
      </p:sp>
      <p:sp>
        <p:nvSpPr>
          <p:cNvPr id="601" name="S602">
            <a:extLst>
              <a:ext uri="{FF2B5EF4-FFF2-40B4-BE49-F238E27FC236}">
                <a16:creationId xmlns:a16="http://schemas.microsoft.com/office/drawing/2014/main" id="{AF5E73DB-8E5B-487E-BA24-650B97C3943B}"/>
              </a:ext>
            </a:extLst>
          </p:cNvPr>
          <p:cNvSpPr>
            <a:spLocks noGrp="1"/>
          </p:cNvSpPr>
          <p:nvPr/>
        </p:nvSpPr>
        <p:spPr>
          <a:xfrm>
            <a:off x="9774057" y="1965960"/>
            <a:ext cx="7599543" cy="1591056"/>
          </a:xfrm>
          <a:prstGeom prst="roundRect">
            <a:avLst>
              <a:gd name="adj" fmla="val 5000"/>
            </a:avLst>
          </a:prstGeom>
          <a:solidFill>
            <a:srgbClr val="FFF1F3"/>
          </a:solidFill>
          <a:ln w="19050">
            <a:solidFill>
              <a:srgbClr val="EA002C"/>
            </a:solidFill>
          </a:ln>
        </p:spPr>
        <p:txBody>
          <a:bodyPr/>
          <a:lstStyle/>
          <a:p>
            <a:endParaRPr/>
          </a:p>
        </p:txBody>
      </p:sp>
      <p:sp>
        <p:nvSpPr>
          <p:cNvPr id="603" name="T604">
            <a:extLst>
              <a:ext uri="{FF2B5EF4-FFF2-40B4-BE49-F238E27FC236}">
                <a16:creationId xmlns:a16="http://schemas.microsoft.com/office/drawing/2014/main" id="{68B7CC82-F059-4C30-89B4-9A212AA2D5AC}"/>
              </a:ext>
            </a:extLst>
          </p:cNvPr>
          <p:cNvSpPr>
            <a:spLocks noGrp="1"/>
          </p:cNvSpPr>
          <p:nvPr/>
        </p:nvSpPr>
        <p:spPr>
          <a:xfrm>
            <a:off x="10030089" y="2112264"/>
            <a:ext cx="7087479"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GET /validation</a:t>
            </a:r>
          </a:p>
        </p:txBody>
      </p:sp>
      <p:sp>
        <p:nvSpPr>
          <p:cNvPr id="605" name="T606">
            <a:extLst>
              <a:ext uri="{FF2B5EF4-FFF2-40B4-BE49-F238E27FC236}">
                <a16:creationId xmlns:a16="http://schemas.microsoft.com/office/drawing/2014/main" id="{AC699E7A-8506-4578-9A7A-B83E4C34C6AE}"/>
              </a:ext>
            </a:extLst>
          </p:cNvPr>
          <p:cNvSpPr>
            <a:spLocks noGrp="1"/>
          </p:cNvSpPr>
          <p:nvPr/>
        </p:nvSpPr>
        <p:spPr>
          <a:xfrm>
            <a:off x="10030089" y="2642616"/>
            <a:ext cx="7087479" cy="76809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기업 기준정보와 문서별 OCR 추출값의 교차검증 결과</a:t>
            </a:r>
          </a:p>
          <a:p>
            <a:pPr algn="l">
              <a:lnSpc>
                <a:spcPct val="138000"/>
              </a:lnSpc>
              <a:spcAft>
                <a:spcPts val="0"/>
              </a:spcAft>
              <a:buNone/>
            </a:pPr>
            <a:r>
              <a:rPr sz="1400">
                <a:solidFill>
                  <a:srgbClr val="1A1A1A"/>
                </a:solidFill>
                <a:latin typeface="Pretendard Medium"/>
                <a:ea typeface="Pretendard Medium"/>
                <a:cs typeface="Pretendard Medium"/>
              </a:rPr>
              <a:t>오류별 대상 문서·원인·해결 방법 제공</a:t>
            </a:r>
          </a:p>
        </p:txBody>
      </p:sp>
      <p:cxnSp>
        <p:nvCxnSpPr>
          <p:cNvPr id="679" name="C608"/>
          <p:cNvCxnSpPr/>
          <p:nvPr/>
        </p:nvCxnSpPr>
        <p:spPr>
          <a:xfrm flipH="1">
            <a:off x="5476415" y="2761488"/>
            <a:ext cx="4224489" cy="1286561"/>
          </a:xfrm>
          <a:prstGeom prst="straightConnector1">
            <a:avLst/>
          </a:prstGeom>
          <a:ln w="22225">
            <a:solidFill>
              <a:srgbClr val="EA002C"/>
            </a:solidFill>
            <a:tailEnd type="triangle" w="med" len="med"/>
          </a:ln>
        </p:spPr>
      </p:cxnSp>
      <p:sp>
        <p:nvSpPr>
          <p:cNvPr id="609" name="S610">
            <a:extLst>
              <a:ext uri="{FF2B5EF4-FFF2-40B4-BE49-F238E27FC236}">
                <a16:creationId xmlns:a16="http://schemas.microsoft.com/office/drawing/2014/main" id="{7F5660C4-261A-47DD-BAD2-2DE622F778CB}"/>
              </a:ext>
            </a:extLst>
          </p:cNvPr>
          <p:cNvSpPr>
            <a:spLocks noGrp="1"/>
          </p:cNvSpPr>
          <p:nvPr/>
        </p:nvSpPr>
        <p:spPr>
          <a:xfrm>
            <a:off x="9774057" y="3813048"/>
            <a:ext cx="7599543" cy="1280160"/>
          </a:xfrm>
          <a:prstGeom prst="roundRect">
            <a:avLst>
              <a:gd name="adj" fmla="val 5000"/>
            </a:avLst>
          </a:prstGeom>
          <a:solidFill>
            <a:srgbClr val="EAF4EC"/>
          </a:solidFill>
          <a:ln w="19050">
            <a:solidFill>
              <a:srgbClr val="1F7A45"/>
            </a:solidFill>
          </a:ln>
        </p:spPr>
        <p:txBody>
          <a:bodyPr/>
          <a:lstStyle/>
          <a:p>
            <a:endParaRPr/>
          </a:p>
        </p:txBody>
      </p:sp>
      <p:sp>
        <p:nvSpPr>
          <p:cNvPr id="611" name="T612">
            <a:extLst>
              <a:ext uri="{FF2B5EF4-FFF2-40B4-BE49-F238E27FC236}">
                <a16:creationId xmlns:a16="http://schemas.microsoft.com/office/drawing/2014/main" id="{18087CE0-4264-4EB0-932F-7BDF5F7ED09A}"/>
              </a:ext>
            </a:extLst>
          </p:cNvPr>
          <p:cNvSpPr>
            <a:spLocks noGrp="1"/>
          </p:cNvSpPr>
          <p:nvPr/>
        </p:nvSpPr>
        <p:spPr>
          <a:xfrm>
            <a:off x="10030089" y="3959352"/>
            <a:ext cx="7087479" cy="402336"/>
          </a:xfrm>
          <a:prstGeom prst="rect">
            <a:avLst/>
          </a:prstGeom>
        </p:spPr>
        <p:txBody>
          <a:bodyPr wrap="square" lIns="0" tIns="0" rIns="0" bIns="0" anchor="ctr"/>
          <a:lstStyle/>
          <a:p>
            <a:pPr algn="l">
              <a:lnSpc>
                <a:spcPct val="135000"/>
              </a:lnSpc>
              <a:spcAft>
                <a:spcPts val="0"/>
              </a:spcAft>
              <a:buNone/>
            </a:pPr>
            <a:r>
              <a:rPr sz="1600">
                <a:solidFill>
                  <a:srgbClr val="1F7A45"/>
                </a:solidFill>
                <a:latin typeface="Pretendard SemiBold"/>
                <a:ea typeface="Pretendard SemiBold"/>
                <a:cs typeface="Pretendard SemiBold"/>
              </a:rPr>
              <a:t>⑤ 해결 행동 클릭</a:t>
            </a:r>
          </a:p>
        </p:txBody>
      </p:sp>
      <p:sp>
        <p:nvSpPr>
          <p:cNvPr id="613" name="T614">
            <a:extLst>
              <a:ext uri="{FF2B5EF4-FFF2-40B4-BE49-F238E27FC236}">
                <a16:creationId xmlns:a16="http://schemas.microsoft.com/office/drawing/2014/main" id="{302D36DB-A23E-4580-8E4C-5CD546C9DC7C}"/>
              </a:ext>
            </a:extLst>
          </p:cNvPr>
          <p:cNvSpPr>
            <a:spLocks noGrp="1"/>
          </p:cNvSpPr>
          <p:nvPr/>
        </p:nvSpPr>
        <p:spPr>
          <a:xfrm>
            <a:off x="10030089" y="4453128"/>
            <a:ext cx="7087479" cy="49377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SCR-COMP-001의 해당 문서 카드로 이동</a:t>
            </a:r>
          </a:p>
        </p:txBody>
      </p:sp>
      <p:cxnSp>
        <p:nvCxnSpPr>
          <p:cNvPr id="683" name="C616"/>
          <p:cNvCxnSpPr/>
          <p:nvPr/>
        </p:nvCxnSpPr>
        <p:spPr>
          <a:xfrm flipH="1">
            <a:off x="6490197" y="4453128"/>
            <a:ext cx="3210708" cy="1109167"/>
          </a:xfrm>
          <a:prstGeom prst="straightConnector1">
            <a:avLst/>
          </a:prstGeom>
          <a:ln w="22225">
            <a:solidFill>
              <a:srgbClr val="1F7A45"/>
            </a:solidFill>
            <a:tailEnd type="triangle" w="med" len="med"/>
          </a:ln>
        </p:spPr>
      </p:cxnSp>
      <p:sp>
        <p:nvSpPr>
          <p:cNvPr id="617" name="S618">
            <a:extLst>
              <a:ext uri="{FF2B5EF4-FFF2-40B4-BE49-F238E27FC236}">
                <a16:creationId xmlns:a16="http://schemas.microsoft.com/office/drawing/2014/main" id="{1BC53138-2DCE-488E-8608-502962041B1B}"/>
              </a:ext>
            </a:extLst>
          </p:cNvPr>
          <p:cNvSpPr>
            <a:spLocks noGrp="1"/>
          </p:cNvSpPr>
          <p:nvPr/>
        </p:nvSpPr>
        <p:spPr>
          <a:xfrm>
            <a:off x="9774057" y="5349240"/>
            <a:ext cx="7599543" cy="1591056"/>
          </a:xfrm>
          <a:prstGeom prst="roundRect">
            <a:avLst>
              <a:gd name="adj" fmla="val 5000"/>
            </a:avLst>
          </a:prstGeom>
          <a:solidFill>
            <a:srgbClr val="E8EEFC"/>
          </a:solidFill>
          <a:ln w="19050">
            <a:solidFill>
              <a:srgbClr val="2B4FA8"/>
            </a:solidFill>
          </a:ln>
        </p:spPr>
        <p:txBody>
          <a:bodyPr/>
          <a:lstStyle/>
          <a:p>
            <a:endParaRPr/>
          </a:p>
        </p:txBody>
      </p:sp>
      <p:sp>
        <p:nvSpPr>
          <p:cNvPr id="619" name="T620">
            <a:extLst>
              <a:ext uri="{FF2B5EF4-FFF2-40B4-BE49-F238E27FC236}">
                <a16:creationId xmlns:a16="http://schemas.microsoft.com/office/drawing/2014/main" id="{48A99212-8D4E-417D-A015-705993236993}"/>
              </a:ext>
            </a:extLst>
          </p:cNvPr>
          <p:cNvSpPr>
            <a:spLocks noGrp="1"/>
          </p:cNvSpPr>
          <p:nvPr/>
        </p:nvSpPr>
        <p:spPr>
          <a:xfrm>
            <a:off x="10030089" y="5495544"/>
            <a:ext cx="7087479" cy="402336"/>
          </a:xfrm>
          <a:prstGeom prst="rect">
            <a:avLst/>
          </a:prstGeom>
        </p:spPr>
        <p:txBody>
          <a:bodyPr wrap="square" lIns="0" tIns="0" rIns="0" bIns="0" anchor="ctr"/>
          <a:lstStyle/>
          <a:p>
            <a:pPr algn="l">
              <a:lnSpc>
                <a:spcPct val="135000"/>
              </a:lnSpc>
              <a:spcAft>
                <a:spcPts val="0"/>
              </a:spcAft>
              <a:buNone/>
            </a:pPr>
            <a:r>
              <a:rPr sz="1600">
                <a:solidFill>
                  <a:srgbClr val="2B4FA8"/>
                </a:solidFill>
                <a:latin typeface="Pretendard SemiBold"/>
                <a:ea typeface="Pretendard SemiBold"/>
                <a:cs typeface="Pretendard SemiBold"/>
              </a:rPr>
              <a:t>⑧⑨ 최종 제출</a:t>
            </a:r>
          </a:p>
        </p:txBody>
      </p:sp>
      <p:sp>
        <p:nvSpPr>
          <p:cNvPr id="621" name="T622">
            <a:extLst>
              <a:ext uri="{FF2B5EF4-FFF2-40B4-BE49-F238E27FC236}">
                <a16:creationId xmlns:a16="http://schemas.microsoft.com/office/drawing/2014/main" id="{3B407763-E460-41FD-93ED-4C9F64AF5E8A}"/>
              </a:ext>
            </a:extLst>
          </p:cNvPr>
          <p:cNvSpPr>
            <a:spLocks noGrp="1"/>
          </p:cNvSpPr>
          <p:nvPr/>
        </p:nvSpPr>
        <p:spPr>
          <a:xfrm>
            <a:off x="10030089" y="5934456"/>
            <a:ext cx="7087479"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차단 오류가 없을 때 제출 버튼 활성화</a:t>
            </a:r>
          </a:p>
          <a:p>
            <a:pPr algn="l">
              <a:lnSpc>
                <a:spcPct val="138000"/>
              </a:lnSpc>
              <a:spcAft>
                <a:spcPts val="0"/>
              </a:spcAft>
              <a:buNone/>
            </a:pPr>
            <a:r>
              <a:rPr sz="1400">
                <a:solidFill>
                  <a:srgbClr val="1A1A1A"/>
                </a:solidFill>
                <a:latin typeface="Pretendard Medium"/>
                <a:ea typeface="Pretendard Medium"/>
                <a:cs typeface="Pretendard Medium"/>
              </a:rPr>
              <a:t>확인 후 REVIEW_PENDING으로 변경</a:t>
            </a:r>
          </a:p>
          <a:p>
            <a:pPr algn="l">
              <a:lnSpc>
                <a:spcPct val="138000"/>
              </a:lnSpc>
              <a:spcAft>
                <a:spcPts val="0"/>
              </a:spcAft>
              <a:buNone/>
            </a:pPr>
            <a:r>
              <a:rPr sz="1400">
                <a:solidFill>
                  <a:srgbClr val="1A1A1A"/>
                </a:solidFill>
                <a:latin typeface="Pretendard Medium"/>
                <a:ea typeface="Pretendard Medium"/>
                <a:cs typeface="Pretendard Medium"/>
              </a:rPr>
              <a:t>보완 제출은 RESUBMITTED로 변경</a:t>
            </a:r>
          </a:p>
        </p:txBody>
      </p:sp>
      <p:cxnSp>
        <p:nvCxnSpPr>
          <p:cNvPr id="687" name="C624"/>
          <p:cNvCxnSpPr/>
          <p:nvPr/>
        </p:nvCxnSpPr>
        <p:spPr>
          <a:xfrm flipH="1">
            <a:off x="6321233" y="6144768"/>
            <a:ext cx="3379672" cy="1499616"/>
          </a:xfrm>
          <a:prstGeom prst="straightConnector1">
            <a:avLst/>
          </a:prstGeom>
          <a:ln w="22225">
            <a:solidFill>
              <a:srgbClr val="2B4FA8"/>
            </a:solidFill>
            <a:tailEnd type="triangle" w="med" len="med"/>
          </a:ln>
        </p:spPr>
      </p:cxnSp>
      <p:sp>
        <p:nvSpPr>
          <p:cNvPr id="625" name="S626">
            <a:extLst>
              <a:ext uri="{FF2B5EF4-FFF2-40B4-BE49-F238E27FC236}">
                <a16:creationId xmlns:a16="http://schemas.microsoft.com/office/drawing/2014/main" id="{818C65BE-44AF-4B7C-A992-18031E8B5BB8}"/>
              </a:ext>
            </a:extLst>
          </p:cNvPr>
          <p:cNvSpPr>
            <a:spLocks noGrp="1"/>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627" name="T628">
            <a:extLst>
              <a:ext uri="{FF2B5EF4-FFF2-40B4-BE49-F238E27FC236}">
                <a16:creationId xmlns:a16="http://schemas.microsoft.com/office/drawing/2014/main" id="{80DBE37D-5B8F-48D9-8239-2003EE1D4CEF}"/>
              </a:ext>
            </a:extLst>
          </p:cNvPr>
          <p:cNvSpPr>
            <a:spLocks noGrp="1"/>
          </p:cNvSpPr>
          <p:nvPr/>
        </p:nvSpPr>
        <p:spPr>
          <a:xfrm>
            <a:off x="1371600" y="8686800"/>
            <a:ext cx="15544800" cy="868680"/>
          </a:xfrm>
          <a:prstGeom prst="rect">
            <a:avLst/>
          </a:prstGeom>
        </p:spPr>
        <p:txBody>
          <a:bodyPr wrap="square" lIns="0" tIns="0" rIns="0" bIns="0" anchor="ctr"/>
          <a:lstStyle/>
          <a:p>
            <a:pPr algn="l">
              <a:lnSpc>
                <a:spcPct val="140000"/>
              </a:lnSpc>
              <a:spcAft>
                <a:spcPts val="0"/>
              </a:spcAft>
              <a:buNone/>
            </a:pPr>
            <a:r>
              <a:rPr sz="1600">
                <a:solidFill>
                  <a:srgbClr val="1A1A1A"/>
                </a:solidFill>
                <a:latin typeface="Pretendard Medium"/>
                <a:ea typeface="Pretendard Medium"/>
                <a:cs typeface="Pretendard Medium"/>
              </a:rPr>
              <a:t>6가지 검증 오류는 모두 제출 차단 조건이다. 미해결 오류가 있으면 최종 제출 요청에 422를 반환한다.</a:t>
            </a:r>
          </a:p>
          <a:p>
            <a:pPr algn="l">
              <a:lnSpc>
                <a:spcPct val="140000"/>
              </a:lnSpc>
              <a:spcAft>
                <a:spcPts val="0"/>
              </a:spcAft>
              <a:buNone/>
            </a:pPr>
            <a:r>
              <a:rPr sz="1600">
                <a:solidFill>
                  <a:srgbClr val="1A1A1A"/>
                </a:solidFill>
                <a:latin typeface="Pretendard Medium"/>
                <a:ea typeface="Pretendard Medium"/>
                <a:cs typeface="Pretendard Medium"/>
              </a:rPr>
              <a:t>⑥ 비교표는 기준값과 다른 항목을 붉게 표시해 확인이 필요한 문서를 바로 식별할 수 있게 한다.</a:t>
            </a:r>
          </a:p>
        </p:txBody>
      </p:sp>
    </p:spTree>
    <p:extLst>
      <p:ext uri="{BB962C8B-B14F-4D97-AF65-F5344CB8AC3E}">
        <p14:creationId xmlns:p14="http://schemas.microsoft.com/office/powerpoint/2010/main" val="917589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87985E0-A65C-4E9A-8889-B2AB0AD8F3E0}"/>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0A3A9F51-635F-4377-8AEB-32C143EA1F8C}"/>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8FF6259C-DD18-49C7-9416-68BF3F5B0E4F}"/>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04</a:t>
            </a:r>
          </a:p>
        </p:txBody>
      </p:sp>
      <p:sp>
        <p:nvSpPr>
          <p:cNvPr id="6" name="TextBox 6">
            <a:extLst>
              <a:ext uri="{FF2B5EF4-FFF2-40B4-BE49-F238E27FC236}">
                <a16:creationId xmlns:a16="http://schemas.microsoft.com/office/drawing/2014/main" id="{0CC6CF11-4619-4517-B6CF-13C7898F218C}"/>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UI 흐름 — 은행 상세 검토</a:t>
            </a:r>
          </a:p>
        </p:txBody>
      </p:sp>
      <p:sp>
        <p:nvSpPr>
          <p:cNvPr id="7" name="Freeform 7">
            <a:extLst>
              <a:ext uri="{FF2B5EF4-FFF2-40B4-BE49-F238E27FC236}">
                <a16:creationId xmlns:a16="http://schemas.microsoft.com/office/drawing/2014/main" id="{F426623E-25A6-415C-B46D-903AFDCF7C00}"/>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706" name="P630"/>
          <p:cNvPicPr>
            <a:picLocks noChangeAspect="1"/>
          </p:cNvPicPr>
          <p:nvPr/>
        </p:nvPicPr>
        <p:blipFill>
          <a:blip r:embed="rId4"/>
          <a:stretch>
            <a:fillRect/>
          </a:stretch>
        </p:blipFill>
        <p:spPr>
          <a:xfrm>
            <a:off x="914400" y="1965960"/>
            <a:ext cx="9802216" cy="6309360"/>
          </a:xfrm>
          <a:prstGeom prst="rect">
            <a:avLst/>
          </a:prstGeom>
          <a:ln w="9525">
            <a:solidFill>
              <a:srgbClr val="D8DCE2"/>
            </a:solidFill>
          </a:ln>
        </p:spPr>
      </p:pic>
      <p:sp>
        <p:nvSpPr>
          <p:cNvPr id="631" name="T632">
            <a:extLst>
              <a:ext uri="{FF2B5EF4-FFF2-40B4-BE49-F238E27FC236}">
                <a16:creationId xmlns:a16="http://schemas.microsoft.com/office/drawing/2014/main" id="{67DC5190-E9FD-4C4D-9798-850045705F78}"/>
              </a:ext>
            </a:extLst>
          </p:cNvPr>
          <p:cNvSpPr>
            <a:spLocks noGrp="1"/>
          </p:cNvSpPr>
          <p:nvPr/>
        </p:nvSpPr>
        <p:spPr>
          <a:xfrm>
            <a:off x="914400" y="1490472"/>
            <a:ext cx="1645920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SCR-REV-002 · 은행 상세 검토   —   대표 상태 : 재제출 건 검토 (RESUBMITTED)</a:t>
            </a:r>
          </a:p>
        </p:txBody>
      </p:sp>
      <p:sp>
        <p:nvSpPr>
          <p:cNvPr id="633" name="S634">
            <a:extLst>
              <a:ext uri="{FF2B5EF4-FFF2-40B4-BE49-F238E27FC236}">
                <a16:creationId xmlns:a16="http://schemas.microsoft.com/office/drawing/2014/main" id="{76413794-E5E7-4BEF-8E07-B90FC9BA9ABB}"/>
              </a:ext>
            </a:extLst>
          </p:cNvPr>
          <p:cNvSpPr>
            <a:spLocks noGrp="1"/>
          </p:cNvSpPr>
          <p:nvPr/>
        </p:nvSpPr>
        <p:spPr>
          <a:xfrm>
            <a:off x="11128096" y="1965960"/>
            <a:ext cx="6245504" cy="1591056"/>
          </a:xfrm>
          <a:prstGeom prst="roundRect">
            <a:avLst>
              <a:gd name="adj" fmla="val 5000"/>
            </a:avLst>
          </a:prstGeom>
          <a:solidFill>
            <a:srgbClr val="FFF1F3"/>
          </a:solidFill>
          <a:ln w="19050">
            <a:solidFill>
              <a:srgbClr val="EA002C"/>
            </a:solidFill>
          </a:ln>
        </p:spPr>
        <p:txBody>
          <a:bodyPr/>
          <a:lstStyle/>
          <a:p>
            <a:endParaRPr/>
          </a:p>
        </p:txBody>
      </p:sp>
      <p:sp>
        <p:nvSpPr>
          <p:cNvPr id="635" name="T636">
            <a:extLst>
              <a:ext uri="{FF2B5EF4-FFF2-40B4-BE49-F238E27FC236}">
                <a16:creationId xmlns:a16="http://schemas.microsoft.com/office/drawing/2014/main" id="{43CC51E1-223D-414A-82E7-7D77587CC35C}"/>
              </a:ext>
            </a:extLst>
          </p:cNvPr>
          <p:cNvSpPr>
            <a:spLocks noGrp="1"/>
          </p:cNvSpPr>
          <p:nvPr/>
        </p:nvSpPr>
        <p:spPr>
          <a:xfrm>
            <a:off x="11384128" y="2112264"/>
            <a:ext cx="5733440"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GET /review/{id}</a:t>
            </a:r>
          </a:p>
        </p:txBody>
      </p:sp>
      <p:sp>
        <p:nvSpPr>
          <p:cNvPr id="637" name="T638">
            <a:extLst>
              <a:ext uri="{FF2B5EF4-FFF2-40B4-BE49-F238E27FC236}">
                <a16:creationId xmlns:a16="http://schemas.microsoft.com/office/drawing/2014/main" id="{B4BDF2FA-83B9-497F-8556-D5808B5A6024}"/>
              </a:ext>
            </a:extLst>
          </p:cNvPr>
          <p:cNvSpPr>
            <a:spLocks noGrp="1"/>
          </p:cNvSpPr>
          <p:nvPr/>
        </p:nvSpPr>
        <p:spPr>
          <a:xfrm>
            <a:off x="11384128" y="2551176"/>
            <a:ext cx="5733440"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최신 원본과 OCR 추출값,</a:t>
            </a:r>
          </a:p>
          <a:p>
            <a:pPr algn="l">
              <a:lnSpc>
                <a:spcPct val="138000"/>
              </a:lnSpc>
              <a:spcAft>
                <a:spcPts val="0"/>
              </a:spcAft>
              <a:buNone/>
            </a:pPr>
            <a:r>
              <a:rPr sz="1400">
                <a:solidFill>
                  <a:srgbClr val="1A1A1A"/>
                </a:solidFill>
                <a:latin typeface="Pretendard Medium"/>
                <a:ea typeface="Pretendard Medium"/>
                <a:cs typeface="Pretendard Medium"/>
              </a:rPr>
              <a:t>검증 결과·버전 이력을 함께 조회</a:t>
            </a:r>
          </a:p>
          <a:p>
            <a:pPr algn="l">
              <a:lnSpc>
                <a:spcPct val="138000"/>
              </a:lnSpc>
              <a:spcAft>
                <a:spcPts val="0"/>
              </a:spcAft>
              <a:buNone/>
            </a:pPr>
            <a:r>
              <a:rPr sz="1400">
                <a:solidFill>
                  <a:srgbClr val="1A1A1A"/>
                </a:solidFill>
                <a:latin typeface="Pretendard Medium"/>
                <a:ea typeface="Pretendard Medium"/>
                <a:cs typeface="Pretendard Medium"/>
              </a:rPr>
              <a:t>원본은 만료 시간이 있는 URL로 제공</a:t>
            </a:r>
          </a:p>
        </p:txBody>
      </p:sp>
      <p:cxnSp>
        <p:nvCxnSpPr>
          <p:cNvPr id="711" name="C640"/>
          <p:cNvCxnSpPr/>
          <p:nvPr/>
        </p:nvCxnSpPr>
        <p:spPr>
          <a:xfrm flipH="1">
            <a:off x="6599686" y="2761488"/>
            <a:ext cx="4455259" cy="2043684"/>
          </a:xfrm>
          <a:prstGeom prst="straightConnector1">
            <a:avLst/>
          </a:prstGeom>
          <a:ln w="22225">
            <a:solidFill>
              <a:srgbClr val="EA002C"/>
            </a:solidFill>
            <a:tailEnd type="triangle" w="med" len="med"/>
          </a:ln>
        </p:spPr>
      </p:cxnSp>
      <p:sp>
        <p:nvSpPr>
          <p:cNvPr id="641" name="S642">
            <a:extLst>
              <a:ext uri="{FF2B5EF4-FFF2-40B4-BE49-F238E27FC236}">
                <a16:creationId xmlns:a16="http://schemas.microsoft.com/office/drawing/2014/main" id="{A18C7D7F-E774-4D42-99DF-3C6F9B05E8C5}"/>
              </a:ext>
            </a:extLst>
          </p:cNvPr>
          <p:cNvSpPr>
            <a:spLocks noGrp="1"/>
          </p:cNvSpPr>
          <p:nvPr/>
        </p:nvSpPr>
        <p:spPr>
          <a:xfrm>
            <a:off x="11128096" y="3813048"/>
            <a:ext cx="6245504" cy="1591056"/>
          </a:xfrm>
          <a:prstGeom prst="roundRect">
            <a:avLst>
              <a:gd name="adj" fmla="val 5000"/>
            </a:avLst>
          </a:prstGeom>
          <a:solidFill>
            <a:srgbClr val="E8EEFC"/>
          </a:solidFill>
          <a:ln w="19050">
            <a:solidFill>
              <a:srgbClr val="2B4FA8"/>
            </a:solidFill>
          </a:ln>
        </p:spPr>
        <p:txBody>
          <a:bodyPr/>
          <a:lstStyle/>
          <a:p>
            <a:endParaRPr/>
          </a:p>
        </p:txBody>
      </p:sp>
      <p:sp>
        <p:nvSpPr>
          <p:cNvPr id="643" name="T644">
            <a:extLst>
              <a:ext uri="{FF2B5EF4-FFF2-40B4-BE49-F238E27FC236}">
                <a16:creationId xmlns:a16="http://schemas.microsoft.com/office/drawing/2014/main" id="{BC18D009-6ABE-4287-A9D9-A4CAE9F7AF8A}"/>
              </a:ext>
            </a:extLst>
          </p:cNvPr>
          <p:cNvSpPr>
            <a:spLocks noGrp="1"/>
          </p:cNvSpPr>
          <p:nvPr/>
        </p:nvSpPr>
        <p:spPr>
          <a:xfrm>
            <a:off x="11384128" y="3959352"/>
            <a:ext cx="5733440" cy="402336"/>
          </a:xfrm>
          <a:prstGeom prst="rect">
            <a:avLst/>
          </a:prstGeom>
        </p:spPr>
        <p:txBody>
          <a:bodyPr wrap="square" lIns="0" tIns="0" rIns="0" bIns="0" anchor="ctr"/>
          <a:lstStyle/>
          <a:p>
            <a:pPr algn="l">
              <a:lnSpc>
                <a:spcPct val="135000"/>
              </a:lnSpc>
              <a:spcAft>
                <a:spcPts val="0"/>
              </a:spcAft>
              <a:buNone/>
            </a:pPr>
            <a:r>
              <a:rPr sz="1600">
                <a:solidFill>
                  <a:srgbClr val="2B4FA8"/>
                </a:solidFill>
                <a:latin typeface="Pretendard SemiBold"/>
                <a:ea typeface="Pretendard SemiBold"/>
                <a:cs typeface="Pretendard SemiBold"/>
              </a:rPr>
              <a:t>⑩ 보완 요청 모달</a:t>
            </a:r>
          </a:p>
        </p:txBody>
      </p:sp>
      <p:sp>
        <p:nvSpPr>
          <p:cNvPr id="645" name="T646">
            <a:extLst>
              <a:ext uri="{FF2B5EF4-FFF2-40B4-BE49-F238E27FC236}">
                <a16:creationId xmlns:a16="http://schemas.microsoft.com/office/drawing/2014/main" id="{C0177185-B159-40ED-B029-C7F2F981F437}"/>
              </a:ext>
            </a:extLst>
          </p:cNvPr>
          <p:cNvSpPr>
            <a:spLocks noGrp="1"/>
          </p:cNvSpPr>
          <p:nvPr/>
        </p:nvSpPr>
        <p:spPr>
          <a:xfrm>
            <a:off x="11384128" y="4398264"/>
            <a:ext cx="5733440"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대상 문서 한 건 선택</a:t>
            </a:r>
          </a:p>
          <a:p>
            <a:pPr algn="l">
              <a:lnSpc>
                <a:spcPct val="138000"/>
              </a:lnSpc>
              <a:spcAft>
                <a:spcPts val="0"/>
              </a:spcAft>
              <a:buNone/>
            </a:pPr>
            <a:r>
              <a:rPr sz="1400">
                <a:solidFill>
                  <a:srgbClr val="1A1A1A"/>
                </a:solidFill>
                <a:latin typeface="Pretendard Medium"/>
                <a:ea typeface="Pretendard Medium"/>
                <a:cs typeface="Pretendard Medium"/>
              </a:rPr>
              <a:t>reviews.target_doc_type과 일치</a:t>
            </a:r>
          </a:p>
          <a:p>
            <a:pPr algn="l">
              <a:lnSpc>
                <a:spcPct val="138000"/>
              </a:lnSpc>
              <a:spcAft>
                <a:spcPts val="0"/>
              </a:spcAft>
              <a:buNone/>
            </a:pPr>
            <a:r>
              <a:rPr sz="1400">
                <a:solidFill>
                  <a:srgbClr val="1A1A1A"/>
                </a:solidFill>
                <a:latin typeface="Pretendard Medium"/>
                <a:ea typeface="Pretendard Medium"/>
                <a:cs typeface="Pretendard Medium"/>
              </a:rPr>
              <a:t>여러 문서는 문서별로 요청 등록</a:t>
            </a:r>
          </a:p>
        </p:txBody>
      </p:sp>
      <p:cxnSp>
        <p:nvCxnSpPr>
          <p:cNvPr id="715" name="C648"/>
          <p:cNvCxnSpPr/>
          <p:nvPr/>
        </p:nvCxnSpPr>
        <p:spPr>
          <a:xfrm flipH="1">
            <a:off x="10421091" y="4188867"/>
            <a:ext cx="1427470" cy="1239584"/>
          </a:xfrm>
          <a:prstGeom prst="straightConnector1">
            <a:avLst/>
          </a:prstGeom>
          <a:ln w="22225">
            <a:solidFill>
              <a:srgbClr val="2B4FA8"/>
            </a:solidFill>
            <a:tailEnd type="triangle" w="med" len="med"/>
          </a:ln>
        </p:spPr>
      </p:cxnSp>
      <p:sp>
        <p:nvSpPr>
          <p:cNvPr id="649" name="S650">
            <a:extLst>
              <a:ext uri="{FF2B5EF4-FFF2-40B4-BE49-F238E27FC236}">
                <a16:creationId xmlns:a16="http://schemas.microsoft.com/office/drawing/2014/main" id="{6E140636-ABA3-4C41-AFBB-D2F6AC5CF556}"/>
              </a:ext>
            </a:extLst>
          </p:cNvPr>
          <p:cNvSpPr>
            <a:spLocks noGrp="1"/>
          </p:cNvSpPr>
          <p:nvPr/>
        </p:nvSpPr>
        <p:spPr>
          <a:xfrm>
            <a:off x="11128096" y="5660136"/>
            <a:ext cx="6245504" cy="1591056"/>
          </a:xfrm>
          <a:prstGeom prst="roundRect">
            <a:avLst>
              <a:gd name="adj" fmla="val 5000"/>
            </a:avLst>
          </a:prstGeom>
          <a:solidFill>
            <a:srgbClr val="FFF1F3"/>
          </a:solidFill>
          <a:ln w="19050">
            <a:solidFill>
              <a:srgbClr val="EA002C"/>
            </a:solidFill>
          </a:ln>
        </p:spPr>
        <p:txBody>
          <a:bodyPr/>
          <a:lstStyle/>
          <a:p>
            <a:endParaRPr/>
          </a:p>
        </p:txBody>
      </p:sp>
      <p:sp>
        <p:nvSpPr>
          <p:cNvPr id="651" name="T652">
            <a:extLst>
              <a:ext uri="{FF2B5EF4-FFF2-40B4-BE49-F238E27FC236}">
                <a16:creationId xmlns:a16="http://schemas.microsoft.com/office/drawing/2014/main" id="{5C6BAD6F-90EC-45E8-A914-C620DCE07524}"/>
              </a:ext>
            </a:extLst>
          </p:cNvPr>
          <p:cNvSpPr>
            <a:spLocks noGrp="1"/>
          </p:cNvSpPr>
          <p:nvPr/>
        </p:nvSpPr>
        <p:spPr>
          <a:xfrm>
            <a:off x="11384128" y="5806440"/>
            <a:ext cx="5733440"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POST /decision</a:t>
            </a:r>
          </a:p>
        </p:txBody>
      </p:sp>
      <p:sp>
        <p:nvSpPr>
          <p:cNvPr id="653" name="T654">
            <a:extLst>
              <a:ext uri="{FF2B5EF4-FFF2-40B4-BE49-F238E27FC236}">
                <a16:creationId xmlns:a16="http://schemas.microsoft.com/office/drawing/2014/main" id="{52F301D9-D852-404E-A7B3-0DEF382135D0}"/>
              </a:ext>
            </a:extLst>
          </p:cNvPr>
          <p:cNvSpPr>
            <a:spLocks noGrp="1"/>
          </p:cNvSpPr>
          <p:nvPr/>
        </p:nvSpPr>
        <p:spPr>
          <a:xfrm>
            <a:off x="11384128" y="6245352"/>
            <a:ext cx="5733440" cy="859536"/>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서류 확인 완료 또는 보완 요청</a:t>
            </a:r>
          </a:p>
          <a:p>
            <a:pPr algn="l">
              <a:lnSpc>
                <a:spcPct val="138000"/>
              </a:lnSpc>
              <a:spcAft>
                <a:spcPts val="0"/>
              </a:spcAft>
              <a:buNone/>
            </a:pPr>
            <a:r>
              <a:rPr sz="1400">
                <a:solidFill>
                  <a:srgbClr val="1A1A1A"/>
                </a:solidFill>
                <a:latin typeface="Pretendard Medium"/>
                <a:ea typeface="Pretendard Medium"/>
                <a:cs typeface="Pretendard Medium"/>
              </a:rPr>
              <a:t>보완 시 대상 문서 한 건과 사유 입력</a:t>
            </a:r>
          </a:p>
          <a:p>
            <a:pPr algn="l">
              <a:lnSpc>
                <a:spcPct val="138000"/>
              </a:lnSpc>
              <a:spcAft>
                <a:spcPts val="0"/>
              </a:spcAft>
              <a:buNone/>
            </a:pPr>
            <a:r>
              <a:rPr sz="1400">
                <a:solidFill>
                  <a:srgbClr val="1A1A1A"/>
                </a:solidFill>
                <a:latin typeface="Pretendard Medium"/>
                <a:ea typeface="Pretendard Medium"/>
                <a:cs typeface="Pretendard Medium"/>
              </a:rPr>
              <a:t>다른 담당자가 먼저 처리한 경우 409</a:t>
            </a:r>
          </a:p>
        </p:txBody>
      </p:sp>
      <p:cxnSp>
        <p:nvCxnSpPr>
          <p:cNvPr id="719" name="C656"/>
          <p:cNvCxnSpPr/>
          <p:nvPr/>
        </p:nvCxnSpPr>
        <p:spPr>
          <a:xfrm flipH="1">
            <a:off x="7832993" y="6455664"/>
            <a:ext cx="3221951" cy="1002755"/>
          </a:xfrm>
          <a:prstGeom prst="straightConnector1">
            <a:avLst/>
          </a:prstGeom>
          <a:ln w="22225">
            <a:solidFill>
              <a:srgbClr val="EA002C"/>
            </a:solidFill>
            <a:tailEnd type="triangle" w="med" len="med"/>
          </a:ln>
        </p:spPr>
      </p:cxnSp>
      <p:sp>
        <p:nvSpPr>
          <p:cNvPr id="657" name="S658">
            <a:extLst>
              <a:ext uri="{FF2B5EF4-FFF2-40B4-BE49-F238E27FC236}">
                <a16:creationId xmlns:a16="http://schemas.microsoft.com/office/drawing/2014/main" id="{0F7CCE19-75A6-4835-B95A-67EEAACB4801}"/>
              </a:ext>
            </a:extLst>
          </p:cNvPr>
          <p:cNvSpPr>
            <a:spLocks noGrp="1"/>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659" name="T660">
            <a:extLst>
              <a:ext uri="{FF2B5EF4-FFF2-40B4-BE49-F238E27FC236}">
                <a16:creationId xmlns:a16="http://schemas.microsoft.com/office/drawing/2014/main" id="{21279BF1-CBFE-46D7-918D-A951539D081B}"/>
              </a:ext>
            </a:extLst>
          </p:cNvPr>
          <p:cNvSpPr>
            <a:spLocks noGrp="1"/>
          </p:cNvSpPr>
          <p:nvPr/>
        </p:nvSpPr>
        <p:spPr>
          <a:xfrm>
            <a:off x="1371600" y="8686800"/>
            <a:ext cx="15544800" cy="868680"/>
          </a:xfrm>
          <a:prstGeom prst="rect">
            <a:avLst/>
          </a:prstGeom>
        </p:spPr>
        <p:txBody>
          <a:bodyPr wrap="square" lIns="0" tIns="0" rIns="0" bIns="0" anchor="ctr"/>
          <a:lstStyle/>
          <a:p>
            <a:pPr algn="l">
              <a:lnSpc>
                <a:spcPct val="140000"/>
              </a:lnSpc>
              <a:spcAft>
                <a:spcPts val="0"/>
              </a:spcAft>
              <a:buNone/>
            </a:pPr>
            <a:r>
              <a:rPr sz="1600">
                <a:solidFill>
                  <a:srgbClr val="1A1A1A"/>
                </a:solidFill>
                <a:latin typeface="Pretendard Medium"/>
                <a:ea typeface="Pretendard Medium"/>
                <a:cs typeface="Pretendard Medium"/>
              </a:rPr>
              <a:t>⑦ 이력에는 문서 업로드 담당자와 은행 검토 담당자를 구분해 표시한다.</a:t>
            </a:r>
          </a:p>
          <a:p>
            <a:pPr algn="l">
              <a:lnSpc>
                <a:spcPct val="140000"/>
              </a:lnSpc>
              <a:spcAft>
                <a:spcPts val="0"/>
              </a:spcAft>
              <a:buNone/>
            </a:pPr>
            <a:r>
              <a:rPr sz="1600">
                <a:solidFill>
                  <a:srgbClr val="1A1A1A"/>
                </a:solidFill>
                <a:latin typeface="Pretendard Medium"/>
                <a:ea typeface="Pretendard Medium"/>
                <a:cs typeface="Pretendard Medium"/>
              </a:rPr>
              <a:t>⑧ 결정 버튼 옆에는 서류 확인 완료가 대출 승인을 의미하지 않는다는 안내를 표시한다.</a:t>
            </a:r>
          </a:p>
        </p:txBody>
      </p:sp>
    </p:spTree>
    <p:extLst>
      <p:ext uri="{BB962C8B-B14F-4D97-AF65-F5344CB8AC3E}">
        <p14:creationId xmlns:p14="http://schemas.microsoft.com/office/powerpoint/2010/main" val="1766327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D0D97230-D9DA-4BE2-B084-11C29BDC1C59}"/>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E90F92EB-D1C5-44BF-9AF6-BC97F62E0B54}"/>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F90642EE-401C-4530-A12C-572E43632C6D}"/>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05</a:t>
            </a:r>
          </a:p>
        </p:txBody>
      </p:sp>
      <p:sp>
        <p:nvSpPr>
          <p:cNvPr id="6" name="TextBox 6">
            <a:extLst>
              <a:ext uri="{FF2B5EF4-FFF2-40B4-BE49-F238E27FC236}">
                <a16:creationId xmlns:a16="http://schemas.microsoft.com/office/drawing/2014/main" id="{30F0A0B6-CDCF-4131-875B-EF9EB2FDF735}"/>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데이터 모델 설계</a:t>
            </a:r>
          </a:p>
        </p:txBody>
      </p:sp>
      <p:sp>
        <p:nvSpPr>
          <p:cNvPr id="7" name="Freeform 7">
            <a:extLst>
              <a:ext uri="{FF2B5EF4-FFF2-40B4-BE49-F238E27FC236}">
                <a16:creationId xmlns:a16="http://schemas.microsoft.com/office/drawing/2014/main" id="{E785614F-9DE0-4113-9892-7AB587EE5863}"/>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700" name="P662"/>
          <p:cNvPicPr>
            <a:picLocks noChangeAspect="1"/>
          </p:cNvPicPr>
          <p:nvPr/>
        </p:nvPicPr>
        <p:blipFill>
          <a:blip r:embed="rId4"/>
          <a:stretch>
            <a:fillRect/>
          </a:stretch>
        </p:blipFill>
        <p:spPr>
          <a:xfrm>
            <a:off x="6035040" y="1874520"/>
            <a:ext cx="11338560" cy="6803136"/>
          </a:xfrm>
          <a:prstGeom prst="rect">
            <a:avLst/>
          </a:prstGeom>
          <a:ln w="9525">
            <a:solidFill>
              <a:srgbClr val="D8DCE2"/>
            </a:solidFill>
          </a:ln>
        </p:spPr>
      </p:pic>
      <p:sp>
        <p:nvSpPr>
          <p:cNvPr id="663" name="T664">
            <a:extLst>
              <a:ext uri="{FF2B5EF4-FFF2-40B4-BE49-F238E27FC236}">
                <a16:creationId xmlns:a16="http://schemas.microsoft.com/office/drawing/2014/main" id="{0EF17F8F-3078-4060-AA0B-FF1D64006CF3}"/>
              </a:ext>
            </a:extLst>
          </p:cNvPr>
          <p:cNvSpPr>
            <a:spLocks noGrp="1"/>
          </p:cNvSpPr>
          <p:nvPr/>
        </p:nvSpPr>
        <p:spPr>
          <a:xfrm>
            <a:off x="6035040" y="1490472"/>
            <a:ext cx="1133856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DBDiagram으로 작성한 판교5반-P172-홍은비-DB.dbml   —   테이블 8개 · 외래키 12개 · N:M 관계를 1:N 두 개로 분리</a:t>
            </a:r>
          </a:p>
        </p:txBody>
      </p:sp>
      <p:sp>
        <p:nvSpPr>
          <p:cNvPr id="665" name="T666">
            <a:extLst>
              <a:ext uri="{FF2B5EF4-FFF2-40B4-BE49-F238E27FC236}">
                <a16:creationId xmlns:a16="http://schemas.microsoft.com/office/drawing/2014/main" id="{5AFA63B1-10A9-4534-9430-224A5FE7F929}"/>
              </a:ext>
            </a:extLst>
          </p:cNvPr>
          <p:cNvSpPr>
            <a:spLocks noGrp="1"/>
          </p:cNvSpPr>
          <p:nvPr/>
        </p:nvSpPr>
        <p:spPr>
          <a:xfrm>
            <a:off x="1921565" y="1883664"/>
            <a:ext cx="1881808" cy="402336"/>
          </a:xfrm>
          <a:prstGeom prst="rect">
            <a:avLst/>
          </a:prstGeom>
        </p:spPr>
        <p:txBody>
          <a:bodyPr wrap="square" lIns="0" tIns="0" rIns="0" bIns="0" anchor="t"/>
          <a:lstStyle/>
          <a:p>
            <a:pPr algn="l">
              <a:lnSpc>
                <a:spcPct val="135000"/>
              </a:lnSpc>
              <a:spcAft>
                <a:spcPts val="0"/>
              </a:spcAft>
              <a:buNone/>
            </a:pPr>
            <a:r>
              <a:rPr sz="1900" dirty="0">
                <a:solidFill>
                  <a:srgbClr val="1A1A1A"/>
                </a:solidFill>
                <a:latin typeface="Pretendard SemiBold"/>
                <a:ea typeface="Pretendard SemiBold"/>
                <a:cs typeface="Pretendard SemiBold"/>
              </a:rPr>
              <a:t>[ </a:t>
            </a:r>
            <a:r>
              <a:rPr sz="1900" dirty="0" err="1">
                <a:solidFill>
                  <a:srgbClr val="1A1A1A"/>
                </a:solidFill>
                <a:latin typeface="Pretendard SemiBold"/>
                <a:ea typeface="Pretendard SemiBold"/>
                <a:cs typeface="Pretendard SemiBold"/>
              </a:rPr>
              <a:t>핵심</a:t>
            </a:r>
            <a:r>
              <a:rPr sz="1900" dirty="0">
                <a:solidFill>
                  <a:srgbClr val="1A1A1A"/>
                </a:solidFill>
                <a:latin typeface="Pretendard SemiBold"/>
                <a:ea typeface="Pretendard SemiBold"/>
                <a:cs typeface="Pretendard SemiBold"/>
              </a:rPr>
              <a:t> </a:t>
            </a:r>
            <a:r>
              <a:rPr sz="1900" dirty="0" err="1">
                <a:solidFill>
                  <a:srgbClr val="1A1A1A"/>
                </a:solidFill>
                <a:latin typeface="Pretendard SemiBold"/>
                <a:ea typeface="Pretendard SemiBold"/>
                <a:cs typeface="Pretendard SemiBold"/>
              </a:rPr>
              <a:t>설계</a:t>
            </a:r>
            <a:r>
              <a:rPr sz="1900" dirty="0">
                <a:solidFill>
                  <a:srgbClr val="1A1A1A"/>
                </a:solidFill>
                <a:latin typeface="Pretendard SemiBold"/>
                <a:ea typeface="Pretendard SemiBold"/>
                <a:cs typeface="Pretendard SemiBold"/>
              </a:rPr>
              <a:t> </a:t>
            </a:r>
            <a:r>
              <a:rPr sz="1900" dirty="0" err="1">
                <a:solidFill>
                  <a:srgbClr val="1A1A1A"/>
                </a:solidFill>
                <a:latin typeface="Pretendard SemiBold"/>
                <a:ea typeface="Pretendard SemiBold"/>
                <a:cs typeface="Pretendard SemiBold"/>
              </a:rPr>
              <a:t>포인트</a:t>
            </a:r>
            <a:r>
              <a:rPr sz="1900" dirty="0">
                <a:solidFill>
                  <a:srgbClr val="1A1A1A"/>
                </a:solidFill>
                <a:latin typeface="Pretendard SemiBold"/>
                <a:ea typeface="Pretendard SemiBold"/>
                <a:cs typeface="Pretendard SemiBold"/>
              </a:rPr>
              <a:t> ]</a:t>
            </a:r>
          </a:p>
        </p:txBody>
      </p:sp>
      <p:sp>
        <p:nvSpPr>
          <p:cNvPr id="667" name="S668">
            <a:extLst>
              <a:ext uri="{FF2B5EF4-FFF2-40B4-BE49-F238E27FC236}">
                <a16:creationId xmlns:a16="http://schemas.microsoft.com/office/drawing/2014/main" id="{CB41569B-0B91-41FE-B482-11A38169D644}"/>
              </a:ext>
            </a:extLst>
          </p:cNvPr>
          <p:cNvSpPr>
            <a:spLocks noGrp="1"/>
          </p:cNvSpPr>
          <p:nvPr/>
        </p:nvSpPr>
        <p:spPr>
          <a:xfrm>
            <a:off x="950976" y="2560320"/>
            <a:ext cx="100584" cy="100584"/>
          </a:xfrm>
          <a:prstGeom prst="rect">
            <a:avLst/>
          </a:prstGeom>
          <a:solidFill>
            <a:srgbClr val="F47725"/>
          </a:solidFill>
        </p:spPr>
        <p:txBody>
          <a:bodyPr/>
          <a:lstStyle/>
          <a:p>
            <a:endParaRPr/>
          </a:p>
        </p:txBody>
      </p:sp>
      <p:sp>
        <p:nvSpPr>
          <p:cNvPr id="669" name="T670">
            <a:extLst>
              <a:ext uri="{FF2B5EF4-FFF2-40B4-BE49-F238E27FC236}">
                <a16:creationId xmlns:a16="http://schemas.microsoft.com/office/drawing/2014/main" id="{386FA7E3-4195-4B01-8E77-8BAFDB24203E}"/>
              </a:ext>
            </a:extLst>
          </p:cNvPr>
          <p:cNvSpPr>
            <a:spLocks noGrp="1"/>
          </p:cNvSpPr>
          <p:nvPr/>
        </p:nvSpPr>
        <p:spPr>
          <a:xfrm>
            <a:off x="1207008" y="2432304"/>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기업명·사업자등록번호는 companies에</a:t>
            </a:r>
          </a:p>
          <a:p>
            <a:pPr algn="l">
              <a:lnSpc>
                <a:spcPct val="136000"/>
              </a:lnSpc>
              <a:spcAft>
                <a:spcPts val="0"/>
              </a:spcAft>
              <a:buNone/>
            </a:pPr>
            <a:r>
              <a:rPr sz="1600">
                <a:solidFill>
                  <a:srgbClr val="1A1A1A"/>
                </a:solidFill>
                <a:latin typeface="Pretendard Medium"/>
                <a:ea typeface="Pretendard Medium"/>
                <a:cs typeface="Pretendard Medium"/>
              </a:rPr>
              <a:t>한 번만 저장하고 company_id로 참조</a:t>
            </a:r>
          </a:p>
        </p:txBody>
      </p:sp>
      <p:sp>
        <p:nvSpPr>
          <p:cNvPr id="671" name="S672">
            <a:extLst>
              <a:ext uri="{FF2B5EF4-FFF2-40B4-BE49-F238E27FC236}">
                <a16:creationId xmlns:a16="http://schemas.microsoft.com/office/drawing/2014/main" id="{5C42B494-D29F-406B-B8A1-94D8C796C1B4}"/>
              </a:ext>
            </a:extLst>
          </p:cNvPr>
          <p:cNvSpPr>
            <a:spLocks noGrp="1"/>
          </p:cNvSpPr>
          <p:nvPr/>
        </p:nvSpPr>
        <p:spPr>
          <a:xfrm>
            <a:off x="950976" y="3547872"/>
            <a:ext cx="100584" cy="100584"/>
          </a:xfrm>
          <a:prstGeom prst="rect">
            <a:avLst/>
          </a:prstGeom>
          <a:solidFill>
            <a:srgbClr val="F47725"/>
          </a:solidFill>
        </p:spPr>
        <p:txBody>
          <a:bodyPr/>
          <a:lstStyle/>
          <a:p>
            <a:endParaRPr/>
          </a:p>
        </p:txBody>
      </p:sp>
      <p:sp>
        <p:nvSpPr>
          <p:cNvPr id="673" name="T674">
            <a:extLst>
              <a:ext uri="{FF2B5EF4-FFF2-40B4-BE49-F238E27FC236}">
                <a16:creationId xmlns:a16="http://schemas.microsoft.com/office/drawing/2014/main" id="{C64F9626-6C5D-48D0-A2C7-25C5C0431F7A}"/>
              </a:ext>
            </a:extLst>
          </p:cNvPr>
          <p:cNvSpPr>
            <a:spLocks noGrp="1"/>
          </p:cNvSpPr>
          <p:nvPr/>
        </p:nvSpPr>
        <p:spPr>
          <a:xfrm>
            <a:off x="1207008" y="3419856"/>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users–loan_applications N:M 관계를</a:t>
            </a:r>
          </a:p>
          <a:p>
            <a:pPr algn="l">
              <a:lnSpc>
                <a:spcPct val="136000"/>
              </a:lnSpc>
              <a:spcAft>
                <a:spcPts val="0"/>
              </a:spcAft>
              <a:buNone/>
            </a:pPr>
            <a:r>
              <a:rPr sz="1600">
                <a:solidFill>
                  <a:srgbClr val="1A1A1A"/>
                </a:solidFill>
                <a:latin typeface="Pretendard Medium"/>
                <a:ea typeface="Pretendard Medium"/>
                <a:cs typeface="Pretendard Medium"/>
              </a:rPr>
              <a:t>reviews로 분리해 1:N 두 개로 구성</a:t>
            </a:r>
          </a:p>
        </p:txBody>
      </p:sp>
      <p:sp>
        <p:nvSpPr>
          <p:cNvPr id="675" name="S676">
            <a:extLst>
              <a:ext uri="{FF2B5EF4-FFF2-40B4-BE49-F238E27FC236}">
                <a16:creationId xmlns:a16="http://schemas.microsoft.com/office/drawing/2014/main" id="{3C4D7A51-6A1A-4D92-AC20-7A2282EA2CE3}"/>
              </a:ext>
            </a:extLst>
          </p:cNvPr>
          <p:cNvSpPr>
            <a:spLocks noGrp="1"/>
          </p:cNvSpPr>
          <p:nvPr/>
        </p:nvSpPr>
        <p:spPr>
          <a:xfrm>
            <a:off x="950976" y="4535424"/>
            <a:ext cx="100584" cy="100584"/>
          </a:xfrm>
          <a:prstGeom prst="rect">
            <a:avLst/>
          </a:prstGeom>
          <a:solidFill>
            <a:srgbClr val="F47725"/>
          </a:solidFill>
        </p:spPr>
        <p:txBody>
          <a:bodyPr/>
          <a:lstStyle/>
          <a:p>
            <a:endParaRPr/>
          </a:p>
        </p:txBody>
      </p:sp>
      <p:sp>
        <p:nvSpPr>
          <p:cNvPr id="677" name="T678">
            <a:extLst>
              <a:ext uri="{FF2B5EF4-FFF2-40B4-BE49-F238E27FC236}">
                <a16:creationId xmlns:a16="http://schemas.microsoft.com/office/drawing/2014/main" id="{DBF883B9-1EFC-407F-BFC6-502012A4981E}"/>
              </a:ext>
            </a:extLst>
          </p:cNvPr>
          <p:cNvSpPr>
            <a:spLocks noGrp="1"/>
          </p:cNvSpPr>
          <p:nvPr/>
        </p:nvSpPr>
        <p:spPr>
          <a:xfrm>
            <a:off x="1207008" y="4407408"/>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재제출 문서는 덮어쓰지 않고 version_no와</a:t>
            </a:r>
          </a:p>
          <a:p>
            <a:pPr algn="l">
              <a:lnSpc>
                <a:spcPct val="136000"/>
              </a:lnSpc>
              <a:spcAft>
                <a:spcPts val="0"/>
              </a:spcAft>
              <a:buNone/>
            </a:pPr>
            <a:r>
              <a:rPr sz="1600">
                <a:solidFill>
                  <a:srgbClr val="1A1A1A"/>
                </a:solidFill>
                <a:latin typeface="Pretendard Medium"/>
                <a:ea typeface="Pretendard Medium"/>
                <a:cs typeface="Pretendard Medium"/>
              </a:rPr>
              <a:t>is_latest로 이전본·최신본을 구분</a:t>
            </a:r>
          </a:p>
        </p:txBody>
      </p:sp>
      <p:sp>
        <p:nvSpPr>
          <p:cNvPr id="679" name="S680">
            <a:extLst>
              <a:ext uri="{FF2B5EF4-FFF2-40B4-BE49-F238E27FC236}">
                <a16:creationId xmlns:a16="http://schemas.microsoft.com/office/drawing/2014/main" id="{6BA87631-E244-4CAC-A967-B9B744ABE0C8}"/>
              </a:ext>
            </a:extLst>
          </p:cNvPr>
          <p:cNvSpPr>
            <a:spLocks noGrp="1"/>
          </p:cNvSpPr>
          <p:nvPr/>
        </p:nvSpPr>
        <p:spPr>
          <a:xfrm>
            <a:off x="950976" y="5522976"/>
            <a:ext cx="100584" cy="100584"/>
          </a:xfrm>
          <a:prstGeom prst="rect">
            <a:avLst/>
          </a:prstGeom>
          <a:solidFill>
            <a:srgbClr val="F47725"/>
          </a:solidFill>
        </p:spPr>
        <p:txBody>
          <a:bodyPr/>
          <a:lstStyle/>
          <a:p>
            <a:endParaRPr/>
          </a:p>
        </p:txBody>
      </p:sp>
      <p:sp>
        <p:nvSpPr>
          <p:cNvPr id="681" name="T682">
            <a:extLst>
              <a:ext uri="{FF2B5EF4-FFF2-40B4-BE49-F238E27FC236}">
                <a16:creationId xmlns:a16="http://schemas.microsoft.com/office/drawing/2014/main" id="{96E5C307-049C-4475-B210-A0D03DC227AF}"/>
              </a:ext>
            </a:extLst>
          </p:cNvPr>
          <p:cNvSpPr>
            <a:spLocks noGrp="1"/>
          </p:cNvSpPr>
          <p:nvPr/>
        </p:nvSpPr>
        <p:spPr>
          <a:xfrm>
            <a:off x="1207008" y="5394960"/>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OCR 추출값은 extracted_fields,</a:t>
            </a:r>
          </a:p>
          <a:p>
            <a:pPr algn="l">
              <a:lnSpc>
                <a:spcPct val="136000"/>
              </a:lnSpc>
              <a:spcAft>
                <a:spcPts val="0"/>
              </a:spcAft>
              <a:buNone/>
            </a:pPr>
            <a:r>
              <a:rPr sz="1600">
                <a:solidFill>
                  <a:srgbClr val="1A1A1A"/>
                </a:solidFill>
                <a:latin typeface="Pretendard Medium"/>
                <a:ea typeface="Pretendard Medium"/>
                <a:cs typeface="Pretendard Medium"/>
              </a:rPr>
              <a:t>오류·해결 상태는 validation_issues에 저장</a:t>
            </a:r>
          </a:p>
        </p:txBody>
      </p:sp>
      <p:sp>
        <p:nvSpPr>
          <p:cNvPr id="683" name="S684">
            <a:extLst>
              <a:ext uri="{FF2B5EF4-FFF2-40B4-BE49-F238E27FC236}">
                <a16:creationId xmlns:a16="http://schemas.microsoft.com/office/drawing/2014/main" id="{DA6CC158-32DD-4192-A787-605CF636C438}"/>
              </a:ext>
            </a:extLst>
          </p:cNvPr>
          <p:cNvSpPr>
            <a:spLocks noGrp="1"/>
          </p:cNvSpPr>
          <p:nvPr/>
        </p:nvSpPr>
        <p:spPr>
          <a:xfrm>
            <a:off x="950976" y="6510528"/>
            <a:ext cx="100584" cy="100584"/>
          </a:xfrm>
          <a:prstGeom prst="rect">
            <a:avLst/>
          </a:prstGeom>
          <a:solidFill>
            <a:srgbClr val="F47725"/>
          </a:solidFill>
        </p:spPr>
        <p:txBody>
          <a:bodyPr/>
          <a:lstStyle/>
          <a:p>
            <a:endParaRPr/>
          </a:p>
        </p:txBody>
      </p:sp>
      <p:sp>
        <p:nvSpPr>
          <p:cNvPr id="685" name="T686">
            <a:extLst>
              <a:ext uri="{FF2B5EF4-FFF2-40B4-BE49-F238E27FC236}">
                <a16:creationId xmlns:a16="http://schemas.microsoft.com/office/drawing/2014/main" id="{AFCF500E-4475-45D1-B612-26D924A6F91C}"/>
              </a:ext>
            </a:extLst>
          </p:cNvPr>
          <p:cNvSpPr>
            <a:spLocks noGrp="1"/>
          </p:cNvSpPr>
          <p:nvPr/>
        </p:nvSpPr>
        <p:spPr>
          <a:xfrm>
            <a:off x="1207008" y="6382512"/>
            <a:ext cx="45171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uploaded_by와 reviewer_id로</a:t>
            </a:r>
          </a:p>
          <a:p>
            <a:pPr algn="l">
              <a:lnSpc>
                <a:spcPct val="136000"/>
              </a:lnSpc>
              <a:spcAft>
                <a:spcPts val="0"/>
              </a:spcAft>
              <a:buNone/>
            </a:pPr>
            <a:r>
              <a:rPr sz="1600">
                <a:solidFill>
                  <a:srgbClr val="1A1A1A"/>
                </a:solidFill>
                <a:latin typeface="Pretendard Medium"/>
                <a:ea typeface="Pretendard Medium"/>
                <a:cs typeface="Pretendard Medium"/>
              </a:rPr>
              <a:t>문서 제출자와 은행 검토자를 추적</a:t>
            </a:r>
          </a:p>
        </p:txBody>
      </p:sp>
      <p:sp>
        <p:nvSpPr>
          <p:cNvPr id="687" name="S688">
            <a:extLst>
              <a:ext uri="{FF2B5EF4-FFF2-40B4-BE49-F238E27FC236}">
                <a16:creationId xmlns:a16="http://schemas.microsoft.com/office/drawing/2014/main" id="{126565E9-FCFE-4FB4-B82A-722871571A79}"/>
              </a:ext>
            </a:extLst>
          </p:cNvPr>
          <p:cNvSpPr>
            <a:spLocks noGrp="1"/>
          </p:cNvSpPr>
          <p:nvPr/>
        </p:nvSpPr>
        <p:spPr>
          <a:xfrm>
            <a:off x="914400" y="7406640"/>
            <a:ext cx="4846320" cy="1645920"/>
          </a:xfrm>
          <a:prstGeom prst="roundRect">
            <a:avLst>
              <a:gd name="adj" fmla="val 5000"/>
            </a:avLst>
          </a:prstGeom>
          <a:solidFill>
            <a:srgbClr val="FFF4EE"/>
          </a:solidFill>
          <a:ln w="19050">
            <a:solidFill>
              <a:srgbClr val="F47725"/>
            </a:solidFill>
          </a:ln>
        </p:spPr>
        <p:txBody>
          <a:bodyPr/>
          <a:lstStyle/>
          <a:p>
            <a:endParaRPr/>
          </a:p>
        </p:txBody>
      </p:sp>
      <p:sp>
        <p:nvSpPr>
          <p:cNvPr id="689" name="T690">
            <a:extLst>
              <a:ext uri="{FF2B5EF4-FFF2-40B4-BE49-F238E27FC236}">
                <a16:creationId xmlns:a16="http://schemas.microsoft.com/office/drawing/2014/main" id="{49EA1498-5627-43B3-838F-89F5369DB15D}"/>
              </a:ext>
            </a:extLst>
          </p:cNvPr>
          <p:cNvSpPr>
            <a:spLocks noGrp="1"/>
          </p:cNvSpPr>
          <p:nvPr/>
        </p:nvSpPr>
        <p:spPr>
          <a:xfrm>
            <a:off x="1170432" y="7552944"/>
            <a:ext cx="4334256" cy="402336"/>
          </a:xfrm>
          <a:prstGeom prst="rect">
            <a:avLst/>
          </a:prstGeom>
        </p:spPr>
        <p:txBody>
          <a:bodyPr wrap="square" lIns="0" tIns="0" rIns="0" bIns="0" anchor="ctr"/>
          <a:lstStyle/>
          <a:p>
            <a:pPr algn="l">
              <a:lnSpc>
                <a:spcPct val="135000"/>
              </a:lnSpc>
              <a:spcAft>
                <a:spcPts val="0"/>
              </a:spcAft>
              <a:buNone/>
            </a:pPr>
            <a:r>
              <a:rPr sz="1600" dirty="0" err="1">
                <a:solidFill>
                  <a:srgbClr val="F47725"/>
                </a:solidFill>
                <a:latin typeface="Pretendard SemiBold"/>
                <a:ea typeface="Pretendard SemiBold"/>
                <a:cs typeface="Pretendard SemiBold"/>
              </a:rPr>
              <a:t>제출</a:t>
            </a:r>
            <a:r>
              <a:rPr sz="1600" dirty="0">
                <a:solidFill>
                  <a:srgbClr val="F47725"/>
                </a:solidFill>
                <a:latin typeface="Pretendard SemiBold"/>
                <a:ea typeface="Pretendard SemiBold"/>
                <a:cs typeface="Pretendard SemiBold"/>
              </a:rPr>
              <a:t> </a:t>
            </a:r>
            <a:r>
              <a:rPr sz="1600" dirty="0" err="1">
                <a:solidFill>
                  <a:srgbClr val="F47725"/>
                </a:solidFill>
                <a:latin typeface="Pretendard SemiBold"/>
                <a:ea typeface="Pretendard SemiBold"/>
                <a:cs typeface="Pretendard SemiBold"/>
              </a:rPr>
              <a:t>차단</a:t>
            </a:r>
            <a:r>
              <a:rPr sz="1600" dirty="0">
                <a:solidFill>
                  <a:srgbClr val="F47725"/>
                </a:solidFill>
                <a:latin typeface="Pretendard SemiBold"/>
                <a:ea typeface="Pretendard SemiBold"/>
                <a:cs typeface="Pretendard SemiBold"/>
              </a:rPr>
              <a:t> </a:t>
            </a:r>
            <a:r>
              <a:rPr sz="1600" dirty="0" err="1">
                <a:solidFill>
                  <a:srgbClr val="F47725"/>
                </a:solidFill>
                <a:latin typeface="Pretendard SemiBold"/>
                <a:ea typeface="Pretendard SemiBold"/>
                <a:cs typeface="Pretendard SemiBold"/>
              </a:rPr>
              <a:t>오류</a:t>
            </a:r>
            <a:r>
              <a:rPr sz="1600" dirty="0">
                <a:solidFill>
                  <a:srgbClr val="F47725"/>
                </a:solidFill>
                <a:latin typeface="Pretendard SemiBold"/>
                <a:ea typeface="Pretendard SemiBold"/>
                <a:cs typeface="Pretendard SemiBold"/>
              </a:rPr>
              <a:t> </a:t>
            </a:r>
            <a:r>
              <a:rPr sz="1600" dirty="0" err="1">
                <a:solidFill>
                  <a:srgbClr val="F47725"/>
                </a:solidFill>
                <a:latin typeface="Pretendard SemiBold"/>
                <a:ea typeface="Pretendard SemiBold"/>
                <a:cs typeface="Pretendard SemiBold"/>
              </a:rPr>
              <a:t>관리</a:t>
            </a:r>
            <a:endParaRPr sz="1600" dirty="0">
              <a:solidFill>
                <a:srgbClr val="F47725"/>
              </a:solidFill>
              <a:latin typeface="Pretendard SemiBold"/>
              <a:ea typeface="Pretendard SemiBold"/>
              <a:cs typeface="Pretendard SemiBold"/>
            </a:endParaRPr>
          </a:p>
        </p:txBody>
      </p:sp>
      <p:sp>
        <p:nvSpPr>
          <p:cNvPr id="691" name="T692">
            <a:extLst>
              <a:ext uri="{FF2B5EF4-FFF2-40B4-BE49-F238E27FC236}">
                <a16:creationId xmlns:a16="http://schemas.microsoft.com/office/drawing/2014/main" id="{160B0A0D-636D-40C0-81B7-A4D694B77B1E}"/>
              </a:ext>
            </a:extLst>
          </p:cNvPr>
          <p:cNvSpPr>
            <a:spLocks noGrp="1"/>
          </p:cNvSpPr>
          <p:nvPr/>
        </p:nvSpPr>
        <p:spPr>
          <a:xfrm>
            <a:off x="1170432" y="7991856"/>
            <a:ext cx="4334256" cy="914400"/>
          </a:xfrm>
          <a:prstGeom prst="rect">
            <a:avLst/>
          </a:prstGeom>
        </p:spPr>
        <p:txBody>
          <a:bodyPr wrap="square" lIns="0" tIns="0" rIns="0" bIns="0" anchor="t"/>
          <a:lstStyle/>
          <a:p>
            <a:pPr algn="l">
              <a:lnSpc>
                <a:spcPct val="138000"/>
              </a:lnSpc>
              <a:spcAft>
                <a:spcPts val="0"/>
              </a:spcAft>
              <a:buNone/>
            </a:pPr>
            <a:r>
              <a:rPr sz="1400" dirty="0" err="1">
                <a:solidFill>
                  <a:srgbClr val="1A1A1A"/>
                </a:solidFill>
                <a:latin typeface="Pretendard Medium"/>
                <a:ea typeface="Pretendard Medium"/>
                <a:cs typeface="Pretendard Medium"/>
              </a:rPr>
              <a:t>validation_issues에</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오류</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유형과</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대상</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문서</a:t>
            </a:r>
            <a:r>
              <a:rPr sz="1400" dirty="0">
                <a:solidFill>
                  <a:srgbClr val="1A1A1A"/>
                </a:solidFill>
                <a:latin typeface="Pretendard Medium"/>
                <a:ea typeface="Pretendard Medium"/>
                <a:cs typeface="Pretendard Medium"/>
              </a:rPr>
              <a:t>,</a:t>
            </a:r>
            <a:r>
              <a:rPr lang="ko-KR" altLang="en-US"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해결</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상태를</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저장한다</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미해결</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오류</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존재</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여부로</a:t>
            </a:r>
            <a:endParaRPr sz="1400" dirty="0">
              <a:solidFill>
                <a:srgbClr val="1A1A1A"/>
              </a:solidFill>
              <a:latin typeface="Pretendard Medium"/>
              <a:ea typeface="Pretendard Medium"/>
              <a:cs typeface="Pretendard Medium"/>
            </a:endParaRPr>
          </a:p>
          <a:p>
            <a:pPr algn="l">
              <a:lnSpc>
                <a:spcPct val="138000"/>
              </a:lnSpc>
              <a:spcAft>
                <a:spcPts val="0"/>
              </a:spcAft>
              <a:buNone/>
            </a:pPr>
            <a:r>
              <a:rPr sz="1400" dirty="0" err="1">
                <a:solidFill>
                  <a:srgbClr val="1A1A1A"/>
                </a:solidFill>
                <a:latin typeface="Pretendard Medium"/>
                <a:ea typeface="Pretendard Medium"/>
                <a:cs typeface="Pretendard Medium"/>
              </a:rPr>
              <a:t>최종</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제출</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가능</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여부를</a:t>
            </a:r>
            <a:r>
              <a:rPr sz="1400" dirty="0">
                <a:solidFill>
                  <a:srgbClr val="1A1A1A"/>
                </a:solidFill>
                <a:latin typeface="Pretendard Medium"/>
                <a:ea typeface="Pretendard Medium"/>
                <a:cs typeface="Pretendard Medium"/>
              </a:rPr>
              <a:t> </a:t>
            </a:r>
            <a:r>
              <a:rPr sz="1400" dirty="0" err="1">
                <a:solidFill>
                  <a:srgbClr val="1A1A1A"/>
                </a:solidFill>
                <a:latin typeface="Pretendard Medium"/>
                <a:ea typeface="Pretendard Medium"/>
                <a:cs typeface="Pretendard Medium"/>
              </a:rPr>
              <a:t>판정한다</a:t>
            </a:r>
            <a:r>
              <a:rPr sz="1400" dirty="0">
                <a:solidFill>
                  <a:srgbClr val="1A1A1A"/>
                </a:solidFill>
                <a:latin typeface="Pretendard Medium"/>
                <a:ea typeface="Pretendard Medium"/>
                <a:cs typeface="Pretendard Medium"/>
              </a:rPr>
              <a:t>.</a:t>
            </a:r>
          </a:p>
        </p:txBody>
      </p:sp>
      <p:sp>
        <p:nvSpPr>
          <p:cNvPr id="693" name="T694">
            <a:extLst>
              <a:ext uri="{FF2B5EF4-FFF2-40B4-BE49-F238E27FC236}">
                <a16:creationId xmlns:a16="http://schemas.microsoft.com/office/drawing/2014/main" id="{C7D17051-2D3B-48F9-8F98-5B620F491084}"/>
              </a:ext>
            </a:extLst>
          </p:cNvPr>
          <p:cNvSpPr>
            <a:spLocks noGrp="1"/>
          </p:cNvSpPr>
          <p:nvPr/>
        </p:nvSpPr>
        <p:spPr>
          <a:xfrm>
            <a:off x="914400" y="9189720"/>
            <a:ext cx="16459200" cy="365760"/>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화면과 API에서 사용하는 데이터만 모델링했다. 모든 테이블에 PK를 두고 관계는 FK로 명시했다.</a:t>
            </a:r>
          </a:p>
        </p:txBody>
      </p:sp>
    </p:spTree>
    <p:extLst>
      <p:ext uri="{BB962C8B-B14F-4D97-AF65-F5344CB8AC3E}">
        <p14:creationId xmlns:p14="http://schemas.microsoft.com/office/powerpoint/2010/main" val="722432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A736B1A0-DFD4-419F-AFC0-7F0C54598713}"/>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36894C7B-D4CB-4813-98B3-E85B8B5C9E17}"/>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2BA9CDAC-53B1-4627-AEC7-CBF3030EF16A}"/>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06</a:t>
            </a:r>
          </a:p>
        </p:txBody>
      </p:sp>
      <p:sp>
        <p:nvSpPr>
          <p:cNvPr id="6" name="TextBox 6">
            <a:extLst>
              <a:ext uri="{FF2B5EF4-FFF2-40B4-BE49-F238E27FC236}">
                <a16:creationId xmlns:a16="http://schemas.microsoft.com/office/drawing/2014/main" id="{B542783C-C8D6-4510-944E-D58D8F4C3EDF}"/>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API 명세 정의</a:t>
            </a:r>
          </a:p>
        </p:txBody>
      </p:sp>
      <p:sp>
        <p:nvSpPr>
          <p:cNvPr id="7" name="Freeform 7">
            <a:extLst>
              <a:ext uri="{FF2B5EF4-FFF2-40B4-BE49-F238E27FC236}">
                <a16:creationId xmlns:a16="http://schemas.microsoft.com/office/drawing/2014/main" id="{461C1550-6546-4CE0-BE2E-C1F30D135931}"/>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745" name="P696"/>
          <p:cNvPicPr>
            <a:picLocks noChangeAspect="1"/>
          </p:cNvPicPr>
          <p:nvPr/>
        </p:nvPicPr>
        <p:blipFill>
          <a:blip r:embed="rId4"/>
          <a:stretch>
            <a:fillRect/>
          </a:stretch>
        </p:blipFill>
        <p:spPr>
          <a:xfrm>
            <a:off x="914400" y="2464308"/>
            <a:ext cx="4892040" cy="4160520"/>
          </a:xfrm>
          <a:prstGeom prst="rect">
            <a:avLst/>
          </a:prstGeom>
          <a:ln w="9525">
            <a:solidFill>
              <a:srgbClr val="D8DCE2"/>
            </a:solidFill>
          </a:ln>
        </p:spPr>
      </p:pic>
      <p:sp>
        <p:nvSpPr>
          <p:cNvPr id="699" name="T700">
            <a:extLst>
              <a:ext uri="{FF2B5EF4-FFF2-40B4-BE49-F238E27FC236}">
                <a16:creationId xmlns:a16="http://schemas.microsoft.com/office/drawing/2014/main" id="{4191EC85-3DA6-459B-A342-0704FE3C6DCE}"/>
              </a:ext>
            </a:extLst>
          </p:cNvPr>
          <p:cNvSpPr>
            <a:spLocks noGrp="1"/>
          </p:cNvSpPr>
          <p:nvPr/>
        </p:nvSpPr>
        <p:spPr>
          <a:xfrm>
            <a:off x="914400" y="1490472"/>
            <a:ext cx="1197864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판교5반-P172-홍은비-API.yml (OpenAPI 3.0.3)   —   좌 : 최종 제출 오퍼레이션 원문 / 우 : 엔드포인트 명세서</a:t>
            </a:r>
          </a:p>
        </p:txBody>
      </p:sp>
      <p:sp>
        <p:nvSpPr>
          <p:cNvPr id="701" name="T702">
            <a:extLst>
              <a:ext uri="{FF2B5EF4-FFF2-40B4-BE49-F238E27FC236}">
                <a16:creationId xmlns:a16="http://schemas.microsoft.com/office/drawing/2014/main" id="{A7249D39-8544-4DCB-9DD5-DD8BE36AB832}"/>
              </a:ext>
            </a:extLst>
          </p:cNvPr>
          <p:cNvSpPr>
            <a:spLocks noGrp="1"/>
          </p:cNvSpPr>
          <p:nvPr/>
        </p:nvSpPr>
        <p:spPr>
          <a:xfrm>
            <a:off x="12481562" y="2418588"/>
            <a:ext cx="5074920" cy="402336"/>
          </a:xfrm>
          <a:prstGeom prst="rect">
            <a:avLst/>
          </a:prstGeom>
        </p:spPr>
        <p:txBody>
          <a:bodyPr wrap="square" lIns="0" tIns="0" rIns="0" bIns="0" anchor="t"/>
          <a:lstStyle/>
          <a:p>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703" name="S704">
            <a:extLst>
              <a:ext uri="{FF2B5EF4-FFF2-40B4-BE49-F238E27FC236}">
                <a16:creationId xmlns:a16="http://schemas.microsoft.com/office/drawing/2014/main" id="{F80B439E-6EA8-4DB5-A6D0-5466338AB522}"/>
              </a:ext>
            </a:extLst>
          </p:cNvPr>
          <p:cNvSpPr>
            <a:spLocks noGrp="1"/>
          </p:cNvSpPr>
          <p:nvPr/>
        </p:nvSpPr>
        <p:spPr>
          <a:xfrm>
            <a:off x="12518138" y="3058668"/>
            <a:ext cx="100584" cy="100584"/>
          </a:xfrm>
          <a:prstGeom prst="rect">
            <a:avLst/>
          </a:prstGeom>
          <a:solidFill>
            <a:srgbClr val="F47725"/>
          </a:solidFill>
        </p:spPr>
        <p:txBody>
          <a:bodyPr/>
          <a:lstStyle/>
          <a:p>
            <a:endParaRPr/>
          </a:p>
        </p:txBody>
      </p:sp>
      <p:sp>
        <p:nvSpPr>
          <p:cNvPr id="705" name="T706">
            <a:extLst>
              <a:ext uri="{FF2B5EF4-FFF2-40B4-BE49-F238E27FC236}">
                <a16:creationId xmlns:a16="http://schemas.microsoft.com/office/drawing/2014/main" id="{06A429B8-5876-4C73-A87B-8F7263E4293A}"/>
              </a:ext>
            </a:extLst>
          </p:cNvPr>
          <p:cNvSpPr>
            <a:spLocks noGrp="1"/>
          </p:cNvSpPr>
          <p:nvPr/>
        </p:nvSpPr>
        <p:spPr>
          <a:xfrm>
            <a:off x="12774170" y="2930652"/>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엔드포인트 11개</a:t>
            </a:r>
          </a:p>
          <a:p>
            <a:pPr algn="l">
              <a:lnSpc>
                <a:spcPct val="136000"/>
              </a:lnSpc>
              <a:spcAft>
                <a:spcPts val="0"/>
              </a:spcAft>
              <a:buNone/>
            </a:pPr>
            <a:r>
              <a:rPr sz="1600">
                <a:solidFill>
                  <a:srgbClr val="1A1A1A"/>
                </a:solidFill>
                <a:latin typeface="Pretendard Medium"/>
                <a:ea typeface="Pretendard Medium"/>
                <a:cs typeface="Pretendard Medium"/>
              </a:rPr>
              <a:t>auth 3 · company 5 · review 3</a:t>
            </a:r>
          </a:p>
        </p:txBody>
      </p:sp>
      <p:sp>
        <p:nvSpPr>
          <p:cNvPr id="707" name="S708">
            <a:extLst>
              <a:ext uri="{FF2B5EF4-FFF2-40B4-BE49-F238E27FC236}">
                <a16:creationId xmlns:a16="http://schemas.microsoft.com/office/drawing/2014/main" id="{41C93338-E9BA-4464-A7F7-226781D30345}"/>
              </a:ext>
            </a:extLst>
          </p:cNvPr>
          <p:cNvSpPr>
            <a:spLocks noGrp="1"/>
          </p:cNvSpPr>
          <p:nvPr/>
        </p:nvSpPr>
        <p:spPr>
          <a:xfrm>
            <a:off x="12518138" y="4046220"/>
            <a:ext cx="100584" cy="100584"/>
          </a:xfrm>
          <a:prstGeom prst="rect">
            <a:avLst/>
          </a:prstGeom>
          <a:solidFill>
            <a:srgbClr val="F47725"/>
          </a:solidFill>
        </p:spPr>
        <p:txBody>
          <a:bodyPr/>
          <a:lstStyle/>
          <a:p>
            <a:endParaRPr/>
          </a:p>
        </p:txBody>
      </p:sp>
      <p:sp>
        <p:nvSpPr>
          <p:cNvPr id="709" name="T710">
            <a:extLst>
              <a:ext uri="{FF2B5EF4-FFF2-40B4-BE49-F238E27FC236}">
                <a16:creationId xmlns:a16="http://schemas.microsoft.com/office/drawing/2014/main" id="{66C68B94-1AEB-49F6-AF9C-2F5C159476D8}"/>
              </a:ext>
            </a:extLst>
          </p:cNvPr>
          <p:cNvSpPr>
            <a:spLocks noGrp="1"/>
          </p:cNvSpPr>
          <p:nvPr/>
        </p:nvSpPr>
        <p:spPr>
          <a:xfrm>
            <a:off x="12774170" y="3918204"/>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$ref 로 공통 응답·오류·</a:t>
            </a:r>
          </a:p>
          <a:p>
            <a:pPr algn="l">
              <a:lnSpc>
                <a:spcPct val="136000"/>
              </a:lnSpc>
              <a:spcAft>
                <a:spcPts val="0"/>
              </a:spcAft>
              <a:buNone/>
            </a:pPr>
            <a:r>
              <a:rPr sz="1600">
                <a:solidFill>
                  <a:srgbClr val="1A1A1A"/>
                </a:solidFill>
                <a:latin typeface="Pretendard Medium"/>
                <a:ea typeface="Pretendard Medium"/>
                <a:cs typeface="Pretendard Medium"/>
              </a:rPr>
              <a:t>파라미터 재사용 (스키마 28개)</a:t>
            </a:r>
          </a:p>
        </p:txBody>
      </p:sp>
      <p:sp>
        <p:nvSpPr>
          <p:cNvPr id="711" name="S712">
            <a:extLst>
              <a:ext uri="{FF2B5EF4-FFF2-40B4-BE49-F238E27FC236}">
                <a16:creationId xmlns:a16="http://schemas.microsoft.com/office/drawing/2014/main" id="{68480D0B-12E1-4B8B-9840-456254CB2B3B}"/>
              </a:ext>
            </a:extLst>
          </p:cNvPr>
          <p:cNvSpPr>
            <a:spLocks noGrp="1"/>
          </p:cNvSpPr>
          <p:nvPr/>
        </p:nvSpPr>
        <p:spPr>
          <a:xfrm>
            <a:off x="12518138" y="5033772"/>
            <a:ext cx="100584" cy="100584"/>
          </a:xfrm>
          <a:prstGeom prst="rect">
            <a:avLst/>
          </a:prstGeom>
          <a:solidFill>
            <a:srgbClr val="F47725"/>
          </a:solidFill>
        </p:spPr>
        <p:txBody>
          <a:bodyPr/>
          <a:lstStyle/>
          <a:p>
            <a:endParaRPr/>
          </a:p>
        </p:txBody>
      </p:sp>
      <p:sp>
        <p:nvSpPr>
          <p:cNvPr id="713" name="T714">
            <a:extLst>
              <a:ext uri="{FF2B5EF4-FFF2-40B4-BE49-F238E27FC236}">
                <a16:creationId xmlns:a16="http://schemas.microsoft.com/office/drawing/2014/main" id="{C32B79CD-B55A-48D6-85E4-FE5DBDFABFA7}"/>
              </a:ext>
            </a:extLst>
          </p:cNvPr>
          <p:cNvSpPr>
            <a:spLocks noGrp="1"/>
          </p:cNvSpPr>
          <p:nvPr/>
        </p:nvSpPr>
        <p:spPr>
          <a:xfrm>
            <a:off x="12774170" y="4905756"/>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화면에서 실제 호출하는 API만</a:t>
            </a:r>
          </a:p>
          <a:p>
            <a:pPr algn="l">
              <a:lnSpc>
                <a:spcPct val="136000"/>
              </a:lnSpc>
              <a:spcAft>
                <a:spcPts val="0"/>
              </a:spcAft>
              <a:buNone/>
            </a:pPr>
            <a:r>
              <a:rPr sz="1600">
                <a:solidFill>
                  <a:srgbClr val="1A1A1A"/>
                </a:solidFill>
                <a:latin typeface="Pretendard Medium"/>
                <a:ea typeface="Pretendard Medium"/>
                <a:cs typeface="Pretendard Medium"/>
              </a:rPr>
              <a:t>정의해 범위를 명확히 제한</a:t>
            </a:r>
          </a:p>
        </p:txBody>
      </p:sp>
      <p:sp>
        <p:nvSpPr>
          <p:cNvPr id="715" name="S716">
            <a:extLst>
              <a:ext uri="{FF2B5EF4-FFF2-40B4-BE49-F238E27FC236}">
                <a16:creationId xmlns:a16="http://schemas.microsoft.com/office/drawing/2014/main" id="{58F2FA40-31FA-4544-A82A-308E1171EE22}"/>
              </a:ext>
            </a:extLst>
          </p:cNvPr>
          <p:cNvSpPr>
            <a:spLocks noGrp="1"/>
          </p:cNvSpPr>
          <p:nvPr/>
        </p:nvSpPr>
        <p:spPr>
          <a:xfrm>
            <a:off x="12518138" y="6021324"/>
            <a:ext cx="100584" cy="100584"/>
          </a:xfrm>
          <a:prstGeom prst="rect">
            <a:avLst/>
          </a:prstGeom>
          <a:solidFill>
            <a:srgbClr val="F47725"/>
          </a:solidFill>
        </p:spPr>
        <p:txBody>
          <a:bodyPr/>
          <a:lstStyle/>
          <a:p>
            <a:endParaRPr/>
          </a:p>
        </p:txBody>
      </p:sp>
      <p:sp>
        <p:nvSpPr>
          <p:cNvPr id="717" name="T718">
            <a:extLst>
              <a:ext uri="{FF2B5EF4-FFF2-40B4-BE49-F238E27FC236}">
                <a16:creationId xmlns:a16="http://schemas.microsoft.com/office/drawing/2014/main" id="{5ECCC3AB-53A3-438C-83BF-11AF96153E97}"/>
              </a:ext>
            </a:extLst>
          </p:cNvPr>
          <p:cNvSpPr>
            <a:spLocks noGrp="1"/>
          </p:cNvSpPr>
          <p:nvPr/>
        </p:nvSpPr>
        <p:spPr>
          <a:xfrm>
            <a:off x="12774170" y="5893308"/>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외부 OCR은 연동 대상으로 분리하고</a:t>
            </a:r>
          </a:p>
          <a:p>
            <a:pPr algn="l">
              <a:lnSpc>
                <a:spcPct val="136000"/>
              </a:lnSpc>
              <a:spcAft>
                <a:spcPts val="0"/>
              </a:spcAft>
              <a:buNone/>
            </a:pPr>
            <a:r>
              <a:rPr sz="1600">
                <a:solidFill>
                  <a:srgbClr val="1A1A1A"/>
                </a:solidFill>
                <a:latin typeface="Pretendard Medium"/>
                <a:ea typeface="Pretendard Medium"/>
                <a:cs typeface="Pretendard Medium"/>
              </a:rPr>
              <a:t>실패와 지연을 502·504로 표현</a:t>
            </a:r>
          </a:p>
        </p:txBody>
      </p:sp>
      <p:sp>
        <p:nvSpPr>
          <p:cNvPr id="719" name="S720">
            <a:extLst>
              <a:ext uri="{FF2B5EF4-FFF2-40B4-BE49-F238E27FC236}">
                <a16:creationId xmlns:a16="http://schemas.microsoft.com/office/drawing/2014/main" id="{729FFA9F-91EA-485C-8DF6-35D9DA4AF5F1}"/>
              </a:ext>
            </a:extLst>
          </p:cNvPr>
          <p:cNvSpPr>
            <a:spLocks noGrp="1"/>
          </p:cNvSpPr>
          <p:nvPr/>
        </p:nvSpPr>
        <p:spPr>
          <a:xfrm>
            <a:off x="914400" y="7104490"/>
            <a:ext cx="4892040" cy="1600200"/>
          </a:xfrm>
          <a:prstGeom prst="roundRect">
            <a:avLst>
              <a:gd name="adj" fmla="val 5000"/>
            </a:avLst>
          </a:prstGeom>
          <a:solidFill>
            <a:srgbClr val="FFF1F3"/>
          </a:solidFill>
          <a:ln w="19050">
            <a:solidFill>
              <a:srgbClr val="EA002C"/>
            </a:solidFill>
          </a:ln>
        </p:spPr>
        <p:txBody>
          <a:bodyPr/>
          <a:lstStyle/>
          <a:p>
            <a:endParaRPr/>
          </a:p>
        </p:txBody>
      </p:sp>
      <p:sp>
        <p:nvSpPr>
          <p:cNvPr id="721" name="T722">
            <a:extLst>
              <a:ext uri="{FF2B5EF4-FFF2-40B4-BE49-F238E27FC236}">
                <a16:creationId xmlns:a16="http://schemas.microsoft.com/office/drawing/2014/main" id="{ED90EF6B-C755-40C1-BCB2-E9466816B67B}"/>
              </a:ext>
            </a:extLst>
          </p:cNvPr>
          <p:cNvSpPr>
            <a:spLocks noGrp="1"/>
          </p:cNvSpPr>
          <p:nvPr/>
        </p:nvSpPr>
        <p:spPr>
          <a:xfrm>
            <a:off x="1170432" y="7250794"/>
            <a:ext cx="4379976"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예외 처리 규격화</a:t>
            </a:r>
          </a:p>
        </p:txBody>
      </p:sp>
      <p:sp>
        <p:nvSpPr>
          <p:cNvPr id="723" name="T724">
            <a:extLst>
              <a:ext uri="{FF2B5EF4-FFF2-40B4-BE49-F238E27FC236}">
                <a16:creationId xmlns:a16="http://schemas.microsoft.com/office/drawing/2014/main" id="{204FE714-0A0B-4015-B406-54488F670082}"/>
              </a:ext>
            </a:extLst>
          </p:cNvPr>
          <p:cNvSpPr>
            <a:spLocks noGrp="1"/>
          </p:cNvSpPr>
          <p:nvPr/>
        </p:nvSpPr>
        <p:spPr>
          <a:xfrm>
            <a:off x="1170432" y="7689706"/>
            <a:ext cx="4379976" cy="86868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성공 응답과 주요 오류 코드를 각 오퍼레이션에</a:t>
            </a:r>
          </a:p>
          <a:p>
            <a:pPr algn="l">
              <a:lnSpc>
                <a:spcPct val="138000"/>
              </a:lnSpc>
              <a:spcAft>
                <a:spcPts val="0"/>
              </a:spcAft>
              <a:buNone/>
            </a:pPr>
            <a:r>
              <a:rPr sz="1400">
                <a:solidFill>
                  <a:srgbClr val="1A1A1A"/>
                </a:solidFill>
                <a:latin typeface="Pretendard Medium"/>
                <a:ea typeface="Pretendard Medium"/>
                <a:cs typeface="Pretendard Medium"/>
              </a:rPr>
              <a:t>명시해 화면설계서의 예외 정책과 일치시켰다.</a:t>
            </a:r>
          </a:p>
        </p:txBody>
      </p:sp>
      <p:sp>
        <p:nvSpPr>
          <p:cNvPr id="725" name="S726">
            <a:extLst>
              <a:ext uri="{FF2B5EF4-FFF2-40B4-BE49-F238E27FC236}">
                <a16:creationId xmlns:a16="http://schemas.microsoft.com/office/drawing/2014/main" id="{6259F911-8520-4D0C-B582-D690A3DAF970}"/>
              </a:ext>
            </a:extLst>
          </p:cNvPr>
          <p:cNvSpPr>
            <a:spLocks noGrp="1"/>
          </p:cNvSpPr>
          <p:nvPr/>
        </p:nvSpPr>
        <p:spPr>
          <a:xfrm>
            <a:off x="6192378" y="7104490"/>
            <a:ext cx="5943600" cy="1600200"/>
          </a:xfrm>
          <a:prstGeom prst="roundRect">
            <a:avLst>
              <a:gd name="adj" fmla="val 5000"/>
            </a:avLst>
          </a:prstGeom>
          <a:solidFill>
            <a:srgbClr val="FFF4EE"/>
          </a:solidFill>
          <a:ln w="19050">
            <a:solidFill>
              <a:srgbClr val="F47725"/>
            </a:solidFill>
          </a:ln>
        </p:spPr>
        <p:txBody>
          <a:bodyPr/>
          <a:lstStyle/>
          <a:p>
            <a:endParaRPr/>
          </a:p>
        </p:txBody>
      </p:sp>
      <p:sp>
        <p:nvSpPr>
          <p:cNvPr id="727" name="T728">
            <a:extLst>
              <a:ext uri="{FF2B5EF4-FFF2-40B4-BE49-F238E27FC236}">
                <a16:creationId xmlns:a16="http://schemas.microsoft.com/office/drawing/2014/main" id="{3809F0C8-4F01-4C8C-A12C-F5C265B2685A}"/>
              </a:ext>
            </a:extLst>
          </p:cNvPr>
          <p:cNvSpPr>
            <a:spLocks noGrp="1"/>
          </p:cNvSpPr>
          <p:nvPr/>
        </p:nvSpPr>
        <p:spPr>
          <a:xfrm>
            <a:off x="6448410" y="7250794"/>
            <a:ext cx="5431536" cy="402336"/>
          </a:xfrm>
          <a:prstGeom prst="rect">
            <a:avLst/>
          </a:prstGeom>
        </p:spPr>
        <p:txBody>
          <a:bodyPr wrap="square" lIns="0" tIns="0" rIns="0" bIns="0" anchor="ctr"/>
          <a:lstStyle/>
          <a:p>
            <a:pPr algn="l">
              <a:lnSpc>
                <a:spcPct val="135000"/>
              </a:lnSpc>
              <a:spcAft>
                <a:spcPts val="0"/>
              </a:spcAft>
              <a:buNone/>
            </a:pPr>
            <a:r>
              <a:rPr sz="1600">
                <a:solidFill>
                  <a:srgbClr val="F47725"/>
                </a:solidFill>
                <a:latin typeface="Pretendard SemiBold"/>
                <a:ea typeface="Pretendard SemiBold"/>
                <a:cs typeface="Pretendard SemiBold"/>
              </a:rPr>
              <a:t>오퍼레이션별 추적 정보</a:t>
            </a:r>
          </a:p>
        </p:txBody>
      </p:sp>
      <p:sp>
        <p:nvSpPr>
          <p:cNvPr id="729" name="T730">
            <a:extLst>
              <a:ext uri="{FF2B5EF4-FFF2-40B4-BE49-F238E27FC236}">
                <a16:creationId xmlns:a16="http://schemas.microsoft.com/office/drawing/2014/main" id="{44CF31DD-DA90-4BDD-BC26-F0C6FDE3C3F7}"/>
              </a:ext>
            </a:extLst>
          </p:cNvPr>
          <p:cNvSpPr>
            <a:spLocks noGrp="1"/>
          </p:cNvSpPr>
          <p:nvPr/>
        </p:nvSpPr>
        <p:spPr>
          <a:xfrm>
            <a:off x="6448410" y="7689706"/>
            <a:ext cx="5431536" cy="86868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각 description에 요구사항 ID와 화면 ID,</a:t>
            </a:r>
          </a:p>
          <a:p>
            <a:pPr algn="l">
              <a:lnSpc>
                <a:spcPct val="138000"/>
              </a:lnSpc>
              <a:spcAft>
                <a:spcPts val="0"/>
              </a:spcAft>
              <a:buNone/>
            </a:pPr>
            <a:r>
              <a:rPr sz="1400">
                <a:solidFill>
                  <a:srgbClr val="1A1A1A"/>
                </a:solidFill>
                <a:latin typeface="Pretendard Medium"/>
                <a:ea typeface="Pretendard Medium"/>
                <a:cs typeface="Pretendard Medium"/>
              </a:rPr>
              <a:t>사용 테이블을 기록해 요구사항·화면·API·DB를</a:t>
            </a:r>
          </a:p>
          <a:p>
            <a:pPr algn="l">
              <a:lnSpc>
                <a:spcPct val="138000"/>
              </a:lnSpc>
              <a:spcAft>
                <a:spcPts val="0"/>
              </a:spcAft>
              <a:buNone/>
            </a:pPr>
            <a:r>
              <a:rPr sz="1400">
                <a:solidFill>
                  <a:srgbClr val="1A1A1A"/>
                </a:solidFill>
                <a:latin typeface="Pretendard Medium"/>
                <a:ea typeface="Pretendard Medium"/>
                <a:cs typeface="Pretendard Medium"/>
              </a:rPr>
              <a:t>상호 추적할 수 있게 구성했다.</a:t>
            </a:r>
          </a:p>
        </p:txBody>
      </p:sp>
      <p:sp>
        <p:nvSpPr>
          <p:cNvPr id="731" name="S732">
            <a:extLst>
              <a:ext uri="{FF2B5EF4-FFF2-40B4-BE49-F238E27FC236}">
                <a16:creationId xmlns:a16="http://schemas.microsoft.com/office/drawing/2014/main" id="{3475AF80-04C6-45A6-9E9C-1AACA4D1E58F}"/>
              </a:ext>
            </a:extLst>
          </p:cNvPr>
          <p:cNvSpPr>
            <a:spLocks noGrp="1"/>
          </p:cNvSpPr>
          <p:nvPr/>
        </p:nvSpPr>
        <p:spPr>
          <a:xfrm>
            <a:off x="12518138" y="7086600"/>
            <a:ext cx="5074920" cy="1600200"/>
          </a:xfrm>
          <a:prstGeom prst="roundRect">
            <a:avLst>
              <a:gd name="adj" fmla="val 5000"/>
            </a:avLst>
          </a:prstGeom>
          <a:solidFill>
            <a:srgbClr val="E8EEFC"/>
          </a:solidFill>
          <a:ln w="19050">
            <a:solidFill>
              <a:srgbClr val="2B4FA8"/>
            </a:solidFill>
          </a:ln>
        </p:spPr>
        <p:txBody>
          <a:bodyPr/>
          <a:lstStyle/>
          <a:p>
            <a:endParaRPr/>
          </a:p>
        </p:txBody>
      </p:sp>
      <p:sp>
        <p:nvSpPr>
          <p:cNvPr id="733" name="T734">
            <a:extLst>
              <a:ext uri="{FF2B5EF4-FFF2-40B4-BE49-F238E27FC236}">
                <a16:creationId xmlns:a16="http://schemas.microsoft.com/office/drawing/2014/main" id="{5639DAC9-D10B-49FB-A5CC-EA4984F298BD}"/>
              </a:ext>
            </a:extLst>
          </p:cNvPr>
          <p:cNvSpPr>
            <a:spLocks noGrp="1"/>
          </p:cNvSpPr>
          <p:nvPr/>
        </p:nvSpPr>
        <p:spPr>
          <a:xfrm>
            <a:off x="12774170" y="7232904"/>
            <a:ext cx="4562856" cy="402336"/>
          </a:xfrm>
          <a:prstGeom prst="rect">
            <a:avLst/>
          </a:prstGeom>
        </p:spPr>
        <p:txBody>
          <a:bodyPr wrap="square" lIns="0" tIns="0" rIns="0" bIns="0" anchor="ctr"/>
          <a:lstStyle/>
          <a:p>
            <a:pPr algn="l">
              <a:lnSpc>
                <a:spcPct val="135000"/>
              </a:lnSpc>
              <a:spcAft>
                <a:spcPts val="0"/>
              </a:spcAft>
              <a:buNone/>
            </a:pPr>
            <a:r>
              <a:rPr sz="1600">
                <a:solidFill>
                  <a:srgbClr val="2B4FA8"/>
                </a:solidFill>
                <a:latin typeface="Pretendard SemiBold"/>
                <a:ea typeface="Pretendard SemiBold"/>
                <a:cs typeface="Pretendard SemiBold"/>
              </a:rPr>
              <a:t>Bearer 인증</a:t>
            </a:r>
          </a:p>
        </p:txBody>
      </p:sp>
      <p:sp>
        <p:nvSpPr>
          <p:cNvPr id="735" name="T736">
            <a:extLst>
              <a:ext uri="{FF2B5EF4-FFF2-40B4-BE49-F238E27FC236}">
                <a16:creationId xmlns:a16="http://schemas.microsoft.com/office/drawing/2014/main" id="{98BC7230-76F3-4B2C-B2CE-B3ED3BB9BEA3}"/>
              </a:ext>
            </a:extLst>
          </p:cNvPr>
          <p:cNvSpPr>
            <a:spLocks noGrp="1"/>
          </p:cNvSpPr>
          <p:nvPr/>
        </p:nvSpPr>
        <p:spPr>
          <a:xfrm>
            <a:off x="12774170" y="7671816"/>
            <a:ext cx="4562856" cy="86868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로그인 응답의 accessToken을</a:t>
            </a:r>
          </a:p>
          <a:p>
            <a:pPr algn="l">
              <a:lnSpc>
                <a:spcPct val="138000"/>
              </a:lnSpc>
              <a:spcAft>
                <a:spcPts val="0"/>
              </a:spcAft>
              <a:buNone/>
            </a:pPr>
            <a:r>
              <a:rPr sz="1400">
                <a:solidFill>
                  <a:srgbClr val="1A1A1A"/>
                </a:solidFill>
                <a:latin typeface="Pretendard Medium"/>
                <a:ea typeface="Pretendard Medium"/>
                <a:cs typeface="Pretendard Medium"/>
              </a:rPr>
              <a:t>이후 요청에 사용한다. 초대 정보 조회,</a:t>
            </a:r>
          </a:p>
          <a:p>
            <a:pPr algn="l">
              <a:lnSpc>
                <a:spcPct val="138000"/>
              </a:lnSpc>
              <a:spcAft>
                <a:spcPts val="0"/>
              </a:spcAft>
              <a:buNone/>
            </a:pPr>
            <a:r>
              <a:rPr sz="1400">
                <a:solidFill>
                  <a:srgbClr val="1A1A1A"/>
                </a:solidFill>
                <a:latin typeface="Pretendard Medium"/>
                <a:ea typeface="Pretendard Medium"/>
                <a:cs typeface="Pretendard Medium"/>
              </a:rPr>
              <a:t>계정 활성화와 로그인은 인증 없이 호출한다.</a:t>
            </a:r>
          </a:p>
        </p:txBody>
      </p:sp>
      <p:sp>
        <p:nvSpPr>
          <p:cNvPr id="737" name="T738">
            <a:extLst>
              <a:ext uri="{FF2B5EF4-FFF2-40B4-BE49-F238E27FC236}">
                <a16:creationId xmlns:a16="http://schemas.microsoft.com/office/drawing/2014/main" id="{7E329BE9-FB7C-4D0B-911A-92CA75DE6CF6}"/>
              </a:ext>
            </a:extLst>
          </p:cNvPr>
          <p:cNvSpPr>
            <a:spLocks noGrp="1"/>
          </p:cNvSpPr>
          <p:nvPr/>
        </p:nvSpPr>
        <p:spPr>
          <a:xfrm>
            <a:off x="914400" y="9189720"/>
            <a:ext cx="16459200" cy="365760"/>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미해결 차단 오류가 있으면 422와 blockingIssues 배열을 반환해 화면에서 해결 항목을 바로 표시할 수 있게 했다.</a:t>
            </a:r>
          </a:p>
        </p:txBody>
      </p:sp>
      <p:pic>
        <p:nvPicPr>
          <p:cNvPr id="766" name="P698"/>
          <p:cNvPicPr>
            <a:picLocks noChangeAspect="1"/>
          </p:cNvPicPr>
          <p:nvPr/>
        </p:nvPicPr>
        <p:blipFill>
          <a:blip r:embed="rId5"/>
          <a:stretch>
            <a:fillRect/>
          </a:stretch>
        </p:blipFill>
        <p:spPr>
          <a:xfrm>
            <a:off x="6188600" y="2464308"/>
            <a:ext cx="5943600" cy="4160520"/>
          </a:xfrm>
          <a:prstGeom prst="rect">
            <a:avLst/>
          </a:prstGeom>
          <a:ln w="9525">
            <a:solidFill>
              <a:srgbClr val="D8DCE2"/>
            </a:solidFill>
          </a:ln>
        </p:spPr>
      </p:pic>
    </p:spTree>
    <p:extLst>
      <p:ext uri="{BB962C8B-B14F-4D97-AF65-F5344CB8AC3E}">
        <p14:creationId xmlns:p14="http://schemas.microsoft.com/office/powerpoint/2010/main" val="1404133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08E9493F-DF71-4693-985D-4862703AC7EE}"/>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1E73434B-B613-47A3-AD5F-CAF759746B47}"/>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834DB075-A082-45CB-883A-61DB057AE1DA}"/>
              </a:ext>
            </a:extLst>
          </p:cNvPr>
          <p:cNvSpPr>
            <a:spLocks noGrp="1"/>
          </p:cNvSpPr>
          <p:nvPr/>
        </p:nvSpPr>
        <p:spPr>
          <a:xfrm>
            <a:off x="391635" y="405441"/>
            <a:ext cx="743765" cy="712470"/>
          </a:xfrm>
          <a:prstGeom prst="rect">
            <a:avLst/>
          </a:prstGeom>
        </p:spPr>
        <p:txBody>
          <a:bodyPr lIns="0" tIns="0" rIns="0" bIns="0" anchor="ctr">
            <a:spAutoFit/>
          </a:bodyPr>
          <a:lstStyle/>
          <a:p>
            <a:pPr algn="ctr">
              <a:lnSpc>
                <a:spcPts val="5053"/>
              </a:lnSpc>
              <a:buNone/>
            </a:pPr>
            <a:r>
              <a:rPr sz="3887" b="1">
                <a:solidFill>
                  <a:srgbClr val="000000"/>
                </a:solidFill>
                <a:latin typeface="Pretendard SemiBold"/>
                <a:ea typeface="Pretendard SemiBold"/>
                <a:cs typeface="Pretendard SemiBold"/>
              </a:rPr>
              <a:t>06</a:t>
            </a:r>
          </a:p>
        </p:txBody>
      </p:sp>
      <p:sp>
        <p:nvSpPr>
          <p:cNvPr id="6" name="TextBox 6">
            <a:extLst>
              <a:ext uri="{FF2B5EF4-FFF2-40B4-BE49-F238E27FC236}">
                <a16:creationId xmlns:a16="http://schemas.microsoft.com/office/drawing/2014/main" id="{A1E4DCEF-6EB5-4FBB-AAC7-E09DB49E0BAE}"/>
              </a:ext>
            </a:extLst>
          </p:cNvPr>
          <p:cNvSpPr>
            <a:spLocks noGrp="1"/>
          </p:cNvSpPr>
          <p:nvPr/>
        </p:nvSpPr>
        <p:spPr>
          <a:xfrm>
            <a:off x="1466120" y="405441"/>
            <a:ext cx="9144000" cy="712470"/>
          </a:xfrm>
          <a:prstGeom prst="rect">
            <a:avLst/>
          </a:prstGeom>
        </p:spPr>
        <p:txBody>
          <a:bodyPr lIns="0" tIns="0" rIns="0" bIns="0" anchor="ctr">
            <a:spAutoFit/>
          </a:bodyPr>
          <a:lstStyle/>
          <a:p>
            <a:pPr algn="l">
              <a:lnSpc>
                <a:spcPts val="5880"/>
              </a:lnSpc>
              <a:buNone/>
            </a:pPr>
            <a:r>
              <a:rPr sz="4200">
                <a:solidFill>
                  <a:srgbClr val="000000"/>
                </a:solidFill>
                <a:latin typeface="Pretendard SemiBold"/>
                <a:ea typeface="Pretendard SemiBold"/>
                <a:cs typeface="Pretendard SemiBold"/>
              </a:rPr>
              <a:t>API 명세 정의</a:t>
            </a:r>
          </a:p>
        </p:txBody>
      </p:sp>
      <p:sp>
        <p:nvSpPr>
          <p:cNvPr id="7" name="Freeform 7">
            <a:extLst>
              <a:ext uri="{FF2B5EF4-FFF2-40B4-BE49-F238E27FC236}">
                <a16:creationId xmlns:a16="http://schemas.microsoft.com/office/drawing/2014/main" id="{A54AC813-DB00-41E9-92D2-3980F654C564}"/>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pic>
        <p:nvPicPr>
          <p:cNvPr id="747" name="P696"/>
          <p:cNvPicPr>
            <a:picLocks noChangeAspect="1"/>
          </p:cNvPicPr>
          <p:nvPr/>
        </p:nvPicPr>
        <p:blipFill>
          <a:blip r:embed="rId4"/>
          <a:stretch>
            <a:fillRect/>
          </a:stretch>
        </p:blipFill>
        <p:spPr>
          <a:xfrm>
            <a:off x="914400" y="1965960"/>
            <a:ext cx="4462272" cy="3502152"/>
          </a:xfrm>
          <a:prstGeom prst="rect">
            <a:avLst/>
          </a:prstGeom>
          <a:ln w="9525">
            <a:solidFill>
              <a:srgbClr val="D8DCE2"/>
            </a:solidFill>
          </a:ln>
        </p:spPr>
      </p:pic>
      <p:pic>
        <p:nvPicPr>
          <p:cNvPr id="748" name="P698"/>
          <p:cNvPicPr>
            <a:picLocks noChangeAspect="1"/>
          </p:cNvPicPr>
          <p:nvPr/>
        </p:nvPicPr>
        <p:blipFill>
          <a:blip r:embed="rId5"/>
          <a:stretch>
            <a:fillRect/>
          </a:stretch>
        </p:blipFill>
        <p:spPr>
          <a:xfrm>
            <a:off x="5833872" y="1965960"/>
            <a:ext cx="6153912" cy="3502152"/>
          </a:xfrm>
          <a:prstGeom prst="rect">
            <a:avLst/>
          </a:prstGeom>
          <a:ln w="9525">
            <a:solidFill>
              <a:srgbClr val="D8DCE2"/>
            </a:solidFill>
          </a:ln>
        </p:spPr>
      </p:pic>
      <p:sp>
        <p:nvSpPr>
          <p:cNvPr id="699" name="T700">
            <a:extLst>
              <a:ext uri="{FF2B5EF4-FFF2-40B4-BE49-F238E27FC236}">
                <a16:creationId xmlns:a16="http://schemas.microsoft.com/office/drawing/2014/main" id="{676E2A17-D5B0-4DDF-928D-D2CFCE3B3EAF}"/>
              </a:ext>
            </a:extLst>
          </p:cNvPr>
          <p:cNvSpPr>
            <a:spLocks noGrp="1"/>
          </p:cNvSpPr>
          <p:nvPr/>
        </p:nvSpPr>
        <p:spPr>
          <a:xfrm>
            <a:off x="914400" y="1490472"/>
            <a:ext cx="11978640" cy="347472"/>
          </a:xfrm>
          <a:prstGeom prst="rect">
            <a:avLst/>
          </a:prstGeom>
        </p:spPr>
        <p:txBody>
          <a:bodyPr wrap="square" lIns="0" tIns="0" rIns="0" bIns="0" anchor="t"/>
          <a:lstStyle/>
          <a:p>
            <a:pPr algn="l">
              <a:lnSpc>
                <a:spcPct val="135000"/>
              </a:lnSpc>
              <a:spcAft>
                <a:spcPts val="0"/>
              </a:spcAft>
              <a:buNone/>
            </a:pPr>
            <a:r>
              <a:rPr sz="1500">
                <a:solidFill>
                  <a:srgbClr val="6E6A63"/>
                </a:solidFill>
                <a:latin typeface="Pretendard Medium"/>
                <a:ea typeface="Pretendard Medium"/>
                <a:cs typeface="Pretendard Medium"/>
              </a:rPr>
              <a:t>판교5반-P172-홍은비-API.yml (OpenAPI 3.0.3)   —   좌 : 최종 제출 오퍼레이션 원문 / 우 : 엔드포인트 명세서</a:t>
            </a:r>
          </a:p>
        </p:txBody>
      </p:sp>
      <p:sp>
        <p:nvSpPr>
          <p:cNvPr id="701" name="T702">
            <a:extLst>
              <a:ext uri="{FF2B5EF4-FFF2-40B4-BE49-F238E27FC236}">
                <a16:creationId xmlns:a16="http://schemas.microsoft.com/office/drawing/2014/main" id="{54C160DB-84F5-4898-8E49-617A3B0E0EC1}"/>
              </a:ext>
            </a:extLst>
          </p:cNvPr>
          <p:cNvSpPr>
            <a:spLocks noGrp="1"/>
          </p:cNvSpPr>
          <p:nvPr/>
        </p:nvSpPr>
        <p:spPr>
          <a:xfrm>
            <a:off x="12298680" y="1920240"/>
            <a:ext cx="5074920" cy="402336"/>
          </a:xfrm>
          <a:prstGeom prst="rect">
            <a:avLst/>
          </a:prstGeom>
        </p:spPr>
        <p:txBody>
          <a:bodyPr wrap="square" lIns="0" tIns="0" rIns="0" bIns="0" anchor="t"/>
          <a:lstStyle/>
          <a:p>
            <a:pPr algn="l">
              <a:lnSpc>
                <a:spcPct val="135000"/>
              </a:lnSpc>
              <a:spcAft>
                <a:spcPts val="0"/>
              </a:spcAft>
              <a:buNone/>
            </a:pPr>
            <a:r>
              <a:rPr sz="1900">
                <a:solidFill>
                  <a:srgbClr val="1A1A1A"/>
                </a:solidFill>
                <a:latin typeface="Pretendard SemiBold"/>
                <a:ea typeface="Pretendard SemiBold"/>
                <a:cs typeface="Pretendard SemiBold"/>
              </a:rPr>
              <a:t>[ 핵심 설계 포인트 ]</a:t>
            </a:r>
          </a:p>
        </p:txBody>
      </p:sp>
      <p:sp>
        <p:nvSpPr>
          <p:cNvPr id="703" name="S704">
            <a:extLst>
              <a:ext uri="{FF2B5EF4-FFF2-40B4-BE49-F238E27FC236}">
                <a16:creationId xmlns:a16="http://schemas.microsoft.com/office/drawing/2014/main" id="{7069BFFD-57A3-45CD-8AB3-112F013743B1}"/>
              </a:ext>
            </a:extLst>
          </p:cNvPr>
          <p:cNvSpPr>
            <a:spLocks noGrp="1"/>
          </p:cNvSpPr>
          <p:nvPr/>
        </p:nvSpPr>
        <p:spPr>
          <a:xfrm>
            <a:off x="12335256" y="2560320"/>
            <a:ext cx="100584" cy="100584"/>
          </a:xfrm>
          <a:prstGeom prst="rect">
            <a:avLst/>
          </a:prstGeom>
          <a:solidFill>
            <a:srgbClr val="F47725"/>
          </a:solidFill>
        </p:spPr>
        <p:txBody>
          <a:bodyPr/>
          <a:lstStyle/>
          <a:p>
            <a:endParaRPr/>
          </a:p>
        </p:txBody>
      </p:sp>
      <p:sp>
        <p:nvSpPr>
          <p:cNvPr id="705" name="T706">
            <a:extLst>
              <a:ext uri="{FF2B5EF4-FFF2-40B4-BE49-F238E27FC236}">
                <a16:creationId xmlns:a16="http://schemas.microsoft.com/office/drawing/2014/main" id="{1F893A4D-0497-43C5-9AAF-5B1C00A20D22}"/>
              </a:ext>
            </a:extLst>
          </p:cNvPr>
          <p:cNvSpPr>
            <a:spLocks noGrp="1"/>
          </p:cNvSpPr>
          <p:nvPr/>
        </p:nvSpPr>
        <p:spPr>
          <a:xfrm>
            <a:off x="12591288" y="2432304"/>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엔드포인트 11개</a:t>
            </a:r>
          </a:p>
          <a:p>
            <a:pPr algn="l">
              <a:lnSpc>
                <a:spcPct val="136000"/>
              </a:lnSpc>
              <a:spcAft>
                <a:spcPts val="0"/>
              </a:spcAft>
              <a:buNone/>
            </a:pPr>
            <a:r>
              <a:rPr sz="1600">
                <a:solidFill>
                  <a:srgbClr val="1A1A1A"/>
                </a:solidFill>
                <a:latin typeface="Pretendard Medium"/>
                <a:ea typeface="Pretendard Medium"/>
                <a:cs typeface="Pretendard Medium"/>
              </a:rPr>
              <a:t>auth 3 · company 5 · review 3</a:t>
            </a:r>
          </a:p>
        </p:txBody>
      </p:sp>
      <p:sp>
        <p:nvSpPr>
          <p:cNvPr id="707" name="S708">
            <a:extLst>
              <a:ext uri="{FF2B5EF4-FFF2-40B4-BE49-F238E27FC236}">
                <a16:creationId xmlns:a16="http://schemas.microsoft.com/office/drawing/2014/main" id="{38254C89-03F0-4E0E-A479-47A2B8E90B0C}"/>
              </a:ext>
            </a:extLst>
          </p:cNvPr>
          <p:cNvSpPr>
            <a:spLocks noGrp="1"/>
          </p:cNvSpPr>
          <p:nvPr/>
        </p:nvSpPr>
        <p:spPr>
          <a:xfrm>
            <a:off x="12335256" y="3547872"/>
            <a:ext cx="100584" cy="100584"/>
          </a:xfrm>
          <a:prstGeom prst="rect">
            <a:avLst/>
          </a:prstGeom>
          <a:solidFill>
            <a:srgbClr val="F47725"/>
          </a:solidFill>
        </p:spPr>
        <p:txBody>
          <a:bodyPr/>
          <a:lstStyle/>
          <a:p>
            <a:endParaRPr/>
          </a:p>
        </p:txBody>
      </p:sp>
      <p:sp>
        <p:nvSpPr>
          <p:cNvPr id="709" name="T710">
            <a:extLst>
              <a:ext uri="{FF2B5EF4-FFF2-40B4-BE49-F238E27FC236}">
                <a16:creationId xmlns:a16="http://schemas.microsoft.com/office/drawing/2014/main" id="{006A1BE4-A9C5-49F9-AB28-B7AE2148635E}"/>
              </a:ext>
            </a:extLst>
          </p:cNvPr>
          <p:cNvSpPr>
            <a:spLocks noGrp="1"/>
          </p:cNvSpPr>
          <p:nvPr/>
        </p:nvSpPr>
        <p:spPr>
          <a:xfrm>
            <a:off x="12591288" y="3419856"/>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$ref 로 공통 응답·오류·</a:t>
            </a:r>
          </a:p>
          <a:p>
            <a:pPr algn="l">
              <a:lnSpc>
                <a:spcPct val="136000"/>
              </a:lnSpc>
              <a:spcAft>
                <a:spcPts val="0"/>
              </a:spcAft>
              <a:buNone/>
            </a:pPr>
            <a:r>
              <a:rPr sz="1600">
                <a:solidFill>
                  <a:srgbClr val="1A1A1A"/>
                </a:solidFill>
                <a:latin typeface="Pretendard Medium"/>
                <a:ea typeface="Pretendard Medium"/>
                <a:cs typeface="Pretendard Medium"/>
              </a:rPr>
              <a:t>파라미터 재사용 (스키마 28개)</a:t>
            </a:r>
          </a:p>
        </p:txBody>
      </p:sp>
      <p:sp>
        <p:nvSpPr>
          <p:cNvPr id="711" name="S712">
            <a:extLst>
              <a:ext uri="{FF2B5EF4-FFF2-40B4-BE49-F238E27FC236}">
                <a16:creationId xmlns:a16="http://schemas.microsoft.com/office/drawing/2014/main" id="{E96B35C1-DE09-4131-9084-63AFBE57EF38}"/>
              </a:ext>
            </a:extLst>
          </p:cNvPr>
          <p:cNvSpPr>
            <a:spLocks noGrp="1"/>
          </p:cNvSpPr>
          <p:nvPr/>
        </p:nvSpPr>
        <p:spPr>
          <a:xfrm>
            <a:off x="12335256" y="4535424"/>
            <a:ext cx="100584" cy="100584"/>
          </a:xfrm>
          <a:prstGeom prst="rect">
            <a:avLst/>
          </a:prstGeom>
          <a:solidFill>
            <a:srgbClr val="F47725"/>
          </a:solidFill>
        </p:spPr>
        <p:txBody>
          <a:bodyPr/>
          <a:lstStyle/>
          <a:p>
            <a:endParaRPr/>
          </a:p>
        </p:txBody>
      </p:sp>
      <p:sp>
        <p:nvSpPr>
          <p:cNvPr id="713" name="T714">
            <a:extLst>
              <a:ext uri="{FF2B5EF4-FFF2-40B4-BE49-F238E27FC236}">
                <a16:creationId xmlns:a16="http://schemas.microsoft.com/office/drawing/2014/main" id="{09917300-E12C-4AED-8B09-35AA723CF144}"/>
              </a:ext>
            </a:extLst>
          </p:cNvPr>
          <p:cNvSpPr>
            <a:spLocks noGrp="1"/>
          </p:cNvSpPr>
          <p:nvPr/>
        </p:nvSpPr>
        <p:spPr>
          <a:xfrm>
            <a:off x="12591288" y="4407408"/>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화면 디스크립션의 호출 API 만</a:t>
            </a:r>
          </a:p>
          <a:p>
            <a:pPr algn="l">
              <a:lnSpc>
                <a:spcPct val="136000"/>
              </a:lnSpc>
              <a:spcAft>
                <a:spcPts val="0"/>
              </a:spcAft>
              <a:buNone/>
            </a:pPr>
            <a:r>
              <a:rPr sz="1600">
                <a:solidFill>
                  <a:srgbClr val="1A1A1A"/>
                </a:solidFill>
                <a:latin typeface="Pretendard Medium"/>
                <a:ea typeface="Pretendard Medium"/>
                <a:cs typeface="Pretendard Medium"/>
              </a:rPr>
              <a:t>정의 — 화면 없는 API 없음</a:t>
            </a:r>
          </a:p>
        </p:txBody>
      </p:sp>
      <p:sp>
        <p:nvSpPr>
          <p:cNvPr id="715" name="S716">
            <a:extLst>
              <a:ext uri="{FF2B5EF4-FFF2-40B4-BE49-F238E27FC236}">
                <a16:creationId xmlns:a16="http://schemas.microsoft.com/office/drawing/2014/main" id="{C836A7C8-5B9E-4BD4-8B05-3F0E8A759719}"/>
              </a:ext>
            </a:extLst>
          </p:cNvPr>
          <p:cNvSpPr>
            <a:spLocks noGrp="1"/>
          </p:cNvSpPr>
          <p:nvPr/>
        </p:nvSpPr>
        <p:spPr>
          <a:xfrm>
            <a:off x="12335256" y="5522976"/>
            <a:ext cx="100584" cy="100584"/>
          </a:xfrm>
          <a:prstGeom prst="rect">
            <a:avLst/>
          </a:prstGeom>
          <a:solidFill>
            <a:srgbClr val="F47725"/>
          </a:solidFill>
        </p:spPr>
        <p:txBody>
          <a:bodyPr/>
          <a:lstStyle/>
          <a:p>
            <a:endParaRPr/>
          </a:p>
        </p:txBody>
      </p:sp>
      <p:sp>
        <p:nvSpPr>
          <p:cNvPr id="717" name="T718">
            <a:extLst>
              <a:ext uri="{FF2B5EF4-FFF2-40B4-BE49-F238E27FC236}">
                <a16:creationId xmlns:a16="http://schemas.microsoft.com/office/drawing/2014/main" id="{4EEC64E7-4E59-4178-A5DE-72ACC808BDB0}"/>
              </a:ext>
            </a:extLst>
          </p:cNvPr>
          <p:cNvSpPr>
            <a:spLocks noGrp="1"/>
          </p:cNvSpPr>
          <p:nvPr/>
        </p:nvSpPr>
        <p:spPr>
          <a:xfrm>
            <a:off x="12591288" y="5394960"/>
            <a:ext cx="4745736" cy="877824"/>
          </a:xfrm>
          <a:prstGeom prst="rect">
            <a:avLst/>
          </a:prstGeom>
        </p:spPr>
        <p:txBody>
          <a:bodyPr wrap="square" lIns="0" tIns="0" rIns="0" bIns="0" anchor="t"/>
          <a:lstStyle/>
          <a:p>
            <a:pPr algn="l">
              <a:lnSpc>
                <a:spcPct val="136000"/>
              </a:lnSpc>
              <a:spcAft>
                <a:spcPts val="0"/>
              </a:spcAft>
              <a:buNone/>
            </a:pPr>
            <a:r>
              <a:rPr sz="1600">
                <a:solidFill>
                  <a:srgbClr val="1A1A1A"/>
                </a:solidFill>
                <a:latin typeface="Pretendard Medium"/>
                <a:ea typeface="Pretendard Medium"/>
                <a:cs typeface="Pretendard Medium"/>
              </a:rPr>
              <a:t>외부 OCR 호출은 명세에 넣지 않고</a:t>
            </a:r>
          </a:p>
          <a:p>
            <a:pPr algn="l">
              <a:lnSpc>
                <a:spcPct val="136000"/>
              </a:lnSpc>
              <a:spcAft>
                <a:spcPts val="0"/>
              </a:spcAft>
              <a:buNone/>
            </a:pPr>
            <a:r>
              <a:rPr sz="1600">
                <a:solidFill>
                  <a:srgbClr val="1A1A1A"/>
                </a:solidFill>
                <a:latin typeface="Pretendard Medium"/>
                <a:ea typeface="Pretendard Medium"/>
                <a:cs typeface="Pretendard Medium"/>
              </a:rPr>
              <a:t>연동 실패를 502 · 504 로 표현</a:t>
            </a:r>
          </a:p>
        </p:txBody>
      </p:sp>
      <p:sp>
        <p:nvSpPr>
          <p:cNvPr id="719" name="S720">
            <a:extLst>
              <a:ext uri="{FF2B5EF4-FFF2-40B4-BE49-F238E27FC236}">
                <a16:creationId xmlns:a16="http://schemas.microsoft.com/office/drawing/2014/main" id="{46F344B6-7A0F-47BD-9901-6A6CA4F73B5D}"/>
              </a:ext>
            </a:extLst>
          </p:cNvPr>
          <p:cNvSpPr>
            <a:spLocks noGrp="1"/>
          </p:cNvSpPr>
          <p:nvPr/>
        </p:nvSpPr>
        <p:spPr>
          <a:xfrm>
            <a:off x="914400" y="5760720"/>
            <a:ext cx="4462272" cy="2331720"/>
          </a:xfrm>
          <a:prstGeom prst="roundRect">
            <a:avLst>
              <a:gd name="adj" fmla="val 5000"/>
            </a:avLst>
          </a:prstGeom>
          <a:solidFill>
            <a:srgbClr val="FFF1F3"/>
          </a:solidFill>
          <a:ln w="19050">
            <a:solidFill>
              <a:srgbClr val="EA002C"/>
            </a:solidFill>
          </a:ln>
        </p:spPr>
        <p:txBody>
          <a:bodyPr/>
          <a:lstStyle/>
          <a:p>
            <a:endParaRPr/>
          </a:p>
        </p:txBody>
      </p:sp>
      <p:sp>
        <p:nvSpPr>
          <p:cNvPr id="721" name="T722">
            <a:extLst>
              <a:ext uri="{FF2B5EF4-FFF2-40B4-BE49-F238E27FC236}">
                <a16:creationId xmlns:a16="http://schemas.microsoft.com/office/drawing/2014/main" id="{E4FAFCC8-78E4-47BD-B0AF-5DD49B041C6D}"/>
              </a:ext>
            </a:extLst>
          </p:cNvPr>
          <p:cNvSpPr>
            <a:spLocks noGrp="1"/>
          </p:cNvSpPr>
          <p:nvPr/>
        </p:nvSpPr>
        <p:spPr>
          <a:xfrm>
            <a:off x="1170432" y="5907024"/>
            <a:ext cx="3950208" cy="402336"/>
          </a:xfrm>
          <a:prstGeom prst="rect">
            <a:avLst/>
          </a:prstGeom>
        </p:spPr>
        <p:txBody>
          <a:bodyPr wrap="square" lIns="0" tIns="0" rIns="0" bIns="0" anchor="ctr"/>
          <a:lstStyle/>
          <a:p>
            <a:pPr algn="l">
              <a:lnSpc>
                <a:spcPct val="135000"/>
              </a:lnSpc>
              <a:spcAft>
                <a:spcPts val="0"/>
              </a:spcAft>
              <a:buNone/>
            </a:pPr>
            <a:r>
              <a:rPr sz="1600">
                <a:solidFill>
                  <a:srgbClr val="EA002C"/>
                </a:solidFill>
                <a:latin typeface="Pretendard SemiBold"/>
                <a:ea typeface="Pretendard SemiBold"/>
                <a:cs typeface="Pretendard SemiBold"/>
              </a:rPr>
              <a:t>예외 처리 규격화</a:t>
            </a:r>
          </a:p>
        </p:txBody>
      </p:sp>
      <p:sp>
        <p:nvSpPr>
          <p:cNvPr id="723" name="T724">
            <a:extLst>
              <a:ext uri="{FF2B5EF4-FFF2-40B4-BE49-F238E27FC236}">
                <a16:creationId xmlns:a16="http://schemas.microsoft.com/office/drawing/2014/main" id="{B020171F-08B6-45D8-A228-ED77AE419E6B}"/>
              </a:ext>
            </a:extLst>
          </p:cNvPr>
          <p:cNvSpPr>
            <a:spLocks noGrp="1"/>
          </p:cNvSpPr>
          <p:nvPr/>
        </p:nvSpPr>
        <p:spPr>
          <a:xfrm>
            <a:off x="1170432" y="6345936"/>
            <a:ext cx="3950208" cy="160020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성공 200 · 201 과 함께 400 · 401 · 403 · 404 ·</a:t>
            </a:r>
          </a:p>
          <a:p>
            <a:pPr algn="l">
              <a:lnSpc>
                <a:spcPct val="138000"/>
              </a:lnSpc>
              <a:spcAft>
                <a:spcPts val="0"/>
              </a:spcAft>
              <a:buNone/>
            </a:pPr>
            <a:r>
              <a:rPr sz="1400">
                <a:solidFill>
                  <a:srgbClr val="1A1A1A"/>
                </a:solidFill>
                <a:latin typeface="Pretendard Medium"/>
                <a:ea typeface="Pretendard Medium"/>
                <a:cs typeface="Pretendard Medium"/>
              </a:rPr>
              <a:t>409 · 422 · 500 · 502 · 504 를 오퍼레이션마다</a:t>
            </a:r>
          </a:p>
          <a:p>
            <a:pPr algn="l">
              <a:lnSpc>
                <a:spcPct val="138000"/>
              </a:lnSpc>
              <a:spcAft>
                <a:spcPts val="0"/>
              </a:spcAft>
              <a:buNone/>
            </a:pPr>
            <a:r>
              <a:rPr sz="1400">
                <a:solidFill>
                  <a:srgbClr val="1A1A1A"/>
                </a:solidFill>
                <a:latin typeface="Pretendard Medium"/>
                <a:ea typeface="Pretendard Medium"/>
                <a:cs typeface="Pretendard Medium"/>
              </a:rPr>
              <a:t>명시했다. 요구사항정의서·화면설계서와 동일하다</a:t>
            </a:r>
          </a:p>
        </p:txBody>
      </p:sp>
      <p:sp>
        <p:nvSpPr>
          <p:cNvPr id="725" name="S726">
            <a:extLst>
              <a:ext uri="{FF2B5EF4-FFF2-40B4-BE49-F238E27FC236}">
                <a16:creationId xmlns:a16="http://schemas.microsoft.com/office/drawing/2014/main" id="{A18EA4FF-E347-4568-9C1A-E9C1335F1C3F}"/>
              </a:ext>
            </a:extLst>
          </p:cNvPr>
          <p:cNvSpPr>
            <a:spLocks noGrp="1"/>
          </p:cNvSpPr>
          <p:nvPr/>
        </p:nvSpPr>
        <p:spPr>
          <a:xfrm>
            <a:off x="5833872" y="5760720"/>
            <a:ext cx="6153912" cy="2331720"/>
          </a:xfrm>
          <a:prstGeom prst="roundRect">
            <a:avLst>
              <a:gd name="adj" fmla="val 5000"/>
            </a:avLst>
          </a:prstGeom>
          <a:solidFill>
            <a:srgbClr val="FFF4EE"/>
          </a:solidFill>
          <a:ln w="19050">
            <a:solidFill>
              <a:srgbClr val="F47725"/>
            </a:solidFill>
          </a:ln>
        </p:spPr>
        <p:txBody>
          <a:bodyPr/>
          <a:lstStyle/>
          <a:p>
            <a:endParaRPr/>
          </a:p>
        </p:txBody>
      </p:sp>
      <p:sp>
        <p:nvSpPr>
          <p:cNvPr id="727" name="T728">
            <a:extLst>
              <a:ext uri="{FF2B5EF4-FFF2-40B4-BE49-F238E27FC236}">
                <a16:creationId xmlns:a16="http://schemas.microsoft.com/office/drawing/2014/main" id="{7C5C0BD4-8017-45A6-9D07-D8D37A004955}"/>
              </a:ext>
            </a:extLst>
          </p:cNvPr>
          <p:cNvSpPr>
            <a:spLocks noGrp="1"/>
          </p:cNvSpPr>
          <p:nvPr/>
        </p:nvSpPr>
        <p:spPr>
          <a:xfrm>
            <a:off x="6089904" y="5907024"/>
            <a:ext cx="5641848" cy="402336"/>
          </a:xfrm>
          <a:prstGeom prst="rect">
            <a:avLst/>
          </a:prstGeom>
        </p:spPr>
        <p:txBody>
          <a:bodyPr wrap="square" lIns="0" tIns="0" rIns="0" bIns="0" anchor="ctr"/>
          <a:lstStyle/>
          <a:p>
            <a:pPr algn="l">
              <a:lnSpc>
                <a:spcPct val="135000"/>
              </a:lnSpc>
              <a:spcAft>
                <a:spcPts val="0"/>
              </a:spcAft>
              <a:buNone/>
            </a:pPr>
            <a:r>
              <a:rPr sz="1600">
                <a:solidFill>
                  <a:srgbClr val="F47725"/>
                </a:solidFill>
                <a:latin typeface="Pretendard SemiBold"/>
                <a:ea typeface="Pretendard SemiBold"/>
                <a:cs typeface="Pretendard SemiBold"/>
              </a:rPr>
              <a:t>추적성을 description 에</a:t>
            </a:r>
          </a:p>
        </p:txBody>
      </p:sp>
      <p:sp>
        <p:nvSpPr>
          <p:cNvPr id="729" name="T730">
            <a:extLst>
              <a:ext uri="{FF2B5EF4-FFF2-40B4-BE49-F238E27FC236}">
                <a16:creationId xmlns:a16="http://schemas.microsoft.com/office/drawing/2014/main" id="{BF6DC99B-661C-4FD4-80D5-37161EDF9970}"/>
              </a:ext>
            </a:extLst>
          </p:cNvPr>
          <p:cNvSpPr>
            <a:spLocks noGrp="1"/>
          </p:cNvSpPr>
          <p:nvPr/>
        </p:nvSpPr>
        <p:spPr>
          <a:xfrm>
            <a:off x="6089904" y="6345936"/>
            <a:ext cx="5641848" cy="160020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모든 오퍼레이션 description 에 REQ-FUNC-###,</a:t>
            </a:r>
          </a:p>
          <a:p>
            <a:pPr algn="l">
              <a:lnSpc>
                <a:spcPct val="138000"/>
              </a:lnSpc>
              <a:spcAft>
                <a:spcPts val="0"/>
              </a:spcAft>
              <a:buNone/>
            </a:pPr>
            <a:r>
              <a:rPr sz="1400">
                <a:solidFill>
                  <a:srgbClr val="1A1A1A"/>
                </a:solidFill>
                <a:latin typeface="Pretendard Medium"/>
                <a:ea typeface="Pretendard Medium"/>
                <a:cs typeface="Pretendard Medium"/>
              </a:rPr>
              <a:t>SCR-###, 사용 테이블을 적어 요구사항 → 화면</a:t>
            </a:r>
          </a:p>
          <a:p>
            <a:pPr algn="l">
              <a:lnSpc>
                <a:spcPct val="138000"/>
              </a:lnSpc>
              <a:spcAft>
                <a:spcPts val="0"/>
              </a:spcAft>
              <a:buNone/>
            </a:pPr>
            <a:r>
              <a:rPr sz="1400">
                <a:solidFill>
                  <a:srgbClr val="1A1A1A"/>
                </a:solidFill>
                <a:latin typeface="Pretendard Medium"/>
                <a:ea typeface="Pretendard Medium"/>
                <a:cs typeface="Pretendard Medium"/>
              </a:rPr>
              <a:t>→ API → DB 가 한 줄로 이어지게 했다</a:t>
            </a:r>
          </a:p>
        </p:txBody>
      </p:sp>
      <p:sp>
        <p:nvSpPr>
          <p:cNvPr id="731" name="S732">
            <a:extLst>
              <a:ext uri="{FF2B5EF4-FFF2-40B4-BE49-F238E27FC236}">
                <a16:creationId xmlns:a16="http://schemas.microsoft.com/office/drawing/2014/main" id="{1377CAAA-F761-4345-8C29-9C502D3D9F6B}"/>
              </a:ext>
            </a:extLst>
          </p:cNvPr>
          <p:cNvSpPr>
            <a:spLocks noGrp="1"/>
          </p:cNvSpPr>
          <p:nvPr/>
        </p:nvSpPr>
        <p:spPr>
          <a:xfrm>
            <a:off x="12298680" y="6583680"/>
            <a:ext cx="5074920" cy="1508760"/>
          </a:xfrm>
          <a:prstGeom prst="roundRect">
            <a:avLst>
              <a:gd name="adj" fmla="val 5000"/>
            </a:avLst>
          </a:prstGeom>
          <a:solidFill>
            <a:srgbClr val="E8EEFC"/>
          </a:solidFill>
          <a:ln w="19050">
            <a:solidFill>
              <a:srgbClr val="2B4FA8"/>
            </a:solidFill>
          </a:ln>
        </p:spPr>
        <p:txBody>
          <a:bodyPr/>
          <a:lstStyle/>
          <a:p>
            <a:endParaRPr/>
          </a:p>
        </p:txBody>
      </p:sp>
      <p:sp>
        <p:nvSpPr>
          <p:cNvPr id="733" name="T734">
            <a:extLst>
              <a:ext uri="{FF2B5EF4-FFF2-40B4-BE49-F238E27FC236}">
                <a16:creationId xmlns:a16="http://schemas.microsoft.com/office/drawing/2014/main" id="{011479DC-199B-41ED-9F6E-57BF6617E159}"/>
              </a:ext>
            </a:extLst>
          </p:cNvPr>
          <p:cNvSpPr>
            <a:spLocks noGrp="1"/>
          </p:cNvSpPr>
          <p:nvPr/>
        </p:nvSpPr>
        <p:spPr>
          <a:xfrm>
            <a:off x="12554712" y="6729984"/>
            <a:ext cx="4562856" cy="402336"/>
          </a:xfrm>
          <a:prstGeom prst="rect">
            <a:avLst/>
          </a:prstGeom>
        </p:spPr>
        <p:txBody>
          <a:bodyPr wrap="square" lIns="0" tIns="0" rIns="0" bIns="0" anchor="ctr"/>
          <a:lstStyle/>
          <a:p>
            <a:pPr algn="l">
              <a:lnSpc>
                <a:spcPct val="135000"/>
              </a:lnSpc>
              <a:spcAft>
                <a:spcPts val="0"/>
              </a:spcAft>
              <a:buNone/>
            </a:pPr>
            <a:r>
              <a:rPr sz="1600">
                <a:solidFill>
                  <a:srgbClr val="2B4FA8"/>
                </a:solidFill>
                <a:latin typeface="Pretendard SemiBold"/>
                <a:ea typeface="Pretendard SemiBold"/>
                <a:cs typeface="Pretendard SemiBold"/>
              </a:rPr>
              <a:t>Bearer 인증</a:t>
            </a:r>
          </a:p>
        </p:txBody>
      </p:sp>
      <p:sp>
        <p:nvSpPr>
          <p:cNvPr id="735" name="T736">
            <a:extLst>
              <a:ext uri="{FF2B5EF4-FFF2-40B4-BE49-F238E27FC236}">
                <a16:creationId xmlns:a16="http://schemas.microsoft.com/office/drawing/2014/main" id="{ACC1E447-053F-4B27-AE18-22D267DA2C0A}"/>
              </a:ext>
            </a:extLst>
          </p:cNvPr>
          <p:cNvSpPr>
            <a:spLocks noGrp="1"/>
          </p:cNvSpPr>
          <p:nvPr/>
        </p:nvSpPr>
        <p:spPr>
          <a:xfrm>
            <a:off x="12554712" y="7168896"/>
            <a:ext cx="4562856" cy="777240"/>
          </a:xfrm>
          <a:prstGeom prst="rect">
            <a:avLst/>
          </a:prstGeom>
        </p:spPr>
        <p:txBody>
          <a:bodyPr wrap="square" lIns="0" tIns="0" rIns="0" bIns="0" anchor="t"/>
          <a:lstStyle/>
          <a:p>
            <a:pPr algn="l">
              <a:lnSpc>
                <a:spcPct val="138000"/>
              </a:lnSpc>
              <a:spcAft>
                <a:spcPts val="0"/>
              </a:spcAft>
              <a:buNone/>
            </a:pPr>
            <a:r>
              <a:rPr sz="1400">
                <a:solidFill>
                  <a:srgbClr val="1A1A1A"/>
                </a:solidFill>
                <a:latin typeface="Pretendard Medium"/>
                <a:ea typeface="Pretendard Medium"/>
                <a:cs typeface="Pretendard Medium"/>
              </a:rPr>
              <a:t>로그인 응답의 accessToken 을</a:t>
            </a:r>
          </a:p>
          <a:p>
            <a:pPr algn="l">
              <a:lnSpc>
                <a:spcPct val="138000"/>
              </a:lnSpc>
              <a:spcAft>
                <a:spcPts val="0"/>
              </a:spcAft>
              <a:buNone/>
            </a:pPr>
            <a:r>
              <a:rPr sz="1400">
                <a:solidFill>
                  <a:srgbClr val="1A1A1A"/>
                </a:solidFill>
                <a:latin typeface="Pretendard Medium"/>
                <a:ea typeface="Pretendard Medium"/>
                <a:cs typeface="Pretendard Medium"/>
              </a:rPr>
              <a:t>이후 요청에 사용한다. 초대 조회와</a:t>
            </a:r>
          </a:p>
          <a:p>
            <a:pPr algn="l">
              <a:lnSpc>
                <a:spcPct val="138000"/>
              </a:lnSpc>
              <a:spcAft>
                <a:spcPts val="0"/>
              </a:spcAft>
              <a:buNone/>
            </a:pPr>
            <a:r>
              <a:rPr sz="1400">
                <a:solidFill>
                  <a:srgbClr val="1A1A1A"/>
                </a:solidFill>
                <a:latin typeface="Pretendard Medium"/>
                <a:ea typeface="Pretendard Medium"/>
                <a:cs typeface="Pretendard Medium"/>
              </a:rPr>
              <a:t>로그인 2개만 공개 API 다</a:t>
            </a:r>
          </a:p>
        </p:txBody>
      </p:sp>
      <p:sp>
        <p:nvSpPr>
          <p:cNvPr id="737" name="S738">
            <a:extLst>
              <a:ext uri="{FF2B5EF4-FFF2-40B4-BE49-F238E27FC236}">
                <a16:creationId xmlns:a16="http://schemas.microsoft.com/office/drawing/2014/main" id="{640D5547-74C3-467B-A8C6-F15E9AE190B3}"/>
              </a:ext>
            </a:extLst>
          </p:cNvPr>
          <p:cNvSpPr>
            <a:spLocks noGrp="1"/>
          </p:cNvSpPr>
          <p:nvPr/>
        </p:nvSpPr>
        <p:spPr>
          <a:xfrm>
            <a:off x="914400" y="8686800"/>
            <a:ext cx="16459200" cy="868680"/>
          </a:xfrm>
          <a:prstGeom prst="roundRect">
            <a:avLst>
              <a:gd name="adj" fmla="val 4000"/>
            </a:avLst>
          </a:prstGeom>
          <a:solidFill>
            <a:srgbClr val="F3F0EA"/>
          </a:solidFill>
          <a:ln w="15875">
            <a:solidFill>
              <a:srgbClr val="E5E0D6"/>
            </a:solidFill>
          </a:ln>
        </p:spPr>
        <p:txBody>
          <a:bodyPr/>
          <a:lstStyle/>
          <a:p>
            <a:endParaRPr/>
          </a:p>
        </p:txBody>
      </p:sp>
      <p:sp>
        <p:nvSpPr>
          <p:cNvPr id="739" name="T740">
            <a:extLst>
              <a:ext uri="{FF2B5EF4-FFF2-40B4-BE49-F238E27FC236}">
                <a16:creationId xmlns:a16="http://schemas.microsoft.com/office/drawing/2014/main" id="{885C0529-4AF4-466B-97B2-86CF81E249DF}"/>
              </a:ext>
            </a:extLst>
          </p:cNvPr>
          <p:cNvSpPr>
            <a:spLocks noGrp="1"/>
          </p:cNvSpPr>
          <p:nvPr/>
        </p:nvSpPr>
        <p:spPr>
          <a:xfrm>
            <a:off x="1371600" y="8686800"/>
            <a:ext cx="15544800" cy="868680"/>
          </a:xfrm>
          <a:prstGeom prst="rect">
            <a:avLst/>
          </a:prstGeom>
        </p:spPr>
        <p:txBody>
          <a:bodyPr wrap="square" lIns="0" tIns="0" rIns="0" bIns="0" anchor="ctr"/>
          <a:lstStyle/>
          <a:p>
            <a:pPr algn="ctr">
              <a:lnSpc>
                <a:spcPct val="135000"/>
              </a:lnSpc>
              <a:spcAft>
                <a:spcPts val="0"/>
              </a:spcAft>
              <a:buNone/>
            </a:pPr>
            <a:r>
              <a:rPr sz="1600">
                <a:solidFill>
                  <a:srgbClr val="1A1A1A"/>
                </a:solidFill>
                <a:latin typeface="Pretendard Medium"/>
                <a:ea typeface="Pretendard Medium"/>
                <a:cs typeface="Pretendard Medium"/>
              </a:rPr>
              <a:t>차단 오류가 남은 제출은 422 와 함께 blockingIssues 배열을 돌려주어, 화면이 해결할 항목을 그대로 그릴 수 있게 했다.</a:t>
            </a:r>
          </a:p>
        </p:txBody>
      </p:sp>
    </p:spTree>
    <p:extLst>
      <p:ext uri="{BB962C8B-B14F-4D97-AF65-F5344CB8AC3E}">
        <p14:creationId xmlns:p14="http://schemas.microsoft.com/office/powerpoint/2010/main" val="154359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CCFF00AB-607F-4C7C-BEB6-2112C875AAFE}"/>
              </a:ext>
            </a:extLst>
          </p:cNvPr>
          <p:cNvSpPr>
            <a:spLocks noGrp="1"/>
          </p:cNvSpPr>
          <p:nvPr/>
        </p:nvSpPr>
        <p:spPr>
          <a:xfrm>
            <a:off x="333150" y="369408"/>
            <a:ext cx="860736" cy="8607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B61B"/>
          </a:solidFill>
        </p:spPr>
        <p:txBody>
          <a:bodyPr/>
          <a:lstStyle/>
          <a:p>
            <a:endParaRPr/>
          </a:p>
        </p:txBody>
      </p:sp>
      <p:sp>
        <p:nvSpPr>
          <p:cNvPr id="4" name="TextBox 4">
            <a:extLst>
              <a:ext uri="{FF2B5EF4-FFF2-40B4-BE49-F238E27FC236}">
                <a16:creationId xmlns:a16="http://schemas.microsoft.com/office/drawing/2014/main" id="{38CAF2CE-611C-400A-9337-70420AE5A933}"/>
              </a:ext>
            </a:extLst>
          </p:cNvPr>
          <p:cNvSpPr>
            <a:spLocks noGrp="1"/>
          </p:cNvSpPr>
          <p:nvPr/>
        </p:nvSpPr>
        <p:spPr>
          <a:xfrm>
            <a:off x="413844" y="419841"/>
            <a:ext cx="699348" cy="729608"/>
          </a:xfrm>
          <a:prstGeom prst="rect">
            <a:avLst/>
          </a:prstGeom>
        </p:spPr>
        <p:txBody>
          <a:bodyPr lIns="50800" tIns="50800" rIns="50800" bIns="50800" anchor="ctr"/>
          <a:lstStyle/>
          <a:p>
            <a:pPr algn="ctr">
              <a:lnSpc>
                <a:spcPts val="3145"/>
              </a:lnSpc>
              <a:buNone/>
            </a:pPr>
            <a:endParaRPr/>
          </a:p>
        </p:txBody>
      </p:sp>
      <p:sp>
        <p:nvSpPr>
          <p:cNvPr id="5" name="TextBox 5">
            <a:extLst>
              <a:ext uri="{FF2B5EF4-FFF2-40B4-BE49-F238E27FC236}">
                <a16:creationId xmlns:a16="http://schemas.microsoft.com/office/drawing/2014/main" id="{BB81A8C7-A468-4045-8CAF-441EC1F5803A}"/>
              </a:ext>
            </a:extLst>
          </p:cNvPr>
          <p:cNvSpPr>
            <a:spLocks noGrp="1"/>
          </p:cNvSpPr>
          <p:nvPr/>
        </p:nvSpPr>
        <p:spPr>
          <a:xfrm>
            <a:off x="391635" y="467275"/>
            <a:ext cx="743765" cy="626903"/>
          </a:xfrm>
          <a:prstGeom prst="rect">
            <a:avLst/>
          </a:prstGeom>
        </p:spPr>
        <p:txBody>
          <a:bodyPr lIns="0" tIns="0" rIns="0" bIns="0" anchor="t">
            <a:spAutoFit/>
          </a:bodyPr>
          <a:lstStyle/>
          <a:p>
            <a:pPr algn="ctr">
              <a:lnSpc>
                <a:spcPts val="5053"/>
              </a:lnSpc>
              <a:buNone/>
            </a:pPr>
            <a:r>
              <a:rPr sz="3887" b="1">
                <a:solidFill>
                  <a:srgbClr val="000000"/>
                </a:solidFill>
                <a:latin typeface="Pretendard SemiBold"/>
                <a:ea typeface="Pretendard SemiBold"/>
                <a:cs typeface="Pretendard SemiBold"/>
              </a:rPr>
              <a:t>07</a:t>
            </a:r>
          </a:p>
        </p:txBody>
      </p:sp>
      <p:sp>
        <p:nvSpPr>
          <p:cNvPr id="6" name="TextBox 6">
            <a:extLst>
              <a:ext uri="{FF2B5EF4-FFF2-40B4-BE49-F238E27FC236}">
                <a16:creationId xmlns:a16="http://schemas.microsoft.com/office/drawing/2014/main" id="{24AA8ADD-9F93-4841-8916-6AE45D56C645}"/>
              </a:ext>
            </a:extLst>
          </p:cNvPr>
          <p:cNvSpPr>
            <a:spLocks noGrp="1"/>
          </p:cNvSpPr>
          <p:nvPr/>
        </p:nvSpPr>
        <p:spPr>
          <a:xfrm>
            <a:off x="1466120" y="405441"/>
            <a:ext cx="5841256" cy="698140"/>
          </a:xfrm>
          <a:prstGeom prst="rect">
            <a:avLst/>
          </a:prstGeom>
        </p:spPr>
        <p:txBody>
          <a:bodyPr lIns="0" tIns="0" rIns="0" bIns="0" anchor="t">
            <a:spAutoFit/>
          </a:bodyPr>
          <a:lstStyle/>
          <a:p>
            <a:pPr algn="l">
              <a:lnSpc>
                <a:spcPts val="5880"/>
              </a:lnSpc>
              <a:buNone/>
            </a:pPr>
            <a:r>
              <a:rPr sz="4200">
                <a:solidFill>
                  <a:srgbClr val="000000"/>
                </a:solidFill>
                <a:latin typeface="Pretendard SemiBold"/>
                <a:ea typeface="Pretendard SemiBold"/>
                <a:cs typeface="Pretendard SemiBold"/>
              </a:rPr>
              <a:t>Appendix</a:t>
            </a:r>
          </a:p>
        </p:txBody>
      </p:sp>
      <p:sp>
        <p:nvSpPr>
          <p:cNvPr id="7" name="Freeform 7">
            <a:extLst>
              <a:ext uri="{FF2B5EF4-FFF2-40B4-BE49-F238E27FC236}">
                <a16:creationId xmlns:a16="http://schemas.microsoft.com/office/drawing/2014/main" id="{A7C6E8F0-2738-4792-BEFA-9D99A894794E}"/>
              </a:ext>
            </a:extLst>
          </p:cNvPr>
          <p:cNvSpPr>
            <a:spLocks noGrp="1"/>
          </p:cNvSpPr>
          <p:nvPr/>
        </p:nvSpPr>
        <p:spPr>
          <a:xfrm>
            <a:off x="16110973" y="0"/>
            <a:ext cx="2159288" cy="1079644"/>
          </a:xfrm>
          <a:custGeom>
            <a:avLst/>
            <a:gdLst/>
            <a:ahLst/>
            <a:cxnLst/>
            <a:rect l="l" t="t" r="r" b="b"/>
            <a:pathLst>
              <a:path w="2159288" h="1079644">
                <a:moveTo>
                  <a:pt x="0" y="0"/>
                </a:moveTo>
                <a:lnTo>
                  <a:pt x="2159288" y="0"/>
                </a:lnTo>
                <a:lnTo>
                  <a:pt x="2159288" y="1079644"/>
                </a:lnTo>
                <a:lnTo>
                  <a:pt x="0" y="1079644"/>
                </a:lnTo>
                <a:lnTo>
                  <a:pt x="0" y="0"/>
                </a:lnTo>
                <a:close/>
              </a:path>
            </a:pathLst>
          </a:custGeom>
          <a:blipFill>
            <a:blip r:embed="rId3"/>
            <a:stretch>
              <a:fillRect/>
            </a:stretch>
          </a:blipFill>
        </p:spPr>
        <p:txBody>
          <a:bodyPr/>
          <a:lstStyle/>
          <a:p>
            <a:endParaRPr/>
          </a:p>
        </p:txBody>
      </p:sp>
    </p:spTree>
    <p:extLst>
      <p:ext uri="{BB962C8B-B14F-4D97-AF65-F5344CB8AC3E}">
        <p14:creationId xmlns:p14="http://schemas.microsoft.com/office/powerpoint/2010/main" val="1308106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185BB56C-B5EC-4537-B90A-D07166395004}"/>
              </a:ext>
            </a:extLst>
          </p:cNvPr>
          <p:cNvSpPr>
            <a:spLocks noGrp="1"/>
          </p:cNvSpPr>
          <p:nvPr/>
        </p:nvSpPr>
        <p:spPr>
          <a:xfrm>
            <a:off x="6099760" y="5519721"/>
            <a:ext cx="6088480" cy="644711"/>
          </a:xfrm>
          <a:prstGeom prst="rect">
            <a:avLst/>
          </a:prstGeom>
        </p:spPr>
        <p:txBody>
          <a:bodyPr lIns="0" tIns="0" rIns="0" bIns="0" anchor="t">
            <a:spAutoFit/>
          </a:bodyPr>
          <a:lstStyle/>
          <a:p>
            <a:pPr algn="ctr">
              <a:lnSpc>
                <a:spcPts val="5180"/>
              </a:lnSpc>
              <a:buNone/>
            </a:pPr>
            <a:r>
              <a:rPr sz="3985">
                <a:solidFill>
                  <a:srgbClr val="000000"/>
                </a:solidFill>
                <a:latin typeface="Pretendard SemiBold"/>
                <a:ea typeface="Pretendard SemiBold"/>
                <a:cs typeface="Pretendard SemiBold"/>
              </a:rPr>
              <a:t>감사합니다</a:t>
            </a:r>
          </a:p>
        </p:txBody>
      </p:sp>
      <p:sp>
        <p:nvSpPr>
          <p:cNvPr id="3" name="TextBox 3">
            <a:extLst>
              <a:ext uri="{FF2B5EF4-FFF2-40B4-BE49-F238E27FC236}">
                <a16:creationId xmlns:a16="http://schemas.microsoft.com/office/drawing/2014/main" id="{D74D6495-E874-4308-A9B7-401A901C3656}"/>
              </a:ext>
            </a:extLst>
          </p:cNvPr>
          <p:cNvSpPr>
            <a:spLocks noGrp="1"/>
          </p:cNvSpPr>
          <p:nvPr/>
        </p:nvSpPr>
        <p:spPr>
          <a:xfrm>
            <a:off x="2984027" y="4046673"/>
            <a:ext cx="12319947" cy="1288232"/>
          </a:xfrm>
          <a:prstGeom prst="rect">
            <a:avLst/>
          </a:prstGeom>
        </p:spPr>
        <p:txBody>
          <a:bodyPr lIns="0" tIns="0" rIns="0" bIns="0" anchor="t">
            <a:spAutoFit/>
          </a:bodyPr>
          <a:lstStyle/>
          <a:p>
            <a:pPr algn="ctr">
              <a:lnSpc>
                <a:spcPts val="10483"/>
              </a:lnSpc>
              <a:buNone/>
            </a:pPr>
            <a:r>
              <a:rPr sz="8064" b="1">
                <a:solidFill>
                  <a:srgbClr val="000000"/>
                </a:solidFill>
                <a:latin typeface="Pretendard SemiBold"/>
                <a:ea typeface="Pretendard SemiBold"/>
                <a:cs typeface="Pretendard SemiBold"/>
              </a:rPr>
              <a:t>Thank you.</a:t>
            </a:r>
          </a:p>
        </p:txBody>
      </p:sp>
    </p:spTree>
    <p:extLst>
      <p:ext uri="{BB962C8B-B14F-4D97-AF65-F5344CB8AC3E}">
        <p14:creationId xmlns:p14="http://schemas.microsoft.com/office/powerpoint/2010/main" val="1475001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2431</Words>
  <Application>Microsoft Macintosh PowerPoint</Application>
  <DocSecurity>0</DocSecurity>
  <PresentationFormat>사용자 지정</PresentationFormat>
  <Paragraphs>307</Paragraphs>
  <Slides>15</Slides>
  <Notes>15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Pretendard SemiBold</vt:lpstr>
      <vt:lpstr>Arial</vt:lpstr>
      <vt:lpstr>Pretendard Medium</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홍은비</cp:lastModifiedBy>
  <cp:revision>2</cp:revision>
  <dcterms:created xsi:type="dcterms:W3CDTF">2026-09-09T06:12:47Z</dcterms:created>
  <dcterms:modified xsi:type="dcterms:W3CDTF">2026-09-09T06:32:34Z</dcterms:modified>
</cp:coreProperties>
</file>