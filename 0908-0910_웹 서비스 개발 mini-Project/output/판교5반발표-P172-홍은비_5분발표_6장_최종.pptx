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98b3a159e44ba0" /><Relationship Type="http://schemas.openxmlformats.org/officeDocument/2006/relationships/extended-properties" Target="/docProps/app.xml" Id="R5b7468023d4d4169" /><Relationship Type="http://schemas.openxmlformats.org/officeDocument/2006/relationships/officeDocument" Target="/ppt/presentation.xml" Id="R4e09fb151d994ccd" /></Relationships>
</file>

<file path=ppt/presentation.xml><?xml version="1.0" encoding="utf-8"?>
<p:presentation xmlns:p="http://schemas.openxmlformats.org/presentationml/2006/main">
  <p:sldMasterIdLst>
    <p:sldMasterId xmlns:r="http://schemas.openxmlformats.org/officeDocument/2006/relationships" id="2147483648" r:id="R5d9864a3c2924e3f"/>
  </p:sldMasterIdLst>
  <p:notesMasterIdLst>
    <p:notesMasterId xmlns:r="http://schemas.openxmlformats.org/officeDocument/2006/relationships" r:id="Rec9401fedb694e76"/>
  </p:notesMasterIdLst>
  <p:sldIdLst>
    <p:sldId xmlns:r="http://schemas.openxmlformats.org/officeDocument/2006/relationships" id="256" r:id="R910c11fb9c054641"/>
    <p:sldId xmlns:r="http://schemas.openxmlformats.org/officeDocument/2006/relationships" id="257" r:id="R1806554280904214"/>
    <p:sldId xmlns:r="http://schemas.openxmlformats.org/officeDocument/2006/relationships" id="258" r:id="R87745b4280424cdf"/>
    <p:sldId xmlns:r="http://schemas.openxmlformats.org/officeDocument/2006/relationships" id="259" r:id="R80b1c3ca28bc4e99"/>
    <p:sldId xmlns:r="http://schemas.openxmlformats.org/officeDocument/2006/relationships" id="260" r:id="R92321a18d4b94477"/>
    <p:sldId xmlns:r="http://schemas.openxmlformats.org/officeDocument/2006/relationships" id="261" r:id="Ra69ae03ad52a48f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8462c0042b4863" /><Relationship Type="http://schemas.openxmlformats.org/officeDocument/2006/relationships/slideMaster" Target="/ppt/slideMasters/slideMaster1.xml" Id="R5d9864a3c2924e3f" /><Relationship Type="http://schemas.openxmlformats.org/officeDocument/2006/relationships/notesMaster" Target="/ppt/notesMasters/notesMaster1.xml" Id="Rec9401fedb694e76" /><Relationship Type="http://schemas.openxmlformats.org/officeDocument/2006/relationships/presProps" Target="/ppt/presProps.xml" Id="R24ee85175d41465b" /><Relationship Type="http://schemas.openxmlformats.org/officeDocument/2006/relationships/tableStyles" Target="/ppt/tableStyles.xml" Id="Re1c02fc6db664cce" /><Relationship Type="http://schemas.openxmlformats.org/officeDocument/2006/relationships/slide" Target="/ppt/slides/slide1.xml" Id="R910c11fb9c054641" /><Relationship Type="http://schemas.openxmlformats.org/officeDocument/2006/relationships/slide" Target="/ppt/slides/slide2.xml" Id="R1806554280904214" /><Relationship Type="http://schemas.openxmlformats.org/officeDocument/2006/relationships/slide" Target="/ppt/slides/slide3.xml" Id="R87745b4280424cdf" /><Relationship Type="http://schemas.openxmlformats.org/officeDocument/2006/relationships/slide" Target="/ppt/slides/slide4.xml" Id="R80b1c3ca28bc4e99" /><Relationship Type="http://schemas.openxmlformats.org/officeDocument/2006/relationships/slide" Target="/ppt/slides/slide5.xml" Id="R92321a18d4b94477" /><Relationship Type="http://schemas.openxmlformats.org/officeDocument/2006/relationships/slide" Target="/ppt/slides/slide6.xml" Id="Ra69ae03ad52a48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b26588ad5344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044da2ff3f41cf" /><Relationship Type="http://schemas.openxmlformats.org/officeDocument/2006/relationships/notesMaster" Target="/ppt/notesMasters/notesMaster1.xml" Id="Rf700766dfaff47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f7200c1e6b4972" /><Relationship Type="http://schemas.openxmlformats.org/officeDocument/2006/relationships/notesMaster" Target="/ppt/notesMasters/notesMaster1.xml" Id="Rebaadf1afe4248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d9aa229d974683" /><Relationship Type="http://schemas.openxmlformats.org/officeDocument/2006/relationships/notesMaster" Target="/ppt/notesMasters/notesMaster1.xml" Id="R619cf2ee90b547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be3e74a1a04d55" /><Relationship Type="http://schemas.openxmlformats.org/officeDocument/2006/relationships/notesMaster" Target="/ppt/notesMasters/notesMaster1.xml" Id="R92b911ad1a9546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3c1b14417946c6" /><Relationship Type="http://schemas.openxmlformats.org/officeDocument/2006/relationships/notesMaster" Target="/ppt/notesMasters/notesMaster1.xml" Id="R629ddd7442884d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433d35e1744cd8" /><Relationship Type="http://schemas.openxmlformats.org/officeDocument/2006/relationships/notesMaster" Target="/ppt/notesMasters/notesMaster1.xml" Id="R97ac6ac4917c4b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DocuFit은 기업대출 서류를 은행에 접수하기 전에 누락과 값의 불일치를 확인하는 B2B 서비스입니다. 기업 고객 담당자는 오류를 먼저 보완하고, 은행 담당자는 최신 원본과 재제출 이력을 확인합니다. 대출 승인과 신용평가는 서비스 범위에서 제외했습니다.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요구사항은 계정 활성화, 문서 업로드, 사전검증과 제출, 은행 검토로 정리했습니다. 비기능 요구사항에서는 사용자의 역할과 소속을 서버에서 검증하고 비밀번호와 초대 토큰을 해시로 저장하도록 정의했습니다.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기업 담당자는 SCR-COMP-001에서 필수서류를 올리고 문서별 버전과 OCR 상태를 확인합니다. SCR-COMP-002에서는 오류의 대상과 해결 방법을 확인한 뒤 차단 오류가 없을 때 최종 제출합니다. 은행 담당자는 SCR-REV-002에서 최신 원본과 이력을 검토하고 확인 완료 또는 보완 요청을 처리합니다.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 모델은 8개 테이블로 구성하고 모든 테이블에 기본키를 정의했습니다. 외래키는 기업, 신청 건, 제출 문서와 사용자 이력을 연결하며, 문서 유형별 version_no를 증가시켜 이전본을 덮어쓰지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사전검증 화면은 GET validation을 호출해 제출 가능 여부와 해결할 오류 목록을 받습니다. 최종 제출은 POST submit으로 처리하며 차단 오류가 남으면 422와 blockingIssues 배열을 반환합니다. 은행의 확인 완료와 보완 요청은 POST decision으로 저장합니다.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과정에서는 대출 판단까지 확장하지 않고 접수 전 서류 검수에 범위를 고정했습니다. 실제 개발 전에는 기업 재무 담당자와 은행 담당자 인터뷰로 문제 가설을 검증해야 합니다. 이후에는 OCR 실패 복구, 은행 인증 연동과 개인정보 보호를 우선 확인하겠습니다.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b37e401c394d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c9cf0e8f954a76" /><Relationship Type="http://schemas.openxmlformats.org/officeDocument/2006/relationships/slideLayout" Target="/ppt/slideLayouts/slideLayout1.xml" Id="Rbf3f4a17e04d4a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3f4a17e04d4a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97e9a868ce497b" /><Relationship Type="http://schemas.openxmlformats.org/officeDocument/2006/relationships/image" Target="/ppt/media/image.png" Id="Rfc4c53d55a8a426b" /><Relationship Type="http://schemas.openxmlformats.org/officeDocument/2006/relationships/notesSlide" Target="/ppt/notesSlides/notesSlide1.xml" Id="R2049e9713d084f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891ec3e92e4e8b" /><Relationship Type="http://schemas.openxmlformats.org/officeDocument/2006/relationships/image" Target="/ppt/media/image2.png" Id="Rfa47a2bb745e400e" /><Relationship Type="http://schemas.openxmlformats.org/officeDocument/2006/relationships/notesSlide" Target="/ppt/notesSlides/notesSlide2.xml" Id="R62d5f1f975a745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9e26a3d68f4bcc" /><Relationship Type="http://schemas.openxmlformats.org/officeDocument/2006/relationships/image" Target="/ppt/media/image3.png" Id="Rb884df89210f4fd0" /><Relationship Type="http://schemas.openxmlformats.org/officeDocument/2006/relationships/image" Target="/ppt/media/image4.png" Id="R5518540dba5d4c27" /><Relationship Type="http://schemas.openxmlformats.org/officeDocument/2006/relationships/image" Target="/ppt/media/image5.png" Id="Rbdacbe3486db4b40" /><Relationship Type="http://schemas.openxmlformats.org/officeDocument/2006/relationships/image" Target="/ppt/media/image6.png" Id="R09481ba5a05044ae" /><Relationship Type="http://schemas.openxmlformats.org/officeDocument/2006/relationships/notesSlide" Target="/ppt/notesSlides/notesSlide3.xml" Id="Rf73c4bce36d34f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5638932db142d3" /><Relationship Type="http://schemas.openxmlformats.org/officeDocument/2006/relationships/image" Target="/ppt/media/image7.png" Id="R9da27e5efed844c0" /><Relationship Type="http://schemas.openxmlformats.org/officeDocument/2006/relationships/image" Target="/ppt/media/image8.png" Id="Rf0906a1e859f40d3" /><Relationship Type="http://schemas.openxmlformats.org/officeDocument/2006/relationships/notesSlide" Target="/ppt/notesSlides/notesSlide4.xml" Id="R7f5676e7f61142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ba6266e61e400d" /><Relationship Type="http://schemas.openxmlformats.org/officeDocument/2006/relationships/image" Target="/ppt/media/image9.png" Id="Rccf4bfff3acb4680" /><Relationship Type="http://schemas.openxmlformats.org/officeDocument/2006/relationships/notesSlide" Target="/ppt/notesSlides/notesSlide5.xml" Id="R7cafc2ad84f64e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a9bd6d0feb4f78" /><Relationship Type="http://schemas.openxmlformats.org/officeDocument/2006/relationships/image" Target="/ppt/media/image10.png" Id="R3683ee31c3b04d67" /><Relationship Type="http://schemas.openxmlformats.org/officeDocument/2006/relationships/notesSlide" Target="/ppt/notesSlides/notesSlide6.xml" Id="R0f8016e7edbb4299" /></Relationships>
</file>

<file path=ppt/slides/slide1.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F4A62A4-6668-4BA7-A223-EC814BC9664E}"/>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6DA687-3D16-4424-9FFB-276CC6C32728}"/>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01</a:t>
            </a:r>
          </a:p>
        </p:txBody>
      </p:sp>
      <p:sp>
        <p:nvSpPr>
          <p:cNvPr id="3" name="">
            <a:extLst xmlns:a="http://schemas.openxmlformats.org/drawingml/2006/main">
              <a:ext uri="{FF2B5EF4-FFF2-40B4-BE49-F238E27FC236}">
                <a16:creationId xmlns:a16="http://schemas.microsoft.com/office/drawing/2014/main" id="{91AF808F-2866-4A44-A172-AB2209D3A99B}"/>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서비스 개요</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fc4c53d55a8a426b"/>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031EA64-0EEB-45C6-9265-70D55ABC289A}"/>
              </a:ext>
            </a:extLst>
          </p:cNvPr>
          <p:cNvSpPr>
            <a:spLocks xmlns:a="http://schemas.openxmlformats.org/drawingml/2006/main" noGrp="1"/>
          </p:cNvSpPr>
          <p:nvPr/>
        </p:nvSpPr>
        <p:spPr>
          <a:xfrm xmlns:a="http://schemas.openxmlformats.org/drawingml/2006/main">
            <a:off x="762000" y="128587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F40036"/>
                </a:solidFill>
                <a:latin typeface="Pretendard"/>
                <a:ea typeface="Pretendard"/>
                <a:cs typeface="Pretendard"/>
              </a:defRPr>
            </a:pPr>
            <a:r>
              <a:rPr sz="1875" b="1">
                <a:solidFill>
                  <a:srgbClr val="F40036"/>
                </a:solidFill>
                <a:latin typeface="Pretendard"/>
                <a:ea typeface="Pretendard"/>
                <a:cs typeface="Pretendard"/>
              </a:rPr>
              <a:t>DocuFit</a:t>
            </a:r>
          </a:p>
        </p:txBody>
      </p:sp>
      <p:sp>
        <p:nvSpPr>
          <p:cNvPr id="6" name="">
            <a:extLst xmlns:a="http://schemas.openxmlformats.org/drawingml/2006/main">
              <a:ext uri="{FF2B5EF4-FFF2-40B4-BE49-F238E27FC236}">
                <a16:creationId xmlns:a16="http://schemas.microsoft.com/office/drawing/2014/main" id="{48249893-A993-480C-BB1E-385E8EA54AB2}"/>
              </a:ext>
            </a:extLst>
          </p:cNvPr>
          <p:cNvSpPr>
            <a:spLocks xmlns:a="http://schemas.openxmlformats.org/drawingml/2006/main" noGrp="1"/>
          </p:cNvSpPr>
          <p:nvPr/>
        </p:nvSpPr>
        <p:spPr>
          <a:xfrm xmlns:a="http://schemas.openxmlformats.org/drawingml/2006/main">
            <a:off x="762000" y="1695450"/>
            <a:ext cx="13525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3150" b="1">
                <a:solidFill>
                  <a:srgbClr val="191919"/>
                </a:solidFill>
                <a:latin typeface="Pretendard"/>
                <a:ea typeface="Pretendard"/>
                <a:cs typeface="Pretendard"/>
              </a:defRPr>
            </a:pPr>
            <a:r>
              <a:rPr sz="3150" b="1">
                <a:solidFill>
                  <a:srgbClr val="191919"/>
                </a:solidFill>
                <a:latin typeface="Pretendard"/>
                <a:ea typeface="Pretendard"/>
                <a:cs typeface="Pretendard"/>
              </a:rPr>
              <a:t>기업대출 서류를 접수하기 전에</a:t>
            </a:r>
          </a:p>
          <a:p xmlns:a="http://schemas.openxmlformats.org/drawingml/2006/main">
            <a:pPr algn="l">
              <a:lnSpc>
                <a:spcPct val="108000"/>
              </a:lnSpc>
              <a:buNone/>
              <a:defRPr sz="3150" b="1">
                <a:solidFill>
                  <a:srgbClr val="191919"/>
                </a:solidFill>
                <a:latin typeface="Pretendard"/>
                <a:ea typeface="Pretendard"/>
                <a:cs typeface="Pretendard"/>
              </a:defRPr>
            </a:pPr>
            <a:r>
              <a:rPr sz="3150" b="1">
                <a:solidFill>
                  <a:srgbClr val="191919"/>
                </a:solidFill>
                <a:latin typeface="Pretendard"/>
                <a:ea typeface="Pretendard"/>
                <a:cs typeface="Pretendard"/>
              </a:rPr>
              <a:t>누락·유효기간·기업정보 불일치를 확인하는 B2B 웹 서비스</a:t>
            </a:r>
          </a:p>
        </p:txBody>
      </p:sp>
      <p:sp>
        <p:nvSpPr>
          <p:cNvPr id="7" name="">
            <a:extLst xmlns:a="http://schemas.openxmlformats.org/drawingml/2006/main">
              <a:ext uri="{FF2B5EF4-FFF2-40B4-BE49-F238E27FC236}">
                <a16:creationId xmlns:a16="http://schemas.microsoft.com/office/drawing/2014/main" id="{6654EB78-468A-495E-BFCE-6478435D941C}"/>
              </a:ext>
            </a:extLst>
          </p:cNvPr>
          <p:cNvSpPr>
            <a:spLocks xmlns:a="http://schemas.openxmlformats.org/drawingml/2006/main" noGrp="1"/>
          </p:cNvSpPr>
          <p:nvPr/>
        </p:nvSpPr>
        <p:spPr>
          <a:xfrm xmlns:a="http://schemas.openxmlformats.org/drawingml/2006/main">
            <a:off x="762000" y="3143250"/>
            <a:ext cx="13716000" cy="28575"/>
          </a:xfrm>
          <a:prstGeom xmlns:a="http://schemas.openxmlformats.org/drawingml/2006/main" prst="rect">
            <a:avLst/>
          </a:prstGeom>
          <a:solidFill xmlns:a="http://schemas.openxmlformats.org/drawingml/2006/main">
            <a:srgbClr val="F400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20B3575-A7F9-48C3-BEA7-290EB7175237}"/>
              </a:ext>
            </a:extLst>
          </p:cNvPr>
          <p:cNvSpPr>
            <a:spLocks xmlns:a="http://schemas.openxmlformats.org/drawingml/2006/main" noGrp="1"/>
          </p:cNvSpPr>
          <p:nvPr/>
        </p:nvSpPr>
        <p:spPr>
          <a:xfrm xmlns:a="http://schemas.openxmlformats.org/drawingml/2006/main">
            <a:off x="762000" y="3619500"/>
            <a:ext cx="6572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E2DCD3"/>
            </a:solidFill>
          </a:ln>
        </p:spPr>
      </p:sp>
      <p:sp>
        <p:nvSpPr>
          <p:cNvPr id="9" name="">
            <a:extLst xmlns:a="http://schemas.openxmlformats.org/drawingml/2006/main">
              <a:ext uri="{FF2B5EF4-FFF2-40B4-BE49-F238E27FC236}">
                <a16:creationId xmlns:a16="http://schemas.microsoft.com/office/drawing/2014/main" id="{473FDB23-A802-4802-A773-790A07577AA1}"/>
              </a:ext>
            </a:extLst>
          </p:cNvPr>
          <p:cNvSpPr>
            <a:spLocks xmlns:a="http://schemas.openxmlformats.org/drawingml/2006/main" noGrp="1"/>
          </p:cNvSpPr>
          <p:nvPr/>
        </p:nvSpPr>
        <p:spPr>
          <a:xfrm xmlns:a="http://schemas.openxmlformats.org/drawingml/2006/main">
            <a:off x="1095375" y="4019550"/>
            <a:ext cx="66675" cy="285750"/>
          </a:xfrm>
          <a:prstGeom xmlns:a="http://schemas.openxmlformats.org/drawingml/2006/main" prst="rect">
            <a:avLst/>
          </a:prstGeom>
          <a:solidFill xmlns:a="http://schemas.openxmlformats.org/drawingml/2006/main">
            <a:srgbClr val="F4003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FEEC20A-39CB-4B6E-B9B5-31E4780027FD}"/>
              </a:ext>
            </a:extLst>
          </p:cNvPr>
          <p:cNvSpPr>
            <a:spLocks xmlns:a="http://schemas.openxmlformats.org/drawingml/2006/main" noGrp="1"/>
          </p:cNvSpPr>
          <p:nvPr/>
        </p:nvSpPr>
        <p:spPr>
          <a:xfrm xmlns:a="http://schemas.openxmlformats.org/drawingml/2006/main">
            <a:off x="1266825" y="39814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40036"/>
                </a:solidFill>
                <a:latin typeface="Pretendard"/>
                <a:ea typeface="Pretendard"/>
                <a:cs typeface="Pretendard"/>
              </a:defRPr>
            </a:pPr>
            <a:r>
              <a:rPr sz="1800" b="1">
                <a:solidFill>
                  <a:srgbClr val="F40036"/>
                </a:solidFill>
                <a:latin typeface="Pretendard"/>
                <a:ea typeface="Pretendard"/>
                <a:cs typeface="Pretendard"/>
              </a:rPr>
              <a:t>목표</a:t>
            </a:r>
          </a:p>
        </p:txBody>
      </p:sp>
      <p:sp>
        <p:nvSpPr>
          <p:cNvPr id="11" name="">
            <a:extLst xmlns:a="http://schemas.openxmlformats.org/drawingml/2006/main">
              <a:ext uri="{FF2B5EF4-FFF2-40B4-BE49-F238E27FC236}">
                <a16:creationId xmlns:a16="http://schemas.microsoft.com/office/drawing/2014/main" id="{5D11B8F1-3231-4998-A22B-64A43E2F4F76}"/>
              </a:ext>
            </a:extLst>
          </p:cNvPr>
          <p:cNvSpPr>
            <a:spLocks xmlns:a="http://schemas.openxmlformats.org/drawingml/2006/main" noGrp="1"/>
          </p:cNvSpPr>
          <p:nvPr/>
        </p:nvSpPr>
        <p:spPr>
          <a:xfrm xmlns:a="http://schemas.openxmlformats.org/drawingml/2006/main">
            <a:off x="1143000" y="46291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기업 고객</a:t>
            </a:r>
          </a:p>
        </p:txBody>
      </p:sp>
      <p:sp>
        <p:nvSpPr>
          <p:cNvPr id="12" name="">
            <a:extLst xmlns:a="http://schemas.openxmlformats.org/drawingml/2006/main">
              <a:ext uri="{FF2B5EF4-FFF2-40B4-BE49-F238E27FC236}">
                <a16:creationId xmlns:a16="http://schemas.microsoft.com/office/drawing/2014/main" id="{A7A0F328-67E8-4553-AFEB-E7789BE1ADC1}"/>
              </a:ext>
            </a:extLst>
          </p:cNvPr>
          <p:cNvSpPr>
            <a:spLocks xmlns:a="http://schemas.openxmlformats.org/drawingml/2006/main" noGrp="1"/>
          </p:cNvSpPr>
          <p:nvPr/>
        </p:nvSpPr>
        <p:spPr>
          <a:xfrm xmlns:a="http://schemas.openxmlformats.org/drawingml/2006/main">
            <a:off x="2714625" y="45720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9156"/>
          </a:bodyPr>
          <a:lstStyle xmlns:a="http://schemas.openxmlformats.org/drawingml/2006/main"/>
          <a:p xmlns:a="http://schemas.openxmlformats.org/drawingml/2006/main">
            <a:pPr algn="l">
              <a:defRPr sz="1800" b="0">
                <a:solidFill>
                  <a:srgbClr val="191919"/>
                </a:solidFill>
                <a:latin typeface="Pretendard"/>
                <a:ea typeface="Pretendard"/>
                <a:cs typeface="Pretendard"/>
              </a:defRPr>
            </a:pPr>
            <a:r>
              <a:rPr sz="1800" b="0">
                <a:solidFill>
                  <a:srgbClr val="191919"/>
                </a:solidFill>
                <a:latin typeface="Pretendard"/>
                <a:ea typeface="Pretendard"/>
                <a:cs typeface="Pretendard"/>
              </a:rPr>
              <a:t>제출 전에 오류를 확인하고 필요한 문서만 보완</a:t>
            </a:r>
          </a:p>
        </p:txBody>
      </p:sp>
      <p:sp>
        <p:nvSpPr>
          <p:cNvPr id="13" name="">
            <a:extLst xmlns:a="http://schemas.openxmlformats.org/drawingml/2006/main">
              <a:ext uri="{FF2B5EF4-FFF2-40B4-BE49-F238E27FC236}">
                <a16:creationId xmlns:a16="http://schemas.microsoft.com/office/drawing/2014/main" id="{B4DE69A8-3A5B-4564-878E-AA375DB31478}"/>
              </a:ext>
            </a:extLst>
          </p:cNvPr>
          <p:cNvSpPr>
            <a:spLocks xmlns:a="http://schemas.openxmlformats.org/drawingml/2006/main" noGrp="1"/>
          </p:cNvSpPr>
          <p:nvPr/>
        </p:nvSpPr>
        <p:spPr>
          <a:xfrm xmlns:a="http://schemas.openxmlformats.org/drawingml/2006/main">
            <a:off x="1143000" y="5400675"/>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은행 담당자</a:t>
            </a:r>
          </a:p>
        </p:txBody>
      </p:sp>
      <p:sp>
        <p:nvSpPr>
          <p:cNvPr id="14" name="">
            <a:extLst xmlns:a="http://schemas.openxmlformats.org/drawingml/2006/main">
              <a:ext uri="{FF2B5EF4-FFF2-40B4-BE49-F238E27FC236}">
                <a16:creationId xmlns:a16="http://schemas.microsoft.com/office/drawing/2014/main" id="{21E09D27-96F2-448D-9D22-E49D190176BF}"/>
              </a:ext>
            </a:extLst>
          </p:cNvPr>
          <p:cNvSpPr>
            <a:spLocks xmlns:a="http://schemas.openxmlformats.org/drawingml/2006/main" noGrp="1"/>
          </p:cNvSpPr>
          <p:nvPr/>
        </p:nvSpPr>
        <p:spPr>
          <a:xfrm xmlns:a="http://schemas.openxmlformats.org/drawingml/2006/main">
            <a:off x="2714625" y="5324475"/>
            <a:ext cx="409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0">
                <a:solidFill>
                  <a:srgbClr val="191919"/>
                </a:solidFill>
                <a:latin typeface="Pretendard"/>
                <a:ea typeface="Pretendard"/>
                <a:cs typeface="Pretendard"/>
              </a:defRPr>
            </a:pPr>
            <a:r>
              <a:rPr sz="1800" b="0">
                <a:solidFill>
                  <a:srgbClr val="191919"/>
                </a:solidFill>
                <a:latin typeface="Pretendard"/>
                <a:ea typeface="Pretendard"/>
                <a:cs typeface="Pretendard"/>
              </a:rPr>
              <a:t>원본·검증 결과·재제출 이력을 한 흐름에서 확인</a:t>
            </a:r>
          </a:p>
        </p:txBody>
      </p:sp>
      <p:sp>
        <p:nvSpPr>
          <p:cNvPr id="15" name="">
            <a:extLst xmlns:a="http://schemas.openxmlformats.org/drawingml/2006/main">
              <a:ext uri="{FF2B5EF4-FFF2-40B4-BE49-F238E27FC236}">
                <a16:creationId xmlns:a16="http://schemas.microsoft.com/office/drawing/2014/main" id="{3331B125-540B-412A-9FE0-5241A7A930D8}"/>
              </a:ext>
            </a:extLst>
          </p:cNvPr>
          <p:cNvSpPr>
            <a:spLocks xmlns:a="http://schemas.openxmlformats.org/drawingml/2006/main" noGrp="1"/>
          </p:cNvSpPr>
          <p:nvPr/>
        </p:nvSpPr>
        <p:spPr>
          <a:xfrm xmlns:a="http://schemas.openxmlformats.org/drawingml/2006/main">
            <a:off x="1123950" y="6181725"/>
            <a:ext cx="5810250" cy="9525"/>
          </a:xfrm>
          <a:prstGeom xmlns:a="http://schemas.openxmlformats.org/drawingml/2006/main" prst="rect">
            <a:avLst/>
          </a:prstGeom>
          <a:solidFill xmlns:a="http://schemas.openxmlformats.org/drawingml/2006/main">
            <a:srgbClr val="E2DC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4FEFEF9-C0B5-407C-9ABA-31E1D2852ECE}"/>
              </a:ext>
            </a:extLst>
          </p:cNvPr>
          <p:cNvSpPr>
            <a:spLocks xmlns:a="http://schemas.openxmlformats.org/drawingml/2006/main" noGrp="1"/>
          </p:cNvSpPr>
          <p:nvPr/>
        </p:nvSpPr>
        <p:spPr>
          <a:xfrm xmlns:a="http://schemas.openxmlformats.org/drawingml/2006/main">
            <a:off x="1143000" y="6286500"/>
            <a:ext cx="576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F6A64"/>
                </a:solidFill>
                <a:latin typeface="Pretendard"/>
                <a:ea typeface="Pretendard"/>
                <a:cs typeface="Pretendard"/>
              </a:defRPr>
            </a:pPr>
            <a:r>
              <a:rPr sz="1350" b="0">
                <a:solidFill>
                  <a:srgbClr val="6F6A64"/>
                </a:solidFill>
                <a:latin typeface="Pretendard"/>
                <a:ea typeface="Pretendard"/>
                <a:cs typeface="Pretendard"/>
              </a:rPr>
              <a:t>서비스 범위는 서류 확인까지이며 대출 승인과 신용평가는 제외</a:t>
            </a:r>
          </a:p>
        </p:txBody>
      </p:sp>
      <p:sp>
        <p:nvSpPr>
          <p:cNvPr id="17" name="">
            <a:extLst xmlns:a="http://schemas.openxmlformats.org/drawingml/2006/main">
              <a:ext uri="{FF2B5EF4-FFF2-40B4-BE49-F238E27FC236}">
                <a16:creationId xmlns:a16="http://schemas.microsoft.com/office/drawing/2014/main" id="{BF638D91-CF08-405D-977E-B115FB7C8BC2}"/>
              </a:ext>
            </a:extLst>
          </p:cNvPr>
          <p:cNvSpPr>
            <a:spLocks xmlns:a="http://schemas.openxmlformats.org/drawingml/2006/main" noGrp="1"/>
          </p:cNvSpPr>
          <p:nvPr/>
        </p:nvSpPr>
        <p:spPr>
          <a:xfrm xmlns:a="http://schemas.openxmlformats.org/drawingml/2006/main">
            <a:off x="7715250" y="3619500"/>
            <a:ext cx="6762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E2DCD3"/>
            </a:solidFill>
          </a:ln>
        </p:spPr>
      </p:sp>
      <p:sp>
        <p:nvSpPr>
          <p:cNvPr id="18" name="">
            <a:extLst xmlns:a="http://schemas.openxmlformats.org/drawingml/2006/main">
              <a:ext uri="{FF2B5EF4-FFF2-40B4-BE49-F238E27FC236}">
                <a16:creationId xmlns:a16="http://schemas.microsoft.com/office/drawing/2014/main" id="{ADB2C57C-25B7-4B3F-BBB8-65B10B385CA1}"/>
              </a:ext>
            </a:extLst>
          </p:cNvPr>
          <p:cNvSpPr>
            <a:spLocks xmlns:a="http://schemas.openxmlformats.org/drawingml/2006/main" noGrp="1"/>
          </p:cNvSpPr>
          <p:nvPr/>
        </p:nvSpPr>
        <p:spPr>
          <a:xfrm xmlns:a="http://schemas.openxmlformats.org/drawingml/2006/main">
            <a:off x="8048625" y="4019550"/>
            <a:ext cx="66675" cy="285750"/>
          </a:xfrm>
          <a:prstGeom xmlns:a="http://schemas.openxmlformats.org/drawingml/2006/main" prst="rect">
            <a:avLst/>
          </a:prstGeom>
          <a:solidFill xmlns:a="http://schemas.openxmlformats.org/drawingml/2006/main">
            <a:srgbClr val="FF782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FE053A6-60FE-4473-995B-6B7A4FA0C808}"/>
              </a:ext>
            </a:extLst>
          </p:cNvPr>
          <p:cNvSpPr>
            <a:spLocks xmlns:a="http://schemas.openxmlformats.org/drawingml/2006/main" noGrp="1"/>
          </p:cNvSpPr>
          <p:nvPr/>
        </p:nvSpPr>
        <p:spPr>
          <a:xfrm xmlns:a="http://schemas.openxmlformats.org/drawingml/2006/main">
            <a:off x="8220075" y="39814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F7823"/>
                </a:solidFill>
                <a:latin typeface="Pretendard"/>
                <a:ea typeface="Pretendard"/>
                <a:cs typeface="Pretendard"/>
              </a:defRPr>
            </a:pPr>
            <a:r>
              <a:rPr sz="1800" b="1">
                <a:solidFill>
                  <a:srgbClr val="FF7823"/>
                </a:solidFill>
                <a:latin typeface="Pretendard"/>
                <a:ea typeface="Pretendard"/>
                <a:cs typeface="Pretendard"/>
              </a:rPr>
              <a:t>Actor</a:t>
            </a:r>
          </a:p>
        </p:txBody>
      </p:sp>
      <p:sp>
        <p:nvSpPr>
          <p:cNvPr id="20" name="">
            <a:extLst xmlns:a="http://schemas.openxmlformats.org/drawingml/2006/main">
              <a:ext uri="{FF2B5EF4-FFF2-40B4-BE49-F238E27FC236}">
                <a16:creationId xmlns:a16="http://schemas.microsoft.com/office/drawing/2014/main" id="{54F0AF21-ADBA-4463-B4E2-43A365D7AC5D}"/>
              </a:ext>
            </a:extLst>
          </p:cNvPr>
          <p:cNvSpPr>
            <a:spLocks xmlns:a="http://schemas.openxmlformats.org/drawingml/2006/main" noGrp="1"/>
          </p:cNvSpPr>
          <p:nvPr/>
        </p:nvSpPr>
        <p:spPr>
          <a:xfrm xmlns:a="http://schemas.openxmlformats.org/drawingml/2006/main">
            <a:off x="8096250" y="4667250"/>
            <a:ext cx="514350" cy="514350"/>
          </a:xfrm>
          <a:prstGeom xmlns:a="http://schemas.openxmlformats.org/drawingml/2006/main" prst="ellipse">
            <a:avLst/>
          </a:prstGeom>
          <a:solidFill xmlns:a="http://schemas.openxmlformats.org/drawingml/2006/main">
            <a:srgbClr val="F4003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4C5AF36-9655-4D63-88CD-F6D16F89FEB5}"/>
              </a:ext>
            </a:extLst>
          </p:cNvPr>
          <p:cNvSpPr>
            <a:spLocks xmlns:a="http://schemas.openxmlformats.org/drawingml/2006/main" noGrp="1"/>
          </p:cNvSpPr>
          <p:nvPr/>
        </p:nvSpPr>
        <p:spPr>
          <a:xfrm xmlns:a="http://schemas.openxmlformats.org/drawingml/2006/main">
            <a:off x="8096250" y="46672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FFFFFF"/>
                </a:solidFill>
                <a:latin typeface="Pretendard"/>
                <a:ea typeface="Pretendard"/>
                <a:cs typeface="Pretendard"/>
              </a:defRPr>
            </a:pPr>
            <a:r>
              <a:rPr sz="1725" b="1">
                <a:solidFill>
                  <a:srgbClr val="FFFFFF"/>
                </a:solidFill>
                <a:latin typeface="Pretendard"/>
                <a:ea typeface="Pretendard"/>
                <a:cs typeface="Pretendard"/>
              </a:rPr>
              <a:t>1</a:t>
            </a:r>
          </a:p>
        </p:txBody>
      </p:sp>
      <p:sp>
        <p:nvSpPr>
          <p:cNvPr id="22" name="">
            <a:extLst xmlns:a="http://schemas.openxmlformats.org/drawingml/2006/main">
              <a:ext uri="{FF2B5EF4-FFF2-40B4-BE49-F238E27FC236}">
                <a16:creationId xmlns:a16="http://schemas.microsoft.com/office/drawing/2014/main" id="{75E1E77E-AC5D-49B9-AC12-B0E648E8AB4D}"/>
              </a:ext>
            </a:extLst>
          </p:cNvPr>
          <p:cNvSpPr>
            <a:spLocks xmlns:a="http://schemas.openxmlformats.org/drawingml/2006/main" noGrp="1"/>
          </p:cNvSpPr>
          <p:nvPr/>
        </p:nvSpPr>
        <p:spPr>
          <a:xfrm xmlns:a="http://schemas.openxmlformats.org/drawingml/2006/main">
            <a:off x="8858250" y="457200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191919"/>
                </a:solidFill>
                <a:latin typeface="Pretendard"/>
                <a:ea typeface="Pretendard"/>
                <a:cs typeface="Pretendard"/>
              </a:defRPr>
            </a:pPr>
            <a:r>
              <a:rPr sz="1875" b="1">
                <a:solidFill>
                  <a:srgbClr val="191919"/>
                </a:solidFill>
                <a:latin typeface="Pretendard"/>
                <a:ea typeface="Pretendard"/>
                <a:cs typeface="Pretendard"/>
              </a:rPr>
              <a:t>기업 고객 담당자</a:t>
            </a:r>
          </a:p>
        </p:txBody>
      </p:sp>
      <p:sp>
        <p:nvSpPr>
          <p:cNvPr id="23" name="">
            <a:extLst xmlns:a="http://schemas.openxmlformats.org/drawingml/2006/main">
              <a:ext uri="{FF2B5EF4-FFF2-40B4-BE49-F238E27FC236}">
                <a16:creationId xmlns:a16="http://schemas.microsoft.com/office/drawing/2014/main" id="{1F277FA0-6DEF-40F2-8D29-774C658916CD}"/>
              </a:ext>
            </a:extLst>
          </p:cNvPr>
          <p:cNvSpPr>
            <a:spLocks xmlns:a="http://schemas.openxmlformats.org/drawingml/2006/main" noGrp="1"/>
          </p:cNvSpPr>
          <p:nvPr/>
        </p:nvSpPr>
        <p:spPr>
          <a:xfrm xmlns:a="http://schemas.openxmlformats.org/drawingml/2006/main">
            <a:off x="8858250" y="49434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F6A64"/>
                </a:solidFill>
                <a:latin typeface="Pretendard"/>
                <a:ea typeface="Pretendard"/>
                <a:cs typeface="Pretendard"/>
              </a:defRPr>
            </a:pPr>
            <a:r>
              <a:rPr sz="1575" b="0">
                <a:solidFill>
                  <a:srgbClr val="6F6A64"/>
                </a:solidFill>
                <a:latin typeface="Pretendard"/>
                <a:ea typeface="Pretendard"/>
                <a:cs typeface="Pretendard"/>
              </a:rPr>
              <a:t>은행 초대 계정으로 서류 업로드·검증·재제출</a:t>
            </a:r>
          </a:p>
        </p:txBody>
      </p:sp>
      <p:sp>
        <p:nvSpPr>
          <p:cNvPr id="24" name="">
            <a:extLst xmlns:a="http://schemas.openxmlformats.org/drawingml/2006/main">
              <a:ext uri="{FF2B5EF4-FFF2-40B4-BE49-F238E27FC236}">
                <a16:creationId xmlns:a16="http://schemas.microsoft.com/office/drawing/2014/main" id="{75FC7CD0-EE39-4892-98E8-6D243D4C0877}"/>
              </a:ext>
            </a:extLst>
          </p:cNvPr>
          <p:cNvSpPr>
            <a:spLocks xmlns:a="http://schemas.openxmlformats.org/drawingml/2006/main" noGrp="1"/>
          </p:cNvSpPr>
          <p:nvPr/>
        </p:nvSpPr>
        <p:spPr>
          <a:xfrm xmlns:a="http://schemas.openxmlformats.org/drawingml/2006/main">
            <a:off x="8096250" y="5667375"/>
            <a:ext cx="514350" cy="514350"/>
          </a:xfrm>
          <a:prstGeom xmlns:a="http://schemas.openxmlformats.org/drawingml/2006/main" prst="ellipse">
            <a:avLst/>
          </a:prstGeom>
          <a:solidFill xmlns:a="http://schemas.openxmlformats.org/drawingml/2006/main">
            <a:srgbClr val="FF782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C23BA38-2B29-4E3B-B9EB-C0BBE1D58D8D}"/>
              </a:ext>
            </a:extLst>
          </p:cNvPr>
          <p:cNvSpPr>
            <a:spLocks xmlns:a="http://schemas.openxmlformats.org/drawingml/2006/main" noGrp="1"/>
          </p:cNvSpPr>
          <p:nvPr/>
        </p:nvSpPr>
        <p:spPr>
          <a:xfrm xmlns:a="http://schemas.openxmlformats.org/drawingml/2006/main">
            <a:off x="8096250" y="56673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FFFFFF"/>
                </a:solidFill>
                <a:latin typeface="Pretendard"/>
                <a:ea typeface="Pretendard"/>
                <a:cs typeface="Pretendard"/>
              </a:defRPr>
            </a:pPr>
            <a:r>
              <a:rPr sz="1725" b="1">
                <a:solidFill>
                  <a:srgbClr val="FFFFFF"/>
                </a:solidFill>
                <a:latin typeface="Pretendard"/>
                <a:ea typeface="Pretendard"/>
                <a:cs typeface="Pretendard"/>
              </a:rPr>
              <a:t>2</a:t>
            </a:r>
          </a:p>
        </p:txBody>
      </p:sp>
      <p:sp>
        <p:nvSpPr>
          <p:cNvPr id="26" name="">
            <a:extLst xmlns:a="http://schemas.openxmlformats.org/drawingml/2006/main">
              <a:ext uri="{FF2B5EF4-FFF2-40B4-BE49-F238E27FC236}">
                <a16:creationId xmlns:a16="http://schemas.microsoft.com/office/drawing/2014/main" id="{F343082A-4ADF-4364-A92F-88FC5447D6C4}"/>
              </a:ext>
            </a:extLst>
          </p:cNvPr>
          <p:cNvSpPr>
            <a:spLocks xmlns:a="http://schemas.openxmlformats.org/drawingml/2006/main" noGrp="1"/>
          </p:cNvSpPr>
          <p:nvPr/>
        </p:nvSpPr>
        <p:spPr>
          <a:xfrm xmlns:a="http://schemas.openxmlformats.org/drawingml/2006/main">
            <a:off x="8858250" y="5562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191919"/>
                </a:solidFill>
                <a:latin typeface="Pretendard"/>
                <a:ea typeface="Pretendard"/>
                <a:cs typeface="Pretendard"/>
              </a:defRPr>
            </a:pPr>
            <a:r>
              <a:rPr sz="1875" b="1">
                <a:solidFill>
                  <a:srgbClr val="191919"/>
                </a:solidFill>
                <a:latin typeface="Pretendard"/>
                <a:ea typeface="Pretendard"/>
                <a:cs typeface="Pretendard"/>
              </a:rPr>
              <a:t>은행 기업금융 담당자</a:t>
            </a:r>
          </a:p>
        </p:txBody>
      </p:sp>
      <p:sp>
        <p:nvSpPr>
          <p:cNvPr id="27" name="">
            <a:extLst xmlns:a="http://schemas.openxmlformats.org/drawingml/2006/main">
              <a:ext uri="{FF2B5EF4-FFF2-40B4-BE49-F238E27FC236}">
                <a16:creationId xmlns:a16="http://schemas.microsoft.com/office/drawing/2014/main" id="{9C4BC8FE-D718-47B1-AFBD-924DA88E706F}"/>
              </a:ext>
            </a:extLst>
          </p:cNvPr>
          <p:cNvSpPr>
            <a:spLocks xmlns:a="http://schemas.openxmlformats.org/drawingml/2006/main" noGrp="1"/>
          </p:cNvSpPr>
          <p:nvPr/>
        </p:nvSpPr>
        <p:spPr>
          <a:xfrm xmlns:a="http://schemas.openxmlformats.org/drawingml/2006/main">
            <a:off x="8858250" y="59340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F6A64"/>
                </a:solidFill>
                <a:latin typeface="Pretendard"/>
                <a:ea typeface="Pretendard"/>
                <a:cs typeface="Pretendard"/>
              </a:defRPr>
            </a:pPr>
            <a:r>
              <a:rPr sz="1575" b="0">
                <a:solidFill>
                  <a:srgbClr val="6F6A64"/>
                </a:solidFill>
                <a:latin typeface="Pretendard"/>
                <a:ea typeface="Pretendard"/>
                <a:cs typeface="Pretendard"/>
              </a:rPr>
              <a:t>최신 원본과 이력을 검토하고 확인 완료·보완 요청</a:t>
            </a:r>
          </a:p>
        </p:txBody>
      </p:sp>
      <p:sp>
        <p:nvSpPr>
          <p:cNvPr id="28" name="">
            <a:extLst xmlns:a="http://schemas.openxmlformats.org/drawingml/2006/main">
              <a:ext uri="{FF2B5EF4-FFF2-40B4-BE49-F238E27FC236}">
                <a16:creationId xmlns:a16="http://schemas.microsoft.com/office/drawing/2014/main" id="{4E5BFC17-780F-43AA-BAC4-19E42E4FF280}"/>
              </a:ext>
            </a:extLst>
          </p:cNvPr>
          <p:cNvSpPr>
            <a:spLocks xmlns:a="http://schemas.openxmlformats.org/drawingml/2006/main" noGrp="1"/>
          </p:cNvSpPr>
          <p:nvPr/>
        </p:nvSpPr>
        <p:spPr>
          <a:xfrm xmlns:a="http://schemas.openxmlformats.org/drawingml/2006/main">
            <a:off x="762000" y="7334250"/>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F40036"/>
                </a:solidFill>
                <a:latin typeface="Pretendard"/>
                <a:ea typeface="Pretendard"/>
                <a:cs typeface="Pretendard"/>
              </a:defRPr>
            </a:pPr>
            <a:r>
              <a:rPr sz="1875" b="1">
                <a:solidFill>
                  <a:srgbClr val="F40036"/>
                </a:solidFill>
                <a:latin typeface="Pretendard"/>
                <a:ea typeface="Pretendard"/>
                <a:cs typeface="Pretendard"/>
              </a:rPr>
              <a:t>핵심 흐름  초대 계정 활성화  ·  서류 업로드  ·  사전검증  ·  은행 확인</a:t>
            </a:r>
          </a:p>
        </p:txBody>
      </p:sp>
    </p:spTree>
    <p:extLst>
      <p:ext uri="{BB962C8B-B14F-4D97-AF65-F5344CB8AC3E}">
        <p14:creationId xmlns:p14="http://schemas.microsoft.com/office/powerpoint/2010/main" val="2144136685"/>
      </p:ext>
    </p:extLst>
  </p:cSld>
</p:sld>
</file>

<file path=ppt/slides/slide2.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69B3DA-1265-43B5-902A-AC82389596AB}"/>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A773C0-1AA0-4918-9282-F7E15B55693B}"/>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02</a:t>
            </a:r>
          </a:p>
        </p:txBody>
      </p:sp>
      <p:sp>
        <p:nvSpPr>
          <p:cNvPr id="3" name="">
            <a:extLst xmlns:a="http://schemas.openxmlformats.org/drawingml/2006/main">
              <a:ext uri="{FF2B5EF4-FFF2-40B4-BE49-F238E27FC236}">
                <a16:creationId xmlns:a16="http://schemas.microsoft.com/office/drawing/2014/main" id="{E1B44A28-F2FF-4448-8E78-0889BB704227}"/>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핵심 요구사항</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a47a2bb745e400e"/>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864A4DC-8F63-43C9-8F33-495D1793121E}"/>
              </a:ext>
            </a:extLst>
          </p:cNvPr>
          <p:cNvSpPr>
            <a:spLocks xmlns:a="http://schemas.openxmlformats.org/drawingml/2006/main" noGrp="1"/>
          </p:cNvSpPr>
          <p:nvPr/>
        </p:nvSpPr>
        <p:spPr>
          <a:xfrm xmlns:a="http://schemas.openxmlformats.org/drawingml/2006/main">
            <a:off x="762000" y="11906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6F6A64"/>
                </a:solidFill>
                <a:latin typeface="Pretendard"/>
                <a:ea typeface="Pretendard"/>
                <a:cs typeface="Pretendard"/>
              </a:defRPr>
            </a:pPr>
            <a:r>
              <a:rPr sz="1725" b="0">
                <a:solidFill>
                  <a:srgbClr val="6F6A64"/>
                </a:solidFill>
                <a:latin typeface="Pretendard"/>
                <a:ea typeface="Pretendard"/>
                <a:cs typeface="Pretendard"/>
              </a:rPr>
              <a:t>발표에서는 MVP의 핵심 요구사항 5개를 다룹니다.</a:t>
            </a:r>
          </a:p>
        </p:txBody>
      </p:sp>
      <p:graphicFrame>
        <p:nvGraphicFramePr>
          <p:cNvPr id="14" name=""/>
          <p:cNvGraphicFramePr/>
          <p:nvPr/>
        </p:nvGraphicFramePr>
        <p:xfrm>
          <a:off xmlns:a="http://schemas.openxmlformats.org/drawingml/2006/main" x="762000" y="1762125"/>
          <a:ext xmlns:a="http://schemas.openxmlformats.org/drawingml/2006/main" cx="13716000" cy="4953000"/>
        </p:xfrm>
        <a:graphic xmlns:a="http://schemas.openxmlformats.org/drawingml/2006/main">
          <a:graphicData uri="http://schemas.openxmlformats.org/drawingml/2006/table">
            <a:tbl>
              <a:tblPr/>
              <a:tblGrid>
                <a:gridCol w="2190750"/>
                <a:gridCol w="1524000"/>
                <a:gridCol w="5619750"/>
                <a:gridCol w="4381500"/>
              </a:tblGrid>
              <a:tr h="552450">
                <a:tc>
                  <a:txBody>
                    <a:bodyPr wrap="square" lIns="95250" tIns="85725" rIns="95250" bIns="85725">
                      <a:normAutofit/>
                    </a:bodyPr>
                    <a:lstStyle/>
                    <a:p>
                      <a:r>
                        <a:rPr sz="1500" b="1">
                          <a:solidFill>
                            <a:srgbClr val="191919"/>
                          </a:solidFill>
                          <a:latin typeface="Pretendard"/>
                          <a:ea typeface="Pretendard"/>
                          <a:cs typeface="Pretendard"/>
                        </a:rPr>
                        <a:t>요구사항 ID</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구분</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요약</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확인 기준</a:t>
                      </a:r>
                    </a:p>
                  </a:txBody>
                  <a:tcPr marL="91440" marR="91440" marT="45720" marB="45720" anchor="ctr">
                    <a:solidFill>
                      <a:srgbClr val="FFF1E8"/>
                    </a:solidFill>
                  </a:tcPr>
                </a:tc>
              </a:tr>
              <a:tr h="876300">
                <a:tc>
                  <a:txBody>
                    <a:bodyPr wrap="square" lIns="95250" tIns="85725" rIns="95250" bIns="85725">
                      <a:normAutofit/>
                    </a:bodyPr>
                    <a:lstStyle/>
                    <a:p>
                      <a:r>
                        <a:rPr sz="1350" b="1">
                          <a:solidFill>
                            <a:srgbClr val="F40036"/>
                          </a:solidFill>
                          <a:latin typeface="Pretendard"/>
                          <a:ea typeface="Pretendard"/>
                          <a:cs typeface="Pretendard"/>
                        </a:rPr>
                        <a:t>REQ-FUNC-001</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인증</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은행 초대 계정 활성화와 역할 기반 로그인</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기업·은행 역할에 맞는 화면으로 이동</a:t>
                      </a:r>
                    </a:p>
                  </a:txBody>
                  <a:tcPr marL="91440" marR="91440" marT="45720" marB="45720" anchor="ctr">
                    <a:solidFill>
                      <a:srgbClr val="FFFFFF"/>
                    </a:solidFill>
                  </a:tcPr>
                </a:tc>
              </a:tr>
              <a:tr h="876300">
                <a:tc>
                  <a:txBody>
                    <a:bodyPr wrap="square" lIns="95250" tIns="85725" rIns="95250" bIns="85725">
                      <a:normAutofit/>
                    </a:bodyPr>
                    <a:lstStyle/>
                    <a:p>
                      <a:r>
                        <a:rPr sz="1350" b="1">
                          <a:solidFill>
                            <a:srgbClr val="F40036"/>
                          </a:solidFill>
                          <a:latin typeface="Pretendard"/>
                          <a:ea typeface="Pretendard"/>
                          <a:cs typeface="Pretendard"/>
                        </a:rPr>
                        <a:t>REQ-FUNC-003</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업로드</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필수서류 3종 업로드와 OCR 처리 상태 관리</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실패 시 원본을 보존하고 분석 재시도</a:t>
                      </a:r>
                    </a:p>
                  </a:txBody>
                  <a:tcPr marL="91440" marR="91440" marT="45720" marB="45720" anchor="ctr">
                    <a:solidFill>
                      <a:srgbClr val="FCFAF7"/>
                    </a:solidFill>
                  </a:tcPr>
                </a:tc>
              </a:tr>
              <a:tr h="876300">
                <a:tc>
                  <a:txBody>
                    <a:bodyPr wrap="square" lIns="95250" tIns="85725" rIns="95250" bIns="85725">
                      <a:normAutofit/>
                    </a:bodyPr>
                    <a:lstStyle/>
                    <a:p>
                      <a:r>
                        <a:rPr sz="1350" b="1">
                          <a:solidFill>
                            <a:srgbClr val="F40036"/>
                          </a:solidFill>
                          <a:latin typeface="Pretendard"/>
                          <a:ea typeface="Pretendard"/>
                          <a:cs typeface="Pretendard"/>
                        </a:rPr>
                        <a:t>REQ-FUNC-004</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검증·제출</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누락·만료·기업정보 불일치를 검증한 뒤 제출</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미해결 오류가 있으면 422로 제출 차단</a:t>
                      </a:r>
                    </a:p>
                  </a:txBody>
                  <a:tcPr marL="91440" marR="91440" marT="45720" marB="45720" anchor="ctr">
                    <a:solidFill>
                      <a:srgbClr val="FFFFFF"/>
                    </a:solidFill>
                  </a:tcPr>
                </a:tc>
              </a:tr>
              <a:tr h="876300">
                <a:tc>
                  <a:txBody>
                    <a:bodyPr wrap="square" lIns="95250" tIns="85725" rIns="95250" bIns="85725">
                      <a:normAutofit/>
                    </a:bodyPr>
                    <a:lstStyle/>
                    <a:p>
                      <a:r>
                        <a:rPr sz="1350" b="1">
                          <a:solidFill>
                            <a:srgbClr val="F40036"/>
                          </a:solidFill>
                          <a:latin typeface="Pretendard"/>
                          <a:ea typeface="Pretendard"/>
                          <a:cs typeface="Pretendard"/>
                        </a:rPr>
                        <a:t>REQ-FUNC-006</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은행 검토</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최신 원본과 버전 이력을 확인하고 보완 요청</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처리 결과와 담당자 이력을 저장</a:t>
                      </a:r>
                    </a:p>
                  </a:txBody>
                  <a:tcPr marL="91440" marR="91440" marT="45720" marB="45720" anchor="ctr">
                    <a:solidFill>
                      <a:srgbClr val="FCFAF7"/>
                    </a:solidFill>
                  </a:tcPr>
                </a:tc>
              </a:tr>
              <a:tr h="876300">
                <a:tc>
                  <a:txBody>
                    <a:bodyPr wrap="square" lIns="95250" tIns="85725" rIns="95250" bIns="85725">
                      <a:normAutofit/>
                    </a:bodyPr>
                    <a:lstStyle/>
                    <a:p>
                      <a:r>
                        <a:rPr sz="1350" b="1">
                          <a:solidFill>
                            <a:srgbClr val="F40036"/>
                          </a:solidFill>
                          <a:latin typeface="Pretendard"/>
                          <a:ea typeface="Pretendard"/>
                          <a:cs typeface="Pretendard"/>
                        </a:rPr>
                        <a:t>REQ-NFN-002</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보안</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역할·소속 검증과 비밀번호·초대 토큰 보호</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타 기업 접근은 서버에서 403 처리</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1099CBE-B253-4BE7-837B-6D120CB23D82}"/>
              </a:ext>
            </a:extLst>
          </p:cNvPr>
          <p:cNvSpPr>
            <a:spLocks xmlns:a="http://schemas.openxmlformats.org/drawingml/2006/main" noGrp="1"/>
          </p:cNvSpPr>
          <p:nvPr/>
        </p:nvSpPr>
        <p:spPr>
          <a:xfrm xmlns:a="http://schemas.openxmlformats.org/drawingml/2006/main">
            <a:off x="762000" y="7191375"/>
            <a:ext cx="13716000" cy="742950"/>
          </a:xfrm>
          <a:prstGeom xmlns:a="http://schemas.openxmlformats.org/drawingml/2006/main" prst="roundRect">
            <a:avLst>
              <a:gd name="adj" fmla="val 15385"/>
            </a:avLst>
          </a:prstGeom>
          <a:solidFill xmlns:a="http://schemas.openxmlformats.org/drawingml/2006/main">
            <a:srgbClr val="FFF0F3"/>
          </a:solidFill>
          <a:ln xmlns:a="http://schemas.openxmlformats.org/drawingml/2006/main" w="9525">
            <a:solidFill>
              <a:srgbClr val="F40036"/>
            </a:solidFill>
          </a:ln>
        </p:spPr>
      </p:sp>
      <p:sp>
        <p:nvSpPr>
          <p:cNvPr id="8" name="">
            <a:extLst xmlns:a="http://schemas.openxmlformats.org/drawingml/2006/main">
              <a:ext uri="{FF2B5EF4-FFF2-40B4-BE49-F238E27FC236}">
                <a16:creationId xmlns:a16="http://schemas.microsoft.com/office/drawing/2014/main" id="{0DB40383-7995-4CC8-9751-D42DED8B439E}"/>
              </a:ext>
            </a:extLst>
          </p:cNvPr>
          <p:cNvSpPr>
            <a:spLocks xmlns:a="http://schemas.openxmlformats.org/drawingml/2006/main" noGrp="1"/>
          </p:cNvSpPr>
          <p:nvPr/>
        </p:nvSpPr>
        <p:spPr>
          <a:xfrm xmlns:a="http://schemas.openxmlformats.org/drawingml/2006/main">
            <a:off x="1047750" y="7334250"/>
            <a:ext cx="1314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F40036"/>
                </a:solidFill>
                <a:latin typeface="Pretendard"/>
                <a:ea typeface="Pretendard"/>
                <a:cs typeface="Pretendard"/>
              </a:defRPr>
            </a:pPr>
            <a:r>
              <a:rPr sz="1800" b="1">
                <a:solidFill>
                  <a:srgbClr val="F40036"/>
                </a:solidFill>
                <a:latin typeface="Pretendard"/>
                <a:ea typeface="Pretendard"/>
                <a:cs typeface="Pretendard"/>
              </a:rPr>
              <a:t>MVP 기준  필수 문서 3종  ·  검증 오류 6종  ·  화면 5개  ·  API 11개</a:t>
            </a:r>
          </a:p>
        </p:txBody>
      </p:sp>
    </p:spTree>
    <p:extLst>
      <p:ext uri="{BB962C8B-B14F-4D97-AF65-F5344CB8AC3E}">
        <p14:creationId xmlns:p14="http://schemas.microsoft.com/office/powerpoint/2010/main" val="840821001"/>
      </p:ext>
    </p:extLst>
  </p:cSld>
</p:sld>
</file>

<file path=ppt/slides/slide3.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28484BD-9510-426C-BDBB-26D0FC6105E3}"/>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586E6C-1A2A-4863-B809-79B77D419206}"/>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03</a:t>
            </a:r>
          </a:p>
        </p:txBody>
      </p:sp>
      <p:sp>
        <p:nvSpPr>
          <p:cNvPr id="3" name="">
            <a:extLst xmlns:a="http://schemas.openxmlformats.org/drawingml/2006/main">
              <a:ext uri="{FF2B5EF4-FFF2-40B4-BE49-F238E27FC236}">
                <a16:creationId xmlns:a16="http://schemas.microsoft.com/office/drawing/2014/main" id="{689F6487-7B7B-47A5-8712-73E582264CE3}"/>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핵심 화면 흐름</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b884df89210f4fd0"/>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F5B1998-A0B9-4E5C-AE2B-06D6CACCCE9E}"/>
              </a:ext>
            </a:extLst>
          </p:cNvPr>
          <p:cNvSpPr>
            <a:spLocks xmlns:a="http://schemas.openxmlformats.org/drawingml/2006/main" noGrp="1"/>
          </p:cNvSpPr>
          <p:nvPr/>
        </p:nvSpPr>
        <p:spPr>
          <a:xfrm xmlns:a="http://schemas.openxmlformats.org/drawingml/2006/main">
            <a:off x="762000" y="1190625"/>
            <a:ext cx="1200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6F6A64"/>
                </a:solidFill>
                <a:latin typeface="Pretendard"/>
                <a:ea typeface="Pretendard"/>
                <a:cs typeface="Pretendard"/>
              </a:defRPr>
            </a:pPr>
            <a:r>
              <a:rPr sz="1725" b="0">
                <a:solidFill>
                  <a:srgbClr val="6F6A64"/>
                </a:solidFill>
                <a:latin typeface="Pretendard"/>
                <a:ea typeface="Pretendard"/>
                <a:cs typeface="Pretendard"/>
              </a:rPr>
              <a:t>기업의 제출 전 점검부터 은행의 보완 요청까지 3개 화면으로 연결됩니다.</a:t>
            </a:r>
          </a:p>
        </p:txBody>
      </p:sp>
      <p:sp>
        <p:nvSpPr>
          <p:cNvPr id="6" name="">
            <a:extLst xmlns:a="http://schemas.openxmlformats.org/drawingml/2006/main">
              <a:ext uri="{FF2B5EF4-FFF2-40B4-BE49-F238E27FC236}">
                <a16:creationId xmlns:a16="http://schemas.microsoft.com/office/drawing/2014/main" id="{45561EA6-9A0C-4F42-B306-22A031E75B6A}"/>
              </a:ext>
            </a:extLst>
          </p:cNvPr>
          <p:cNvSpPr>
            <a:spLocks xmlns:a="http://schemas.openxmlformats.org/drawingml/2006/main" noGrp="1"/>
          </p:cNvSpPr>
          <p:nvPr/>
        </p:nvSpPr>
        <p:spPr>
          <a:xfrm xmlns:a="http://schemas.openxmlformats.org/drawingml/2006/main">
            <a:off x="762000" y="1809750"/>
            <a:ext cx="4095750" cy="4524375"/>
          </a:xfrm>
          <a:prstGeom xmlns:a="http://schemas.openxmlformats.org/drawingml/2006/main" prst="roundRect">
            <a:avLst>
              <a:gd name="adj" fmla="val 3256"/>
            </a:avLst>
          </a:prstGeom>
          <a:solidFill xmlns:a="http://schemas.openxmlformats.org/drawingml/2006/main">
            <a:srgbClr val="FFFFFF"/>
          </a:solidFill>
          <a:ln xmlns:a="http://schemas.openxmlformats.org/drawingml/2006/main" w="9525">
            <a:solidFill>
              <a:srgbClr val="E2DCD3"/>
            </a:solidFill>
          </a:ln>
        </p:spPr>
      </p:sp>
      <p:sp>
        <p:nvSpPr>
          <p:cNvPr id="7" name="">
            <a:extLst xmlns:a="http://schemas.openxmlformats.org/drawingml/2006/main">
              <a:ext uri="{FF2B5EF4-FFF2-40B4-BE49-F238E27FC236}">
                <a16:creationId xmlns:a16="http://schemas.microsoft.com/office/drawing/2014/main" id="{504ACAA6-E470-4B83-A57A-9E8B3CB6B1BB}"/>
              </a:ext>
            </a:extLst>
          </p:cNvPr>
          <p:cNvSpPr>
            <a:spLocks xmlns:a="http://schemas.openxmlformats.org/drawingml/2006/main" noGrp="1"/>
          </p:cNvSpPr>
          <p:nvPr/>
        </p:nvSpPr>
        <p:spPr>
          <a:xfrm xmlns:a="http://schemas.openxmlformats.org/drawingml/2006/main">
            <a:off x="952500" y="20002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F40036"/>
                </a:solidFill>
                <a:latin typeface="Pretendard"/>
                <a:ea typeface="Pretendard"/>
                <a:cs typeface="Pretendard"/>
              </a:defRPr>
            </a:pPr>
            <a:r>
              <a:rPr sz="1350" b="1">
                <a:solidFill>
                  <a:srgbClr val="F40036"/>
                </a:solidFill>
                <a:latin typeface="Pretendard"/>
                <a:ea typeface="Pretendard"/>
                <a:cs typeface="Pretendard"/>
              </a:rPr>
              <a:t>SCR-COMP-001</a:t>
            </a:r>
          </a:p>
        </p:txBody>
      </p:sp>
      <p:sp>
        <p:nvSpPr>
          <p:cNvPr id="8" name="">
            <a:extLst xmlns:a="http://schemas.openxmlformats.org/drawingml/2006/main">
              <a:ext uri="{FF2B5EF4-FFF2-40B4-BE49-F238E27FC236}">
                <a16:creationId xmlns:a16="http://schemas.microsoft.com/office/drawing/2014/main" id="{7614DA77-F536-47D8-B59B-23C188CC395B}"/>
              </a:ext>
            </a:extLst>
          </p:cNvPr>
          <p:cNvSpPr>
            <a:spLocks xmlns:a="http://schemas.openxmlformats.org/drawingml/2006/main" noGrp="1"/>
          </p:cNvSpPr>
          <p:nvPr/>
        </p:nvSpPr>
        <p:spPr>
          <a:xfrm xmlns:a="http://schemas.openxmlformats.org/drawingml/2006/main">
            <a:off x="952500" y="2324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서류 제출 현황·업로드</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5518540dba5d4c27"/>
          <a:stretch xmlns:a="http://schemas.openxmlformats.org/drawingml/2006/main"/>
        </p:blipFill>
        <p:spPr>
          <a:xfrm xmlns:a="http://schemas.openxmlformats.org/drawingml/2006/main">
            <a:off x="933450" y="3277474"/>
            <a:ext cx="3752850" cy="237950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C1B8F1B-218E-45EB-A030-5C117637009C}"/>
              </a:ext>
            </a:extLst>
          </p:cNvPr>
          <p:cNvSpPr>
            <a:spLocks xmlns:a="http://schemas.openxmlformats.org/drawingml/2006/main" noGrp="1"/>
          </p:cNvSpPr>
          <p:nvPr/>
        </p:nvSpPr>
        <p:spPr>
          <a:xfrm xmlns:a="http://schemas.openxmlformats.org/drawingml/2006/main">
            <a:off x="5286375" y="1809750"/>
            <a:ext cx="4095750" cy="4524375"/>
          </a:xfrm>
          <a:prstGeom xmlns:a="http://schemas.openxmlformats.org/drawingml/2006/main" prst="roundRect">
            <a:avLst>
              <a:gd name="adj" fmla="val 3256"/>
            </a:avLst>
          </a:prstGeom>
          <a:solidFill xmlns:a="http://schemas.openxmlformats.org/drawingml/2006/main">
            <a:srgbClr val="FFFFFF"/>
          </a:solidFill>
          <a:ln xmlns:a="http://schemas.openxmlformats.org/drawingml/2006/main" w="9525">
            <a:solidFill>
              <a:srgbClr val="E2DCD3"/>
            </a:solidFill>
          </a:ln>
        </p:spPr>
      </p:sp>
      <p:sp>
        <p:nvSpPr>
          <p:cNvPr id="11" name="">
            <a:extLst xmlns:a="http://schemas.openxmlformats.org/drawingml/2006/main">
              <a:ext uri="{FF2B5EF4-FFF2-40B4-BE49-F238E27FC236}">
                <a16:creationId xmlns:a16="http://schemas.microsoft.com/office/drawing/2014/main" id="{EBF144C4-AABB-4506-94FD-4E99E3AA489C}"/>
              </a:ext>
            </a:extLst>
          </p:cNvPr>
          <p:cNvSpPr>
            <a:spLocks xmlns:a="http://schemas.openxmlformats.org/drawingml/2006/main" noGrp="1"/>
          </p:cNvSpPr>
          <p:nvPr/>
        </p:nvSpPr>
        <p:spPr>
          <a:xfrm xmlns:a="http://schemas.openxmlformats.org/drawingml/2006/main">
            <a:off x="5476875" y="20002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F40036"/>
                </a:solidFill>
                <a:latin typeface="Pretendard"/>
                <a:ea typeface="Pretendard"/>
                <a:cs typeface="Pretendard"/>
              </a:defRPr>
            </a:pPr>
            <a:r>
              <a:rPr sz="1350" b="1">
                <a:solidFill>
                  <a:srgbClr val="F40036"/>
                </a:solidFill>
                <a:latin typeface="Pretendard"/>
                <a:ea typeface="Pretendard"/>
                <a:cs typeface="Pretendard"/>
              </a:rPr>
              <a:t>SCR-COMP-002</a:t>
            </a:r>
          </a:p>
        </p:txBody>
      </p:sp>
      <p:sp>
        <p:nvSpPr>
          <p:cNvPr id="12" name="">
            <a:extLst xmlns:a="http://schemas.openxmlformats.org/drawingml/2006/main">
              <a:ext uri="{FF2B5EF4-FFF2-40B4-BE49-F238E27FC236}">
                <a16:creationId xmlns:a16="http://schemas.microsoft.com/office/drawing/2014/main" id="{7A1730D9-C22D-4D27-8D0B-24F95AB3EAA7}"/>
              </a:ext>
            </a:extLst>
          </p:cNvPr>
          <p:cNvSpPr>
            <a:spLocks xmlns:a="http://schemas.openxmlformats.org/drawingml/2006/main" noGrp="1"/>
          </p:cNvSpPr>
          <p:nvPr/>
        </p:nvSpPr>
        <p:spPr>
          <a:xfrm xmlns:a="http://schemas.openxmlformats.org/drawingml/2006/main">
            <a:off x="5476875" y="2324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사전검증 결과·최종 제출</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dacbe3486db4b40"/>
          <a:stretch xmlns:a="http://schemas.openxmlformats.org/drawingml/2006/main"/>
        </p:blipFill>
        <p:spPr>
          <a:xfrm xmlns:a="http://schemas.openxmlformats.org/drawingml/2006/main">
            <a:off x="5457825" y="3065853"/>
            <a:ext cx="3752850" cy="280274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CBAB222-771D-464B-8E02-71AE80E29CC4}"/>
              </a:ext>
            </a:extLst>
          </p:cNvPr>
          <p:cNvSpPr>
            <a:spLocks xmlns:a="http://schemas.openxmlformats.org/drawingml/2006/main" noGrp="1"/>
          </p:cNvSpPr>
          <p:nvPr/>
        </p:nvSpPr>
        <p:spPr>
          <a:xfrm xmlns:a="http://schemas.openxmlformats.org/drawingml/2006/main">
            <a:off x="9810750" y="1809750"/>
            <a:ext cx="4095750" cy="4524375"/>
          </a:xfrm>
          <a:prstGeom xmlns:a="http://schemas.openxmlformats.org/drawingml/2006/main" prst="roundRect">
            <a:avLst>
              <a:gd name="adj" fmla="val 3256"/>
            </a:avLst>
          </a:prstGeom>
          <a:solidFill xmlns:a="http://schemas.openxmlformats.org/drawingml/2006/main">
            <a:srgbClr val="FFFFFF"/>
          </a:solidFill>
          <a:ln xmlns:a="http://schemas.openxmlformats.org/drawingml/2006/main" w="9525">
            <a:solidFill>
              <a:srgbClr val="E2DCD3"/>
            </a:solidFill>
          </a:ln>
        </p:spPr>
      </p:sp>
      <p:sp>
        <p:nvSpPr>
          <p:cNvPr id="15" name="">
            <a:extLst xmlns:a="http://schemas.openxmlformats.org/drawingml/2006/main">
              <a:ext uri="{FF2B5EF4-FFF2-40B4-BE49-F238E27FC236}">
                <a16:creationId xmlns:a16="http://schemas.microsoft.com/office/drawing/2014/main" id="{6EAD4979-F636-4AD5-8C32-0B0497BF3F05}"/>
              </a:ext>
            </a:extLst>
          </p:cNvPr>
          <p:cNvSpPr>
            <a:spLocks xmlns:a="http://schemas.openxmlformats.org/drawingml/2006/main" noGrp="1"/>
          </p:cNvSpPr>
          <p:nvPr/>
        </p:nvSpPr>
        <p:spPr>
          <a:xfrm xmlns:a="http://schemas.openxmlformats.org/drawingml/2006/main">
            <a:off x="10001250" y="20002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F40036"/>
                </a:solidFill>
                <a:latin typeface="Pretendard"/>
                <a:ea typeface="Pretendard"/>
                <a:cs typeface="Pretendard"/>
              </a:defRPr>
            </a:pPr>
            <a:r>
              <a:rPr sz="1350" b="1">
                <a:solidFill>
                  <a:srgbClr val="F40036"/>
                </a:solidFill>
                <a:latin typeface="Pretendard"/>
                <a:ea typeface="Pretendard"/>
                <a:cs typeface="Pretendard"/>
              </a:rPr>
              <a:t>SCR-REV-002</a:t>
            </a:r>
          </a:p>
        </p:txBody>
      </p:sp>
      <p:sp>
        <p:nvSpPr>
          <p:cNvPr id="16" name="">
            <a:extLst xmlns:a="http://schemas.openxmlformats.org/drawingml/2006/main">
              <a:ext uri="{FF2B5EF4-FFF2-40B4-BE49-F238E27FC236}">
                <a16:creationId xmlns:a16="http://schemas.microsoft.com/office/drawing/2014/main" id="{3B435BF1-A0BC-42DB-B4C2-91E491B8825B}"/>
              </a:ext>
            </a:extLst>
          </p:cNvPr>
          <p:cNvSpPr>
            <a:spLocks xmlns:a="http://schemas.openxmlformats.org/drawingml/2006/main" noGrp="1"/>
          </p:cNvSpPr>
          <p:nvPr/>
        </p:nvSpPr>
        <p:spPr>
          <a:xfrm xmlns:a="http://schemas.openxmlformats.org/drawingml/2006/main">
            <a:off x="10001250" y="2324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은행 상세 검토</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9481ba5a05044ae"/>
          <a:stretch xmlns:a="http://schemas.openxmlformats.org/drawingml/2006/main"/>
        </p:blipFill>
        <p:spPr>
          <a:xfrm xmlns:a="http://schemas.openxmlformats.org/drawingml/2006/main">
            <a:off x="9982200" y="3259433"/>
            <a:ext cx="3752850" cy="2415584"/>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E0330187-3339-4695-A046-265B2AF0FF2D}"/>
              </a:ext>
            </a:extLst>
          </p:cNvPr>
          <p:cNvSpPr>
            <a:spLocks xmlns:a="http://schemas.openxmlformats.org/drawingml/2006/main" noGrp="1"/>
          </p:cNvSpPr>
          <p:nvPr/>
        </p:nvSpPr>
        <p:spPr>
          <a:xfrm xmlns:a="http://schemas.openxmlformats.org/drawingml/2006/main">
            <a:off x="762000" y="6810375"/>
            <a:ext cx="13716000" cy="1047750"/>
          </a:xfrm>
          <a:prstGeom xmlns:a="http://schemas.openxmlformats.org/drawingml/2006/main" prst="roundRect">
            <a:avLst>
              <a:gd name="adj" fmla="val 10909"/>
            </a:avLst>
          </a:prstGeom>
          <a:solidFill xmlns:a="http://schemas.openxmlformats.org/drawingml/2006/main">
            <a:srgbClr val="F3EFE9"/>
          </a:solidFill>
          <a:ln xmlns:a="http://schemas.openxmlformats.org/drawingml/2006/main" w="9525">
            <a:solidFill>
              <a:srgbClr val="E2DCD3"/>
            </a:solidFill>
          </a:ln>
        </p:spPr>
      </p:sp>
      <p:sp>
        <p:nvSpPr>
          <p:cNvPr id="19" name="">
            <a:extLst xmlns:a="http://schemas.openxmlformats.org/drawingml/2006/main">
              <a:ext uri="{FF2B5EF4-FFF2-40B4-BE49-F238E27FC236}">
                <a16:creationId xmlns:a16="http://schemas.microsoft.com/office/drawing/2014/main" id="{E74BB538-B183-4535-95CE-1B045FB4E154}"/>
              </a:ext>
            </a:extLst>
          </p:cNvPr>
          <p:cNvSpPr>
            <a:spLocks xmlns:a="http://schemas.openxmlformats.org/drawingml/2006/main" noGrp="1"/>
          </p:cNvSpPr>
          <p:nvPr/>
        </p:nvSpPr>
        <p:spPr>
          <a:xfrm xmlns:a="http://schemas.openxmlformats.org/drawingml/2006/main">
            <a:off x="1143000" y="7086600"/>
            <a:ext cx="400050" cy="400050"/>
          </a:xfrm>
          <a:prstGeom xmlns:a="http://schemas.openxmlformats.org/drawingml/2006/main" prst="ellipse">
            <a:avLst/>
          </a:prstGeom>
          <a:solidFill xmlns:a="http://schemas.openxmlformats.org/drawingml/2006/main">
            <a:srgbClr val="F4003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AC5CE3B-14D0-4B9D-99C9-F24A71F9C898}"/>
              </a:ext>
            </a:extLst>
          </p:cNvPr>
          <p:cNvSpPr>
            <a:spLocks xmlns:a="http://schemas.openxmlformats.org/drawingml/2006/main" noGrp="1"/>
          </p:cNvSpPr>
          <p:nvPr/>
        </p:nvSpPr>
        <p:spPr>
          <a:xfrm xmlns:a="http://schemas.openxmlformats.org/drawingml/2006/main">
            <a:off x="1143000" y="70866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Pretendard"/>
                <a:ea typeface="Pretendard"/>
                <a:cs typeface="Pretendard"/>
              </a:defRPr>
            </a:pPr>
            <a:r>
              <a:rPr sz="1500" b="1">
                <a:solidFill>
                  <a:srgbClr val="FFFFFF"/>
                </a:solidFill>
                <a:latin typeface="Pretendard"/>
                <a:ea typeface="Pretendard"/>
                <a:cs typeface="Pretendard"/>
              </a:rPr>
              <a:t>1</a:t>
            </a:r>
          </a:p>
        </p:txBody>
      </p:sp>
      <p:sp>
        <p:nvSpPr>
          <p:cNvPr id="21" name="">
            <a:extLst xmlns:a="http://schemas.openxmlformats.org/drawingml/2006/main">
              <a:ext uri="{FF2B5EF4-FFF2-40B4-BE49-F238E27FC236}">
                <a16:creationId xmlns:a16="http://schemas.microsoft.com/office/drawing/2014/main" id="{54DE8271-3DB8-4156-96EF-BE4652DD339D}"/>
              </a:ext>
            </a:extLst>
          </p:cNvPr>
          <p:cNvSpPr>
            <a:spLocks xmlns:a="http://schemas.openxmlformats.org/drawingml/2006/main" noGrp="1"/>
          </p:cNvSpPr>
          <p:nvPr/>
        </p:nvSpPr>
        <p:spPr>
          <a:xfrm xmlns:a="http://schemas.openxmlformats.org/drawingml/2006/main">
            <a:off x="1676400" y="70294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업로드</a:t>
            </a:r>
          </a:p>
        </p:txBody>
      </p:sp>
      <p:sp>
        <p:nvSpPr>
          <p:cNvPr id="22" name="">
            <a:extLst xmlns:a="http://schemas.openxmlformats.org/drawingml/2006/main">
              <a:ext uri="{FF2B5EF4-FFF2-40B4-BE49-F238E27FC236}">
                <a16:creationId xmlns:a16="http://schemas.microsoft.com/office/drawing/2014/main" id="{206619C4-F97A-4279-A8B0-4069BB587565}"/>
              </a:ext>
            </a:extLst>
          </p:cNvPr>
          <p:cNvSpPr>
            <a:spLocks xmlns:a="http://schemas.openxmlformats.org/drawingml/2006/main" noGrp="1"/>
          </p:cNvSpPr>
          <p:nvPr/>
        </p:nvSpPr>
        <p:spPr>
          <a:xfrm xmlns:a="http://schemas.openxmlformats.org/drawingml/2006/main">
            <a:off x="3000375" y="702945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F6A64"/>
                </a:solidFill>
                <a:latin typeface="Pretendard"/>
                <a:ea typeface="Pretendard"/>
                <a:cs typeface="Pretendard"/>
              </a:defRPr>
            </a:pPr>
            <a:r>
              <a:rPr sz="1500" b="0">
                <a:solidFill>
                  <a:srgbClr val="6F6A64"/>
                </a:solidFill>
                <a:latin typeface="Pretendard"/>
                <a:ea typeface="Pretendard"/>
                <a:cs typeface="Pretendard"/>
              </a:rPr>
              <a:t>서류별 버전과 OCR 상태 확인</a:t>
            </a:r>
          </a:p>
        </p:txBody>
      </p:sp>
      <p:sp>
        <p:nvSpPr>
          <p:cNvPr id="23" name="">
            <a:extLst xmlns:a="http://schemas.openxmlformats.org/drawingml/2006/main">
              <a:ext uri="{FF2B5EF4-FFF2-40B4-BE49-F238E27FC236}">
                <a16:creationId xmlns:a16="http://schemas.microsoft.com/office/drawing/2014/main" id="{74B22297-B2B6-4990-A2CE-2E4B66BA463D}"/>
              </a:ext>
            </a:extLst>
          </p:cNvPr>
          <p:cNvSpPr>
            <a:spLocks xmlns:a="http://schemas.openxmlformats.org/drawingml/2006/main" noGrp="1"/>
          </p:cNvSpPr>
          <p:nvPr/>
        </p:nvSpPr>
        <p:spPr>
          <a:xfrm xmlns:a="http://schemas.openxmlformats.org/drawingml/2006/main">
            <a:off x="6191250" y="7086600"/>
            <a:ext cx="400050" cy="400050"/>
          </a:xfrm>
          <a:prstGeom xmlns:a="http://schemas.openxmlformats.org/drawingml/2006/main" prst="ellipse">
            <a:avLst/>
          </a:prstGeom>
          <a:solidFill xmlns:a="http://schemas.openxmlformats.org/drawingml/2006/main">
            <a:srgbClr val="FF782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F5D8FF0-66E9-4D9A-BCD4-C30E1BCD2B0B}"/>
              </a:ext>
            </a:extLst>
          </p:cNvPr>
          <p:cNvSpPr>
            <a:spLocks xmlns:a="http://schemas.openxmlformats.org/drawingml/2006/main" noGrp="1"/>
          </p:cNvSpPr>
          <p:nvPr/>
        </p:nvSpPr>
        <p:spPr>
          <a:xfrm xmlns:a="http://schemas.openxmlformats.org/drawingml/2006/main">
            <a:off x="6191250" y="70866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Pretendard"/>
                <a:ea typeface="Pretendard"/>
                <a:cs typeface="Pretendard"/>
              </a:defRPr>
            </a:pPr>
            <a:r>
              <a:rPr sz="1500" b="1">
                <a:solidFill>
                  <a:srgbClr val="FFFFFF"/>
                </a:solidFill>
                <a:latin typeface="Pretendard"/>
                <a:ea typeface="Pretendard"/>
                <a:cs typeface="Pretendard"/>
              </a:rPr>
              <a:t>2</a:t>
            </a:r>
          </a:p>
        </p:txBody>
      </p:sp>
      <p:sp>
        <p:nvSpPr>
          <p:cNvPr id="25" name="">
            <a:extLst xmlns:a="http://schemas.openxmlformats.org/drawingml/2006/main">
              <a:ext uri="{FF2B5EF4-FFF2-40B4-BE49-F238E27FC236}">
                <a16:creationId xmlns:a16="http://schemas.microsoft.com/office/drawing/2014/main" id="{80505231-8ECA-4913-A482-2BE22949087A}"/>
              </a:ext>
            </a:extLst>
          </p:cNvPr>
          <p:cNvSpPr>
            <a:spLocks xmlns:a="http://schemas.openxmlformats.org/drawingml/2006/main" noGrp="1"/>
          </p:cNvSpPr>
          <p:nvPr/>
        </p:nvSpPr>
        <p:spPr>
          <a:xfrm xmlns:a="http://schemas.openxmlformats.org/drawingml/2006/main">
            <a:off x="6724650" y="70294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사전검증</a:t>
            </a:r>
          </a:p>
        </p:txBody>
      </p:sp>
      <p:sp>
        <p:nvSpPr>
          <p:cNvPr id="26" name="">
            <a:extLst xmlns:a="http://schemas.openxmlformats.org/drawingml/2006/main">
              <a:ext uri="{FF2B5EF4-FFF2-40B4-BE49-F238E27FC236}">
                <a16:creationId xmlns:a16="http://schemas.microsoft.com/office/drawing/2014/main" id="{09283933-44FC-4C7A-B582-23B26C7AEE0A}"/>
              </a:ext>
            </a:extLst>
          </p:cNvPr>
          <p:cNvSpPr>
            <a:spLocks xmlns:a="http://schemas.openxmlformats.org/drawingml/2006/main" noGrp="1"/>
          </p:cNvSpPr>
          <p:nvPr/>
        </p:nvSpPr>
        <p:spPr>
          <a:xfrm xmlns:a="http://schemas.openxmlformats.org/drawingml/2006/main">
            <a:off x="7953375" y="70294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F6A64"/>
                </a:solidFill>
                <a:latin typeface="Pretendard"/>
                <a:ea typeface="Pretendard"/>
                <a:cs typeface="Pretendard"/>
              </a:defRPr>
            </a:pPr>
            <a:r>
              <a:rPr sz="1500" b="0">
                <a:solidFill>
                  <a:srgbClr val="6F6A64"/>
                </a:solidFill>
                <a:latin typeface="Pretendard"/>
                <a:ea typeface="Pretendard"/>
                <a:cs typeface="Pretendard"/>
              </a:rPr>
              <a:t>오류 해결 후 최종 제출</a:t>
            </a:r>
          </a:p>
        </p:txBody>
      </p:sp>
      <p:sp>
        <p:nvSpPr>
          <p:cNvPr id="27" name="">
            <a:extLst xmlns:a="http://schemas.openxmlformats.org/drawingml/2006/main">
              <a:ext uri="{FF2B5EF4-FFF2-40B4-BE49-F238E27FC236}">
                <a16:creationId xmlns:a16="http://schemas.microsoft.com/office/drawing/2014/main" id="{1C1D7068-EBEC-4663-9307-D304D10F422E}"/>
              </a:ext>
            </a:extLst>
          </p:cNvPr>
          <p:cNvSpPr>
            <a:spLocks xmlns:a="http://schemas.openxmlformats.org/drawingml/2006/main" noGrp="1"/>
          </p:cNvSpPr>
          <p:nvPr/>
        </p:nvSpPr>
        <p:spPr>
          <a:xfrm xmlns:a="http://schemas.openxmlformats.org/drawingml/2006/main">
            <a:off x="10620375" y="7086600"/>
            <a:ext cx="400050" cy="40005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0E43C94-8525-4ED2-9BBF-439270315742}"/>
              </a:ext>
            </a:extLst>
          </p:cNvPr>
          <p:cNvSpPr>
            <a:spLocks xmlns:a="http://schemas.openxmlformats.org/drawingml/2006/main" noGrp="1"/>
          </p:cNvSpPr>
          <p:nvPr/>
        </p:nvSpPr>
        <p:spPr>
          <a:xfrm xmlns:a="http://schemas.openxmlformats.org/drawingml/2006/main">
            <a:off x="10620375" y="70866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91919"/>
                </a:solidFill>
                <a:latin typeface="Pretendard"/>
                <a:ea typeface="Pretendard"/>
                <a:cs typeface="Pretendard"/>
              </a:defRPr>
            </a:pPr>
            <a:r>
              <a:rPr sz="1500" b="1">
                <a:solidFill>
                  <a:srgbClr val="191919"/>
                </a:solidFill>
                <a:latin typeface="Pretendard"/>
                <a:ea typeface="Pretendard"/>
                <a:cs typeface="Pretendard"/>
              </a:rPr>
              <a:t>3</a:t>
            </a:r>
          </a:p>
        </p:txBody>
      </p:sp>
      <p:sp>
        <p:nvSpPr>
          <p:cNvPr id="29" name="">
            <a:extLst xmlns:a="http://schemas.openxmlformats.org/drawingml/2006/main">
              <a:ext uri="{FF2B5EF4-FFF2-40B4-BE49-F238E27FC236}">
                <a16:creationId xmlns:a16="http://schemas.microsoft.com/office/drawing/2014/main" id="{F62CE213-FCC1-4D80-B285-F12C0648AB89}"/>
              </a:ext>
            </a:extLst>
          </p:cNvPr>
          <p:cNvSpPr>
            <a:spLocks xmlns:a="http://schemas.openxmlformats.org/drawingml/2006/main" noGrp="1"/>
          </p:cNvSpPr>
          <p:nvPr/>
        </p:nvSpPr>
        <p:spPr>
          <a:xfrm xmlns:a="http://schemas.openxmlformats.org/drawingml/2006/main">
            <a:off x="11163300" y="70294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은행 검토</a:t>
            </a:r>
          </a:p>
        </p:txBody>
      </p:sp>
      <p:sp>
        <p:nvSpPr>
          <p:cNvPr id="30" name="">
            <a:extLst xmlns:a="http://schemas.openxmlformats.org/drawingml/2006/main">
              <a:ext uri="{FF2B5EF4-FFF2-40B4-BE49-F238E27FC236}">
                <a16:creationId xmlns:a16="http://schemas.microsoft.com/office/drawing/2014/main" id="{3DF9CBF6-CFCF-4F07-A588-53173551F1D0}"/>
              </a:ext>
            </a:extLst>
          </p:cNvPr>
          <p:cNvSpPr>
            <a:spLocks xmlns:a="http://schemas.openxmlformats.org/drawingml/2006/main" noGrp="1"/>
          </p:cNvSpPr>
          <p:nvPr/>
        </p:nvSpPr>
        <p:spPr>
          <a:xfrm xmlns:a="http://schemas.openxmlformats.org/drawingml/2006/main">
            <a:off x="12525375" y="7029450"/>
            <a:ext cx="166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6F6A64"/>
                </a:solidFill>
                <a:latin typeface="Pretendard"/>
                <a:ea typeface="Pretendard"/>
                <a:cs typeface="Pretendard"/>
              </a:defRPr>
            </a:pPr>
            <a:r>
              <a:rPr sz="1425" b="0">
                <a:solidFill>
                  <a:srgbClr val="6F6A64"/>
                </a:solidFill>
                <a:latin typeface="Pretendard"/>
                <a:ea typeface="Pretendard"/>
                <a:cs typeface="Pretendard"/>
              </a:rPr>
              <a:t>확인 완료 또는 보완 요청</a:t>
            </a:r>
          </a:p>
        </p:txBody>
      </p:sp>
    </p:spTree>
    <p:extLst>
      <p:ext uri="{BB962C8B-B14F-4D97-AF65-F5344CB8AC3E}">
        <p14:creationId xmlns:p14="http://schemas.microsoft.com/office/powerpoint/2010/main" val="1430243121"/>
      </p:ext>
    </p:extLst>
  </p:cSld>
</p:sld>
</file>

<file path=ppt/slides/slide4.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CA9842A-1FC7-40A3-9A0E-073DF6311BF9}"/>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482341-F0C4-4ACD-9CE3-8C36E72BDB20}"/>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04</a:t>
            </a:r>
          </a:p>
        </p:txBody>
      </p:sp>
      <p:sp>
        <p:nvSpPr>
          <p:cNvPr id="3" name="">
            <a:extLst xmlns:a="http://schemas.openxmlformats.org/drawingml/2006/main">
              <a:ext uri="{FF2B5EF4-FFF2-40B4-BE49-F238E27FC236}">
                <a16:creationId xmlns:a16="http://schemas.microsoft.com/office/drawing/2014/main" id="{C9D2D182-9C1C-4F49-9BE5-42B10598ED2E}"/>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데이터 모델</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da27e5efed844c0"/>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AD72B18-7FD0-49AB-886D-411488CCB86D}"/>
              </a:ext>
            </a:extLst>
          </p:cNvPr>
          <p:cNvSpPr>
            <a:spLocks xmlns:a="http://schemas.openxmlformats.org/drawingml/2006/main" noGrp="1"/>
          </p:cNvSpPr>
          <p:nvPr/>
        </p:nvSpPr>
        <p:spPr>
          <a:xfrm xmlns:a="http://schemas.openxmlformats.org/drawingml/2006/main">
            <a:off x="762000" y="11906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6F6A64"/>
                </a:solidFill>
                <a:latin typeface="Pretendard"/>
                <a:ea typeface="Pretendard"/>
                <a:cs typeface="Pretendard"/>
              </a:defRPr>
            </a:pPr>
            <a:r>
              <a:rPr sz="1725" b="0">
                <a:solidFill>
                  <a:srgbClr val="6F6A64"/>
                </a:solidFill>
                <a:latin typeface="Pretendard"/>
                <a:ea typeface="Pretendard"/>
                <a:cs typeface="Pretendard"/>
              </a:rPr>
              <a:t>8개 테이블과 12개 외래키로 제출·검증·보완 이력을 연결했습니다.</a:t>
            </a:r>
          </a:p>
        </p:txBody>
      </p:sp>
      <p:sp>
        <p:nvSpPr>
          <p:cNvPr id="6" name="">
            <a:extLst xmlns:a="http://schemas.openxmlformats.org/drawingml/2006/main">
              <a:ext uri="{FF2B5EF4-FFF2-40B4-BE49-F238E27FC236}">
                <a16:creationId xmlns:a16="http://schemas.microsoft.com/office/drawing/2014/main" id="{CDFFC3F7-9372-4F6A-9E6D-DF73A8327E46}"/>
              </a:ext>
            </a:extLst>
          </p:cNvPr>
          <p:cNvSpPr>
            <a:spLocks xmlns:a="http://schemas.openxmlformats.org/drawingml/2006/main" noGrp="1"/>
          </p:cNvSpPr>
          <p:nvPr/>
        </p:nvSpPr>
        <p:spPr>
          <a:xfrm xmlns:a="http://schemas.openxmlformats.org/drawingml/2006/main">
            <a:off x="762000" y="1809750"/>
            <a:ext cx="3810000" cy="5715000"/>
          </a:xfrm>
          <a:prstGeom xmlns:a="http://schemas.openxmlformats.org/drawingml/2006/main" prst="roundRect">
            <a:avLst>
              <a:gd name="adj" fmla="val 3500"/>
            </a:avLst>
          </a:prstGeom>
          <a:solidFill xmlns:a="http://schemas.openxmlformats.org/drawingml/2006/main">
            <a:srgbClr val="FFFFFF"/>
          </a:solidFill>
          <a:ln xmlns:a="http://schemas.openxmlformats.org/drawingml/2006/main" w="9525">
            <a:solidFill>
              <a:srgbClr val="E2DCD3"/>
            </a:solidFill>
          </a:ln>
        </p:spPr>
      </p:sp>
      <p:sp>
        <p:nvSpPr>
          <p:cNvPr id="7" name="">
            <a:extLst xmlns:a="http://schemas.openxmlformats.org/drawingml/2006/main">
              <a:ext uri="{FF2B5EF4-FFF2-40B4-BE49-F238E27FC236}">
                <a16:creationId xmlns:a16="http://schemas.microsoft.com/office/drawing/2014/main" id="{5DF34BD7-8449-4A2A-B58F-B668544080A6}"/>
              </a:ext>
            </a:extLst>
          </p:cNvPr>
          <p:cNvSpPr>
            <a:spLocks xmlns:a="http://schemas.openxmlformats.org/drawingml/2006/main" noGrp="1"/>
          </p:cNvSpPr>
          <p:nvPr/>
        </p:nvSpPr>
        <p:spPr>
          <a:xfrm xmlns:a="http://schemas.openxmlformats.org/drawingml/2006/main">
            <a:off x="1095375" y="2133600"/>
            <a:ext cx="66675" cy="285750"/>
          </a:xfrm>
          <a:prstGeom xmlns:a="http://schemas.openxmlformats.org/drawingml/2006/main" prst="rect">
            <a:avLst/>
          </a:prstGeom>
          <a:solidFill xmlns:a="http://schemas.openxmlformats.org/drawingml/2006/main">
            <a:srgbClr val="FF782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4ED9419-FB71-469E-83C3-8A1854F7B031}"/>
              </a:ext>
            </a:extLst>
          </p:cNvPr>
          <p:cNvSpPr>
            <a:spLocks xmlns:a="http://schemas.openxmlformats.org/drawingml/2006/main" noGrp="1"/>
          </p:cNvSpPr>
          <p:nvPr/>
        </p:nvSpPr>
        <p:spPr>
          <a:xfrm xmlns:a="http://schemas.openxmlformats.org/drawingml/2006/main">
            <a:off x="1266825" y="209550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F7823"/>
                </a:solidFill>
                <a:latin typeface="Pretendard"/>
                <a:ea typeface="Pretendard"/>
                <a:cs typeface="Pretendard"/>
              </a:defRPr>
            </a:pPr>
            <a:r>
              <a:rPr sz="1800" b="1">
                <a:solidFill>
                  <a:srgbClr val="FF7823"/>
                </a:solidFill>
                <a:latin typeface="Pretendard"/>
                <a:ea typeface="Pretendard"/>
                <a:cs typeface="Pretendard"/>
              </a:rPr>
              <a:t>PK / FK 설계</a:t>
            </a:r>
          </a:p>
        </p:txBody>
      </p:sp>
      <p:sp>
        <p:nvSpPr>
          <p:cNvPr id="9" name="">
            <a:extLst xmlns:a="http://schemas.openxmlformats.org/drawingml/2006/main">
              <a:ext uri="{FF2B5EF4-FFF2-40B4-BE49-F238E27FC236}">
                <a16:creationId xmlns:a16="http://schemas.microsoft.com/office/drawing/2014/main" id="{0DD16393-034B-466C-A3B2-5EB0A740A3F2}"/>
              </a:ext>
            </a:extLst>
          </p:cNvPr>
          <p:cNvSpPr>
            <a:spLocks xmlns:a="http://schemas.openxmlformats.org/drawingml/2006/main" noGrp="1"/>
          </p:cNvSpPr>
          <p:nvPr/>
        </p:nvSpPr>
        <p:spPr>
          <a:xfrm xmlns:a="http://schemas.openxmlformats.org/drawingml/2006/main">
            <a:off x="1143000" y="268605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40036"/>
                </a:solidFill>
                <a:latin typeface="Pretendard"/>
                <a:ea typeface="Pretendard"/>
                <a:cs typeface="Pretendard"/>
              </a:defRPr>
            </a:pPr>
            <a:r>
              <a:rPr sz="1800" b="1">
                <a:solidFill>
                  <a:srgbClr val="F40036"/>
                </a:solidFill>
                <a:latin typeface="Pretendard"/>
                <a:ea typeface="Pretendard"/>
                <a:cs typeface="Pretendard"/>
              </a:rPr>
              <a:t>PK</a:t>
            </a:r>
          </a:p>
        </p:txBody>
      </p:sp>
      <p:sp>
        <p:nvSpPr>
          <p:cNvPr id="10" name="">
            <a:extLst xmlns:a="http://schemas.openxmlformats.org/drawingml/2006/main">
              <a:ext uri="{FF2B5EF4-FFF2-40B4-BE49-F238E27FC236}">
                <a16:creationId xmlns:a16="http://schemas.microsoft.com/office/drawing/2014/main" id="{BB72CB14-776E-43E5-9C7C-7441B7AB1E55}"/>
              </a:ext>
            </a:extLst>
          </p:cNvPr>
          <p:cNvSpPr>
            <a:spLocks xmlns:a="http://schemas.openxmlformats.org/drawingml/2006/main" noGrp="1"/>
          </p:cNvSpPr>
          <p:nvPr/>
        </p:nvSpPr>
        <p:spPr>
          <a:xfrm xmlns:a="http://schemas.openxmlformats.org/drawingml/2006/main">
            <a:off x="1952625" y="26860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모든 테이블의 id</a:t>
            </a:r>
          </a:p>
        </p:txBody>
      </p:sp>
      <p:sp>
        <p:nvSpPr>
          <p:cNvPr id="11" name="">
            <a:extLst xmlns:a="http://schemas.openxmlformats.org/drawingml/2006/main">
              <a:ext uri="{FF2B5EF4-FFF2-40B4-BE49-F238E27FC236}">
                <a16:creationId xmlns:a16="http://schemas.microsoft.com/office/drawing/2014/main" id="{65EAB3DF-CE48-4C4F-AB8B-14DC4AEEBE89}"/>
              </a:ext>
            </a:extLst>
          </p:cNvPr>
          <p:cNvSpPr>
            <a:spLocks xmlns:a="http://schemas.openxmlformats.org/drawingml/2006/main" noGrp="1"/>
          </p:cNvSpPr>
          <p:nvPr/>
        </p:nvSpPr>
        <p:spPr>
          <a:xfrm xmlns:a="http://schemas.openxmlformats.org/drawingml/2006/main">
            <a:off x="1143000" y="333375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40036"/>
                </a:solidFill>
                <a:latin typeface="Pretendard"/>
                <a:ea typeface="Pretendard"/>
                <a:cs typeface="Pretendard"/>
              </a:defRPr>
            </a:pPr>
            <a:r>
              <a:rPr sz="1800" b="1">
                <a:solidFill>
                  <a:srgbClr val="F40036"/>
                </a:solidFill>
                <a:latin typeface="Pretendard"/>
                <a:ea typeface="Pretendard"/>
                <a:cs typeface="Pretendard"/>
              </a:rPr>
              <a:t>FK</a:t>
            </a:r>
          </a:p>
        </p:txBody>
      </p:sp>
      <p:sp>
        <p:nvSpPr>
          <p:cNvPr id="12" name="">
            <a:extLst xmlns:a="http://schemas.openxmlformats.org/drawingml/2006/main">
              <a:ext uri="{FF2B5EF4-FFF2-40B4-BE49-F238E27FC236}">
                <a16:creationId xmlns:a16="http://schemas.microsoft.com/office/drawing/2014/main" id="{F746E75C-ABE3-4975-A9EF-70127B8AA2A9}"/>
              </a:ext>
            </a:extLst>
          </p:cNvPr>
          <p:cNvSpPr>
            <a:spLocks xmlns:a="http://schemas.openxmlformats.org/drawingml/2006/main" noGrp="1"/>
          </p:cNvSpPr>
          <p:nvPr/>
        </p:nvSpPr>
        <p:spPr>
          <a:xfrm xmlns:a="http://schemas.openxmlformats.org/drawingml/2006/main">
            <a:off x="1952625" y="3276600"/>
            <a:ext cx="2190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2052"/>
          </a:bodyPr>
          <a:lstStyle xmlns:a="http://schemas.openxmlformats.org/drawingml/2006/main"/>
          <a:p xmlns:a="http://schemas.openxmlformats.org/drawingml/2006/main">
            <a:pPr algn="l">
              <a:defRPr sz="1500" b="0">
                <a:solidFill>
                  <a:srgbClr val="191919"/>
                </a:solidFill>
                <a:latin typeface="Pretendard"/>
                <a:ea typeface="Pretendard"/>
                <a:cs typeface="Pretendard"/>
              </a:defRPr>
            </a:pPr>
            <a:r>
              <a:rPr sz="1500" b="0">
                <a:solidFill>
                  <a:srgbClr val="191919"/>
                </a:solidFill>
                <a:latin typeface="Pretendard"/>
                <a:ea typeface="Pretendard"/>
                <a:cs typeface="Pretendard"/>
              </a:rPr>
              <a:t>company_id · application_id</a:t>
            </a:r>
          </a:p>
          <a:p xmlns:a="http://schemas.openxmlformats.org/drawingml/2006/main">
            <a:pPr algn="l">
              <a:defRPr sz="1500" b="0">
                <a:solidFill>
                  <a:srgbClr val="191919"/>
                </a:solidFill>
                <a:latin typeface="Pretendard"/>
                <a:ea typeface="Pretendard"/>
                <a:cs typeface="Pretendard"/>
              </a:defRPr>
            </a:pPr>
            <a:r>
              <a:rPr sz="1500" b="0">
                <a:solidFill>
                  <a:srgbClr val="191919"/>
                </a:solidFill>
                <a:latin typeface="Pretendard"/>
                <a:ea typeface="Pretendard"/>
                <a:cs typeface="Pretendard"/>
              </a:rPr>
              <a:t>document_id · reviewer_id · uploaded_by</a:t>
            </a:r>
          </a:p>
        </p:txBody>
      </p:sp>
      <p:sp>
        <p:nvSpPr>
          <p:cNvPr id="13" name="">
            <a:extLst xmlns:a="http://schemas.openxmlformats.org/drawingml/2006/main">
              <a:ext uri="{FF2B5EF4-FFF2-40B4-BE49-F238E27FC236}">
                <a16:creationId xmlns:a16="http://schemas.microsoft.com/office/drawing/2014/main" id="{5D98F96C-D9B1-4D78-A1F9-8FC206095255}"/>
              </a:ext>
            </a:extLst>
          </p:cNvPr>
          <p:cNvSpPr>
            <a:spLocks xmlns:a="http://schemas.openxmlformats.org/drawingml/2006/main" noGrp="1"/>
          </p:cNvSpPr>
          <p:nvPr/>
        </p:nvSpPr>
        <p:spPr>
          <a:xfrm xmlns:a="http://schemas.openxmlformats.org/drawingml/2006/main">
            <a:off x="1095375" y="4333875"/>
            <a:ext cx="3143250" cy="9525"/>
          </a:xfrm>
          <a:prstGeom xmlns:a="http://schemas.openxmlformats.org/drawingml/2006/main" prst="rect">
            <a:avLst/>
          </a:prstGeom>
          <a:solidFill xmlns:a="http://schemas.openxmlformats.org/drawingml/2006/main">
            <a:srgbClr val="E2DC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0D6EF14-F164-4F02-8A44-C2CF0B6578B5}"/>
              </a:ext>
            </a:extLst>
          </p:cNvPr>
          <p:cNvSpPr>
            <a:spLocks xmlns:a="http://schemas.openxmlformats.org/drawingml/2006/main" noGrp="1"/>
          </p:cNvSpPr>
          <p:nvPr/>
        </p:nvSpPr>
        <p:spPr>
          <a:xfrm xmlns:a="http://schemas.openxmlformats.org/drawingml/2006/main">
            <a:off x="1143000" y="45720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FF7823"/>
                </a:solidFill>
                <a:latin typeface="Pretendard"/>
                <a:ea typeface="Pretendard"/>
                <a:cs typeface="Pretendard"/>
              </a:defRPr>
            </a:pPr>
            <a:r>
              <a:rPr sz="1575" b="1">
                <a:solidFill>
                  <a:srgbClr val="FF7823"/>
                </a:solidFill>
                <a:latin typeface="Pretendard"/>
                <a:ea typeface="Pretendard"/>
                <a:cs typeface="Pretendard"/>
              </a:rPr>
              <a:t>교차검증 기준</a:t>
            </a:r>
          </a:p>
        </p:txBody>
      </p:sp>
      <p:sp>
        <p:nvSpPr>
          <p:cNvPr id="15" name="">
            <a:extLst xmlns:a="http://schemas.openxmlformats.org/drawingml/2006/main">
              <a:ext uri="{FF2B5EF4-FFF2-40B4-BE49-F238E27FC236}">
                <a16:creationId xmlns:a16="http://schemas.microsoft.com/office/drawing/2014/main" id="{D1520E44-32E4-4907-8657-3408091A0BD4}"/>
              </a:ext>
            </a:extLst>
          </p:cNvPr>
          <p:cNvSpPr>
            <a:spLocks xmlns:a="http://schemas.openxmlformats.org/drawingml/2006/main" noGrp="1"/>
          </p:cNvSpPr>
          <p:nvPr/>
        </p:nvSpPr>
        <p:spPr>
          <a:xfrm xmlns:a="http://schemas.openxmlformats.org/drawingml/2006/main">
            <a:off x="1143000" y="495300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91919"/>
                </a:solidFill>
                <a:latin typeface="Pretendard"/>
                <a:ea typeface="Pretendard"/>
                <a:cs typeface="Pretendard"/>
              </a:defRPr>
            </a:pPr>
            <a:r>
              <a:rPr sz="1575" b="0">
                <a:solidFill>
                  <a:srgbClr val="191919"/>
                </a:solidFill>
                <a:latin typeface="Pretendard"/>
                <a:ea typeface="Pretendard"/>
                <a:cs typeface="Pretendard"/>
              </a:rPr>
              <a:t>companies에 기업명과 사업자등록번호를 분리해 기준값을 한 곳에서 관리</a:t>
            </a:r>
          </a:p>
        </p:txBody>
      </p:sp>
      <p:sp>
        <p:nvSpPr>
          <p:cNvPr id="16" name="">
            <a:extLst xmlns:a="http://schemas.openxmlformats.org/drawingml/2006/main">
              <a:ext uri="{FF2B5EF4-FFF2-40B4-BE49-F238E27FC236}">
                <a16:creationId xmlns:a16="http://schemas.microsoft.com/office/drawing/2014/main" id="{1A672FE1-D63F-4CDE-97D4-54401BCD306D}"/>
              </a:ext>
            </a:extLst>
          </p:cNvPr>
          <p:cNvSpPr>
            <a:spLocks xmlns:a="http://schemas.openxmlformats.org/drawingml/2006/main" noGrp="1"/>
          </p:cNvSpPr>
          <p:nvPr/>
        </p:nvSpPr>
        <p:spPr>
          <a:xfrm xmlns:a="http://schemas.openxmlformats.org/drawingml/2006/main">
            <a:off x="1143000" y="59531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FF7823"/>
                </a:solidFill>
                <a:latin typeface="Pretendard"/>
                <a:ea typeface="Pretendard"/>
                <a:cs typeface="Pretendard"/>
              </a:defRPr>
            </a:pPr>
            <a:r>
              <a:rPr sz="1575" b="1">
                <a:solidFill>
                  <a:srgbClr val="FF7823"/>
                </a:solidFill>
                <a:latin typeface="Pretendard"/>
                <a:ea typeface="Pretendard"/>
                <a:cs typeface="Pretendard"/>
              </a:rPr>
              <a:t>버전·이력</a:t>
            </a:r>
          </a:p>
        </p:txBody>
      </p:sp>
      <p:sp>
        <p:nvSpPr>
          <p:cNvPr id="17" name="">
            <a:extLst xmlns:a="http://schemas.openxmlformats.org/drawingml/2006/main">
              <a:ext uri="{FF2B5EF4-FFF2-40B4-BE49-F238E27FC236}">
                <a16:creationId xmlns:a16="http://schemas.microsoft.com/office/drawing/2014/main" id="{205B64AA-F3D0-4B8D-BEA6-13F00D56430C}"/>
              </a:ext>
            </a:extLst>
          </p:cNvPr>
          <p:cNvSpPr>
            <a:spLocks xmlns:a="http://schemas.openxmlformats.org/drawingml/2006/main" noGrp="1"/>
          </p:cNvSpPr>
          <p:nvPr/>
        </p:nvSpPr>
        <p:spPr>
          <a:xfrm xmlns:a="http://schemas.openxmlformats.org/drawingml/2006/main">
            <a:off x="1143000" y="6343650"/>
            <a:ext cx="304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91919"/>
                </a:solidFill>
                <a:latin typeface="Pretendard"/>
                <a:ea typeface="Pretendard"/>
                <a:cs typeface="Pretendard"/>
              </a:defRPr>
            </a:pPr>
            <a:r>
              <a:rPr sz="1575" b="0">
                <a:solidFill>
                  <a:srgbClr val="191919"/>
                </a:solidFill>
                <a:latin typeface="Pretendard"/>
                <a:ea typeface="Pretendard"/>
                <a:cs typeface="Pretendard"/>
              </a:rPr>
              <a:t>submitted_documents.version_no와 reviews로 이전본·최신본·검토 결과를 보존</a:t>
            </a:r>
          </a:p>
        </p:txBody>
      </p:sp>
      <p:sp>
        <p:nvSpPr>
          <p:cNvPr id="18" name="">
            <a:extLst xmlns:a="http://schemas.openxmlformats.org/drawingml/2006/main">
              <a:ext uri="{FF2B5EF4-FFF2-40B4-BE49-F238E27FC236}">
                <a16:creationId xmlns:a16="http://schemas.microsoft.com/office/drawing/2014/main" id="{EEBAC7AF-B037-4C79-807F-51BA704FF8B2}"/>
              </a:ext>
            </a:extLst>
          </p:cNvPr>
          <p:cNvSpPr>
            <a:spLocks xmlns:a="http://schemas.openxmlformats.org/drawingml/2006/main" noGrp="1"/>
          </p:cNvSpPr>
          <p:nvPr/>
        </p:nvSpPr>
        <p:spPr>
          <a:xfrm xmlns:a="http://schemas.openxmlformats.org/drawingml/2006/main">
            <a:off x="4953000" y="1714500"/>
            <a:ext cx="9525000" cy="5905500"/>
          </a:xfrm>
          <a:prstGeom xmlns:a="http://schemas.openxmlformats.org/drawingml/2006/main" prst="roundRect">
            <a:avLst>
              <a:gd name="adj" fmla="val 1935"/>
            </a:avLst>
          </a:prstGeom>
          <a:solidFill xmlns:a="http://schemas.openxmlformats.org/drawingml/2006/main">
            <a:srgbClr val="FFFFFF"/>
          </a:solidFill>
          <a:ln xmlns:a="http://schemas.openxmlformats.org/drawingml/2006/main" w="9525">
            <a:solidFill>
              <a:srgbClr val="E2DCD3"/>
            </a:solidFill>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0906a1e859f40d3"/>
          <a:stretch xmlns:a="http://schemas.openxmlformats.org/drawingml/2006/main"/>
        </p:blipFill>
        <p:spPr>
          <a:xfrm xmlns:a="http://schemas.openxmlformats.org/drawingml/2006/main">
            <a:off x="5445428" y="1952625"/>
            <a:ext cx="8540144" cy="54292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D5F624A-123E-4D4C-BD3E-6351FE2084A2}"/>
              </a:ext>
            </a:extLst>
          </p:cNvPr>
          <p:cNvSpPr>
            <a:spLocks xmlns:a="http://schemas.openxmlformats.org/drawingml/2006/main" noGrp="1"/>
          </p:cNvSpPr>
          <p:nvPr/>
        </p:nvSpPr>
        <p:spPr>
          <a:xfrm xmlns:a="http://schemas.openxmlformats.org/drawingml/2006/main">
            <a:off x="762000" y="78105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0">
                <a:solidFill>
                  <a:srgbClr val="6F6A64"/>
                </a:solidFill>
                <a:latin typeface="Pretendard"/>
                <a:ea typeface="Pretendard"/>
                <a:cs typeface="Pretendard"/>
              </a:defRPr>
            </a:pPr>
            <a:r>
              <a:rPr sz="1575" b="0">
                <a:solidFill>
                  <a:srgbClr val="6F6A64"/>
                </a:solidFill>
                <a:latin typeface="Pretendard"/>
                <a:ea typeface="Pretendard"/>
                <a:cs typeface="Pretendard"/>
              </a:rPr>
              <a:t>관계는 모두 1:N이며 화면과 API에서 사용하는 데이터만 모델링</a:t>
            </a:r>
          </a:p>
        </p:txBody>
      </p:sp>
    </p:spTree>
    <p:extLst>
      <p:ext uri="{BB962C8B-B14F-4D97-AF65-F5344CB8AC3E}">
        <p14:creationId xmlns:p14="http://schemas.microsoft.com/office/powerpoint/2010/main" val="1789270554"/>
      </p:ext>
    </p:extLst>
  </p:cSld>
</p:sld>
</file>

<file path=ppt/slides/slide5.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7DAC72-B162-418E-A15A-96D86B69AFDF}"/>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FC8B87-543A-487E-818C-253FDC702C6E}"/>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05</a:t>
            </a:r>
          </a:p>
        </p:txBody>
      </p:sp>
      <p:sp>
        <p:nvSpPr>
          <p:cNvPr id="3" name="">
            <a:extLst xmlns:a="http://schemas.openxmlformats.org/drawingml/2006/main">
              <a:ext uri="{FF2B5EF4-FFF2-40B4-BE49-F238E27FC236}">
                <a16:creationId xmlns:a16="http://schemas.microsoft.com/office/drawing/2014/main" id="{368E2841-15D4-4DF9-BE3E-40793412E9A0}"/>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핵심 API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cf4bfff3acb4680"/>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19D9833-3D48-45B0-AF12-528C666821F9}"/>
              </a:ext>
            </a:extLst>
          </p:cNvPr>
          <p:cNvSpPr>
            <a:spLocks xmlns:a="http://schemas.openxmlformats.org/drawingml/2006/main" noGrp="1"/>
          </p:cNvSpPr>
          <p:nvPr/>
        </p:nvSpPr>
        <p:spPr>
          <a:xfrm xmlns:a="http://schemas.openxmlformats.org/drawingml/2006/main">
            <a:off x="762000" y="1190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6F6A64"/>
                </a:solidFill>
                <a:latin typeface="Pretendard"/>
                <a:ea typeface="Pretendard"/>
                <a:cs typeface="Pretendard"/>
              </a:defRPr>
            </a:pPr>
            <a:r>
              <a:rPr sz="1725" b="0">
                <a:solidFill>
                  <a:srgbClr val="6F6A64"/>
                </a:solidFill>
                <a:latin typeface="Pretendard"/>
                <a:ea typeface="Pretendard"/>
                <a:cs typeface="Pretendard"/>
              </a:rPr>
              <a:t>화면의 주요 사용자 행동과 직접 연결되는 API 3개입니다.</a:t>
            </a:r>
          </a:p>
        </p:txBody>
      </p:sp>
      <p:graphicFrame>
        <p:nvGraphicFramePr>
          <p:cNvPr id="15" name=""/>
          <p:cNvGraphicFramePr/>
          <p:nvPr/>
        </p:nvGraphicFramePr>
        <p:xfrm>
          <a:off xmlns:a="http://schemas.openxmlformats.org/drawingml/2006/main" x="762000" y="1809750"/>
          <a:ext xmlns:a="http://schemas.openxmlformats.org/drawingml/2006/main" cx="13716000" cy="4762500"/>
        </p:xfrm>
        <a:graphic xmlns:a="http://schemas.openxmlformats.org/drawingml/2006/main">
          <a:graphicData uri="http://schemas.openxmlformats.org/drawingml/2006/table">
            <a:tbl>
              <a:tblPr/>
              <a:tblGrid>
                <a:gridCol w="1428750"/>
                <a:gridCol w="5334000"/>
                <a:gridCol w="3143250"/>
                <a:gridCol w="3810000"/>
              </a:tblGrid>
              <a:tr h="552450">
                <a:tc>
                  <a:txBody>
                    <a:bodyPr wrap="square" lIns="95250" tIns="85725" rIns="95250" bIns="85725">
                      <a:normAutofit/>
                    </a:bodyPr>
                    <a:lstStyle/>
                    <a:p>
                      <a:r>
                        <a:rPr sz="1500" b="1">
                          <a:solidFill>
                            <a:srgbClr val="191919"/>
                          </a:solidFill>
                          <a:latin typeface="Pretendard"/>
                          <a:ea typeface="Pretendard"/>
                          <a:cs typeface="Pretendard"/>
                        </a:rPr>
                        <a:t>Method</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Path</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요청</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응답</a:t>
                      </a:r>
                    </a:p>
                  </a:txBody>
                  <a:tcPr marL="91440" marR="91440" marT="45720" marB="45720" anchor="ctr">
                    <a:solidFill>
                      <a:srgbClr val="FFF1E8"/>
                    </a:solidFill>
                  </a:tcPr>
                </a:tc>
              </a:tr>
              <a:tr h="1352550">
                <a:tc>
                  <a:txBody>
                    <a:bodyPr wrap="square" lIns="95250" tIns="85725" rIns="95250" bIns="85725">
                      <a:normAutofit/>
                    </a:bodyPr>
                    <a:lstStyle/>
                    <a:p>
                      <a:r>
                        <a:rPr sz="1350" b="1">
                          <a:solidFill>
                            <a:srgbClr val="F40036"/>
                          </a:solidFill>
                          <a:latin typeface="Pretendard"/>
                          <a:ea typeface="Pretendard"/>
                          <a:cs typeface="Pretendard"/>
                        </a:rPr>
                        <a:t>GET</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/api/loan-applications/</a:t>
                      </a:r>
                    </a:p>
                    <a:p>
                      <a:r>
                        <a:rPr sz="1350" b="0">
                          <a:solidFill>
                            <a:srgbClr val="191919"/>
                          </a:solidFill>
                          <a:latin typeface="Pretendard"/>
                          <a:ea typeface="Pretendard"/>
                          <a:cs typeface="Pretendard"/>
                        </a:rPr>
                        <a:t>{applicationId}/validation</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Path</a:t>
                      </a:r>
                    </a:p>
                    <a:p>
                      <a:r>
                        <a:rPr sz="1350" b="0">
                          <a:solidFill>
                            <a:srgbClr val="191919"/>
                          </a:solidFill>
                          <a:latin typeface="Pretendard"/>
                          <a:ea typeface="Pretendard"/>
                          <a:cs typeface="Pretendard"/>
                        </a:rPr>
                        <a:t>applicationId</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submittable</a:t>
                      </a:r>
                    </a:p>
                    <a:p>
                      <a:r>
                        <a:rPr sz="1350" b="0">
                          <a:solidFill>
                            <a:srgbClr val="191919"/>
                          </a:solidFill>
                          <a:latin typeface="Pretendard"/>
                          <a:ea typeface="Pretendard"/>
                          <a:cs typeface="Pretendard"/>
                        </a:rPr>
                        <a:t>issues[]</a:t>
                      </a:r>
                    </a:p>
                    <a:p>
                      <a:r>
                        <a:rPr sz="1350" b="0">
                          <a:solidFill>
                            <a:srgbClr val="191919"/>
                          </a:solidFill>
                          <a:latin typeface="Pretendard"/>
                          <a:ea typeface="Pretendard"/>
                          <a:cs typeface="Pretendard"/>
                        </a:rPr>
                        <a:t>extractedValues[]</a:t>
                      </a:r>
                    </a:p>
                  </a:txBody>
                  <a:tcPr marL="91440" marR="91440" marT="45720" marB="45720" anchor="ctr">
                    <a:solidFill>
                      <a:srgbClr val="FFFFFF"/>
                    </a:solidFill>
                  </a:tcPr>
                </a:tc>
              </a:tr>
              <a:tr h="1352550">
                <a:tc>
                  <a:txBody>
                    <a:bodyPr wrap="square" lIns="95250" tIns="85725" rIns="95250" bIns="85725">
                      <a:normAutofit/>
                    </a:bodyPr>
                    <a:lstStyle/>
                    <a:p>
                      <a:r>
                        <a:rPr sz="1350" b="1">
                          <a:solidFill>
                            <a:srgbClr val="F40036"/>
                          </a:solidFill>
                          <a:latin typeface="Pretendard"/>
                          <a:ea typeface="Pretendard"/>
                          <a:cs typeface="Pretendard"/>
                        </a:rPr>
                        <a:t>POST</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/api/loan-applications/</a:t>
                      </a:r>
                    </a:p>
                    <a:p>
                      <a:r>
                        <a:rPr sz="1350" b="0">
                          <a:solidFill>
                            <a:srgbClr val="191919"/>
                          </a:solidFill>
                          <a:latin typeface="Pretendard"/>
                          <a:ea typeface="Pretendard"/>
                          <a:cs typeface="Pretendard"/>
                        </a:rPr>
                        <a:t>{applicationId}/submit</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Path</a:t>
                      </a:r>
                    </a:p>
                    <a:p>
                      <a:r>
                        <a:rPr sz="1350" b="0">
                          <a:solidFill>
                            <a:srgbClr val="191919"/>
                          </a:solidFill>
                          <a:latin typeface="Pretendard"/>
                          <a:ea typeface="Pretendard"/>
                          <a:cs typeface="Pretendard"/>
                        </a:rPr>
                        <a:t>applicationId</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status · submittedAt</a:t>
                      </a:r>
                    </a:p>
                    <a:p>
                      <a:r>
                        <a:rPr sz="1350" b="0">
                          <a:solidFill>
                            <a:srgbClr val="191919"/>
                          </a:solidFill>
                          <a:latin typeface="Pretendard"/>
                          <a:ea typeface="Pretendard"/>
                          <a:cs typeface="Pretendard"/>
                        </a:rPr>
                        <a:t>422 blockingIssues[]</a:t>
                      </a:r>
                    </a:p>
                  </a:txBody>
                  <a:tcPr marL="91440" marR="91440" marT="45720" marB="45720" anchor="ctr">
                    <a:solidFill>
                      <a:srgbClr val="FCFAF7"/>
                    </a:solidFill>
                  </a:tcPr>
                </a:tc>
              </a:tr>
              <a:tr h="1352550">
                <a:tc>
                  <a:txBody>
                    <a:bodyPr wrap="square" lIns="95250" tIns="85725" rIns="95250" bIns="85725">
                      <a:normAutofit/>
                    </a:bodyPr>
                    <a:lstStyle/>
                    <a:p>
                      <a:r>
                        <a:rPr sz="1350" b="1">
                          <a:solidFill>
                            <a:srgbClr val="F40036"/>
                          </a:solidFill>
                          <a:latin typeface="Pretendard"/>
                          <a:ea typeface="Pretendard"/>
                          <a:cs typeface="Pretendard"/>
                        </a:rPr>
                        <a:t>POST</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/api/review/loan-applications/</a:t>
                      </a:r>
                    </a:p>
                    <a:p>
                      <a:r>
                        <a:rPr sz="1350" b="0">
                          <a:solidFill>
                            <a:srgbClr val="191919"/>
                          </a:solidFill>
                          <a:latin typeface="Pretendard"/>
                          <a:ea typeface="Pretendard"/>
                          <a:cs typeface="Pretendard"/>
                        </a:rPr>
                        <a:t>{applicationId}/decision</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Body</a:t>
                      </a:r>
                    </a:p>
                    <a:p>
                      <a:r>
                        <a:rPr sz="1350" b="0">
                          <a:solidFill>
                            <a:srgbClr val="191919"/>
                          </a:solidFill>
                          <a:latin typeface="Pretendard"/>
                          <a:ea typeface="Pretendard"/>
                          <a:cs typeface="Pretendard"/>
                        </a:rPr>
                        <a:t>decision</a:t>
                      </a:r>
                    </a:p>
                    <a:p>
                      <a:r>
                        <a:rPr sz="1350" b="0">
                          <a:solidFill>
                            <a:srgbClr val="191919"/>
                          </a:solidFill>
                          <a:latin typeface="Pretendard"/>
                          <a:ea typeface="Pretendard"/>
                          <a:cs typeface="Pretendard"/>
                        </a:rPr>
                        <a:t>targetDocType · reason</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status · decision</a:t>
                      </a:r>
                    </a:p>
                    <a:p>
                      <a:r>
                        <a:rPr sz="1350" b="0">
                          <a:solidFill>
                            <a:srgbClr val="191919"/>
                          </a:solidFill>
                          <a:latin typeface="Pretendard"/>
                          <a:ea typeface="Pretendard"/>
                          <a:cs typeface="Pretendard"/>
                        </a:rPr>
                        <a:t>decidedAt</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C9651FB-AE22-4925-BE86-8F4902A5BE3F}"/>
              </a:ext>
            </a:extLst>
          </p:cNvPr>
          <p:cNvSpPr>
            <a:spLocks xmlns:a="http://schemas.openxmlformats.org/drawingml/2006/main" noGrp="1"/>
          </p:cNvSpPr>
          <p:nvPr/>
        </p:nvSpPr>
        <p:spPr>
          <a:xfrm xmlns:a="http://schemas.openxmlformats.org/drawingml/2006/main">
            <a:off x="762000" y="7000875"/>
            <a:ext cx="13716000" cy="876300"/>
          </a:xfrm>
          <a:prstGeom xmlns:a="http://schemas.openxmlformats.org/drawingml/2006/main" prst="roundRect">
            <a:avLst>
              <a:gd name="adj" fmla="val 13043"/>
            </a:avLst>
          </a:prstGeom>
          <a:solidFill xmlns:a="http://schemas.openxmlformats.org/drawingml/2006/main">
            <a:srgbClr val="EEF3FF"/>
          </a:solidFill>
          <a:ln xmlns:a="http://schemas.openxmlformats.org/drawingml/2006/main" w="9525">
            <a:solidFill>
              <a:srgbClr val="2E5DB7"/>
            </a:solidFill>
          </a:ln>
        </p:spPr>
      </p:sp>
      <p:sp>
        <p:nvSpPr>
          <p:cNvPr id="8" name="">
            <a:extLst xmlns:a="http://schemas.openxmlformats.org/drawingml/2006/main">
              <a:ext uri="{FF2B5EF4-FFF2-40B4-BE49-F238E27FC236}">
                <a16:creationId xmlns:a16="http://schemas.microsoft.com/office/drawing/2014/main" id="{A789C014-2479-4A3D-9A18-E15FD872F92C}"/>
              </a:ext>
            </a:extLst>
          </p:cNvPr>
          <p:cNvSpPr>
            <a:spLocks xmlns:a="http://schemas.openxmlformats.org/drawingml/2006/main" noGrp="1"/>
          </p:cNvSpPr>
          <p:nvPr/>
        </p:nvSpPr>
        <p:spPr>
          <a:xfrm xmlns:a="http://schemas.openxmlformats.org/drawingml/2006/main">
            <a:off x="1047750" y="716280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2E5DB7"/>
                </a:solidFill>
                <a:latin typeface="Pretendard"/>
                <a:ea typeface="Pretendard"/>
                <a:cs typeface="Pretendard"/>
              </a:defRPr>
            </a:pPr>
            <a:r>
              <a:rPr sz="1650" b="1">
                <a:solidFill>
                  <a:srgbClr val="2E5DB7"/>
                </a:solidFill>
                <a:latin typeface="Pretendard"/>
                <a:ea typeface="Pretendard"/>
                <a:cs typeface="Pretendard"/>
              </a:rPr>
              <a:t>공통 정책</a:t>
            </a:r>
          </a:p>
        </p:txBody>
      </p:sp>
      <p:sp>
        <p:nvSpPr>
          <p:cNvPr id="9" name="">
            <a:extLst xmlns:a="http://schemas.openxmlformats.org/drawingml/2006/main">
              <a:ext uri="{FF2B5EF4-FFF2-40B4-BE49-F238E27FC236}">
                <a16:creationId xmlns:a16="http://schemas.microsoft.com/office/drawing/2014/main" id="{4C777351-7203-4E2D-86ED-E1AFF947CFFD}"/>
              </a:ext>
            </a:extLst>
          </p:cNvPr>
          <p:cNvSpPr>
            <a:spLocks xmlns:a="http://schemas.openxmlformats.org/drawingml/2006/main" noGrp="1"/>
          </p:cNvSpPr>
          <p:nvPr/>
        </p:nvSpPr>
        <p:spPr>
          <a:xfrm xmlns:a="http://schemas.openxmlformats.org/drawingml/2006/main">
            <a:off x="2571750" y="7115175"/>
            <a:ext cx="1152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91919"/>
                </a:solidFill>
                <a:latin typeface="Pretendard"/>
                <a:ea typeface="Pretendard"/>
                <a:cs typeface="Pretendard"/>
              </a:defRPr>
            </a:pPr>
            <a:r>
              <a:rPr sz="1575" b="1">
                <a:solidFill>
                  <a:srgbClr val="191919"/>
                </a:solidFill>
                <a:latin typeface="Pretendard"/>
                <a:ea typeface="Pretendard"/>
                <a:cs typeface="Pretendard"/>
              </a:rPr>
              <a:t>Bearer JWT 인증  ·  권한 오류 403  ·  중복 처리 409  ·  제출 조건 미충족 422  ·  OCR 연동 실패 502/504</a:t>
            </a:r>
          </a:p>
        </p:txBody>
      </p:sp>
    </p:spTree>
    <p:extLst>
      <p:ext uri="{BB962C8B-B14F-4D97-AF65-F5344CB8AC3E}">
        <p14:creationId xmlns:p14="http://schemas.microsoft.com/office/powerpoint/2010/main" val="962468877"/>
      </p:ext>
    </p:extLst>
  </p:cSld>
</p:sld>
</file>

<file path=ppt/slides/slide6.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83BFD91-3CD7-4721-A982-22F762133869}"/>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3D4B5F-E1B1-453F-84DA-E8A89F745119}"/>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06</a:t>
            </a:r>
          </a:p>
        </p:txBody>
      </p:sp>
      <p:sp>
        <p:nvSpPr>
          <p:cNvPr id="3" name="">
            <a:extLst xmlns:a="http://schemas.openxmlformats.org/drawingml/2006/main">
              <a:ext uri="{FF2B5EF4-FFF2-40B4-BE49-F238E27FC236}">
                <a16:creationId xmlns:a16="http://schemas.microsoft.com/office/drawing/2014/main" id="{C828042E-E1B8-4201-82F9-4048C0862255}"/>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마무리 및 개발 고려사항</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3683ee31c3b04d67"/>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AC7E8E6-435C-469C-8650-A30A88147527}"/>
              </a:ext>
            </a:extLst>
          </p:cNvPr>
          <p:cNvSpPr>
            <a:spLocks xmlns:a="http://schemas.openxmlformats.org/drawingml/2006/main" noGrp="1"/>
          </p:cNvSpPr>
          <p:nvPr/>
        </p:nvSpPr>
        <p:spPr>
          <a:xfrm xmlns:a="http://schemas.openxmlformats.org/drawingml/2006/main">
            <a:off x="762000" y="1524000"/>
            <a:ext cx="6572250" cy="4476750"/>
          </a:xfrm>
          <a:prstGeom xmlns:a="http://schemas.openxmlformats.org/drawingml/2006/main" prst="roundRect">
            <a:avLst>
              <a:gd name="adj" fmla="val 3404"/>
            </a:avLst>
          </a:prstGeom>
          <a:solidFill xmlns:a="http://schemas.openxmlformats.org/drawingml/2006/main">
            <a:srgbClr val="FFFFFF"/>
          </a:solidFill>
          <a:ln xmlns:a="http://schemas.openxmlformats.org/drawingml/2006/main" w="9525">
            <a:solidFill>
              <a:srgbClr val="E2DCD3"/>
            </a:solidFill>
          </a:ln>
        </p:spPr>
      </p:sp>
      <p:sp>
        <p:nvSpPr>
          <p:cNvPr id="6" name="">
            <a:extLst xmlns:a="http://schemas.openxmlformats.org/drawingml/2006/main">
              <a:ext uri="{FF2B5EF4-FFF2-40B4-BE49-F238E27FC236}">
                <a16:creationId xmlns:a16="http://schemas.microsoft.com/office/drawing/2014/main" id="{487082D1-4750-40AB-AD55-376E5665A525}"/>
              </a:ext>
            </a:extLst>
          </p:cNvPr>
          <p:cNvSpPr>
            <a:spLocks xmlns:a="http://schemas.openxmlformats.org/drawingml/2006/main" noGrp="1"/>
          </p:cNvSpPr>
          <p:nvPr/>
        </p:nvSpPr>
        <p:spPr>
          <a:xfrm xmlns:a="http://schemas.openxmlformats.org/drawingml/2006/main">
            <a:off x="1095375" y="1895475"/>
            <a:ext cx="66675" cy="285750"/>
          </a:xfrm>
          <a:prstGeom xmlns:a="http://schemas.openxmlformats.org/drawingml/2006/main" prst="rect">
            <a:avLst/>
          </a:prstGeom>
          <a:solidFill xmlns:a="http://schemas.openxmlformats.org/drawingml/2006/main">
            <a:srgbClr val="F4003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1ED903D-6624-49D4-B10D-D4A4BA5AE08C}"/>
              </a:ext>
            </a:extLst>
          </p:cNvPr>
          <p:cNvSpPr>
            <a:spLocks xmlns:a="http://schemas.openxmlformats.org/drawingml/2006/main" noGrp="1"/>
          </p:cNvSpPr>
          <p:nvPr/>
        </p:nvSpPr>
        <p:spPr>
          <a:xfrm xmlns:a="http://schemas.openxmlformats.org/drawingml/2006/main">
            <a:off x="1266825" y="1857375"/>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40036"/>
                </a:solidFill>
                <a:latin typeface="Pretendard"/>
                <a:ea typeface="Pretendard"/>
                <a:cs typeface="Pretendard"/>
              </a:defRPr>
            </a:pPr>
            <a:r>
              <a:rPr sz="1800" b="1">
                <a:solidFill>
                  <a:srgbClr val="F40036"/>
                </a:solidFill>
                <a:latin typeface="Pretendard"/>
                <a:ea typeface="Pretendard"/>
                <a:cs typeface="Pretendard"/>
              </a:rPr>
              <a:t>설계하며 고민한 점</a:t>
            </a:r>
          </a:p>
        </p:txBody>
      </p:sp>
      <p:sp>
        <p:nvSpPr>
          <p:cNvPr id="8" name="">
            <a:extLst xmlns:a="http://schemas.openxmlformats.org/drawingml/2006/main">
              <a:ext uri="{FF2B5EF4-FFF2-40B4-BE49-F238E27FC236}">
                <a16:creationId xmlns:a16="http://schemas.microsoft.com/office/drawing/2014/main" id="{67C56D16-7E13-4DCE-9B9B-6B3CCEAC24FE}"/>
              </a:ext>
            </a:extLst>
          </p:cNvPr>
          <p:cNvSpPr>
            <a:spLocks xmlns:a="http://schemas.openxmlformats.org/drawingml/2006/main" noGrp="1"/>
          </p:cNvSpPr>
          <p:nvPr/>
        </p:nvSpPr>
        <p:spPr>
          <a:xfrm xmlns:a="http://schemas.openxmlformats.org/drawingml/2006/main">
            <a:off x="1143000" y="24765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서비스 범위</a:t>
            </a:r>
          </a:p>
        </p:txBody>
      </p:sp>
      <p:sp>
        <p:nvSpPr>
          <p:cNvPr id="9" name="">
            <a:extLst xmlns:a="http://schemas.openxmlformats.org/drawingml/2006/main">
              <a:ext uri="{FF2B5EF4-FFF2-40B4-BE49-F238E27FC236}">
                <a16:creationId xmlns:a16="http://schemas.microsoft.com/office/drawing/2014/main" id="{22955B6C-6AC5-4B45-870C-ACA358E77A73}"/>
              </a:ext>
            </a:extLst>
          </p:cNvPr>
          <p:cNvSpPr>
            <a:spLocks xmlns:a="http://schemas.openxmlformats.org/drawingml/2006/main" noGrp="1"/>
          </p:cNvSpPr>
          <p:nvPr/>
        </p:nvSpPr>
        <p:spPr>
          <a:xfrm xmlns:a="http://schemas.openxmlformats.org/drawingml/2006/main">
            <a:off x="3143250" y="2409825"/>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OCR과 자동 심사는 분리하고 서류 검수 보조에 집중</a:t>
            </a:r>
          </a:p>
        </p:txBody>
      </p:sp>
      <p:sp>
        <p:nvSpPr>
          <p:cNvPr id="10" name="">
            <a:extLst xmlns:a="http://schemas.openxmlformats.org/drawingml/2006/main">
              <a:ext uri="{FF2B5EF4-FFF2-40B4-BE49-F238E27FC236}">
                <a16:creationId xmlns:a16="http://schemas.microsoft.com/office/drawing/2014/main" id="{9913DEB2-EF17-4A9D-8F0E-75A7901406A9}"/>
              </a:ext>
            </a:extLst>
          </p:cNvPr>
          <p:cNvSpPr>
            <a:spLocks xmlns:a="http://schemas.openxmlformats.org/drawingml/2006/main" noGrp="1"/>
          </p:cNvSpPr>
          <p:nvPr/>
        </p:nvSpPr>
        <p:spPr>
          <a:xfrm xmlns:a="http://schemas.openxmlformats.org/drawingml/2006/main">
            <a:off x="1143000" y="3286125"/>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계정 방식</a:t>
            </a:r>
          </a:p>
        </p:txBody>
      </p:sp>
      <p:sp>
        <p:nvSpPr>
          <p:cNvPr id="11" name="">
            <a:extLst xmlns:a="http://schemas.openxmlformats.org/drawingml/2006/main">
              <a:ext uri="{FF2B5EF4-FFF2-40B4-BE49-F238E27FC236}">
                <a16:creationId xmlns:a16="http://schemas.microsoft.com/office/drawing/2014/main" id="{384539E1-5EDC-4504-A07F-AA7D031EC181}"/>
              </a:ext>
            </a:extLst>
          </p:cNvPr>
          <p:cNvSpPr>
            <a:spLocks xmlns:a="http://schemas.openxmlformats.org/drawingml/2006/main" noGrp="1"/>
          </p:cNvSpPr>
          <p:nvPr/>
        </p:nvSpPr>
        <p:spPr>
          <a:xfrm xmlns:a="http://schemas.openxmlformats.org/drawingml/2006/main">
            <a:off x="3143250" y="3219450"/>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공개 회원가입 대신 은행 초대 기반 계정 활성화</a:t>
            </a:r>
          </a:p>
        </p:txBody>
      </p:sp>
      <p:sp>
        <p:nvSpPr>
          <p:cNvPr id="12" name="">
            <a:extLst xmlns:a="http://schemas.openxmlformats.org/drawingml/2006/main">
              <a:ext uri="{FF2B5EF4-FFF2-40B4-BE49-F238E27FC236}">
                <a16:creationId xmlns:a16="http://schemas.microsoft.com/office/drawing/2014/main" id="{684244B2-ED7C-4CB3-9E45-33DD6C26A419}"/>
              </a:ext>
            </a:extLst>
          </p:cNvPr>
          <p:cNvSpPr>
            <a:spLocks xmlns:a="http://schemas.openxmlformats.org/drawingml/2006/main" noGrp="1"/>
          </p:cNvSpPr>
          <p:nvPr/>
        </p:nvSpPr>
        <p:spPr>
          <a:xfrm xmlns:a="http://schemas.openxmlformats.org/drawingml/2006/main">
            <a:off x="1143000" y="40957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재제출 관리</a:t>
            </a:r>
          </a:p>
        </p:txBody>
      </p:sp>
      <p:sp>
        <p:nvSpPr>
          <p:cNvPr id="13" name="">
            <a:extLst xmlns:a="http://schemas.openxmlformats.org/drawingml/2006/main">
              <a:ext uri="{FF2B5EF4-FFF2-40B4-BE49-F238E27FC236}">
                <a16:creationId xmlns:a16="http://schemas.microsoft.com/office/drawing/2014/main" id="{BBEBFBAC-062A-46B9-B0DA-51278B665959}"/>
              </a:ext>
            </a:extLst>
          </p:cNvPr>
          <p:cNvSpPr>
            <a:spLocks xmlns:a="http://schemas.openxmlformats.org/drawingml/2006/main" noGrp="1"/>
          </p:cNvSpPr>
          <p:nvPr/>
        </p:nvSpPr>
        <p:spPr>
          <a:xfrm xmlns:a="http://schemas.openxmlformats.org/drawingml/2006/main">
            <a:off x="3143250" y="4029075"/>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문서를 덮어쓰지 않고 버전과 처리 이력을 보존</a:t>
            </a:r>
          </a:p>
        </p:txBody>
      </p:sp>
      <p:sp>
        <p:nvSpPr>
          <p:cNvPr id="14" name="">
            <a:extLst xmlns:a="http://schemas.openxmlformats.org/drawingml/2006/main">
              <a:ext uri="{FF2B5EF4-FFF2-40B4-BE49-F238E27FC236}">
                <a16:creationId xmlns:a16="http://schemas.microsoft.com/office/drawing/2014/main" id="{DA778198-FF9D-4887-8C52-EEB8E77AED4E}"/>
              </a:ext>
            </a:extLst>
          </p:cNvPr>
          <p:cNvSpPr>
            <a:spLocks xmlns:a="http://schemas.openxmlformats.org/drawingml/2006/main" noGrp="1"/>
          </p:cNvSpPr>
          <p:nvPr/>
        </p:nvSpPr>
        <p:spPr>
          <a:xfrm xmlns:a="http://schemas.openxmlformats.org/drawingml/2006/main">
            <a:off x="1143000" y="4953000"/>
            <a:ext cx="5810250" cy="9525"/>
          </a:xfrm>
          <a:prstGeom xmlns:a="http://schemas.openxmlformats.org/drawingml/2006/main" prst="rect">
            <a:avLst/>
          </a:prstGeom>
          <a:solidFill xmlns:a="http://schemas.openxmlformats.org/drawingml/2006/main">
            <a:srgbClr val="E2DCD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66CE0FD-D63D-4BAE-83C5-5E431E1D5806}"/>
              </a:ext>
            </a:extLst>
          </p:cNvPr>
          <p:cNvSpPr>
            <a:spLocks xmlns:a="http://schemas.openxmlformats.org/drawingml/2006/main" noGrp="1"/>
          </p:cNvSpPr>
          <p:nvPr/>
        </p:nvSpPr>
        <p:spPr>
          <a:xfrm xmlns:a="http://schemas.openxmlformats.org/drawingml/2006/main">
            <a:off x="1143000" y="519112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6F6A64"/>
                </a:solidFill>
                <a:latin typeface="Pretendard"/>
                <a:ea typeface="Pretendard"/>
                <a:cs typeface="Pretendard"/>
              </a:defRPr>
            </a:pPr>
            <a:r>
              <a:rPr sz="1425" b="0">
                <a:solidFill>
                  <a:srgbClr val="6F6A64"/>
                </a:solidFill>
                <a:latin typeface="Pretendard"/>
                <a:ea typeface="Pretendard"/>
                <a:cs typeface="Pretendard"/>
              </a:rPr>
              <a:t>현재 문제 정의는 업무 가설이며 실무자 인터뷰로 검증이 필요</a:t>
            </a:r>
          </a:p>
        </p:txBody>
      </p:sp>
      <p:sp>
        <p:nvSpPr>
          <p:cNvPr id="16" name="">
            <a:extLst xmlns:a="http://schemas.openxmlformats.org/drawingml/2006/main">
              <a:ext uri="{FF2B5EF4-FFF2-40B4-BE49-F238E27FC236}">
                <a16:creationId xmlns:a16="http://schemas.microsoft.com/office/drawing/2014/main" id="{8FE15F8D-B5D6-4EEB-94B2-9BC98BCE04BA}"/>
              </a:ext>
            </a:extLst>
          </p:cNvPr>
          <p:cNvSpPr>
            <a:spLocks xmlns:a="http://schemas.openxmlformats.org/drawingml/2006/main" noGrp="1"/>
          </p:cNvSpPr>
          <p:nvPr/>
        </p:nvSpPr>
        <p:spPr>
          <a:xfrm xmlns:a="http://schemas.openxmlformats.org/drawingml/2006/main">
            <a:off x="7715250" y="1524000"/>
            <a:ext cx="6762750" cy="4476750"/>
          </a:xfrm>
          <a:prstGeom xmlns:a="http://schemas.openxmlformats.org/drawingml/2006/main" prst="roundRect">
            <a:avLst>
              <a:gd name="adj" fmla="val 3404"/>
            </a:avLst>
          </a:prstGeom>
          <a:solidFill xmlns:a="http://schemas.openxmlformats.org/drawingml/2006/main">
            <a:srgbClr val="FFFFFF"/>
          </a:solidFill>
          <a:ln xmlns:a="http://schemas.openxmlformats.org/drawingml/2006/main" w="9525">
            <a:solidFill>
              <a:srgbClr val="E2DCD3"/>
            </a:solidFill>
          </a:ln>
        </p:spPr>
      </p:sp>
      <p:sp>
        <p:nvSpPr>
          <p:cNvPr id="17" name="">
            <a:extLst xmlns:a="http://schemas.openxmlformats.org/drawingml/2006/main">
              <a:ext uri="{FF2B5EF4-FFF2-40B4-BE49-F238E27FC236}">
                <a16:creationId xmlns:a16="http://schemas.microsoft.com/office/drawing/2014/main" id="{CF4DA3CE-9A94-45DC-8440-BFA3EBB792A2}"/>
              </a:ext>
            </a:extLst>
          </p:cNvPr>
          <p:cNvSpPr>
            <a:spLocks xmlns:a="http://schemas.openxmlformats.org/drawingml/2006/main" noGrp="1"/>
          </p:cNvSpPr>
          <p:nvPr/>
        </p:nvSpPr>
        <p:spPr>
          <a:xfrm xmlns:a="http://schemas.openxmlformats.org/drawingml/2006/main">
            <a:off x="8048625" y="1895475"/>
            <a:ext cx="66675" cy="285750"/>
          </a:xfrm>
          <a:prstGeom xmlns:a="http://schemas.openxmlformats.org/drawingml/2006/main" prst="rect">
            <a:avLst/>
          </a:prstGeom>
          <a:solidFill xmlns:a="http://schemas.openxmlformats.org/drawingml/2006/main">
            <a:srgbClr val="FF782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007D113-BC98-4DC6-AA86-E4E297E11B50}"/>
              </a:ext>
            </a:extLst>
          </p:cNvPr>
          <p:cNvSpPr>
            <a:spLocks xmlns:a="http://schemas.openxmlformats.org/drawingml/2006/main" noGrp="1"/>
          </p:cNvSpPr>
          <p:nvPr/>
        </p:nvSpPr>
        <p:spPr>
          <a:xfrm xmlns:a="http://schemas.openxmlformats.org/drawingml/2006/main">
            <a:off x="8220075" y="1857375"/>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F7823"/>
                </a:solidFill>
                <a:latin typeface="Pretendard"/>
                <a:ea typeface="Pretendard"/>
                <a:cs typeface="Pretendard"/>
              </a:defRPr>
            </a:pPr>
            <a:r>
              <a:rPr sz="1800" b="1">
                <a:solidFill>
                  <a:srgbClr val="FF7823"/>
                </a:solidFill>
                <a:latin typeface="Pretendard"/>
                <a:ea typeface="Pretendard"/>
                <a:cs typeface="Pretendard"/>
              </a:rPr>
              <a:t>다음 개발 시 주의</a:t>
            </a:r>
          </a:p>
        </p:txBody>
      </p:sp>
      <p:sp>
        <p:nvSpPr>
          <p:cNvPr id="19" name="">
            <a:extLst xmlns:a="http://schemas.openxmlformats.org/drawingml/2006/main">
              <a:ext uri="{FF2B5EF4-FFF2-40B4-BE49-F238E27FC236}">
                <a16:creationId xmlns:a16="http://schemas.microsoft.com/office/drawing/2014/main" id="{F846C440-840D-46E7-890D-59A818B083C2}"/>
              </a:ext>
            </a:extLst>
          </p:cNvPr>
          <p:cNvSpPr>
            <a:spLocks xmlns:a="http://schemas.openxmlformats.org/drawingml/2006/main" noGrp="1"/>
          </p:cNvSpPr>
          <p:nvPr/>
        </p:nvSpPr>
        <p:spPr>
          <a:xfrm xmlns:a="http://schemas.openxmlformats.org/drawingml/2006/main">
            <a:off x="8096250" y="24765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외부 연동</a:t>
            </a:r>
          </a:p>
        </p:txBody>
      </p:sp>
      <p:sp>
        <p:nvSpPr>
          <p:cNvPr id="20" name="">
            <a:extLst xmlns:a="http://schemas.openxmlformats.org/drawingml/2006/main">
              <a:ext uri="{FF2B5EF4-FFF2-40B4-BE49-F238E27FC236}">
                <a16:creationId xmlns:a16="http://schemas.microsoft.com/office/drawing/2014/main" id="{2FF35900-0A8B-42F6-A6A8-E952EA3C39F6}"/>
              </a:ext>
            </a:extLst>
          </p:cNvPr>
          <p:cNvSpPr>
            <a:spLocks xmlns:a="http://schemas.openxmlformats.org/drawingml/2006/main" noGrp="1"/>
          </p:cNvSpPr>
          <p:nvPr/>
        </p:nvSpPr>
        <p:spPr>
          <a:xfrm xmlns:a="http://schemas.openxmlformats.org/drawingml/2006/main">
            <a:off x="10096500" y="2409825"/>
            <a:ext cx="385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OCR 비동기 처리와 실패 재시도, 진위확인 기관 연동</a:t>
            </a:r>
          </a:p>
        </p:txBody>
      </p:sp>
      <p:sp>
        <p:nvSpPr>
          <p:cNvPr id="21" name="">
            <a:extLst xmlns:a="http://schemas.openxmlformats.org/drawingml/2006/main">
              <a:ext uri="{FF2B5EF4-FFF2-40B4-BE49-F238E27FC236}">
                <a16:creationId xmlns:a16="http://schemas.microsoft.com/office/drawing/2014/main" id="{736DD002-E092-48F8-B94B-0F280E0E2224}"/>
              </a:ext>
            </a:extLst>
          </p:cNvPr>
          <p:cNvSpPr>
            <a:spLocks xmlns:a="http://schemas.openxmlformats.org/drawingml/2006/main" noGrp="1"/>
          </p:cNvSpPr>
          <p:nvPr/>
        </p:nvSpPr>
        <p:spPr>
          <a:xfrm xmlns:a="http://schemas.openxmlformats.org/drawingml/2006/main">
            <a:off x="8096250" y="3381375"/>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보안</a:t>
            </a:r>
          </a:p>
        </p:txBody>
      </p:sp>
      <p:sp>
        <p:nvSpPr>
          <p:cNvPr id="22" name="">
            <a:extLst xmlns:a="http://schemas.openxmlformats.org/drawingml/2006/main">
              <a:ext uri="{FF2B5EF4-FFF2-40B4-BE49-F238E27FC236}">
                <a16:creationId xmlns:a16="http://schemas.microsoft.com/office/drawing/2014/main" id="{68C5AE7E-AE73-4537-AFEC-5389E8DCE1B1}"/>
              </a:ext>
            </a:extLst>
          </p:cNvPr>
          <p:cNvSpPr>
            <a:spLocks xmlns:a="http://schemas.openxmlformats.org/drawingml/2006/main" noGrp="1"/>
          </p:cNvSpPr>
          <p:nvPr/>
        </p:nvSpPr>
        <p:spPr>
          <a:xfrm xmlns:a="http://schemas.openxmlformats.org/drawingml/2006/main">
            <a:off x="10096500" y="3314700"/>
            <a:ext cx="385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은행 SSO, 만료 URL, 개인정보 마스킹과 접근 로그</a:t>
            </a:r>
          </a:p>
        </p:txBody>
      </p:sp>
      <p:sp>
        <p:nvSpPr>
          <p:cNvPr id="23" name="">
            <a:extLst xmlns:a="http://schemas.openxmlformats.org/drawingml/2006/main">
              <a:ext uri="{FF2B5EF4-FFF2-40B4-BE49-F238E27FC236}">
                <a16:creationId xmlns:a16="http://schemas.microsoft.com/office/drawing/2014/main" id="{335C9AA6-FA5A-4D00-976F-16A77F852922}"/>
              </a:ext>
            </a:extLst>
          </p:cNvPr>
          <p:cNvSpPr>
            <a:spLocks xmlns:a="http://schemas.openxmlformats.org/drawingml/2006/main" noGrp="1"/>
          </p:cNvSpPr>
          <p:nvPr/>
        </p:nvSpPr>
        <p:spPr>
          <a:xfrm xmlns:a="http://schemas.openxmlformats.org/drawingml/2006/main">
            <a:off x="8096250" y="4286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동시 처리</a:t>
            </a:r>
          </a:p>
        </p:txBody>
      </p:sp>
      <p:sp>
        <p:nvSpPr>
          <p:cNvPr id="24" name="">
            <a:extLst xmlns:a="http://schemas.openxmlformats.org/drawingml/2006/main">
              <a:ext uri="{FF2B5EF4-FFF2-40B4-BE49-F238E27FC236}">
                <a16:creationId xmlns:a16="http://schemas.microsoft.com/office/drawing/2014/main" id="{1ABCCCE5-7BB6-4E06-8BD2-F0FDECA2CE4C}"/>
              </a:ext>
            </a:extLst>
          </p:cNvPr>
          <p:cNvSpPr>
            <a:spLocks xmlns:a="http://schemas.openxmlformats.org/drawingml/2006/main" noGrp="1"/>
          </p:cNvSpPr>
          <p:nvPr/>
        </p:nvSpPr>
        <p:spPr>
          <a:xfrm xmlns:a="http://schemas.openxmlformats.org/drawingml/2006/main">
            <a:off x="10096500" y="4219575"/>
            <a:ext cx="385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최종 제출과 검토 결정의 중복 요청·충돌 방지</a:t>
            </a:r>
          </a:p>
        </p:txBody>
      </p:sp>
      <p:sp>
        <p:nvSpPr>
          <p:cNvPr id="25" name="">
            <a:extLst xmlns:a="http://schemas.openxmlformats.org/drawingml/2006/main">
              <a:ext uri="{FF2B5EF4-FFF2-40B4-BE49-F238E27FC236}">
                <a16:creationId xmlns:a16="http://schemas.microsoft.com/office/drawing/2014/main" id="{95B25A9C-543B-4607-97C6-D76844049FB2}"/>
              </a:ext>
            </a:extLst>
          </p:cNvPr>
          <p:cNvSpPr>
            <a:spLocks xmlns:a="http://schemas.openxmlformats.org/drawingml/2006/main" noGrp="1"/>
          </p:cNvSpPr>
          <p:nvPr/>
        </p:nvSpPr>
        <p:spPr>
          <a:xfrm xmlns:a="http://schemas.openxmlformats.org/drawingml/2006/main">
            <a:off x="8096250" y="5095875"/>
            <a:ext cx="6000750" cy="9525"/>
          </a:xfrm>
          <a:prstGeom xmlns:a="http://schemas.openxmlformats.org/drawingml/2006/main" prst="rect">
            <a:avLst/>
          </a:prstGeom>
          <a:solidFill xmlns:a="http://schemas.openxmlformats.org/drawingml/2006/main">
            <a:srgbClr val="E2DCD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66CD148-71E7-48D0-BB14-6555752B889B}"/>
              </a:ext>
            </a:extLst>
          </p:cNvPr>
          <p:cNvSpPr>
            <a:spLocks xmlns:a="http://schemas.openxmlformats.org/drawingml/2006/main" noGrp="1"/>
          </p:cNvSpPr>
          <p:nvPr/>
        </p:nvSpPr>
        <p:spPr>
          <a:xfrm xmlns:a="http://schemas.openxmlformats.org/drawingml/2006/main">
            <a:off x="8096250" y="5286375"/>
            <a:ext cx="600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6F6A64"/>
                </a:solidFill>
                <a:latin typeface="Pretendard"/>
                <a:ea typeface="Pretendard"/>
                <a:cs typeface="Pretendard"/>
              </a:defRPr>
            </a:pPr>
            <a:r>
              <a:rPr sz="1425" b="0">
                <a:solidFill>
                  <a:srgbClr val="6F6A64"/>
                </a:solidFill>
                <a:latin typeface="Pretendard"/>
                <a:ea typeface="Pretendard"/>
                <a:cs typeface="Pretendard"/>
              </a:rPr>
              <a:t>지원 문서를 늘리기 전에 문서별 검증 규칙과 정확도 기준을 먼저 확정</a:t>
            </a:r>
          </a:p>
        </p:txBody>
      </p:sp>
      <p:sp>
        <p:nvSpPr>
          <p:cNvPr id="27" name="">
            <a:extLst xmlns:a="http://schemas.openxmlformats.org/drawingml/2006/main">
              <a:ext uri="{FF2B5EF4-FFF2-40B4-BE49-F238E27FC236}">
                <a16:creationId xmlns:a16="http://schemas.microsoft.com/office/drawing/2014/main" id="{17584A91-8A4F-4AFC-9B3F-CF9A80BA8DD0}"/>
              </a:ext>
            </a:extLst>
          </p:cNvPr>
          <p:cNvSpPr>
            <a:spLocks xmlns:a="http://schemas.openxmlformats.org/drawingml/2006/main" noGrp="1"/>
          </p:cNvSpPr>
          <p:nvPr/>
        </p:nvSpPr>
        <p:spPr>
          <a:xfrm xmlns:a="http://schemas.openxmlformats.org/drawingml/2006/main">
            <a:off x="762000" y="6572250"/>
            <a:ext cx="13716000" cy="1428750"/>
          </a:xfrm>
          <a:prstGeom xmlns:a="http://schemas.openxmlformats.org/drawingml/2006/main" prst="roundRect">
            <a:avLst>
              <a:gd name="adj" fmla="val 9333"/>
            </a:avLst>
          </a:prstGeom>
          <a:solidFill xmlns:a="http://schemas.openxmlformats.org/drawingml/2006/main">
            <a:srgbClr val="F40036"/>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CD5F464-C2F2-42DE-A30A-0237FBB56A27}"/>
              </a:ext>
            </a:extLst>
          </p:cNvPr>
          <p:cNvSpPr>
            <a:spLocks xmlns:a="http://schemas.openxmlformats.org/drawingml/2006/main" noGrp="1"/>
          </p:cNvSpPr>
          <p:nvPr/>
        </p:nvSpPr>
        <p:spPr>
          <a:xfrm xmlns:a="http://schemas.openxmlformats.org/drawingml/2006/main">
            <a:off x="762000" y="6705600"/>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4050" b="1">
                <a:solidFill>
                  <a:srgbClr val="FFFFFF"/>
                </a:solidFill>
                <a:latin typeface="Pretendard"/>
                <a:ea typeface="Pretendard"/>
                <a:cs typeface="Pretendard"/>
              </a:defRPr>
            </a:pPr>
            <a:r>
              <a:rPr sz="4050" b="1">
                <a:solidFill>
                  <a:srgbClr val="FFFFFF"/>
                </a:solidFill>
                <a:latin typeface="Pretendard"/>
                <a:ea typeface="Pretendard"/>
                <a:cs typeface="Pretendard"/>
              </a:rPr>
              <a:t>Q&amp;A</a:t>
            </a:r>
          </a:p>
        </p:txBody>
      </p:sp>
      <p:sp>
        <p:nvSpPr>
          <p:cNvPr id="29" name="">
            <a:extLst xmlns:a="http://schemas.openxmlformats.org/drawingml/2006/main">
              <a:ext uri="{FF2B5EF4-FFF2-40B4-BE49-F238E27FC236}">
                <a16:creationId xmlns:a16="http://schemas.microsoft.com/office/drawing/2014/main" id="{6ABF55B8-6B84-4C0F-8582-05CDDEC5BA33}"/>
              </a:ext>
            </a:extLst>
          </p:cNvPr>
          <p:cNvSpPr>
            <a:spLocks xmlns:a="http://schemas.openxmlformats.org/drawingml/2006/main" noGrp="1"/>
          </p:cNvSpPr>
          <p:nvPr/>
        </p:nvSpPr>
        <p:spPr>
          <a:xfrm xmlns:a="http://schemas.openxmlformats.org/drawingml/2006/main">
            <a:off x="762000" y="7410450"/>
            <a:ext cx="1371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0">
                <a:solidFill>
                  <a:srgbClr val="FFFFFF"/>
                </a:solidFill>
                <a:latin typeface="Pretendard"/>
                <a:ea typeface="Pretendard"/>
                <a:cs typeface="Pretendard"/>
              </a:defRPr>
            </a:pPr>
            <a:r>
              <a:rPr sz="1500" b="0">
                <a:solidFill>
                  <a:srgbClr val="FFFFFF"/>
                </a:solidFill>
                <a:latin typeface="Pretendard"/>
                <a:ea typeface="Pretendard"/>
                <a:cs typeface="Pretendard"/>
              </a:rPr>
              <a:t>감사합니다</a:t>
            </a:r>
          </a:p>
        </p:txBody>
      </p:sp>
    </p:spTree>
    <p:extLst>
      <p:ext uri="{BB962C8B-B14F-4D97-AF65-F5344CB8AC3E}">
        <p14:creationId xmlns:p14="http://schemas.microsoft.com/office/powerpoint/2010/main" val="14001223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2026-09-09T05:17:23.1650000Z</dcterms:created>
  <dcterms:modified xsi:type="dcterms:W3CDTF">2026-09-09T05:17:23.1650000Z</dcterms:modified>
</coreProperties>
</file>