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판교5반 홍은비입니다. 제가 설계한 서비스는 DocSure, 기업대출 제출서류를 접수 전에 미리 검수하는 B2B 웹 서비스입니다.
중소기업이 대출 서류를 올리면 OCR로 값을 뽑아, 필수서류 누락과 유효기간, 그리고 서류끼리 기업정보가 어긋나는지를 자동으로 확인합니다.
오른쪽 그림처럼 세 장 중 납세증명서 하나가 만료됐다는 것을, 은행에 내기 전에 기업 담당자가 먼저 알게 하는 것이 이 서비스의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기획 배경은 세 단계입니다. 첫째, 방향은 이미 맞습니다. 하나은행은 기업 심사의견 작성을 30분에서 10초로 줄였고, 신한은행도 여신심사 AI 에이전트를 넣었습니다. 은행장 절반이 AI 여신심사를 하반기 전략으로 꼽았습니다.
둘째, 그런데 자동화된 건 '심사의견 작성'입니다. 서류가 이미 정상 접수된 다음 단계죠. 접수와 검증 단계를 건드린 곳은 수출입은행 한 곳뿐이고, 그것도 은행 심사역용 내부 도구입니다.
셋째, 서류를 만들어 내는 기업 고객 쪽은 아무도 안 봤습니다. 누락과 만료를 반려로 통보받고 재제출을 반복합니다. 그래서 저는 접수 전 단계, 그리고 기업 고객 쪽을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흐름은 다섯 단계입니다. 기업 담당자가 필수 서류 3종을 올리면, 외부 OCR이 값을 뽑고, 시스템이 누락·유효기간·서류 간 불일치를 검증합니다. 고객은 오류를 보고 스스로 고친 뒤 제출하고, 은행 담당자가 마지막에 확인합니다.
액터는 두 명입니다. 외부 OCR은 사람이 아니라서 액터가 아니라 외부 연동 대상으로 정의했습니다.
오른쪽은 이번에 하지 않는 것입니다. 특히 대출 승인과 신용평가는 명시적으로 뺐습니다. 이 서비스는 서류 검수까지만 하고, 여신 판단은 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말한 문제를 요구사항으로 하나씩 받은 표입니다. 왼쪽이 문제, 오른쪽이 그 문제를 담당하는 요구사항 ID와 검증 규칙 코드입니다.
핵심은 네 번째 줄입니다. 기존 OCR은 문서 한 장씩 처리하는데, DocSure는 사업자등록번호와 기업명이 세 문서에서 같은지를 교차검증합니다.
검증 오류는 여덟 가지를 코드로 정의했고, 차단과 경고로 나눴습니다. 차단 오류가 남아 있으면 최종 제출 자체가 막힙니다.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화면은 여섯 개입니다. 왼쪽 표의 화면 ID와 오른쪽 끝 요구사항 ID가 서로 걸려 있습니다. 요구사항정의서에도 같은 ID가 그대로 들어가 있습니다.
흐름은 둘로 나뉩니다. 기업 고객은 로그인해서 업로드하고 검증 결과를 고친 뒤 제출합니다. 차단 오류가 남아 있으면 422로 막힙니다.
은행 담당자는 검토 목록에서 상세로 들어가 확인 완료나 보완 요청을 합니다. 이미 처리된 건을 다시 처리하면 409를 반환합니다.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테이블은 일곱 개입니다. 화면에서 쓰는 데이터만 넣었고, 미래 기능용 테이블은 만들지 않았습니다.
가장 중요한 건 extracted_fields입니다. OCR이 뽑은 원본값과 고객이 고친 값을 같은 행에 따로 보관합니다. 그래야 나중에 은행 담당자가 '이 값은 원래 뭐였는데 고객이 이렇게 고쳤다'를 볼 수 있습니다.
submitted_documents도 덮어쓰지 않고 유형별로 버전 번호를 올립니다. 보완 재제출 이력이 남아야 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API는 화면 디스크립션에 있는 것만 넣었습니다. 화면 없는 API는 만들지 않았습니다.
핵심 세 개를 보시면, 업로드는 유형별 버전을 올리고 지원하지 않는 형식은 415로 막습니다. 검증 결과 조회는 다른 기업 신청 건이면 403입니다.
가장 중요한 건 세 번째, 최종 제출입니다. 차단 오류가 남아 있으면 422로 거부합니다. 이게 이 서비스의 핵심 동작이라 API에서도 가장 명확하게 정의했습니다. 외부 OCR 실패는 502와 504로 따로 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설계하며 고민한 점 세 가지입니다. 첫째, OCR 오인식은 고객이 고치게 두되 사업자번호나 유효기간처럼 증빙 자체가 틀린 값은 정정이 아니라 재업로드로 보냈습니다. 값만 고치면 서류가 여전히 잘못됐기 때문입니다.
둘째, '서류 확인 완료'가 대출 승인으로 오해되면 안 되니 상태명과 확인 모달에 무관함을 명시했습니다.
셋째, 외부 OCR은 액터가 아니라 연동 대상으로 두고 실패해도 원본을 보존하게 했습니다.
다음 단계로는 은행 SSO 연동, 문서 유형 확대, 상품별 검증 규칙 관리 화면을 생각하고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822960" y="1417320"/>
            <a:ext cx="3291840" cy="384048"/>
          </a:xfrm>
          <a:prstGeom prst="roundRect">
            <a:avLst>
              <a:gd name="adj" fmla="val 50000"/>
            </a:avLst>
          </a:prstGeom>
          <a:solidFill>
            <a:srgbClr val="1E2761"/>
          </a:solidFill>
          <a:ln w="12700">
            <a:solidFill>
              <a:srgbClr val="CADCFC"/>
            </a:solidFill>
            <a:prstDash val="solid"/>
          </a:ln>
        </p:spPr>
      </p:sp>
      <p:sp>
        <p:nvSpPr>
          <p:cNvPr id="3" name="Text 1"/>
          <p:cNvSpPr txBox="1"/>
          <p:nvPr/>
        </p:nvSpPr>
        <p:spPr>
          <a:xfrm>
            <a:off x="822960" y="1417320"/>
            <a:ext cx="3291840" cy="384048"/>
          </a:xfrm>
          <a:prstGeom prst="rect">
            <a:avLst/>
          </a:prstGeom>
          <a:noFill/>
          <a:ln/>
        </p:spPr>
        <p:txBody>
          <a:bodyPr wrap="square" lIns="0" tIns="0" rIns="0" bIns="0" rtlCol="0" anchor="ctr"/>
          <a:lstStyle/>
          <a:p>
            <a:pPr algn="ctr" indent="0" marL="0">
              <a:buNone/>
            </a:pPr>
            <a:r>
              <a:rPr lang="en-US" sz="1150" b="1" dirty="0">
                <a:solidFill>
                  <a:srgbClr val="CADCFC"/>
                </a:solidFill>
                <a:latin typeface="Apple SD Gothic Neo" pitchFamily="34" charset="0"/>
                <a:ea typeface="Apple SD Gothic Neo" pitchFamily="34" charset="-122"/>
                <a:cs typeface="Apple SD Gothic Neo" pitchFamily="34" charset="-120"/>
              </a:rPr>
              <a:t>AI 웹 서비스 설계 Mini-project</a:t>
            </a:r>
            <a:endParaRPr lang="en-US" sz="1150" dirty="0"/>
          </a:p>
        </p:txBody>
      </p:sp>
      <p:sp>
        <p:nvSpPr>
          <p:cNvPr id="4" name="Text 2"/>
          <p:cNvSpPr txBox="1"/>
          <p:nvPr/>
        </p:nvSpPr>
        <p:spPr>
          <a:xfrm>
            <a:off x="822960" y="1965960"/>
            <a:ext cx="6949440" cy="914400"/>
          </a:xfrm>
          <a:prstGeom prst="rect">
            <a:avLst/>
          </a:prstGeom>
          <a:noFill/>
          <a:ln/>
        </p:spPr>
        <p:txBody>
          <a:bodyPr wrap="square" lIns="0" tIns="0" rIns="0" bIns="0" rtlCol="0" anchor="ctr"/>
          <a:lstStyle/>
          <a:p>
            <a:pPr indent="0" marL="0">
              <a:buNone/>
            </a:pPr>
            <a:r>
              <a:rPr lang="en-US" sz="6000" b="1" dirty="0">
                <a:solidFill>
                  <a:srgbClr val="FFFFFF"/>
                </a:solidFill>
                <a:latin typeface="Apple SD Gothic Neo" pitchFamily="34" charset="0"/>
                <a:ea typeface="Apple SD Gothic Neo" pitchFamily="34" charset="-122"/>
                <a:cs typeface="Apple SD Gothic Neo" pitchFamily="34" charset="-120"/>
              </a:rPr>
              <a:t>DocSure</a:t>
            </a:r>
            <a:endParaRPr lang="en-US" sz="6000" dirty="0"/>
          </a:p>
        </p:txBody>
      </p:sp>
      <p:sp>
        <p:nvSpPr>
          <p:cNvPr id="5" name="Text 3"/>
          <p:cNvSpPr txBox="1"/>
          <p:nvPr/>
        </p:nvSpPr>
        <p:spPr>
          <a:xfrm>
            <a:off x="822960" y="2971800"/>
            <a:ext cx="6949440" cy="411480"/>
          </a:xfrm>
          <a:prstGeom prst="rect">
            <a:avLst/>
          </a:prstGeom>
          <a:noFill/>
          <a:ln/>
        </p:spPr>
        <p:txBody>
          <a:bodyPr wrap="square" lIns="0" tIns="0" rIns="0" bIns="0" rtlCol="0" anchor="ctr"/>
          <a:lstStyle/>
          <a:p>
            <a:pPr indent="0" marL="0">
              <a:buNone/>
            </a:pPr>
            <a:r>
              <a:rPr lang="en-US" sz="2000" dirty="0">
                <a:solidFill>
                  <a:srgbClr val="CADCFC"/>
                </a:solidFill>
                <a:latin typeface="Apple SD Gothic Neo" pitchFamily="34" charset="0"/>
                <a:ea typeface="Apple SD Gothic Neo" pitchFamily="34" charset="-122"/>
                <a:cs typeface="Apple SD Gothic Neo" pitchFamily="34" charset="-120"/>
              </a:rPr>
              <a:t>기업대출 제출서류 사전검수 · 보완관리 서비스</a:t>
            </a:r>
            <a:endParaRPr lang="en-US" sz="2000" dirty="0"/>
          </a:p>
        </p:txBody>
      </p:sp>
      <p:sp>
        <p:nvSpPr>
          <p:cNvPr id="6" name="Text 4"/>
          <p:cNvSpPr txBox="1"/>
          <p:nvPr/>
        </p:nvSpPr>
        <p:spPr>
          <a:xfrm>
            <a:off x="822960" y="3456432"/>
            <a:ext cx="6949440" cy="365760"/>
          </a:xfrm>
          <a:prstGeom prst="rect">
            <a:avLst/>
          </a:prstGeom>
          <a:noFill/>
          <a:ln/>
        </p:spPr>
        <p:txBody>
          <a:bodyPr wrap="square" lIns="0" tIns="0" rIns="0" bIns="0" rtlCol="0" anchor="ctr"/>
          <a:lstStyle/>
          <a:p>
            <a:pPr indent="0" marL="0">
              <a:buNone/>
            </a:pPr>
            <a:r>
              <a:rPr lang="en-US" sz="1300" dirty="0">
                <a:solidFill>
                  <a:srgbClr val="8FA3C8"/>
                </a:solidFill>
                <a:latin typeface="Apple SD Gothic Neo" pitchFamily="34" charset="0"/>
                <a:ea typeface="Apple SD Gothic Neo" pitchFamily="34" charset="-122"/>
                <a:cs typeface="Apple SD Gothic Neo" pitchFamily="34" charset="-120"/>
              </a:rPr>
              <a:t>필수서류 누락 · 유효기간 · 서류 간 기업정보 불일치를 접수 전에 잡는다</a:t>
            </a:r>
            <a:endParaRPr lang="en-US" sz="1300" dirty="0"/>
          </a:p>
        </p:txBody>
      </p:sp>
      <p:sp>
        <p:nvSpPr>
          <p:cNvPr id="7" name="Text 5"/>
          <p:cNvSpPr txBox="1"/>
          <p:nvPr/>
        </p:nvSpPr>
        <p:spPr>
          <a:xfrm>
            <a:off x="822960" y="5257800"/>
            <a:ext cx="5486400" cy="320040"/>
          </a:xfrm>
          <a:prstGeom prst="rect">
            <a:avLst/>
          </a:prstGeom>
          <a:noFill/>
          <a:ln/>
        </p:spPr>
        <p:txBody>
          <a:bodyPr wrap="square" lIns="0" tIns="0" rIns="0" bIns="0" rtlCol="0" anchor="ctr"/>
          <a:lstStyle/>
          <a:p>
            <a:pPr indent="0" marL="0">
              <a:buNone/>
            </a:pPr>
            <a:r>
              <a:rPr lang="en-US" sz="1300" b="1" dirty="0">
                <a:solidFill>
                  <a:srgbClr val="CADCFC"/>
                </a:solidFill>
                <a:latin typeface="Apple SD Gothic Neo" pitchFamily="34" charset="0"/>
                <a:ea typeface="Apple SD Gothic Neo" pitchFamily="34" charset="-122"/>
                <a:cs typeface="Apple SD Gothic Neo" pitchFamily="34" charset="-120"/>
              </a:rPr>
              <a:t>판교5  ·  홍은비  ·  2026. 09</a:t>
            </a:r>
            <a:endParaRPr lang="en-US" sz="1300" dirty="0"/>
          </a:p>
        </p:txBody>
      </p:sp>
      <p:sp>
        <p:nvSpPr>
          <p:cNvPr id="8" name="Shape 6"/>
          <p:cNvSpPr/>
          <p:nvPr/>
        </p:nvSpPr>
        <p:spPr>
          <a:xfrm>
            <a:off x="8366760" y="1874520"/>
            <a:ext cx="3017520" cy="841248"/>
          </a:xfrm>
          <a:prstGeom prst="roundRect">
            <a:avLst>
              <a:gd name="adj" fmla="val 9783"/>
            </a:avLst>
          </a:prstGeom>
          <a:solidFill>
            <a:srgbClr val="1E2761"/>
          </a:solidFill>
          <a:ln w="12700">
            <a:solidFill>
              <a:srgbClr val="2E3D7A"/>
            </a:solidFill>
            <a:prstDash val="solid"/>
          </a:ln>
        </p:spPr>
      </p:sp>
      <p:sp>
        <p:nvSpPr>
          <p:cNvPr id="9" name="Shape 7"/>
          <p:cNvSpPr/>
          <p:nvPr/>
        </p:nvSpPr>
        <p:spPr>
          <a:xfrm>
            <a:off x="8613648" y="2130552"/>
            <a:ext cx="329184" cy="329184"/>
          </a:xfrm>
          <a:prstGeom prst="ellipse">
            <a:avLst/>
          </a:prstGeom>
          <a:solidFill>
            <a:srgbClr val="CADCFC"/>
          </a:solidFill>
          <a:ln w="12700">
            <a:solidFill>
              <a:srgbClr val="CADCFC"/>
            </a:solidFill>
            <a:prstDash val="solid"/>
          </a:ln>
        </p:spPr>
      </p:sp>
      <p:sp>
        <p:nvSpPr>
          <p:cNvPr id="10" name="Text 8"/>
          <p:cNvSpPr txBox="1"/>
          <p:nvPr/>
        </p:nvSpPr>
        <p:spPr>
          <a:xfrm>
            <a:off x="8613648" y="2130552"/>
            <a:ext cx="329184" cy="329184"/>
          </a:xfrm>
          <a:prstGeom prst="rect">
            <a:avLst/>
          </a:prstGeom>
          <a:noFill/>
          <a:ln/>
        </p:spPr>
        <p:txBody>
          <a:bodyPr wrap="square" lIns="0" tIns="0" rIns="0" bIns="0" rtlCol="0" anchor="ctr"/>
          <a:lstStyle/>
          <a:p>
            <a:pPr algn="ctr" indent="0" marL="0">
              <a:buNone/>
            </a:pPr>
            <a:r>
              <a:rPr lang="en-US" sz="1400" b="1" dirty="0">
                <a:solidFill>
                  <a:srgbClr val="141B45"/>
                </a:solidFill>
                <a:latin typeface="Apple SD Gothic Neo" pitchFamily="34" charset="0"/>
                <a:ea typeface="Apple SD Gothic Neo" pitchFamily="34" charset="-122"/>
                <a:cs typeface="Apple SD Gothic Neo" pitchFamily="34" charset="-120"/>
              </a:rPr>
              <a:t>✓</a:t>
            </a:r>
            <a:endParaRPr lang="en-US" sz="1400" dirty="0"/>
          </a:p>
        </p:txBody>
      </p:sp>
      <p:sp>
        <p:nvSpPr>
          <p:cNvPr id="11" name="Text 9"/>
          <p:cNvSpPr txBox="1"/>
          <p:nvPr/>
        </p:nvSpPr>
        <p:spPr>
          <a:xfrm>
            <a:off x="9070848" y="2020824"/>
            <a:ext cx="2148840" cy="274320"/>
          </a:xfrm>
          <a:prstGeom prst="rect">
            <a:avLst/>
          </a:prstGeom>
          <a:noFill/>
          <a:ln/>
        </p:spPr>
        <p:txBody>
          <a:bodyPr wrap="square" lIns="0" tIns="0" rIns="0" bIns="0" rtlCol="0" anchor="ct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사업자등록증</a:t>
            </a:r>
            <a:endParaRPr lang="en-US" sz="1300" dirty="0"/>
          </a:p>
        </p:txBody>
      </p:sp>
      <p:sp>
        <p:nvSpPr>
          <p:cNvPr id="12" name="Text 10"/>
          <p:cNvSpPr txBox="1"/>
          <p:nvPr/>
        </p:nvSpPr>
        <p:spPr>
          <a:xfrm>
            <a:off x="9070848" y="2295144"/>
            <a:ext cx="2148840" cy="256032"/>
          </a:xfrm>
          <a:prstGeom prst="rect">
            <a:avLst/>
          </a:prstGeom>
          <a:noFill/>
          <a:ln/>
        </p:spPr>
        <p:txBody>
          <a:bodyPr wrap="square" lIns="0" tIns="0" rIns="0" bIns="0" rtlCol="0" anchor="ctr"/>
          <a:lstStyle/>
          <a:p>
            <a:pPr indent="0" marL="0">
              <a:buNone/>
            </a:pPr>
            <a:r>
              <a:rPr lang="en-US" sz="1100" dirty="0">
                <a:solidFill>
                  <a:srgbClr val="CADCFC"/>
                </a:solidFill>
                <a:latin typeface="Apple SD Gothic Neo" pitchFamily="34" charset="0"/>
                <a:ea typeface="Apple SD Gothic Neo" pitchFamily="34" charset="-122"/>
                <a:cs typeface="Apple SD Gothic Neo" pitchFamily="34" charset="-120"/>
              </a:rPr>
              <a:t>정상</a:t>
            </a:r>
            <a:endParaRPr lang="en-US" sz="1100" dirty="0"/>
          </a:p>
        </p:txBody>
      </p:sp>
      <p:sp>
        <p:nvSpPr>
          <p:cNvPr id="13" name="Shape 11"/>
          <p:cNvSpPr/>
          <p:nvPr/>
        </p:nvSpPr>
        <p:spPr>
          <a:xfrm>
            <a:off x="8366760" y="2926080"/>
            <a:ext cx="3017520" cy="841248"/>
          </a:xfrm>
          <a:prstGeom prst="roundRect">
            <a:avLst>
              <a:gd name="adj" fmla="val 9783"/>
            </a:avLst>
          </a:prstGeom>
          <a:solidFill>
            <a:srgbClr val="1E2761"/>
          </a:solidFill>
          <a:ln w="12700">
            <a:solidFill>
              <a:srgbClr val="E2603F"/>
            </a:solidFill>
            <a:prstDash val="solid"/>
          </a:ln>
        </p:spPr>
      </p:sp>
      <p:sp>
        <p:nvSpPr>
          <p:cNvPr id="14" name="Shape 12"/>
          <p:cNvSpPr/>
          <p:nvPr/>
        </p:nvSpPr>
        <p:spPr>
          <a:xfrm>
            <a:off x="8613648" y="3182112"/>
            <a:ext cx="329184" cy="329184"/>
          </a:xfrm>
          <a:prstGeom prst="ellipse">
            <a:avLst/>
          </a:prstGeom>
          <a:solidFill>
            <a:srgbClr val="E2603F"/>
          </a:solidFill>
          <a:ln w="12700">
            <a:solidFill>
              <a:srgbClr val="E2603F"/>
            </a:solidFill>
            <a:prstDash val="solid"/>
          </a:ln>
        </p:spPr>
      </p:sp>
      <p:sp>
        <p:nvSpPr>
          <p:cNvPr id="15" name="Text 13"/>
          <p:cNvSpPr txBox="1"/>
          <p:nvPr/>
        </p:nvSpPr>
        <p:spPr>
          <a:xfrm>
            <a:off x="8613648" y="3182112"/>
            <a:ext cx="329184" cy="329184"/>
          </a:xfrm>
          <a:prstGeom prst="rect">
            <a:avLst/>
          </a:prstGeom>
          <a:noFill/>
          <a:ln/>
        </p:spPr>
        <p:txBody>
          <a:bodyPr wrap="square" lIns="0" tIns="0" rIns="0" bIns="0" rtlCol="0" anchor="ctr"/>
          <a:lstStyle/>
          <a:p>
            <a:pPr algn="ctr" indent="0" marL="0">
              <a:buNone/>
            </a:pPr>
            <a:r>
              <a:rPr lang="en-US" sz="1400" b="1" dirty="0">
                <a:solidFill>
                  <a:srgbClr val="141B45"/>
                </a:solidFill>
                <a:latin typeface="Apple SD Gothic Neo" pitchFamily="34" charset="0"/>
                <a:ea typeface="Apple SD Gothic Neo" pitchFamily="34" charset="-122"/>
                <a:cs typeface="Apple SD Gothic Neo" pitchFamily="34" charset="-120"/>
              </a:rPr>
              <a:t>!</a:t>
            </a:r>
            <a:endParaRPr lang="en-US" sz="1400" dirty="0"/>
          </a:p>
        </p:txBody>
      </p:sp>
      <p:sp>
        <p:nvSpPr>
          <p:cNvPr id="16" name="Text 14"/>
          <p:cNvSpPr txBox="1"/>
          <p:nvPr/>
        </p:nvSpPr>
        <p:spPr>
          <a:xfrm>
            <a:off x="9070848" y="3072384"/>
            <a:ext cx="2148840" cy="274320"/>
          </a:xfrm>
          <a:prstGeom prst="rect">
            <a:avLst/>
          </a:prstGeom>
          <a:noFill/>
          <a:ln/>
        </p:spPr>
        <p:txBody>
          <a:bodyPr wrap="square" lIns="0" tIns="0" rIns="0" bIns="0" rtlCol="0" anchor="ct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납세증명서</a:t>
            </a:r>
            <a:endParaRPr lang="en-US" sz="1300" dirty="0"/>
          </a:p>
        </p:txBody>
      </p:sp>
      <p:sp>
        <p:nvSpPr>
          <p:cNvPr id="17" name="Text 15"/>
          <p:cNvSpPr txBox="1"/>
          <p:nvPr/>
        </p:nvSpPr>
        <p:spPr>
          <a:xfrm>
            <a:off x="9070848" y="3346704"/>
            <a:ext cx="2148840" cy="256032"/>
          </a:xfrm>
          <a:prstGeom prst="rect">
            <a:avLst/>
          </a:prstGeom>
          <a:noFill/>
          <a:ln/>
        </p:spPr>
        <p:txBody>
          <a:bodyPr wrap="square" lIns="0" tIns="0" rIns="0" bIns="0" rtlCol="0" anchor="ctr"/>
          <a:lstStyle/>
          <a:p>
            <a:pPr indent="0" marL="0">
              <a:buNone/>
            </a:pPr>
            <a:r>
              <a:rPr lang="en-US" sz="1100" dirty="0">
                <a:solidFill>
                  <a:srgbClr val="E2603F"/>
                </a:solidFill>
                <a:latin typeface="Apple SD Gothic Neo" pitchFamily="34" charset="0"/>
                <a:ea typeface="Apple SD Gothic Neo" pitchFamily="34" charset="-122"/>
                <a:cs typeface="Apple SD Gothic Neo" pitchFamily="34" charset="-120"/>
              </a:rPr>
              <a:t>유효기간 만료</a:t>
            </a:r>
            <a:endParaRPr lang="en-US" sz="1100" dirty="0"/>
          </a:p>
        </p:txBody>
      </p:sp>
      <p:sp>
        <p:nvSpPr>
          <p:cNvPr id="18" name="Shape 16"/>
          <p:cNvSpPr/>
          <p:nvPr/>
        </p:nvSpPr>
        <p:spPr>
          <a:xfrm>
            <a:off x="8366760" y="3977640"/>
            <a:ext cx="3017520" cy="841248"/>
          </a:xfrm>
          <a:prstGeom prst="roundRect">
            <a:avLst>
              <a:gd name="adj" fmla="val 9783"/>
            </a:avLst>
          </a:prstGeom>
          <a:solidFill>
            <a:srgbClr val="1E2761"/>
          </a:solidFill>
          <a:ln w="12700">
            <a:solidFill>
              <a:srgbClr val="2E3D7A"/>
            </a:solidFill>
            <a:prstDash val="solid"/>
          </a:ln>
        </p:spPr>
      </p:sp>
      <p:sp>
        <p:nvSpPr>
          <p:cNvPr id="19" name="Shape 17"/>
          <p:cNvSpPr/>
          <p:nvPr/>
        </p:nvSpPr>
        <p:spPr>
          <a:xfrm>
            <a:off x="8613648" y="4233672"/>
            <a:ext cx="329184" cy="329184"/>
          </a:xfrm>
          <a:prstGeom prst="ellipse">
            <a:avLst/>
          </a:prstGeom>
          <a:solidFill>
            <a:srgbClr val="CADCFC"/>
          </a:solidFill>
          <a:ln w="12700">
            <a:solidFill>
              <a:srgbClr val="CADCFC"/>
            </a:solidFill>
            <a:prstDash val="solid"/>
          </a:ln>
        </p:spPr>
      </p:sp>
      <p:sp>
        <p:nvSpPr>
          <p:cNvPr id="20" name="Text 18"/>
          <p:cNvSpPr txBox="1"/>
          <p:nvPr/>
        </p:nvSpPr>
        <p:spPr>
          <a:xfrm>
            <a:off x="8613648" y="4233672"/>
            <a:ext cx="329184" cy="329184"/>
          </a:xfrm>
          <a:prstGeom prst="rect">
            <a:avLst/>
          </a:prstGeom>
          <a:noFill/>
          <a:ln/>
        </p:spPr>
        <p:txBody>
          <a:bodyPr wrap="square" lIns="0" tIns="0" rIns="0" bIns="0" rtlCol="0" anchor="ctr"/>
          <a:lstStyle/>
          <a:p>
            <a:pPr algn="ctr" indent="0" marL="0">
              <a:buNone/>
            </a:pPr>
            <a:r>
              <a:rPr lang="en-US" sz="1400" b="1" dirty="0">
                <a:solidFill>
                  <a:srgbClr val="141B45"/>
                </a:solidFill>
                <a:latin typeface="Apple SD Gothic Neo" pitchFamily="34" charset="0"/>
                <a:ea typeface="Apple SD Gothic Neo" pitchFamily="34" charset="-122"/>
                <a:cs typeface="Apple SD Gothic Neo" pitchFamily="34" charset="-120"/>
              </a:rPr>
              <a:t>✓</a:t>
            </a:r>
            <a:endParaRPr lang="en-US" sz="1400" dirty="0"/>
          </a:p>
        </p:txBody>
      </p:sp>
      <p:sp>
        <p:nvSpPr>
          <p:cNvPr id="21" name="Text 19"/>
          <p:cNvSpPr txBox="1"/>
          <p:nvPr/>
        </p:nvSpPr>
        <p:spPr>
          <a:xfrm>
            <a:off x="9070848" y="4123944"/>
            <a:ext cx="2148840" cy="274320"/>
          </a:xfrm>
          <a:prstGeom prst="rect">
            <a:avLst/>
          </a:prstGeom>
          <a:noFill/>
          <a:ln/>
        </p:spPr>
        <p:txBody>
          <a:bodyPr wrap="square" lIns="0" tIns="0" rIns="0" bIns="0" rtlCol="0" anchor="ct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표준재무제표증명</a:t>
            </a:r>
            <a:endParaRPr lang="en-US" sz="1300" dirty="0"/>
          </a:p>
        </p:txBody>
      </p:sp>
      <p:sp>
        <p:nvSpPr>
          <p:cNvPr id="22" name="Text 20"/>
          <p:cNvSpPr txBox="1"/>
          <p:nvPr/>
        </p:nvSpPr>
        <p:spPr>
          <a:xfrm>
            <a:off x="9070848" y="4398264"/>
            <a:ext cx="2148840" cy="256032"/>
          </a:xfrm>
          <a:prstGeom prst="rect">
            <a:avLst/>
          </a:prstGeom>
          <a:noFill/>
          <a:ln/>
        </p:spPr>
        <p:txBody>
          <a:bodyPr wrap="square" lIns="0" tIns="0" rIns="0" bIns="0" rtlCol="0" anchor="ctr"/>
          <a:lstStyle/>
          <a:p>
            <a:pPr indent="0" marL="0">
              <a:buNone/>
            </a:pPr>
            <a:r>
              <a:rPr lang="en-US" sz="1100" dirty="0">
                <a:solidFill>
                  <a:srgbClr val="CADCFC"/>
                </a:solidFill>
                <a:latin typeface="Apple SD Gothic Neo" pitchFamily="34" charset="0"/>
                <a:ea typeface="Apple SD Gothic Neo" pitchFamily="34" charset="-122"/>
                <a:cs typeface="Apple SD Gothic Neo" pitchFamily="34" charset="-120"/>
              </a:rPr>
              <a:t>정상</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200" b="1" spc="100" kern="0" dirty="0">
                <a:solidFill>
                  <a:srgbClr val="E2603F"/>
                </a:solidFill>
                <a:latin typeface="Apple SD Gothic Neo" pitchFamily="34" charset="0"/>
                <a:ea typeface="Apple SD Gothic Neo" pitchFamily="34" charset="-122"/>
                <a:cs typeface="Apple SD Gothic Neo" pitchFamily="34" charset="-120"/>
              </a:rPr>
              <a:t>기획 배경</a:t>
            </a:r>
            <a:endParaRPr lang="en-US" sz="1200" dirty="0"/>
          </a:p>
        </p:txBody>
      </p:sp>
      <p:sp>
        <p:nvSpPr>
          <p:cNvPr id="3" name="Text 1"/>
          <p:cNvSpPr txBox="1"/>
          <p:nvPr/>
        </p:nvSpPr>
        <p:spPr>
          <a:xfrm>
            <a:off x="640080" y="658368"/>
            <a:ext cx="10908792" cy="621792"/>
          </a:xfrm>
          <a:prstGeom prst="rect">
            <a:avLst/>
          </a:prstGeom>
          <a:noFill/>
          <a:ln/>
        </p:spPr>
        <p:txBody>
          <a:bodyPr wrap="square" lIns="0" tIns="0" rIns="0" bIns="0" rtlCol="0" anchor="t"/>
          <a:lstStyle/>
          <a:p>
            <a:pPr indent="0" marL="0">
              <a:buNone/>
            </a:pPr>
            <a:r>
              <a:rPr lang="en-US" sz="3000" b="1" dirty="0">
                <a:solidFill>
                  <a:srgbClr val="1E2761"/>
                </a:solidFill>
                <a:latin typeface="Apple SD Gothic Neo" pitchFamily="34" charset="0"/>
                <a:ea typeface="Apple SD Gothic Neo" pitchFamily="34" charset="-122"/>
                <a:cs typeface="Apple SD Gothic Neo" pitchFamily="34" charset="-120"/>
              </a:rPr>
              <a:t>자동화는 이미 시작됐지만, 그 앞단은 비어 있다</a:t>
            </a:r>
            <a:endParaRPr lang="en-US" sz="3000" dirty="0"/>
          </a:p>
        </p:txBody>
      </p:sp>
      <p:sp>
        <p:nvSpPr>
          <p:cNvPr id="4" name="Shape 2"/>
          <p:cNvSpPr/>
          <p:nvPr/>
        </p:nvSpPr>
        <p:spPr>
          <a:xfrm>
            <a:off x="640080" y="1572768"/>
            <a:ext cx="3447288" cy="3611880"/>
          </a:xfrm>
          <a:prstGeom prst="roundRect">
            <a:avLst>
              <a:gd name="adj" fmla="val 2387"/>
            </a:avLst>
          </a:prstGeom>
          <a:solidFill>
            <a:srgbClr val="F2F6FC"/>
          </a:solidFill>
          <a:ln w="12700">
            <a:solidFill>
              <a:srgbClr val="E3EAF5"/>
            </a:solidFill>
            <a:prstDash val="solid"/>
          </a:ln>
        </p:spPr>
      </p:sp>
      <p:sp>
        <p:nvSpPr>
          <p:cNvPr id="5" name="Shape 3"/>
          <p:cNvSpPr/>
          <p:nvPr/>
        </p:nvSpPr>
        <p:spPr>
          <a:xfrm>
            <a:off x="932688" y="1883664"/>
            <a:ext cx="402336" cy="402336"/>
          </a:xfrm>
          <a:prstGeom prst="ellipse">
            <a:avLst/>
          </a:prstGeom>
          <a:solidFill>
            <a:srgbClr val="1E2761"/>
          </a:solidFill>
          <a:ln w="12700">
            <a:solidFill>
              <a:srgbClr val="1E2761"/>
            </a:solidFill>
            <a:prstDash val="solid"/>
          </a:ln>
        </p:spPr>
      </p:sp>
      <p:sp>
        <p:nvSpPr>
          <p:cNvPr id="6" name="Text 4"/>
          <p:cNvSpPr txBox="1"/>
          <p:nvPr/>
        </p:nvSpPr>
        <p:spPr>
          <a:xfrm>
            <a:off x="932688" y="18836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7" name="Text 5"/>
          <p:cNvSpPr txBox="1"/>
          <p:nvPr/>
        </p:nvSpPr>
        <p:spPr>
          <a:xfrm>
            <a:off x="932688" y="2414016"/>
            <a:ext cx="2862072" cy="777240"/>
          </a:xfrm>
          <a:prstGeom prst="rect">
            <a:avLst/>
          </a:prstGeom>
          <a:noFill/>
          <a:ln/>
        </p:spPr>
        <p:txBody>
          <a:bodyPr wrap="square" lIns="0" tIns="0" rIns="0" bIns="0" rtlCol="0" anchor="t"/>
          <a:lstStyle/>
          <a:p>
            <a:pPr indent="0" marL="0">
              <a:lnSpc>
                <a:spcPct val="115000"/>
              </a:lnSpc>
              <a:buNone/>
            </a:pPr>
            <a:r>
              <a:rPr lang="en-US" sz="1600" b="1" dirty="0">
                <a:solidFill>
                  <a:srgbClr val="1E2761"/>
                </a:solidFill>
                <a:latin typeface="Apple SD Gothic Neo" pitchFamily="34" charset="0"/>
                <a:ea typeface="Apple SD Gothic Neo" pitchFamily="34" charset="-122"/>
                <a:cs typeface="Apple SD Gothic Neo" pitchFamily="34" charset="-120"/>
              </a:rPr>
              <a:t>은행은 이미 AI로</a:t>
            </a:r>
            <a:endParaRPr lang="en-US" sz="1600" dirty="0"/>
          </a:p>
          <a:p>
            <a:pPr indent="0" marL="0">
              <a:lnSpc>
                <a:spcPct val="115000"/>
              </a:lnSpc>
              <a:buNone/>
            </a:pPr>
            <a:r>
              <a:rPr lang="en-US" sz="1600" b="1" dirty="0">
                <a:solidFill>
                  <a:srgbClr val="1E2761"/>
                </a:solidFill>
                <a:latin typeface="Apple SD Gothic Neo" pitchFamily="34" charset="0"/>
                <a:ea typeface="Apple SD Gothic Neo" pitchFamily="34" charset="-122"/>
                <a:cs typeface="Apple SD Gothic Neo" pitchFamily="34" charset="-120"/>
              </a:rPr>
              <a:t>여신심사를 바꾸고 있다</a:t>
            </a:r>
            <a:endParaRPr lang="en-US" sz="1600" dirty="0"/>
          </a:p>
        </p:txBody>
      </p:sp>
      <p:sp>
        <p:nvSpPr>
          <p:cNvPr id="8" name="Text 6"/>
          <p:cNvSpPr txBox="1"/>
          <p:nvPr/>
        </p:nvSpPr>
        <p:spPr>
          <a:xfrm>
            <a:off x="932688" y="3273552"/>
            <a:ext cx="2862072" cy="1737360"/>
          </a:xfrm>
          <a:prstGeom prst="rect">
            <a:avLst/>
          </a:prstGeom>
          <a:noFill/>
          <a:ln/>
        </p:spPr>
        <p:txBody>
          <a:bodyPr wrap="square" lIns="0" tIns="0" rIns="0" bIns="0" rtlCol="0" anchor="t"/>
          <a:lstStyle/>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하나은행 : 기업신용평가 심사의견 작성</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30분 → 10초, 연 2.7만 시간 절감 (26.3)</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신한은행 : 여신심사지원 Agent 도입,</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12개 산업군별 분석 엔진 (26.3)</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은행장 50% 가 하반기 전략으로</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'AI 여신심사·평가 고도화' 선정</a:t>
            </a:r>
            <a:endParaRPr lang="en-US" sz="1150" dirty="0"/>
          </a:p>
        </p:txBody>
      </p:sp>
      <p:sp>
        <p:nvSpPr>
          <p:cNvPr id="9" name="Shape 7"/>
          <p:cNvSpPr/>
          <p:nvPr/>
        </p:nvSpPr>
        <p:spPr>
          <a:xfrm>
            <a:off x="4370832" y="1572768"/>
            <a:ext cx="3447288" cy="3611880"/>
          </a:xfrm>
          <a:prstGeom prst="roundRect">
            <a:avLst>
              <a:gd name="adj" fmla="val 2387"/>
            </a:avLst>
          </a:prstGeom>
          <a:solidFill>
            <a:srgbClr val="F2F6FC"/>
          </a:solidFill>
          <a:ln w="12700">
            <a:solidFill>
              <a:srgbClr val="E3EAF5"/>
            </a:solidFill>
            <a:prstDash val="solid"/>
          </a:ln>
        </p:spPr>
      </p:sp>
      <p:sp>
        <p:nvSpPr>
          <p:cNvPr id="10" name="Shape 8"/>
          <p:cNvSpPr/>
          <p:nvPr/>
        </p:nvSpPr>
        <p:spPr>
          <a:xfrm>
            <a:off x="4663440" y="1883664"/>
            <a:ext cx="402336" cy="402336"/>
          </a:xfrm>
          <a:prstGeom prst="ellipse">
            <a:avLst/>
          </a:prstGeom>
          <a:solidFill>
            <a:srgbClr val="1E2761"/>
          </a:solidFill>
          <a:ln w="12700">
            <a:solidFill>
              <a:srgbClr val="1E2761"/>
            </a:solidFill>
            <a:prstDash val="solid"/>
          </a:ln>
        </p:spPr>
      </p:sp>
      <p:sp>
        <p:nvSpPr>
          <p:cNvPr id="11" name="Text 9"/>
          <p:cNvSpPr txBox="1"/>
          <p:nvPr/>
        </p:nvSpPr>
        <p:spPr>
          <a:xfrm>
            <a:off x="4663440" y="18836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12" name="Text 10"/>
          <p:cNvSpPr txBox="1"/>
          <p:nvPr/>
        </p:nvSpPr>
        <p:spPr>
          <a:xfrm>
            <a:off x="4663440" y="2414016"/>
            <a:ext cx="2862072" cy="777240"/>
          </a:xfrm>
          <a:prstGeom prst="rect">
            <a:avLst/>
          </a:prstGeom>
          <a:noFill/>
          <a:ln/>
        </p:spPr>
        <p:txBody>
          <a:bodyPr wrap="square" lIns="0" tIns="0" rIns="0" bIns="0" rtlCol="0" anchor="t"/>
          <a:lstStyle/>
          <a:p>
            <a:pPr indent="0" marL="0">
              <a:lnSpc>
                <a:spcPct val="115000"/>
              </a:lnSpc>
              <a:buNone/>
            </a:pPr>
            <a:r>
              <a:rPr lang="en-US" sz="1600" b="1" dirty="0">
                <a:solidFill>
                  <a:srgbClr val="1E2761"/>
                </a:solidFill>
                <a:latin typeface="Apple SD Gothic Neo" pitchFamily="34" charset="0"/>
                <a:ea typeface="Apple SD Gothic Neo" pitchFamily="34" charset="-122"/>
                <a:cs typeface="Apple SD Gothic Neo" pitchFamily="34" charset="-120"/>
              </a:rPr>
              <a:t>그런데 자동화된 것은</a:t>
            </a:r>
            <a:endParaRPr lang="en-US" sz="1600" dirty="0"/>
          </a:p>
          <a:p>
            <a:pPr indent="0" marL="0">
              <a:lnSpc>
                <a:spcPct val="115000"/>
              </a:lnSpc>
              <a:buNone/>
            </a:pPr>
            <a:r>
              <a:rPr lang="en-US" sz="1600" b="1" dirty="0">
                <a:solidFill>
                  <a:srgbClr val="1E2761"/>
                </a:solidFill>
                <a:latin typeface="Apple SD Gothic Neo" pitchFamily="34" charset="0"/>
                <a:ea typeface="Apple SD Gothic Neo" pitchFamily="34" charset="-122"/>
                <a:cs typeface="Apple SD Gothic Neo" pitchFamily="34" charset="-120"/>
              </a:rPr>
              <a:t>'심사의견 작성'이다</a:t>
            </a:r>
            <a:endParaRPr lang="en-US" sz="1600" dirty="0"/>
          </a:p>
        </p:txBody>
      </p:sp>
      <p:sp>
        <p:nvSpPr>
          <p:cNvPr id="13" name="Text 11"/>
          <p:cNvSpPr txBox="1"/>
          <p:nvPr/>
        </p:nvSpPr>
        <p:spPr>
          <a:xfrm>
            <a:off x="4663440" y="3273552"/>
            <a:ext cx="2862072" cy="1737360"/>
          </a:xfrm>
          <a:prstGeom prst="rect">
            <a:avLst/>
          </a:prstGeom>
          <a:noFill/>
          <a:ln/>
        </p:spPr>
        <p:txBody>
          <a:bodyPr wrap="square" lIns="0" tIns="0" rIns="0" bIns="0" rtlCol="0" anchor="t"/>
          <a:lstStyle/>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서류가 이미 정상 접수된 뒤의 단계</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서류 접수·검증을 건드린 곳은</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수출입은행 한 곳 (26.7 착수)</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그마저 은행 심사역이 쓰는 내부 도구,</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'AI는 보조·최종 판단은 담당자' 원칙</a:t>
            </a:r>
            <a:endParaRPr lang="en-US" sz="1150" dirty="0"/>
          </a:p>
        </p:txBody>
      </p:sp>
      <p:sp>
        <p:nvSpPr>
          <p:cNvPr id="14" name="Shape 12"/>
          <p:cNvSpPr/>
          <p:nvPr/>
        </p:nvSpPr>
        <p:spPr>
          <a:xfrm>
            <a:off x="8101584" y="1572768"/>
            <a:ext cx="3447288" cy="3611880"/>
          </a:xfrm>
          <a:prstGeom prst="roundRect">
            <a:avLst>
              <a:gd name="adj" fmla="val 2387"/>
            </a:avLst>
          </a:prstGeom>
          <a:solidFill>
            <a:srgbClr val="FDF1EE"/>
          </a:solidFill>
          <a:ln w="12700">
            <a:solidFill>
              <a:srgbClr val="F5D8CF"/>
            </a:solidFill>
            <a:prstDash val="solid"/>
          </a:ln>
        </p:spPr>
      </p:sp>
      <p:sp>
        <p:nvSpPr>
          <p:cNvPr id="15" name="Shape 13"/>
          <p:cNvSpPr/>
          <p:nvPr/>
        </p:nvSpPr>
        <p:spPr>
          <a:xfrm>
            <a:off x="8394192" y="1883664"/>
            <a:ext cx="402336" cy="402336"/>
          </a:xfrm>
          <a:prstGeom prst="ellipse">
            <a:avLst/>
          </a:prstGeom>
          <a:solidFill>
            <a:srgbClr val="E2603F"/>
          </a:solidFill>
          <a:ln w="12700">
            <a:solidFill>
              <a:srgbClr val="E2603F"/>
            </a:solidFill>
            <a:prstDash val="solid"/>
          </a:ln>
        </p:spPr>
      </p:sp>
      <p:sp>
        <p:nvSpPr>
          <p:cNvPr id="16" name="Text 14"/>
          <p:cNvSpPr txBox="1"/>
          <p:nvPr/>
        </p:nvSpPr>
        <p:spPr>
          <a:xfrm>
            <a:off x="8394192" y="18836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17" name="Text 15"/>
          <p:cNvSpPr txBox="1"/>
          <p:nvPr/>
        </p:nvSpPr>
        <p:spPr>
          <a:xfrm>
            <a:off x="8394192" y="2414016"/>
            <a:ext cx="2862072" cy="777240"/>
          </a:xfrm>
          <a:prstGeom prst="rect">
            <a:avLst/>
          </a:prstGeom>
          <a:noFill/>
          <a:ln/>
        </p:spPr>
        <p:txBody>
          <a:bodyPr wrap="square" lIns="0" tIns="0" rIns="0" bIns="0" rtlCol="0" anchor="t"/>
          <a:lstStyle/>
          <a:p>
            <a:pPr indent="0" marL="0">
              <a:lnSpc>
                <a:spcPct val="115000"/>
              </a:lnSpc>
              <a:buNone/>
            </a:pPr>
            <a:r>
              <a:rPr lang="en-US" sz="1600" b="1" dirty="0">
                <a:solidFill>
                  <a:srgbClr val="1E2761"/>
                </a:solidFill>
                <a:latin typeface="Apple SD Gothic Neo" pitchFamily="34" charset="0"/>
                <a:ea typeface="Apple SD Gothic Neo" pitchFamily="34" charset="-122"/>
                <a:cs typeface="Apple SD Gothic Neo" pitchFamily="34" charset="-120"/>
              </a:rPr>
              <a:t>서류를 만드는</a:t>
            </a:r>
            <a:endParaRPr lang="en-US" sz="1600" dirty="0"/>
          </a:p>
          <a:p>
            <a:pPr indent="0" marL="0">
              <a:lnSpc>
                <a:spcPct val="115000"/>
              </a:lnSpc>
              <a:buNone/>
            </a:pPr>
            <a:r>
              <a:rPr lang="en-US" sz="1600" b="1" dirty="0">
                <a:solidFill>
                  <a:srgbClr val="1E2761"/>
                </a:solidFill>
                <a:latin typeface="Apple SD Gothic Neo" pitchFamily="34" charset="0"/>
                <a:ea typeface="Apple SD Gothic Neo" pitchFamily="34" charset="-122"/>
                <a:cs typeface="Apple SD Gothic Neo" pitchFamily="34" charset="-120"/>
              </a:rPr>
              <a:t>기업 고객은 그대로다</a:t>
            </a:r>
            <a:endParaRPr lang="en-US" sz="1600" dirty="0"/>
          </a:p>
        </p:txBody>
      </p:sp>
      <p:sp>
        <p:nvSpPr>
          <p:cNvPr id="18" name="Text 16"/>
          <p:cNvSpPr txBox="1"/>
          <p:nvPr/>
        </p:nvSpPr>
        <p:spPr>
          <a:xfrm>
            <a:off x="8394192" y="3273552"/>
            <a:ext cx="2862072" cy="1737360"/>
          </a:xfrm>
          <a:prstGeom prst="rect">
            <a:avLst/>
          </a:prstGeom>
          <a:noFill/>
          <a:ln/>
        </p:spPr>
        <p:txBody>
          <a:bodyPr wrap="square" lIns="0" tIns="0" rIns="0" bIns="0" rtlCol="0" anchor="t"/>
          <a:lstStyle/>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누락·만료·불일치를 '반려'로 통보받음</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보완 요청 → 재제출 → 이전본과 재대조</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은행 자동화는 전부 내부 도구,</a:t>
            </a:r>
            <a:endParaRPr lang="en-US" sz="1150" dirty="0"/>
          </a:p>
          <a:p>
            <a:pPr marL="342900" indent="-342900">
              <a:lnSpc>
                <a:spcPct val="125000"/>
              </a:lnSpc>
              <a:spcAft>
                <a:spcPts val="600"/>
              </a:spcAft>
              <a:buSzPct val="100000"/>
              <a:buChar char="•"/>
            </a:pPr>
            <a:r>
              <a:rPr lang="en-US" sz="1150" dirty="0">
                <a:solidFill>
                  <a:srgbClr val="5C6B8A"/>
                </a:solidFill>
                <a:latin typeface="Apple SD Gothic Neo" pitchFamily="34" charset="0"/>
                <a:ea typeface="Apple SD Gothic Neo" pitchFamily="34" charset="-122"/>
                <a:cs typeface="Apple SD Gothic Neo" pitchFamily="34" charset="-120"/>
              </a:rPr>
              <a:t>제출하는 쪽을 위한 도구는 없다</a:t>
            </a:r>
            <a:endParaRPr lang="en-US" sz="1150" dirty="0"/>
          </a:p>
        </p:txBody>
      </p:sp>
      <p:sp>
        <p:nvSpPr>
          <p:cNvPr id="19" name="Shape 17"/>
          <p:cNvSpPr/>
          <p:nvPr/>
        </p:nvSpPr>
        <p:spPr>
          <a:xfrm>
            <a:off x="640080" y="5349240"/>
            <a:ext cx="10908792" cy="566928"/>
          </a:xfrm>
          <a:prstGeom prst="roundRect">
            <a:avLst>
              <a:gd name="adj" fmla="val 16129"/>
            </a:avLst>
          </a:prstGeom>
          <a:solidFill>
            <a:srgbClr val="1E2761"/>
          </a:solidFill>
          <a:ln w="12700">
            <a:solidFill>
              <a:srgbClr val="1E2761"/>
            </a:solidFill>
            <a:prstDash val="solid"/>
          </a:ln>
        </p:spPr>
      </p:sp>
      <p:sp>
        <p:nvSpPr>
          <p:cNvPr id="20" name="Text 18"/>
          <p:cNvSpPr txBox="1"/>
          <p:nvPr/>
        </p:nvSpPr>
        <p:spPr>
          <a:xfrm>
            <a:off x="640080" y="5349240"/>
            <a:ext cx="10908792"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pple SD Gothic Neo" pitchFamily="34" charset="0"/>
                <a:ea typeface="Apple SD Gothic Neo" pitchFamily="34" charset="-122"/>
                <a:cs typeface="Apple SD Gothic Neo" pitchFamily="34" charset="-120"/>
              </a:rPr>
              <a:t>비어 있는 자리 : </a:t>
            </a:r>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접수 </a:t>
            </a:r>
            <a:pPr algn="ctr" indent="0" marL="0">
              <a:buNone/>
            </a:pPr>
            <a:r>
              <a:rPr lang="en-US" sz="1600" b="1" dirty="0">
                <a:solidFill>
                  <a:srgbClr val="E2603F"/>
                </a:solidFill>
                <a:latin typeface="Apple SD Gothic Neo" pitchFamily="34" charset="0"/>
                <a:ea typeface="Apple SD Gothic Neo" pitchFamily="34" charset="-122"/>
                <a:cs typeface="Apple SD Gothic Neo" pitchFamily="34" charset="-120"/>
              </a:rPr>
              <a:t>전</a:t>
            </a:r>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 단계 · 그리고 </a:t>
            </a:r>
            <a:pPr algn="ctr" indent="0" marL="0">
              <a:buNone/>
            </a:pPr>
            <a:r>
              <a:rPr lang="en-US" sz="1600" b="1" dirty="0">
                <a:solidFill>
                  <a:srgbClr val="E2603F"/>
                </a:solidFill>
                <a:latin typeface="Apple SD Gothic Neo" pitchFamily="34" charset="0"/>
                <a:ea typeface="Apple SD Gothic Neo" pitchFamily="34" charset="-122"/>
                <a:cs typeface="Apple SD Gothic Neo" pitchFamily="34" charset="-120"/>
              </a:rPr>
              <a:t>기업 고객</a:t>
            </a:r>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 쪽</a:t>
            </a:r>
            <a:endParaRPr lang="en-US" sz="1600" dirty="0"/>
          </a:p>
        </p:txBody>
      </p:sp>
      <p:sp>
        <p:nvSpPr>
          <p:cNvPr id="21" name="Text 19"/>
          <p:cNvSpPr txBox="1"/>
          <p:nvPr/>
        </p:nvSpPr>
        <p:spPr>
          <a:xfrm>
            <a:off x="640080" y="6053328"/>
            <a:ext cx="10908792" cy="274320"/>
          </a:xfrm>
          <a:prstGeom prst="rect">
            <a:avLst/>
          </a:prstGeom>
          <a:noFill/>
          <a:ln/>
        </p:spPr>
        <p:txBody>
          <a:bodyPr wrap="square" lIns="0" tIns="0" rIns="0" bIns="0" rtlCol="0" anchor="ctr"/>
          <a:lstStyle/>
          <a:p>
            <a:pPr indent="0" marL="0">
              <a:buNone/>
            </a:pPr>
            <a:r>
              <a:rPr lang="en-US" sz="950" dirty="0">
                <a:solidFill>
                  <a:srgbClr val="9AA6BC"/>
                </a:solidFill>
                <a:latin typeface="Apple SD Gothic Neo" pitchFamily="34" charset="0"/>
                <a:ea typeface="Apple SD Gothic Neo" pitchFamily="34" charset="-122"/>
                <a:cs typeface="Apple SD Gothic Neo" pitchFamily="34" charset="-120"/>
              </a:rPr>
              <a:t>출처 : 전자신문·헤럴드경제(하나은행, 2026.03) / 신한금융 보도자료(2026.03) / 이투데이(수출입은행 2026.07, 은행장 설문)</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200" b="1" spc="100" kern="0" dirty="0">
                <a:solidFill>
                  <a:srgbClr val="E2603F"/>
                </a:solidFill>
                <a:latin typeface="Apple SD Gothic Neo" pitchFamily="34" charset="0"/>
                <a:ea typeface="Apple SD Gothic Neo" pitchFamily="34" charset="-122"/>
                <a:cs typeface="Apple SD Gothic Neo" pitchFamily="34" charset="-120"/>
              </a:rPr>
              <a:t>서비스 개요</a:t>
            </a:r>
            <a:endParaRPr lang="en-US" sz="1200" dirty="0"/>
          </a:p>
        </p:txBody>
      </p:sp>
      <p:sp>
        <p:nvSpPr>
          <p:cNvPr id="3" name="Text 1"/>
          <p:cNvSpPr txBox="1"/>
          <p:nvPr/>
        </p:nvSpPr>
        <p:spPr>
          <a:xfrm>
            <a:off x="640080" y="658368"/>
            <a:ext cx="10908792" cy="621792"/>
          </a:xfrm>
          <a:prstGeom prst="rect">
            <a:avLst/>
          </a:prstGeom>
          <a:noFill/>
          <a:ln/>
        </p:spPr>
        <p:txBody>
          <a:bodyPr wrap="square" lIns="0" tIns="0" rIns="0" bIns="0" rtlCol="0" anchor="t"/>
          <a:lstStyle/>
          <a:p>
            <a:pPr indent="0" marL="0">
              <a:buNone/>
            </a:pPr>
            <a:r>
              <a:rPr lang="en-US" sz="3000" b="1" dirty="0">
                <a:solidFill>
                  <a:srgbClr val="1E2761"/>
                </a:solidFill>
                <a:latin typeface="Apple SD Gothic Neo" pitchFamily="34" charset="0"/>
                <a:ea typeface="Apple SD Gothic Neo" pitchFamily="34" charset="-122"/>
                <a:cs typeface="Apple SD Gothic Neo" pitchFamily="34" charset="-120"/>
              </a:rPr>
              <a:t>제출 전에 스스로 고치고, 은행은 한 화면에서 확인한다</a:t>
            </a:r>
            <a:endParaRPr lang="en-US" sz="3000" dirty="0"/>
          </a:p>
        </p:txBody>
      </p:sp>
      <p:sp>
        <p:nvSpPr>
          <p:cNvPr id="4" name="Text 2"/>
          <p:cNvSpPr txBox="1"/>
          <p:nvPr/>
        </p:nvSpPr>
        <p:spPr>
          <a:xfrm>
            <a:off x="640080" y="1536192"/>
            <a:ext cx="2743200" cy="256032"/>
          </a:xfrm>
          <a:prstGeom prst="rect">
            <a:avLst/>
          </a:prstGeom>
          <a:noFill/>
          <a:ln/>
        </p:spPr>
        <p:txBody>
          <a:bodyPr wrap="square" lIns="0" tIns="0" rIns="0" bIns="0" rtlCol="0" anchor="ctr"/>
          <a:lstStyle/>
          <a:p>
            <a:pPr indent="0" marL="0">
              <a:buNone/>
            </a:pPr>
            <a:r>
              <a:rPr lang="en-US" sz="1200" b="1" dirty="0">
                <a:solidFill>
                  <a:srgbClr val="E2603F"/>
                </a:solidFill>
                <a:latin typeface="Apple SD Gothic Neo" pitchFamily="34" charset="0"/>
                <a:ea typeface="Apple SD Gothic Neo" pitchFamily="34" charset="-122"/>
                <a:cs typeface="Apple SD Gothic Neo" pitchFamily="34" charset="-120"/>
              </a:rPr>
              <a:t>핵심 흐름</a:t>
            </a:r>
            <a:endParaRPr lang="en-US" sz="1200" dirty="0"/>
          </a:p>
        </p:txBody>
      </p:sp>
      <p:sp>
        <p:nvSpPr>
          <p:cNvPr id="5" name="Shape 3"/>
          <p:cNvSpPr/>
          <p:nvPr/>
        </p:nvSpPr>
        <p:spPr>
          <a:xfrm>
            <a:off x="640080" y="1847088"/>
            <a:ext cx="2048256" cy="1170432"/>
          </a:xfrm>
          <a:prstGeom prst="roundRect">
            <a:avLst>
              <a:gd name="adj" fmla="val 7031"/>
            </a:avLst>
          </a:prstGeom>
          <a:solidFill>
            <a:srgbClr val="F2F6FC"/>
          </a:solidFill>
          <a:ln w="12700">
            <a:solidFill>
              <a:srgbClr val="E3EAF5"/>
            </a:solidFill>
            <a:prstDash val="solid"/>
          </a:ln>
        </p:spPr>
      </p:sp>
      <p:sp>
        <p:nvSpPr>
          <p:cNvPr id="6" name="Shape 4"/>
          <p:cNvSpPr/>
          <p:nvPr/>
        </p:nvSpPr>
        <p:spPr>
          <a:xfrm>
            <a:off x="804672" y="1993392"/>
            <a:ext cx="310896" cy="310896"/>
          </a:xfrm>
          <a:prstGeom prst="ellipse">
            <a:avLst/>
          </a:prstGeom>
          <a:solidFill>
            <a:srgbClr val="1E2761"/>
          </a:solidFill>
          <a:ln w="12700">
            <a:solidFill>
              <a:srgbClr val="1E2761"/>
            </a:solidFill>
            <a:prstDash val="solid"/>
          </a:ln>
        </p:spPr>
      </p:sp>
      <p:sp>
        <p:nvSpPr>
          <p:cNvPr id="7" name="Text 5"/>
          <p:cNvSpPr txBox="1"/>
          <p:nvPr/>
        </p:nvSpPr>
        <p:spPr>
          <a:xfrm>
            <a:off x="804672" y="19933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8" name="Text 6"/>
          <p:cNvSpPr txBox="1"/>
          <p:nvPr/>
        </p:nvSpPr>
        <p:spPr>
          <a:xfrm>
            <a:off x="1188720" y="1975104"/>
            <a:ext cx="1335024" cy="347472"/>
          </a:xfrm>
          <a:prstGeom prst="rect">
            <a:avLst/>
          </a:prstGeom>
          <a:noFill/>
          <a:ln/>
        </p:spPr>
        <p:txBody>
          <a:bodyPr wrap="square" lIns="0" tIns="0" rIns="0" bIns="0" rtlCol="0" anchor="ctr"/>
          <a:lstStyle/>
          <a:p>
            <a:pPr indent="0" marL="0">
              <a:buNone/>
            </a:pPr>
            <a:r>
              <a:rPr lang="en-US" sz="1350" b="1" dirty="0">
                <a:solidFill>
                  <a:srgbClr val="1E2761"/>
                </a:solidFill>
                <a:latin typeface="Apple SD Gothic Neo" pitchFamily="34" charset="0"/>
                <a:ea typeface="Apple SD Gothic Neo" pitchFamily="34" charset="-122"/>
                <a:cs typeface="Apple SD Gothic Neo" pitchFamily="34" charset="-120"/>
              </a:rPr>
              <a:t>서류 업로드</a:t>
            </a:r>
            <a:endParaRPr lang="en-US" sz="1350" dirty="0"/>
          </a:p>
        </p:txBody>
      </p:sp>
      <p:sp>
        <p:nvSpPr>
          <p:cNvPr id="9" name="Text 7"/>
          <p:cNvSpPr txBox="1"/>
          <p:nvPr/>
        </p:nvSpPr>
        <p:spPr>
          <a:xfrm>
            <a:off x="804672" y="2432304"/>
            <a:ext cx="1719072" cy="457200"/>
          </a:xfrm>
          <a:prstGeom prst="rect">
            <a:avLst/>
          </a:prstGeom>
          <a:noFill/>
          <a:ln/>
        </p:spPr>
        <p:txBody>
          <a:bodyPr wrap="square" lIns="0" tIns="0" rIns="0" bIns="0" rtlCol="0" anchor="t"/>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필수 3종 · JPG/PNG/PDF</a:t>
            </a:r>
            <a:endParaRPr lang="en-US" sz="1050" dirty="0"/>
          </a:p>
        </p:txBody>
      </p:sp>
      <p:sp>
        <p:nvSpPr>
          <p:cNvPr id="10" name="Shape 8"/>
          <p:cNvSpPr/>
          <p:nvPr/>
        </p:nvSpPr>
        <p:spPr>
          <a:xfrm>
            <a:off x="2852928" y="1847088"/>
            <a:ext cx="2048256" cy="1170432"/>
          </a:xfrm>
          <a:prstGeom prst="roundRect">
            <a:avLst>
              <a:gd name="adj" fmla="val 7031"/>
            </a:avLst>
          </a:prstGeom>
          <a:solidFill>
            <a:srgbClr val="F2F6FC"/>
          </a:solidFill>
          <a:ln w="12700">
            <a:solidFill>
              <a:srgbClr val="E3EAF5"/>
            </a:solidFill>
            <a:prstDash val="solid"/>
          </a:ln>
        </p:spPr>
      </p:sp>
      <p:sp>
        <p:nvSpPr>
          <p:cNvPr id="11" name="Shape 9"/>
          <p:cNvSpPr/>
          <p:nvPr/>
        </p:nvSpPr>
        <p:spPr>
          <a:xfrm>
            <a:off x="3017520" y="1993392"/>
            <a:ext cx="310896" cy="310896"/>
          </a:xfrm>
          <a:prstGeom prst="ellipse">
            <a:avLst/>
          </a:prstGeom>
          <a:solidFill>
            <a:srgbClr val="1E2761"/>
          </a:solidFill>
          <a:ln w="12700">
            <a:solidFill>
              <a:srgbClr val="1E2761"/>
            </a:solidFill>
            <a:prstDash val="solid"/>
          </a:ln>
        </p:spPr>
      </p:sp>
      <p:sp>
        <p:nvSpPr>
          <p:cNvPr id="12" name="Text 10"/>
          <p:cNvSpPr txBox="1"/>
          <p:nvPr/>
        </p:nvSpPr>
        <p:spPr>
          <a:xfrm>
            <a:off x="3017520" y="19933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13" name="Text 11"/>
          <p:cNvSpPr txBox="1"/>
          <p:nvPr/>
        </p:nvSpPr>
        <p:spPr>
          <a:xfrm>
            <a:off x="3401568" y="1975104"/>
            <a:ext cx="1335024" cy="347472"/>
          </a:xfrm>
          <a:prstGeom prst="rect">
            <a:avLst/>
          </a:prstGeom>
          <a:noFill/>
          <a:ln/>
        </p:spPr>
        <p:txBody>
          <a:bodyPr wrap="square" lIns="0" tIns="0" rIns="0" bIns="0" rtlCol="0" anchor="ctr"/>
          <a:lstStyle/>
          <a:p>
            <a:pPr indent="0" marL="0">
              <a:buNone/>
            </a:pPr>
            <a:r>
              <a:rPr lang="en-US" sz="1350" b="1" dirty="0">
                <a:solidFill>
                  <a:srgbClr val="1E2761"/>
                </a:solidFill>
                <a:latin typeface="Apple SD Gothic Neo" pitchFamily="34" charset="0"/>
                <a:ea typeface="Apple SD Gothic Neo" pitchFamily="34" charset="-122"/>
                <a:cs typeface="Apple SD Gothic Neo" pitchFamily="34" charset="-120"/>
              </a:rPr>
              <a:t>OCR 추출</a:t>
            </a:r>
            <a:endParaRPr lang="en-US" sz="1350" dirty="0"/>
          </a:p>
        </p:txBody>
      </p:sp>
      <p:sp>
        <p:nvSpPr>
          <p:cNvPr id="14" name="Text 12"/>
          <p:cNvSpPr txBox="1"/>
          <p:nvPr/>
        </p:nvSpPr>
        <p:spPr>
          <a:xfrm>
            <a:off x="3017520" y="2432304"/>
            <a:ext cx="1719072" cy="457200"/>
          </a:xfrm>
          <a:prstGeom prst="rect">
            <a:avLst/>
          </a:prstGeom>
          <a:noFill/>
          <a:ln/>
        </p:spPr>
        <p:txBody>
          <a:bodyPr wrap="square" lIns="0" tIns="0" rIns="0" bIns="0" rtlCol="0" anchor="t"/>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외부 OCR 연동</a:t>
            </a:r>
            <a:endParaRPr lang="en-US" sz="1050" dirty="0"/>
          </a:p>
        </p:txBody>
      </p:sp>
      <p:sp>
        <p:nvSpPr>
          <p:cNvPr id="15" name="Shape 13"/>
          <p:cNvSpPr/>
          <p:nvPr/>
        </p:nvSpPr>
        <p:spPr>
          <a:xfrm>
            <a:off x="5065776" y="1847088"/>
            <a:ext cx="2048256" cy="1170432"/>
          </a:xfrm>
          <a:prstGeom prst="roundRect">
            <a:avLst>
              <a:gd name="adj" fmla="val 7031"/>
            </a:avLst>
          </a:prstGeom>
          <a:solidFill>
            <a:srgbClr val="1E2761"/>
          </a:solidFill>
          <a:ln w="12700">
            <a:solidFill>
              <a:srgbClr val="1E2761"/>
            </a:solidFill>
            <a:prstDash val="solid"/>
          </a:ln>
        </p:spPr>
      </p:sp>
      <p:sp>
        <p:nvSpPr>
          <p:cNvPr id="16" name="Shape 14"/>
          <p:cNvSpPr/>
          <p:nvPr/>
        </p:nvSpPr>
        <p:spPr>
          <a:xfrm>
            <a:off x="5230368" y="1993392"/>
            <a:ext cx="310896" cy="310896"/>
          </a:xfrm>
          <a:prstGeom prst="ellipse">
            <a:avLst/>
          </a:prstGeom>
          <a:solidFill>
            <a:srgbClr val="CADCFC"/>
          </a:solidFill>
          <a:ln w="12700">
            <a:solidFill>
              <a:srgbClr val="CADCFC"/>
            </a:solidFill>
            <a:prstDash val="solid"/>
          </a:ln>
        </p:spPr>
      </p:sp>
      <p:sp>
        <p:nvSpPr>
          <p:cNvPr id="17" name="Text 15"/>
          <p:cNvSpPr txBox="1"/>
          <p:nvPr/>
        </p:nvSpPr>
        <p:spPr>
          <a:xfrm>
            <a:off x="5230368" y="1993392"/>
            <a:ext cx="310896" cy="310896"/>
          </a:xfrm>
          <a:prstGeom prst="rect">
            <a:avLst/>
          </a:prstGeom>
          <a:noFill/>
          <a:ln/>
        </p:spPr>
        <p:txBody>
          <a:bodyPr wrap="square" lIns="0" tIns="0" rIns="0" bIns="0" rtlCol="0" anchor="ctr"/>
          <a:lstStyle/>
          <a:p>
            <a:pPr algn="ctr" indent="0" marL="0">
              <a:buNone/>
            </a:pPr>
            <a:r>
              <a:rPr lang="en-US" sz="1300" b="1" dirty="0">
                <a:solidFill>
                  <a:srgbClr val="1E2761"/>
                </a:solidFill>
                <a:latin typeface="Apple SD Gothic Neo" pitchFamily="34" charset="0"/>
                <a:ea typeface="Apple SD Gothic Neo" pitchFamily="34" charset="-122"/>
                <a:cs typeface="Apple SD Gothic Neo" pitchFamily="34" charset="-120"/>
              </a:rPr>
              <a:t>3</a:t>
            </a:r>
            <a:endParaRPr lang="en-US" sz="1300" dirty="0"/>
          </a:p>
        </p:txBody>
      </p:sp>
      <p:sp>
        <p:nvSpPr>
          <p:cNvPr id="18" name="Text 16"/>
          <p:cNvSpPr txBox="1"/>
          <p:nvPr/>
        </p:nvSpPr>
        <p:spPr>
          <a:xfrm>
            <a:off x="5614416" y="1975104"/>
            <a:ext cx="1335024" cy="347472"/>
          </a:xfrm>
          <a:prstGeom prst="rect">
            <a:avLst/>
          </a:prstGeom>
          <a:noFill/>
          <a:ln/>
        </p:spPr>
        <p:txBody>
          <a:bodyPr wrap="square" lIns="0" tIns="0" rIns="0" bIns="0" rtlCol="0" anchor="ctr"/>
          <a:lstStyle/>
          <a:p>
            <a:pPr indent="0" marL="0">
              <a:buNone/>
            </a:pPr>
            <a:r>
              <a:rPr lang="en-US" sz="1350" b="1" dirty="0">
                <a:solidFill>
                  <a:srgbClr val="FFFFFF"/>
                </a:solidFill>
                <a:latin typeface="Apple SD Gothic Neo" pitchFamily="34" charset="0"/>
                <a:ea typeface="Apple SD Gothic Neo" pitchFamily="34" charset="-122"/>
                <a:cs typeface="Apple SD Gothic Neo" pitchFamily="34" charset="-120"/>
              </a:rPr>
              <a:t>자동 검증</a:t>
            </a:r>
            <a:endParaRPr lang="en-US" sz="1350" dirty="0"/>
          </a:p>
        </p:txBody>
      </p:sp>
      <p:sp>
        <p:nvSpPr>
          <p:cNvPr id="19" name="Text 17"/>
          <p:cNvSpPr txBox="1"/>
          <p:nvPr/>
        </p:nvSpPr>
        <p:spPr>
          <a:xfrm>
            <a:off x="5230368" y="2432304"/>
            <a:ext cx="1719072" cy="457200"/>
          </a:xfrm>
          <a:prstGeom prst="rect">
            <a:avLst/>
          </a:prstGeom>
          <a:noFill/>
          <a:ln/>
        </p:spPr>
        <p:txBody>
          <a:bodyPr wrap="square" lIns="0" tIns="0" rIns="0" bIns="0" rtlCol="0" anchor="t"/>
          <a:lstStyle/>
          <a:p>
            <a:pPr indent="0" marL="0">
              <a:buNone/>
            </a:pPr>
            <a:r>
              <a:rPr lang="en-US" sz="1050" dirty="0">
                <a:solidFill>
                  <a:srgbClr val="CADCFC"/>
                </a:solidFill>
                <a:latin typeface="Apple SD Gothic Neo" pitchFamily="34" charset="0"/>
                <a:ea typeface="Apple SD Gothic Neo" pitchFamily="34" charset="-122"/>
                <a:cs typeface="Apple SD Gothic Neo" pitchFamily="34" charset="-120"/>
              </a:rPr>
              <a:t>누락·기간·불일치</a:t>
            </a:r>
            <a:endParaRPr lang="en-US" sz="1050" dirty="0"/>
          </a:p>
        </p:txBody>
      </p:sp>
      <p:sp>
        <p:nvSpPr>
          <p:cNvPr id="20" name="Shape 18"/>
          <p:cNvSpPr/>
          <p:nvPr/>
        </p:nvSpPr>
        <p:spPr>
          <a:xfrm>
            <a:off x="7278624" y="1847088"/>
            <a:ext cx="2048256" cy="1170432"/>
          </a:xfrm>
          <a:prstGeom prst="roundRect">
            <a:avLst>
              <a:gd name="adj" fmla="val 7031"/>
            </a:avLst>
          </a:prstGeom>
          <a:solidFill>
            <a:srgbClr val="F2F6FC"/>
          </a:solidFill>
          <a:ln w="12700">
            <a:solidFill>
              <a:srgbClr val="E3EAF5"/>
            </a:solidFill>
            <a:prstDash val="solid"/>
          </a:ln>
        </p:spPr>
      </p:sp>
      <p:sp>
        <p:nvSpPr>
          <p:cNvPr id="21" name="Shape 19"/>
          <p:cNvSpPr/>
          <p:nvPr/>
        </p:nvSpPr>
        <p:spPr>
          <a:xfrm>
            <a:off x="7443216" y="1993392"/>
            <a:ext cx="310896" cy="310896"/>
          </a:xfrm>
          <a:prstGeom prst="ellipse">
            <a:avLst/>
          </a:prstGeom>
          <a:solidFill>
            <a:srgbClr val="1E2761"/>
          </a:solidFill>
          <a:ln w="12700">
            <a:solidFill>
              <a:srgbClr val="1E2761"/>
            </a:solidFill>
            <a:prstDash val="solid"/>
          </a:ln>
        </p:spPr>
      </p:sp>
      <p:sp>
        <p:nvSpPr>
          <p:cNvPr id="22" name="Text 20"/>
          <p:cNvSpPr txBox="1"/>
          <p:nvPr/>
        </p:nvSpPr>
        <p:spPr>
          <a:xfrm>
            <a:off x="7443216" y="19933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23" name="Text 21"/>
          <p:cNvSpPr txBox="1"/>
          <p:nvPr/>
        </p:nvSpPr>
        <p:spPr>
          <a:xfrm>
            <a:off x="7827264" y="1975104"/>
            <a:ext cx="1335024" cy="347472"/>
          </a:xfrm>
          <a:prstGeom prst="rect">
            <a:avLst/>
          </a:prstGeom>
          <a:noFill/>
          <a:ln/>
        </p:spPr>
        <p:txBody>
          <a:bodyPr wrap="square" lIns="0" tIns="0" rIns="0" bIns="0" rtlCol="0" anchor="ctr"/>
          <a:lstStyle/>
          <a:p>
            <a:pPr indent="0" marL="0">
              <a:buNone/>
            </a:pPr>
            <a:r>
              <a:rPr lang="en-US" sz="1350" b="1" dirty="0">
                <a:solidFill>
                  <a:srgbClr val="1E2761"/>
                </a:solidFill>
                <a:latin typeface="Apple SD Gothic Neo" pitchFamily="34" charset="0"/>
                <a:ea typeface="Apple SD Gothic Neo" pitchFamily="34" charset="-122"/>
                <a:cs typeface="Apple SD Gothic Neo" pitchFamily="34" charset="-120"/>
              </a:rPr>
              <a:t>자가 보완</a:t>
            </a:r>
            <a:endParaRPr lang="en-US" sz="1350" dirty="0"/>
          </a:p>
        </p:txBody>
      </p:sp>
      <p:sp>
        <p:nvSpPr>
          <p:cNvPr id="24" name="Text 22"/>
          <p:cNvSpPr txBox="1"/>
          <p:nvPr/>
        </p:nvSpPr>
        <p:spPr>
          <a:xfrm>
            <a:off x="7443216" y="2432304"/>
            <a:ext cx="1719072" cy="457200"/>
          </a:xfrm>
          <a:prstGeom prst="rect">
            <a:avLst/>
          </a:prstGeom>
          <a:noFill/>
          <a:ln/>
        </p:spPr>
        <p:txBody>
          <a:bodyPr wrap="square" lIns="0" tIns="0" rIns="0" bIns="0" rtlCol="0" anchor="t"/>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정정 또는 재업로드</a:t>
            </a:r>
            <a:endParaRPr lang="en-US" sz="1050" dirty="0"/>
          </a:p>
        </p:txBody>
      </p:sp>
      <p:sp>
        <p:nvSpPr>
          <p:cNvPr id="25" name="Shape 23"/>
          <p:cNvSpPr/>
          <p:nvPr/>
        </p:nvSpPr>
        <p:spPr>
          <a:xfrm>
            <a:off x="9491472" y="1847088"/>
            <a:ext cx="2048256" cy="1170432"/>
          </a:xfrm>
          <a:prstGeom prst="roundRect">
            <a:avLst>
              <a:gd name="adj" fmla="val 7031"/>
            </a:avLst>
          </a:prstGeom>
          <a:solidFill>
            <a:srgbClr val="F2F6FC"/>
          </a:solidFill>
          <a:ln w="12700">
            <a:solidFill>
              <a:srgbClr val="E3EAF5"/>
            </a:solidFill>
            <a:prstDash val="solid"/>
          </a:ln>
        </p:spPr>
      </p:sp>
      <p:sp>
        <p:nvSpPr>
          <p:cNvPr id="26" name="Shape 24"/>
          <p:cNvSpPr/>
          <p:nvPr/>
        </p:nvSpPr>
        <p:spPr>
          <a:xfrm>
            <a:off x="9656064" y="1993392"/>
            <a:ext cx="310896" cy="310896"/>
          </a:xfrm>
          <a:prstGeom prst="ellipse">
            <a:avLst/>
          </a:prstGeom>
          <a:solidFill>
            <a:srgbClr val="1E2761"/>
          </a:solidFill>
          <a:ln w="12700">
            <a:solidFill>
              <a:srgbClr val="1E2761"/>
            </a:solidFill>
            <a:prstDash val="solid"/>
          </a:ln>
        </p:spPr>
      </p:sp>
      <p:sp>
        <p:nvSpPr>
          <p:cNvPr id="27" name="Text 25"/>
          <p:cNvSpPr txBox="1"/>
          <p:nvPr/>
        </p:nvSpPr>
        <p:spPr>
          <a:xfrm>
            <a:off x="9656064" y="19933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5</a:t>
            </a:r>
            <a:endParaRPr lang="en-US" sz="1300" dirty="0"/>
          </a:p>
        </p:txBody>
      </p:sp>
      <p:sp>
        <p:nvSpPr>
          <p:cNvPr id="28" name="Text 26"/>
          <p:cNvSpPr txBox="1"/>
          <p:nvPr/>
        </p:nvSpPr>
        <p:spPr>
          <a:xfrm>
            <a:off x="10040112" y="1975104"/>
            <a:ext cx="1335024" cy="347472"/>
          </a:xfrm>
          <a:prstGeom prst="rect">
            <a:avLst/>
          </a:prstGeom>
          <a:noFill/>
          <a:ln/>
        </p:spPr>
        <p:txBody>
          <a:bodyPr wrap="square" lIns="0" tIns="0" rIns="0" bIns="0" rtlCol="0" anchor="ctr"/>
          <a:lstStyle/>
          <a:p>
            <a:pPr indent="0" marL="0">
              <a:buNone/>
            </a:pPr>
            <a:r>
              <a:rPr lang="en-US" sz="1350" b="1" dirty="0">
                <a:solidFill>
                  <a:srgbClr val="1E2761"/>
                </a:solidFill>
                <a:latin typeface="Apple SD Gothic Neo" pitchFamily="34" charset="0"/>
                <a:ea typeface="Apple SD Gothic Neo" pitchFamily="34" charset="-122"/>
                <a:cs typeface="Apple SD Gothic Neo" pitchFamily="34" charset="-120"/>
              </a:rPr>
              <a:t>은행 확인</a:t>
            </a:r>
            <a:endParaRPr lang="en-US" sz="1350" dirty="0"/>
          </a:p>
        </p:txBody>
      </p:sp>
      <p:sp>
        <p:nvSpPr>
          <p:cNvPr id="29" name="Text 27"/>
          <p:cNvSpPr txBox="1"/>
          <p:nvPr/>
        </p:nvSpPr>
        <p:spPr>
          <a:xfrm>
            <a:off x="9656064" y="2432304"/>
            <a:ext cx="1719072" cy="457200"/>
          </a:xfrm>
          <a:prstGeom prst="rect">
            <a:avLst/>
          </a:prstGeom>
          <a:noFill/>
          <a:ln/>
        </p:spPr>
        <p:txBody>
          <a:bodyPr wrap="square" lIns="0" tIns="0" rIns="0" bIns="0" rtlCol="0" anchor="t"/>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확인 완료 / 보완 요청</a:t>
            </a:r>
            <a:endParaRPr lang="en-US" sz="1050" dirty="0"/>
          </a:p>
        </p:txBody>
      </p:sp>
      <p:sp>
        <p:nvSpPr>
          <p:cNvPr id="30" name="Text 28"/>
          <p:cNvSpPr txBox="1"/>
          <p:nvPr/>
        </p:nvSpPr>
        <p:spPr>
          <a:xfrm>
            <a:off x="640080" y="3273552"/>
            <a:ext cx="2743200" cy="256032"/>
          </a:xfrm>
          <a:prstGeom prst="rect">
            <a:avLst/>
          </a:prstGeom>
          <a:noFill/>
          <a:ln/>
        </p:spPr>
        <p:txBody>
          <a:bodyPr wrap="square" lIns="0" tIns="0" rIns="0" bIns="0" rtlCol="0" anchor="ctr"/>
          <a:lstStyle/>
          <a:p>
            <a:pPr indent="0" marL="0">
              <a:buNone/>
            </a:pPr>
            <a:r>
              <a:rPr lang="en-US" sz="1200" b="1" dirty="0">
                <a:solidFill>
                  <a:srgbClr val="E2603F"/>
                </a:solidFill>
                <a:latin typeface="Apple SD Gothic Neo" pitchFamily="34" charset="0"/>
                <a:ea typeface="Apple SD Gothic Neo" pitchFamily="34" charset="-122"/>
                <a:cs typeface="Apple SD Gothic Neo" pitchFamily="34" charset="-120"/>
              </a:rPr>
              <a:t>시스템 액터</a:t>
            </a:r>
            <a:endParaRPr lang="en-US" sz="1200" dirty="0"/>
          </a:p>
        </p:txBody>
      </p:sp>
      <p:sp>
        <p:nvSpPr>
          <p:cNvPr id="31" name="Shape 29"/>
          <p:cNvSpPr/>
          <p:nvPr/>
        </p:nvSpPr>
        <p:spPr>
          <a:xfrm>
            <a:off x="640080" y="3584448"/>
            <a:ext cx="6675120" cy="1005840"/>
          </a:xfrm>
          <a:prstGeom prst="roundRect">
            <a:avLst>
              <a:gd name="adj" fmla="val 8182"/>
            </a:avLst>
          </a:prstGeom>
          <a:solidFill>
            <a:srgbClr val="F2F6FC"/>
          </a:solidFill>
          <a:ln w="12700">
            <a:solidFill>
              <a:srgbClr val="E3EAF5"/>
            </a:solidFill>
            <a:prstDash val="solid"/>
          </a:ln>
        </p:spPr>
      </p:sp>
      <p:sp>
        <p:nvSpPr>
          <p:cNvPr id="32" name="Shape 30"/>
          <p:cNvSpPr/>
          <p:nvPr/>
        </p:nvSpPr>
        <p:spPr>
          <a:xfrm>
            <a:off x="859536" y="3785616"/>
            <a:ext cx="402336" cy="402336"/>
          </a:xfrm>
          <a:prstGeom prst="roundRect">
            <a:avLst>
              <a:gd name="adj" fmla="val 20455"/>
            </a:avLst>
          </a:prstGeom>
          <a:solidFill>
            <a:srgbClr val="1E2761"/>
          </a:solidFill>
          <a:ln w="12700">
            <a:solidFill>
              <a:srgbClr val="1E2761"/>
            </a:solidFill>
            <a:prstDash val="solid"/>
          </a:ln>
        </p:spPr>
      </p:sp>
      <p:sp>
        <p:nvSpPr>
          <p:cNvPr id="33" name="Text 31"/>
          <p:cNvSpPr txBox="1"/>
          <p:nvPr/>
        </p:nvSpPr>
        <p:spPr>
          <a:xfrm>
            <a:off x="859536" y="3785616"/>
            <a:ext cx="402336"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Apple SD Gothic Neo" pitchFamily="34" charset="0"/>
                <a:ea typeface="Apple SD Gothic Neo" pitchFamily="34" charset="-122"/>
                <a:cs typeface="Apple SD Gothic Neo" pitchFamily="34" charset="-120"/>
              </a:rPr>
              <a:t>기업</a:t>
            </a:r>
            <a:endParaRPr lang="en-US" sz="900" dirty="0"/>
          </a:p>
        </p:txBody>
      </p:sp>
      <p:sp>
        <p:nvSpPr>
          <p:cNvPr id="34" name="Text 32"/>
          <p:cNvSpPr txBox="1"/>
          <p:nvPr/>
        </p:nvSpPr>
        <p:spPr>
          <a:xfrm>
            <a:off x="1389888" y="3730752"/>
            <a:ext cx="5760720" cy="310896"/>
          </a:xfrm>
          <a:prstGeom prst="rect">
            <a:avLst/>
          </a:prstGeom>
          <a:noFill/>
          <a:ln/>
        </p:spPr>
        <p:txBody>
          <a:bodyPr wrap="square" lIns="0" tIns="0" rIns="0" bIns="0" rtlCol="0" anchor="ctr"/>
          <a:lstStyle/>
          <a:p>
            <a:pPr indent="0" marL="0">
              <a:buNone/>
            </a:pPr>
            <a:r>
              <a:rPr lang="en-US" sz="1400" b="1" dirty="0">
                <a:solidFill>
                  <a:srgbClr val="1E2761"/>
                </a:solidFill>
                <a:latin typeface="Apple SD Gothic Neo" pitchFamily="34" charset="0"/>
                <a:ea typeface="Apple SD Gothic Neo" pitchFamily="34" charset="-122"/>
                <a:cs typeface="Apple SD Gothic Neo" pitchFamily="34" charset="-120"/>
              </a:rPr>
              <a:t>기업 고객 담당자</a:t>
            </a:r>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   중소기업 재무·총무</a:t>
            </a:r>
            <a:endParaRPr lang="en-US" sz="1400" dirty="0"/>
          </a:p>
        </p:txBody>
      </p:sp>
      <p:sp>
        <p:nvSpPr>
          <p:cNvPr id="35" name="Text 33"/>
          <p:cNvSpPr txBox="1"/>
          <p:nvPr/>
        </p:nvSpPr>
        <p:spPr>
          <a:xfrm>
            <a:off x="1389888" y="4078224"/>
            <a:ext cx="5760720" cy="402336"/>
          </a:xfrm>
          <a:prstGeom prst="rect">
            <a:avLst/>
          </a:prstGeom>
          <a:noFill/>
          <a:ln/>
        </p:spPr>
        <p:txBody>
          <a:bodyPr wrap="square" lIns="0" tIns="0" rIns="0" bIns="0" rtlCol="0" anchor="t"/>
          <a:lstStyle/>
          <a:p>
            <a:pPr indent="0" marL="0">
              <a:buNone/>
            </a:pPr>
            <a:r>
              <a:rPr lang="en-US" sz="1100" dirty="0">
                <a:solidFill>
                  <a:srgbClr val="5C6B8A"/>
                </a:solidFill>
                <a:latin typeface="Apple SD Gothic Neo" pitchFamily="34" charset="0"/>
                <a:ea typeface="Apple SD Gothic Neo" pitchFamily="34" charset="-122"/>
                <a:cs typeface="Apple SD Gothic Neo" pitchFamily="34" charset="-120"/>
              </a:rPr>
              <a:t>신청 건 조회 · 서류 업로드 · OCR 결과 정정 · 최종 제출 · 보완 재제출</a:t>
            </a:r>
            <a:endParaRPr lang="en-US" sz="1100" dirty="0"/>
          </a:p>
        </p:txBody>
      </p:sp>
      <p:sp>
        <p:nvSpPr>
          <p:cNvPr id="36" name="Shape 34"/>
          <p:cNvSpPr/>
          <p:nvPr/>
        </p:nvSpPr>
        <p:spPr>
          <a:xfrm>
            <a:off x="640080" y="4718304"/>
            <a:ext cx="6675120" cy="1005840"/>
          </a:xfrm>
          <a:prstGeom prst="roundRect">
            <a:avLst>
              <a:gd name="adj" fmla="val 8182"/>
            </a:avLst>
          </a:prstGeom>
          <a:solidFill>
            <a:srgbClr val="F2F6FC"/>
          </a:solidFill>
          <a:ln w="12700">
            <a:solidFill>
              <a:srgbClr val="E3EAF5"/>
            </a:solidFill>
            <a:prstDash val="solid"/>
          </a:ln>
        </p:spPr>
      </p:sp>
      <p:sp>
        <p:nvSpPr>
          <p:cNvPr id="37" name="Shape 35"/>
          <p:cNvSpPr/>
          <p:nvPr/>
        </p:nvSpPr>
        <p:spPr>
          <a:xfrm>
            <a:off x="859536" y="4919472"/>
            <a:ext cx="402336" cy="402336"/>
          </a:xfrm>
          <a:prstGeom prst="roundRect">
            <a:avLst>
              <a:gd name="adj" fmla="val 20455"/>
            </a:avLst>
          </a:prstGeom>
          <a:solidFill>
            <a:srgbClr val="5C6B8A"/>
          </a:solidFill>
          <a:ln w="12700">
            <a:solidFill>
              <a:srgbClr val="5C6B8A"/>
            </a:solidFill>
            <a:prstDash val="solid"/>
          </a:ln>
        </p:spPr>
      </p:sp>
      <p:sp>
        <p:nvSpPr>
          <p:cNvPr id="38" name="Text 36"/>
          <p:cNvSpPr txBox="1"/>
          <p:nvPr/>
        </p:nvSpPr>
        <p:spPr>
          <a:xfrm>
            <a:off x="859536" y="4919472"/>
            <a:ext cx="402336"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Apple SD Gothic Neo" pitchFamily="34" charset="0"/>
                <a:ea typeface="Apple SD Gothic Neo" pitchFamily="34" charset="-122"/>
                <a:cs typeface="Apple SD Gothic Neo" pitchFamily="34" charset="-120"/>
              </a:rPr>
              <a:t>은행</a:t>
            </a:r>
            <a:endParaRPr lang="en-US" sz="900" dirty="0"/>
          </a:p>
        </p:txBody>
      </p:sp>
      <p:sp>
        <p:nvSpPr>
          <p:cNvPr id="39" name="Text 37"/>
          <p:cNvSpPr txBox="1"/>
          <p:nvPr/>
        </p:nvSpPr>
        <p:spPr>
          <a:xfrm>
            <a:off x="1389888" y="4864608"/>
            <a:ext cx="5760720" cy="310896"/>
          </a:xfrm>
          <a:prstGeom prst="rect">
            <a:avLst/>
          </a:prstGeom>
          <a:noFill/>
          <a:ln/>
        </p:spPr>
        <p:txBody>
          <a:bodyPr wrap="square" lIns="0" tIns="0" rIns="0" bIns="0" rtlCol="0" anchor="ctr"/>
          <a:lstStyle/>
          <a:p>
            <a:pPr indent="0" marL="0">
              <a:buNone/>
            </a:pPr>
            <a:r>
              <a:rPr lang="en-US" sz="1400" b="1" dirty="0">
                <a:solidFill>
                  <a:srgbClr val="1E2761"/>
                </a:solidFill>
                <a:latin typeface="Apple SD Gothic Neo" pitchFamily="34" charset="0"/>
                <a:ea typeface="Apple SD Gothic Neo" pitchFamily="34" charset="-122"/>
                <a:cs typeface="Apple SD Gothic Neo" pitchFamily="34" charset="-120"/>
              </a:rPr>
              <a:t>은행 기업금융 담당자</a:t>
            </a:r>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   여신 서류 접수 검토</a:t>
            </a:r>
            <a:endParaRPr lang="en-US" sz="1400" dirty="0"/>
          </a:p>
        </p:txBody>
      </p:sp>
      <p:sp>
        <p:nvSpPr>
          <p:cNvPr id="40" name="Text 38"/>
          <p:cNvSpPr txBox="1"/>
          <p:nvPr/>
        </p:nvSpPr>
        <p:spPr>
          <a:xfrm>
            <a:off x="1389888" y="5212080"/>
            <a:ext cx="5760720" cy="402336"/>
          </a:xfrm>
          <a:prstGeom prst="rect">
            <a:avLst/>
          </a:prstGeom>
          <a:noFill/>
          <a:ln/>
        </p:spPr>
        <p:txBody>
          <a:bodyPr wrap="square" lIns="0" tIns="0" rIns="0" bIns="0" rtlCol="0" anchor="t"/>
          <a:lstStyle/>
          <a:p>
            <a:pPr indent="0" marL="0">
              <a:buNone/>
            </a:pPr>
            <a:r>
              <a:rPr lang="en-US" sz="1100" dirty="0">
                <a:solidFill>
                  <a:srgbClr val="5C6B8A"/>
                </a:solidFill>
                <a:latin typeface="Apple SD Gothic Neo" pitchFamily="34" charset="0"/>
                <a:ea typeface="Apple SD Gothic Neo" pitchFamily="34" charset="-122"/>
                <a:cs typeface="Apple SD Gothic Neo" pitchFamily="34" charset="-120"/>
              </a:rPr>
              <a:t>검토 목록 조회 · 원본/추출값/정정값 비교 · 서류 확인 완료 · 보완 요청</a:t>
            </a:r>
            <a:endParaRPr lang="en-US" sz="1100" dirty="0"/>
          </a:p>
        </p:txBody>
      </p:sp>
      <p:sp>
        <p:nvSpPr>
          <p:cNvPr id="41" name="Shape 39"/>
          <p:cNvSpPr/>
          <p:nvPr/>
        </p:nvSpPr>
        <p:spPr>
          <a:xfrm>
            <a:off x="7607808" y="3584448"/>
            <a:ext cx="3941064" cy="2212848"/>
          </a:xfrm>
          <a:prstGeom prst="roundRect">
            <a:avLst>
              <a:gd name="adj" fmla="val 3719"/>
            </a:avLst>
          </a:prstGeom>
          <a:solidFill>
            <a:srgbClr val="FDF1EE"/>
          </a:solidFill>
          <a:ln w="12700">
            <a:solidFill>
              <a:srgbClr val="F5D8CF"/>
            </a:solidFill>
            <a:prstDash val="solid"/>
          </a:ln>
        </p:spPr>
      </p:sp>
      <p:sp>
        <p:nvSpPr>
          <p:cNvPr id="42" name="Text 40"/>
          <p:cNvSpPr txBox="1"/>
          <p:nvPr/>
        </p:nvSpPr>
        <p:spPr>
          <a:xfrm>
            <a:off x="7882128" y="3767328"/>
            <a:ext cx="3383280" cy="274320"/>
          </a:xfrm>
          <a:prstGeom prst="rect">
            <a:avLst/>
          </a:prstGeom>
          <a:noFill/>
          <a:ln/>
        </p:spPr>
        <p:txBody>
          <a:bodyPr wrap="square" lIns="0" tIns="0" rIns="0" bIns="0" rtlCol="0" anchor="ctr"/>
          <a:lstStyle/>
          <a:p>
            <a:pPr indent="0" marL="0">
              <a:buNone/>
            </a:pPr>
            <a:r>
              <a:rPr lang="en-US" sz="1400" b="1" dirty="0">
                <a:solidFill>
                  <a:srgbClr val="E2603F"/>
                </a:solidFill>
                <a:latin typeface="Apple SD Gothic Neo" pitchFamily="34" charset="0"/>
                <a:ea typeface="Apple SD Gothic Neo" pitchFamily="34" charset="-122"/>
                <a:cs typeface="Apple SD Gothic Neo" pitchFamily="34" charset="-120"/>
              </a:rPr>
              <a:t>이번에 하지 않는 것</a:t>
            </a:r>
            <a:endParaRPr lang="en-US" sz="1400" dirty="0"/>
          </a:p>
        </p:txBody>
      </p:sp>
      <p:sp>
        <p:nvSpPr>
          <p:cNvPr id="43" name="Text 41"/>
          <p:cNvSpPr txBox="1"/>
          <p:nvPr/>
        </p:nvSpPr>
        <p:spPr>
          <a:xfrm>
            <a:off x="7882128" y="4133088"/>
            <a:ext cx="3392424" cy="1554480"/>
          </a:xfrm>
          <a:prstGeom prst="rect">
            <a:avLst/>
          </a:prstGeom>
          <a:noFill/>
          <a:ln/>
        </p:spPr>
        <p:txBody>
          <a:bodyPr wrap="square" lIns="0" tIns="0" rIns="0" bIns="0" rtlCol="0" anchor="t"/>
          <a:lstStyle/>
          <a:p>
            <a:pPr marL="342900" indent="-342900">
              <a:lnSpc>
                <a:spcPct val="125000"/>
              </a:lnSpc>
              <a:spcAft>
                <a:spcPts val="600"/>
              </a:spcAft>
              <a:buSzPct val="100000"/>
              <a:buChar char="•"/>
            </a:pPr>
            <a:r>
              <a:rPr lang="en-US" sz="1100" dirty="0">
                <a:solidFill>
                  <a:srgbClr val="8A5A4A"/>
                </a:solidFill>
                <a:latin typeface="Apple SD Gothic Neo" pitchFamily="34" charset="0"/>
                <a:ea typeface="Apple SD Gothic Neo" pitchFamily="34" charset="-122"/>
                <a:cs typeface="Apple SD Gothic Neo" pitchFamily="34" charset="-120"/>
              </a:rPr>
              <a:t>대출 승인 · 신용평가 · 한도/금리 산정</a:t>
            </a:r>
            <a:endParaRPr lang="en-US" sz="1100" dirty="0"/>
          </a:p>
          <a:p>
            <a:pPr marL="342900" indent="-342900">
              <a:lnSpc>
                <a:spcPct val="125000"/>
              </a:lnSpc>
              <a:spcAft>
                <a:spcPts val="600"/>
              </a:spcAft>
              <a:buSzPct val="100000"/>
              <a:buChar char="•"/>
            </a:pPr>
            <a:r>
              <a:rPr lang="en-US" sz="1100" dirty="0">
                <a:solidFill>
                  <a:srgbClr val="8A5A4A"/>
                </a:solidFill>
                <a:latin typeface="Apple SD Gothic Neo" pitchFamily="34" charset="0"/>
                <a:ea typeface="Apple SD Gothic Neo" pitchFamily="34" charset="-122"/>
                <a:cs typeface="Apple SD Gothic Neo" pitchFamily="34" charset="-120"/>
              </a:rPr>
              <a:t>OCR 모델 직접 학습 · 튜닝</a:t>
            </a:r>
            <a:endParaRPr lang="en-US" sz="1100" dirty="0"/>
          </a:p>
          <a:p>
            <a:pPr marL="342900" indent="-342900">
              <a:lnSpc>
                <a:spcPct val="125000"/>
              </a:lnSpc>
              <a:spcAft>
                <a:spcPts val="600"/>
              </a:spcAft>
              <a:buSzPct val="100000"/>
              <a:buChar char="•"/>
            </a:pPr>
            <a:r>
              <a:rPr lang="en-US" sz="1100" dirty="0">
                <a:solidFill>
                  <a:srgbClr val="8A5A4A"/>
                </a:solidFill>
                <a:latin typeface="Apple SD Gothic Neo" pitchFamily="34" charset="0"/>
                <a:ea typeface="Apple SD Gothic Neo" pitchFamily="34" charset="-122"/>
                <a:cs typeface="Apple SD Gothic Neo" pitchFamily="34" charset="-120"/>
              </a:rPr>
              <a:t>문서 위변조 판별 · 진위확인 기관 연동</a:t>
            </a:r>
            <a:endParaRPr lang="en-US" sz="1100" dirty="0"/>
          </a:p>
          <a:p>
            <a:pPr marL="342900" indent="-342900">
              <a:lnSpc>
                <a:spcPct val="125000"/>
              </a:lnSpc>
              <a:spcAft>
                <a:spcPts val="600"/>
              </a:spcAft>
              <a:buSzPct val="100000"/>
              <a:buChar char="•"/>
            </a:pPr>
            <a:r>
              <a:rPr lang="en-US" sz="1100" dirty="0">
                <a:solidFill>
                  <a:srgbClr val="8A5A4A"/>
                </a:solidFill>
                <a:latin typeface="Apple SD Gothic Neo" pitchFamily="34" charset="0"/>
                <a:ea typeface="Apple SD Gothic Neo" pitchFamily="34" charset="-122"/>
                <a:cs typeface="Apple SD Gothic Neo" pitchFamily="34" charset="-120"/>
              </a:rPr>
              <a:t>은행 SSO · 코어뱅킹 · 기업 ERP 연동</a:t>
            </a:r>
            <a:endParaRPr lang="en-US" sz="1100" dirty="0"/>
          </a:p>
          <a:p>
            <a:pPr marL="342900" indent="-342900">
              <a:lnSpc>
                <a:spcPct val="125000"/>
              </a:lnSpc>
              <a:spcAft>
                <a:spcPts val="600"/>
              </a:spcAft>
              <a:buSzPct val="100000"/>
              <a:buChar char="•"/>
            </a:pPr>
            <a:r>
              <a:rPr lang="en-US" sz="1100" dirty="0">
                <a:solidFill>
                  <a:srgbClr val="8A5A4A"/>
                </a:solidFill>
                <a:latin typeface="Apple SD Gothic Neo" pitchFamily="34" charset="0"/>
                <a:ea typeface="Apple SD Gothic Neo" pitchFamily="34" charset="-122"/>
                <a:cs typeface="Apple SD Gothic Neo" pitchFamily="34" charset="-120"/>
              </a:rPr>
              <a:t>필수 3종 외 문서 · 알림 · 모바일 앱</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200" b="1" spc="100" kern="0" dirty="0">
                <a:solidFill>
                  <a:srgbClr val="E2603F"/>
                </a:solidFill>
                <a:latin typeface="Apple SD Gothic Neo" pitchFamily="34" charset="0"/>
                <a:ea typeface="Apple SD Gothic Neo" pitchFamily="34" charset="-122"/>
                <a:cs typeface="Apple SD Gothic Neo" pitchFamily="34" charset="-120"/>
              </a:rPr>
              <a:t>문제 → 해결 · 요구사항 매핑</a:t>
            </a:r>
            <a:endParaRPr lang="en-US" sz="1200" dirty="0"/>
          </a:p>
        </p:txBody>
      </p:sp>
      <p:sp>
        <p:nvSpPr>
          <p:cNvPr id="3" name="Text 1"/>
          <p:cNvSpPr txBox="1"/>
          <p:nvPr/>
        </p:nvSpPr>
        <p:spPr>
          <a:xfrm>
            <a:off x="640080" y="658368"/>
            <a:ext cx="10908792" cy="621792"/>
          </a:xfrm>
          <a:prstGeom prst="rect">
            <a:avLst/>
          </a:prstGeom>
          <a:noFill/>
          <a:ln/>
        </p:spPr>
        <p:txBody>
          <a:bodyPr wrap="square" lIns="0" tIns="0" rIns="0" bIns="0" rtlCol="0" anchor="t"/>
          <a:lstStyle/>
          <a:p>
            <a:pPr indent="0" marL="0">
              <a:buNone/>
            </a:pPr>
            <a:r>
              <a:rPr lang="en-US" sz="3000" b="1" dirty="0">
                <a:solidFill>
                  <a:srgbClr val="1E2761"/>
                </a:solidFill>
                <a:latin typeface="Apple SD Gothic Neo" pitchFamily="34" charset="0"/>
                <a:ea typeface="Apple SD Gothic Neo" pitchFamily="34" charset="-122"/>
                <a:cs typeface="Apple SD Gothic Neo" pitchFamily="34" charset="-120"/>
              </a:rPr>
              <a:t>앞의 문제를 요구사항으로 하나씩 받았다</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1417320"/>
                <a:gridCol w="3246120"/>
                <a:gridCol w="3108960"/>
                <a:gridCol w="3136392"/>
              </a:tblGrid>
              <a:tr h="566928">
                <a:tc>
                  <a:txBody>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누가</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지금 겪는 문제</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DocSure가 하는 것</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요구사항 / 검증 규칙</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기업 담당자</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무엇이 누락됐는지 접수 전에 모른다</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필수서류 3종 누락 자동 판정</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REQ-FUNC-005 · MISSING_DOCUMENT</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기업 담당자</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만료된 납세증명서를 내고 반려된다</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발급일·유효기간 자동 검증</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REQ-FUNC-005 · EXPIRED_TAX_CERT</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기업 담당자</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오류를 알아도 무엇을 고칠지 모른다</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오류마다 위치 · 원인 · 해결 행동 제시</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REQ-FUNC-005, 006</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은행 담당자</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문서마다 기업명·사업자번호를 눈으로 대조</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서류 간 기업정보 교차검증</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COMPANY_NAME · BUSINESS_NO 불일치</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은행 담당자</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재제출본과 이전본 구분이 어렵다</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유형별 버전 관리 · 변경 필드 비교</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REQ-FUNC-009, 011</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양쪽</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OCR값·정정값·검토결과를 추적할 수 없다</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원본값/정정값 분리 저장 · 이력 보존</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REQ-NFN-008</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600200"/>
            <a:ext cx="10908792" cy="566928"/>
          </a:xfrm>
          <a:prstGeom prst="rect">
            <a:avLst/>
          </a:prstGeom>
          <a:solidFill>
            <a:srgbClr val="1E2761"/>
          </a:solidFill>
          <a:ln w="12700">
            <a:solidFill>
              <a:srgbClr val="1E2761"/>
            </a:solidFill>
            <a:prstDash val="solid"/>
          </a:ln>
        </p:spPr>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1417320"/>
                <a:gridCol w="3246120"/>
                <a:gridCol w="3108960"/>
                <a:gridCol w="3136392"/>
              </a:tblGrid>
              <a:tr h="566928">
                <a:tc>
                  <a:txBody>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누가</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지금 겪는 문제</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DocSure가 하는 것</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요구사항 / 검증 규칙</a:t>
                      </a:r>
                      <a:endParaRPr lang="en-US" sz="1150" dirty="0">
                        <a:latin typeface="Apple SD Gothic Neo" charset="0"/>
                        <a:ea typeface="Apple SD Gothic Neo" charset="0"/>
                        <a:cs typeface="Apple SD Gothic Neo" charset="0"/>
                      </a:endParaRPr>
                    </a:p>
                  </a:txBody>
                  <a:tcPr marL="127000" marR="127000" marT="76200" marB="76200" anchor="ctr">
                    <a:lnL w="12700" cap="flat" cmpd="sng" algn="ctr">
                      <a:solidFill>
                        <a:srgbClr val="E3EAF5"/>
                      </a:solidFill>
                      <a:prstDash val="solid"/>
                      <a:round/>
                      <a:headEnd type="none" w="med" len="med"/>
                      <a:tailEnd type="none" w="med" len="med"/>
                    </a:lnL>
                    <a:lnR w="12700" cap="flat" cmpd="sng" algn="ctr">
                      <a:solidFill>
                        <a:srgbClr val="E3EAF5"/>
                      </a:solidFill>
                      <a:prstDash val="solid"/>
                      <a:round/>
                      <a:headEnd type="none" w="med" len="med"/>
                      <a:tailEnd type="none" w="med" len="med"/>
                    </a:lnR>
                    <a:lnT w="12700" cap="flat" cmpd="sng" algn="ctr">
                      <a:solidFill>
                        <a:srgbClr val="E3EAF5"/>
                      </a:solidFill>
                      <a:prstDash val="solid"/>
                      <a:round/>
                      <a:headEnd type="none" w="med" len="med"/>
                      <a:tailEnd type="none" w="med" len="med"/>
                    </a:lnT>
                    <a:lnB w="12700" cap="flat" cmpd="sng" algn="ctr">
                      <a:solidFill>
                        <a:srgbClr val="E3EAF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40080" y="5715000"/>
            <a:ext cx="10908792" cy="365760"/>
          </a:xfrm>
          <a:prstGeom prst="rect">
            <a:avLst/>
          </a:prstGeom>
          <a:noFill/>
          <a:ln/>
        </p:spPr>
        <p:txBody>
          <a:bodyPr wrap="square" lIns="0" tIns="0" rIns="0" bIns="0" rtlCol="0" anchor="ctr"/>
          <a:lstStyle/>
          <a:p>
            <a:pPr indent="0" marL="0">
              <a:buNone/>
            </a:pPr>
            <a:r>
              <a:rPr lang="en-US" sz="1200" b="1" dirty="0">
                <a:solidFill>
                  <a:srgbClr val="1E2761"/>
                </a:solidFill>
                <a:latin typeface="Apple SD Gothic Neo" pitchFamily="34" charset="0"/>
                <a:ea typeface="Apple SD Gothic Neo" pitchFamily="34" charset="-122"/>
                <a:cs typeface="Apple SD Gothic Neo" pitchFamily="34" charset="-120"/>
              </a:rPr>
              <a:t>검증 오류 8종은 코드로 정의하고, 심각도를 차단 / 경고로 나눴다. 차단 오류가 하나라도 남아 있으면 최종 제출이 불가능하다 (422).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200" b="1" spc="100" kern="0" dirty="0">
                <a:solidFill>
                  <a:srgbClr val="E2603F"/>
                </a:solidFill>
                <a:latin typeface="Apple SD Gothic Neo" pitchFamily="34" charset="0"/>
                <a:ea typeface="Apple SD Gothic Neo" pitchFamily="34" charset="-122"/>
                <a:cs typeface="Apple SD Gothic Neo" pitchFamily="34" charset="-120"/>
              </a:rPr>
              <a:t>화면 설계</a:t>
            </a:r>
            <a:endParaRPr lang="en-US" sz="1200" dirty="0"/>
          </a:p>
        </p:txBody>
      </p:sp>
      <p:sp>
        <p:nvSpPr>
          <p:cNvPr id="3" name="Text 1"/>
          <p:cNvSpPr txBox="1"/>
          <p:nvPr/>
        </p:nvSpPr>
        <p:spPr>
          <a:xfrm>
            <a:off x="640080" y="658368"/>
            <a:ext cx="10908792" cy="621792"/>
          </a:xfrm>
          <a:prstGeom prst="rect">
            <a:avLst/>
          </a:prstGeom>
          <a:noFill/>
          <a:ln/>
        </p:spPr>
        <p:txBody>
          <a:bodyPr wrap="square" lIns="0" tIns="0" rIns="0" bIns="0" rtlCol="0" anchor="t"/>
          <a:lstStyle/>
          <a:p>
            <a:pPr indent="0" marL="0">
              <a:buNone/>
            </a:pPr>
            <a:r>
              <a:rPr lang="en-US" sz="3000" b="1" dirty="0">
                <a:solidFill>
                  <a:srgbClr val="1E2761"/>
                </a:solidFill>
                <a:latin typeface="Apple SD Gothic Neo" pitchFamily="34" charset="0"/>
                <a:ea typeface="Apple SD Gothic Neo" pitchFamily="34" charset="-122"/>
                <a:cs typeface="Apple SD Gothic Neo" pitchFamily="34" charset="-120"/>
              </a:rPr>
              <a:t>화면 6개 · 요구사항 ID와 1:1로 연결</a:t>
            </a:r>
            <a:endParaRPr lang="en-US" sz="3000" dirty="0"/>
          </a:p>
        </p:txBody>
      </p:sp>
      <p:sp>
        <p:nvSpPr>
          <p:cNvPr id="4" name="Shape 2"/>
          <p:cNvSpPr/>
          <p:nvPr/>
        </p:nvSpPr>
        <p:spPr>
          <a:xfrm>
            <a:off x="640080" y="1627632"/>
            <a:ext cx="6675120" cy="566928"/>
          </a:xfrm>
          <a:prstGeom prst="roundRect">
            <a:avLst>
              <a:gd name="adj" fmla="val 14516"/>
            </a:avLst>
          </a:prstGeom>
          <a:solidFill>
            <a:srgbClr val="F2F6FC"/>
          </a:solidFill>
          <a:ln w="12700">
            <a:solidFill>
              <a:srgbClr val="E3EAF5"/>
            </a:solidFill>
            <a:prstDash val="solid"/>
          </a:ln>
        </p:spPr>
      </p:sp>
      <p:sp>
        <p:nvSpPr>
          <p:cNvPr id="5" name="Text 3"/>
          <p:cNvSpPr txBox="1"/>
          <p:nvPr/>
        </p:nvSpPr>
        <p:spPr>
          <a:xfrm>
            <a:off x="822960" y="1627632"/>
            <a:ext cx="1600200" cy="566928"/>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SCR-AUTH-001</a:t>
            </a:r>
            <a:endParaRPr lang="en-US" sz="1100" dirty="0"/>
          </a:p>
        </p:txBody>
      </p:sp>
      <p:sp>
        <p:nvSpPr>
          <p:cNvPr id="6" name="Text 4"/>
          <p:cNvSpPr txBox="1"/>
          <p:nvPr/>
        </p:nvSpPr>
        <p:spPr>
          <a:xfrm>
            <a:off x="2468880" y="1627632"/>
            <a:ext cx="2423160" cy="566928"/>
          </a:xfrm>
          <a:prstGeom prst="rect">
            <a:avLst/>
          </a:prstGeom>
          <a:noFill/>
          <a:ln/>
        </p:spPr>
        <p:txBody>
          <a:bodyPr wrap="square" lIns="0" tIns="0" rIns="0" bIns="0" rtlCol="0" anchor="ctr"/>
          <a:lstStyle/>
          <a:p>
            <a:pPr indent="0" marL="0">
              <a:buNone/>
            </a:pPr>
            <a:r>
              <a:rPr lang="en-US" sz="1250" b="1" dirty="0">
                <a:solidFill>
                  <a:srgbClr val="33405C"/>
                </a:solidFill>
                <a:latin typeface="Apple SD Gothic Neo" pitchFamily="34" charset="0"/>
                <a:ea typeface="Apple SD Gothic Neo" pitchFamily="34" charset="-122"/>
                <a:cs typeface="Apple SD Gothic Neo" pitchFamily="34" charset="-120"/>
              </a:rPr>
              <a:t>공통 로그인</a:t>
            </a:r>
            <a:endParaRPr lang="en-US" sz="1250" dirty="0"/>
          </a:p>
        </p:txBody>
      </p:sp>
      <p:sp>
        <p:nvSpPr>
          <p:cNvPr id="7" name="Shape 5"/>
          <p:cNvSpPr/>
          <p:nvPr/>
        </p:nvSpPr>
        <p:spPr>
          <a:xfrm>
            <a:off x="4919472" y="1783080"/>
            <a:ext cx="512064" cy="256032"/>
          </a:xfrm>
          <a:prstGeom prst="roundRect">
            <a:avLst>
              <a:gd name="adj" fmla="val 50000"/>
            </a:avLst>
          </a:prstGeom>
          <a:solidFill>
            <a:srgbClr val="E2603F"/>
          </a:solidFill>
          <a:ln w="12700">
            <a:solidFill>
              <a:srgbClr val="E2603F"/>
            </a:solidFill>
            <a:prstDash val="solid"/>
          </a:ln>
        </p:spPr>
      </p:sp>
      <p:sp>
        <p:nvSpPr>
          <p:cNvPr id="8" name="Text 6"/>
          <p:cNvSpPr txBox="1"/>
          <p:nvPr/>
        </p:nvSpPr>
        <p:spPr>
          <a:xfrm>
            <a:off x="4919472" y="1783080"/>
            <a:ext cx="51206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pple SD Gothic Neo" pitchFamily="34" charset="0"/>
                <a:ea typeface="Apple SD Gothic Neo" pitchFamily="34" charset="-122"/>
                <a:cs typeface="Apple SD Gothic Neo" pitchFamily="34" charset="-120"/>
              </a:rPr>
              <a:t>공통</a:t>
            </a:r>
            <a:endParaRPr lang="en-US" sz="900" dirty="0"/>
          </a:p>
        </p:txBody>
      </p:sp>
      <p:sp>
        <p:nvSpPr>
          <p:cNvPr id="9" name="Text 7"/>
          <p:cNvSpPr txBox="1"/>
          <p:nvPr/>
        </p:nvSpPr>
        <p:spPr>
          <a:xfrm>
            <a:off x="5532120" y="1627632"/>
            <a:ext cx="2377440" cy="566928"/>
          </a:xfrm>
          <a:prstGeom prst="rect">
            <a:avLst/>
          </a:prstGeom>
          <a:noFill/>
          <a:ln/>
        </p:spPr>
        <p:txBody>
          <a:bodyPr wrap="square" lIns="0" tIns="0" rIns="0" bIns="0" rtlCol="0" anchor="ctr"/>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REQ-FUNC-001</a:t>
            </a:r>
            <a:endParaRPr lang="en-US" sz="1050" dirty="0"/>
          </a:p>
        </p:txBody>
      </p:sp>
      <p:sp>
        <p:nvSpPr>
          <p:cNvPr id="10" name="Shape 8"/>
          <p:cNvSpPr/>
          <p:nvPr/>
        </p:nvSpPr>
        <p:spPr>
          <a:xfrm>
            <a:off x="640080" y="2286000"/>
            <a:ext cx="6675120" cy="566928"/>
          </a:xfrm>
          <a:prstGeom prst="roundRect">
            <a:avLst>
              <a:gd name="adj" fmla="val 14516"/>
            </a:avLst>
          </a:prstGeom>
          <a:solidFill>
            <a:srgbClr val="FFFFFF"/>
          </a:solidFill>
          <a:ln w="12700">
            <a:solidFill>
              <a:srgbClr val="E3EAF5"/>
            </a:solidFill>
            <a:prstDash val="solid"/>
          </a:ln>
        </p:spPr>
      </p:sp>
      <p:sp>
        <p:nvSpPr>
          <p:cNvPr id="11" name="Text 9"/>
          <p:cNvSpPr txBox="1"/>
          <p:nvPr/>
        </p:nvSpPr>
        <p:spPr>
          <a:xfrm>
            <a:off x="822960" y="2286000"/>
            <a:ext cx="1600200" cy="566928"/>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SCR-CUST-001</a:t>
            </a:r>
            <a:endParaRPr lang="en-US" sz="1100" dirty="0"/>
          </a:p>
        </p:txBody>
      </p:sp>
      <p:sp>
        <p:nvSpPr>
          <p:cNvPr id="12" name="Text 10"/>
          <p:cNvSpPr txBox="1"/>
          <p:nvPr/>
        </p:nvSpPr>
        <p:spPr>
          <a:xfrm>
            <a:off x="2468880" y="2286000"/>
            <a:ext cx="2423160" cy="566928"/>
          </a:xfrm>
          <a:prstGeom prst="rect">
            <a:avLst/>
          </a:prstGeom>
          <a:noFill/>
          <a:ln/>
        </p:spPr>
        <p:txBody>
          <a:bodyPr wrap="square" lIns="0" tIns="0" rIns="0" bIns="0" rtlCol="0" anchor="ctr"/>
          <a:lstStyle/>
          <a:p>
            <a:pPr indent="0" marL="0">
              <a:buNone/>
            </a:pPr>
            <a:r>
              <a:rPr lang="en-US" sz="1250" b="1" dirty="0">
                <a:solidFill>
                  <a:srgbClr val="33405C"/>
                </a:solidFill>
                <a:latin typeface="Apple SD Gothic Neo" pitchFamily="34" charset="0"/>
                <a:ea typeface="Apple SD Gothic Neo" pitchFamily="34" charset="-122"/>
                <a:cs typeface="Apple SD Gothic Neo" pitchFamily="34" charset="-120"/>
              </a:rPr>
              <a:t>서류 제출 현황</a:t>
            </a:r>
            <a:endParaRPr lang="en-US" sz="1250" dirty="0"/>
          </a:p>
        </p:txBody>
      </p:sp>
      <p:sp>
        <p:nvSpPr>
          <p:cNvPr id="13" name="Shape 11"/>
          <p:cNvSpPr/>
          <p:nvPr/>
        </p:nvSpPr>
        <p:spPr>
          <a:xfrm>
            <a:off x="4919472" y="2441448"/>
            <a:ext cx="512064" cy="256032"/>
          </a:xfrm>
          <a:prstGeom prst="roundRect">
            <a:avLst>
              <a:gd name="adj" fmla="val 50000"/>
            </a:avLst>
          </a:prstGeom>
          <a:solidFill>
            <a:srgbClr val="1E2761"/>
          </a:solidFill>
          <a:ln w="12700">
            <a:solidFill>
              <a:srgbClr val="1E2761"/>
            </a:solidFill>
            <a:prstDash val="solid"/>
          </a:ln>
        </p:spPr>
      </p:sp>
      <p:sp>
        <p:nvSpPr>
          <p:cNvPr id="14" name="Text 12"/>
          <p:cNvSpPr txBox="1"/>
          <p:nvPr/>
        </p:nvSpPr>
        <p:spPr>
          <a:xfrm>
            <a:off x="4919472" y="2441448"/>
            <a:ext cx="51206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pple SD Gothic Neo" pitchFamily="34" charset="0"/>
                <a:ea typeface="Apple SD Gothic Neo" pitchFamily="34" charset="-122"/>
                <a:cs typeface="Apple SD Gothic Neo" pitchFamily="34" charset="-120"/>
              </a:rPr>
              <a:t>기업</a:t>
            </a:r>
            <a:endParaRPr lang="en-US" sz="900" dirty="0"/>
          </a:p>
        </p:txBody>
      </p:sp>
      <p:sp>
        <p:nvSpPr>
          <p:cNvPr id="15" name="Text 13"/>
          <p:cNvSpPr txBox="1"/>
          <p:nvPr/>
        </p:nvSpPr>
        <p:spPr>
          <a:xfrm>
            <a:off x="5532120" y="2286000"/>
            <a:ext cx="2377440" cy="566928"/>
          </a:xfrm>
          <a:prstGeom prst="rect">
            <a:avLst/>
          </a:prstGeom>
          <a:noFill/>
          <a:ln/>
        </p:spPr>
        <p:txBody>
          <a:bodyPr wrap="square" lIns="0" tIns="0" rIns="0" bIns="0" rtlCol="0" anchor="ctr"/>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REQ-FUNC-002, 007, 011</a:t>
            </a:r>
            <a:endParaRPr lang="en-US" sz="1050" dirty="0"/>
          </a:p>
        </p:txBody>
      </p:sp>
      <p:sp>
        <p:nvSpPr>
          <p:cNvPr id="16" name="Shape 14"/>
          <p:cNvSpPr/>
          <p:nvPr/>
        </p:nvSpPr>
        <p:spPr>
          <a:xfrm>
            <a:off x="640080" y="2944368"/>
            <a:ext cx="6675120" cy="566928"/>
          </a:xfrm>
          <a:prstGeom prst="roundRect">
            <a:avLst>
              <a:gd name="adj" fmla="val 14516"/>
            </a:avLst>
          </a:prstGeom>
          <a:solidFill>
            <a:srgbClr val="F2F6FC"/>
          </a:solidFill>
          <a:ln w="12700">
            <a:solidFill>
              <a:srgbClr val="E3EAF5"/>
            </a:solidFill>
            <a:prstDash val="solid"/>
          </a:ln>
        </p:spPr>
      </p:sp>
      <p:sp>
        <p:nvSpPr>
          <p:cNvPr id="17" name="Text 15"/>
          <p:cNvSpPr txBox="1"/>
          <p:nvPr/>
        </p:nvSpPr>
        <p:spPr>
          <a:xfrm>
            <a:off x="822960" y="2944368"/>
            <a:ext cx="1600200" cy="566928"/>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SCR-DOC-001</a:t>
            </a:r>
            <a:endParaRPr lang="en-US" sz="1100" dirty="0"/>
          </a:p>
        </p:txBody>
      </p:sp>
      <p:sp>
        <p:nvSpPr>
          <p:cNvPr id="18" name="Text 16"/>
          <p:cNvSpPr txBox="1"/>
          <p:nvPr/>
        </p:nvSpPr>
        <p:spPr>
          <a:xfrm>
            <a:off x="2468880" y="2944368"/>
            <a:ext cx="2423160" cy="566928"/>
          </a:xfrm>
          <a:prstGeom prst="rect">
            <a:avLst/>
          </a:prstGeom>
          <a:noFill/>
          <a:ln/>
        </p:spPr>
        <p:txBody>
          <a:bodyPr wrap="square" lIns="0" tIns="0" rIns="0" bIns="0" rtlCol="0" anchor="ctr"/>
          <a:lstStyle/>
          <a:p>
            <a:pPr indent="0" marL="0">
              <a:buNone/>
            </a:pPr>
            <a:r>
              <a:rPr lang="en-US" sz="1250" b="1" dirty="0">
                <a:solidFill>
                  <a:srgbClr val="33405C"/>
                </a:solidFill>
                <a:latin typeface="Apple SD Gothic Neo" pitchFamily="34" charset="0"/>
                <a:ea typeface="Apple SD Gothic Neo" pitchFamily="34" charset="-122"/>
                <a:cs typeface="Apple SD Gothic Neo" pitchFamily="34" charset="-120"/>
              </a:rPr>
              <a:t>제출서류 패키지 업로드</a:t>
            </a:r>
            <a:endParaRPr lang="en-US" sz="1250" dirty="0"/>
          </a:p>
        </p:txBody>
      </p:sp>
      <p:sp>
        <p:nvSpPr>
          <p:cNvPr id="19" name="Shape 17"/>
          <p:cNvSpPr/>
          <p:nvPr/>
        </p:nvSpPr>
        <p:spPr>
          <a:xfrm>
            <a:off x="4919472" y="3099816"/>
            <a:ext cx="512064" cy="256032"/>
          </a:xfrm>
          <a:prstGeom prst="roundRect">
            <a:avLst>
              <a:gd name="adj" fmla="val 50000"/>
            </a:avLst>
          </a:prstGeom>
          <a:solidFill>
            <a:srgbClr val="1E2761"/>
          </a:solidFill>
          <a:ln w="12700">
            <a:solidFill>
              <a:srgbClr val="1E2761"/>
            </a:solidFill>
            <a:prstDash val="solid"/>
          </a:ln>
        </p:spPr>
      </p:sp>
      <p:sp>
        <p:nvSpPr>
          <p:cNvPr id="20" name="Text 18"/>
          <p:cNvSpPr txBox="1"/>
          <p:nvPr/>
        </p:nvSpPr>
        <p:spPr>
          <a:xfrm>
            <a:off x="4919472" y="3099816"/>
            <a:ext cx="51206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pple SD Gothic Neo" pitchFamily="34" charset="0"/>
                <a:ea typeface="Apple SD Gothic Neo" pitchFamily="34" charset="-122"/>
                <a:cs typeface="Apple SD Gothic Neo" pitchFamily="34" charset="-120"/>
              </a:rPr>
              <a:t>기업</a:t>
            </a:r>
            <a:endParaRPr lang="en-US" sz="900" dirty="0"/>
          </a:p>
        </p:txBody>
      </p:sp>
      <p:sp>
        <p:nvSpPr>
          <p:cNvPr id="21" name="Text 19"/>
          <p:cNvSpPr txBox="1"/>
          <p:nvPr/>
        </p:nvSpPr>
        <p:spPr>
          <a:xfrm>
            <a:off x="5532120" y="2944368"/>
            <a:ext cx="2377440" cy="566928"/>
          </a:xfrm>
          <a:prstGeom prst="rect">
            <a:avLst/>
          </a:prstGeom>
          <a:noFill/>
          <a:ln/>
        </p:spPr>
        <p:txBody>
          <a:bodyPr wrap="square" lIns="0" tIns="0" rIns="0" bIns="0" rtlCol="0" anchor="ctr"/>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REQ-FUNC-003, 004, 011</a:t>
            </a:r>
            <a:endParaRPr lang="en-US" sz="1050" dirty="0"/>
          </a:p>
        </p:txBody>
      </p:sp>
      <p:sp>
        <p:nvSpPr>
          <p:cNvPr id="22" name="Shape 20"/>
          <p:cNvSpPr/>
          <p:nvPr/>
        </p:nvSpPr>
        <p:spPr>
          <a:xfrm>
            <a:off x="640080" y="3602736"/>
            <a:ext cx="6675120" cy="566928"/>
          </a:xfrm>
          <a:prstGeom prst="roundRect">
            <a:avLst>
              <a:gd name="adj" fmla="val 14516"/>
            </a:avLst>
          </a:prstGeom>
          <a:solidFill>
            <a:srgbClr val="FFFFFF"/>
          </a:solidFill>
          <a:ln w="12700">
            <a:solidFill>
              <a:srgbClr val="E3EAF5"/>
            </a:solidFill>
            <a:prstDash val="solid"/>
          </a:ln>
        </p:spPr>
      </p:sp>
      <p:sp>
        <p:nvSpPr>
          <p:cNvPr id="23" name="Text 21"/>
          <p:cNvSpPr txBox="1"/>
          <p:nvPr/>
        </p:nvSpPr>
        <p:spPr>
          <a:xfrm>
            <a:off x="822960" y="3602736"/>
            <a:ext cx="1600200" cy="566928"/>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SCR-DOC-002</a:t>
            </a:r>
            <a:endParaRPr lang="en-US" sz="1100" dirty="0"/>
          </a:p>
        </p:txBody>
      </p:sp>
      <p:sp>
        <p:nvSpPr>
          <p:cNvPr id="24" name="Text 22"/>
          <p:cNvSpPr txBox="1"/>
          <p:nvPr/>
        </p:nvSpPr>
        <p:spPr>
          <a:xfrm>
            <a:off x="2468880" y="3602736"/>
            <a:ext cx="2423160" cy="566928"/>
          </a:xfrm>
          <a:prstGeom prst="rect">
            <a:avLst/>
          </a:prstGeom>
          <a:noFill/>
          <a:ln/>
        </p:spPr>
        <p:txBody>
          <a:bodyPr wrap="square" lIns="0" tIns="0" rIns="0" bIns="0" rtlCol="0" anchor="ctr"/>
          <a:lstStyle/>
          <a:p>
            <a:pPr indent="0" marL="0">
              <a:buNone/>
            </a:pPr>
            <a:r>
              <a:rPr lang="en-US" sz="1250" b="1" dirty="0">
                <a:solidFill>
                  <a:srgbClr val="33405C"/>
                </a:solidFill>
                <a:latin typeface="Apple SD Gothic Neo" pitchFamily="34" charset="0"/>
                <a:ea typeface="Apple SD Gothic Neo" pitchFamily="34" charset="-122"/>
                <a:cs typeface="Apple SD Gothic Neo" pitchFamily="34" charset="-120"/>
              </a:rPr>
              <a:t>OCR 추출 · 교차검증 결과</a:t>
            </a:r>
            <a:endParaRPr lang="en-US" sz="1250" dirty="0"/>
          </a:p>
        </p:txBody>
      </p:sp>
      <p:sp>
        <p:nvSpPr>
          <p:cNvPr id="25" name="Shape 23"/>
          <p:cNvSpPr/>
          <p:nvPr/>
        </p:nvSpPr>
        <p:spPr>
          <a:xfrm>
            <a:off x="4919472" y="3758184"/>
            <a:ext cx="512064" cy="256032"/>
          </a:xfrm>
          <a:prstGeom prst="roundRect">
            <a:avLst>
              <a:gd name="adj" fmla="val 50000"/>
            </a:avLst>
          </a:prstGeom>
          <a:solidFill>
            <a:srgbClr val="1E2761"/>
          </a:solidFill>
          <a:ln w="12700">
            <a:solidFill>
              <a:srgbClr val="1E2761"/>
            </a:solidFill>
            <a:prstDash val="solid"/>
          </a:ln>
        </p:spPr>
      </p:sp>
      <p:sp>
        <p:nvSpPr>
          <p:cNvPr id="26" name="Text 24"/>
          <p:cNvSpPr txBox="1"/>
          <p:nvPr/>
        </p:nvSpPr>
        <p:spPr>
          <a:xfrm>
            <a:off x="4919472" y="3758184"/>
            <a:ext cx="51206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pple SD Gothic Neo" pitchFamily="34" charset="0"/>
                <a:ea typeface="Apple SD Gothic Neo" pitchFamily="34" charset="-122"/>
                <a:cs typeface="Apple SD Gothic Neo" pitchFamily="34" charset="-120"/>
              </a:rPr>
              <a:t>기업</a:t>
            </a:r>
            <a:endParaRPr lang="en-US" sz="900" dirty="0"/>
          </a:p>
        </p:txBody>
      </p:sp>
      <p:sp>
        <p:nvSpPr>
          <p:cNvPr id="27" name="Text 25"/>
          <p:cNvSpPr txBox="1"/>
          <p:nvPr/>
        </p:nvSpPr>
        <p:spPr>
          <a:xfrm>
            <a:off x="5532120" y="3602736"/>
            <a:ext cx="2377440" cy="566928"/>
          </a:xfrm>
          <a:prstGeom prst="rect">
            <a:avLst/>
          </a:prstGeom>
          <a:noFill/>
          <a:ln/>
        </p:spPr>
        <p:txBody>
          <a:bodyPr wrap="square" lIns="0" tIns="0" rIns="0" bIns="0" rtlCol="0" anchor="ctr"/>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REQ-FUNC-005, 006, 007</a:t>
            </a:r>
            <a:endParaRPr lang="en-US" sz="1050" dirty="0"/>
          </a:p>
        </p:txBody>
      </p:sp>
      <p:sp>
        <p:nvSpPr>
          <p:cNvPr id="28" name="Shape 26"/>
          <p:cNvSpPr/>
          <p:nvPr/>
        </p:nvSpPr>
        <p:spPr>
          <a:xfrm>
            <a:off x="640080" y="4261104"/>
            <a:ext cx="6675120" cy="566928"/>
          </a:xfrm>
          <a:prstGeom prst="roundRect">
            <a:avLst>
              <a:gd name="adj" fmla="val 14516"/>
            </a:avLst>
          </a:prstGeom>
          <a:solidFill>
            <a:srgbClr val="F2F6FC"/>
          </a:solidFill>
          <a:ln w="12700">
            <a:solidFill>
              <a:srgbClr val="E3EAF5"/>
            </a:solidFill>
            <a:prstDash val="solid"/>
          </a:ln>
        </p:spPr>
      </p:sp>
      <p:sp>
        <p:nvSpPr>
          <p:cNvPr id="29" name="Text 27"/>
          <p:cNvSpPr txBox="1"/>
          <p:nvPr/>
        </p:nvSpPr>
        <p:spPr>
          <a:xfrm>
            <a:off x="822960" y="4261104"/>
            <a:ext cx="1600200" cy="566928"/>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SCR-REV-001</a:t>
            </a:r>
            <a:endParaRPr lang="en-US" sz="1100" dirty="0"/>
          </a:p>
        </p:txBody>
      </p:sp>
      <p:sp>
        <p:nvSpPr>
          <p:cNvPr id="30" name="Text 28"/>
          <p:cNvSpPr txBox="1"/>
          <p:nvPr/>
        </p:nvSpPr>
        <p:spPr>
          <a:xfrm>
            <a:off x="2468880" y="4261104"/>
            <a:ext cx="2423160" cy="566928"/>
          </a:xfrm>
          <a:prstGeom prst="rect">
            <a:avLst/>
          </a:prstGeom>
          <a:noFill/>
          <a:ln/>
        </p:spPr>
        <p:txBody>
          <a:bodyPr wrap="square" lIns="0" tIns="0" rIns="0" bIns="0" rtlCol="0" anchor="ctr"/>
          <a:lstStyle/>
          <a:p>
            <a:pPr indent="0" marL="0">
              <a:buNone/>
            </a:pPr>
            <a:r>
              <a:rPr lang="en-US" sz="1250" b="1" dirty="0">
                <a:solidFill>
                  <a:srgbClr val="33405C"/>
                </a:solidFill>
                <a:latin typeface="Apple SD Gothic Neo" pitchFamily="34" charset="0"/>
                <a:ea typeface="Apple SD Gothic Neo" pitchFamily="34" charset="-122"/>
                <a:cs typeface="Apple SD Gothic Neo" pitchFamily="34" charset="-120"/>
              </a:rPr>
              <a:t>은행 담당자 검토 목록</a:t>
            </a:r>
            <a:endParaRPr lang="en-US" sz="1250" dirty="0"/>
          </a:p>
        </p:txBody>
      </p:sp>
      <p:sp>
        <p:nvSpPr>
          <p:cNvPr id="31" name="Shape 29"/>
          <p:cNvSpPr/>
          <p:nvPr/>
        </p:nvSpPr>
        <p:spPr>
          <a:xfrm>
            <a:off x="4919472" y="4416552"/>
            <a:ext cx="512064" cy="256032"/>
          </a:xfrm>
          <a:prstGeom prst="roundRect">
            <a:avLst>
              <a:gd name="adj" fmla="val 50000"/>
            </a:avLst>
          </a:prstGeom>
          <a:solidFill>
            <a:srgbClr val="5C6B8A"/>
          </a:solidFill>
          <a:ln w="12700">
            <a:solidFill>
              <a:srgbClr val="5C6B8A"/>
            </a:solidFill>
            <a:prstDash val="solid"/>
          </a:ln>
        </p:spPr>
      </p:sp>
      <p:sp>
        <p:nvSpPr>
          <p:cNvPr id="32" name="Text 30"/>
          <p:cNvSpPr txBox="1"/>
          <p:nvPr/>
        </p:nvSpPr>
        <p:spPr>
          <a:xfrm>
            <a:off x="4919472" y="4416552"/>
            <a:ext cx="51206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pple SD Gothic Neo" pitchFamily="34" charset="0"/>
                <a:ea typeface="Apple SD Gothic Neo" pitchFamily="34" charset="-122"/>
                <a:cs typeface="Apple SD Gothic Neo" pitchFamily="34" charset="-120"/>
              </a:rPr>
              <a:t>은행</a:t>
            </a:r>
            <a:endParaRPr lang="en-US" sz="900" dirty="0"/>
          </a:p>
        </p:txBody>
      </p:sp>
      <p:sp>
        <p:nvSpPr>
          <p:cNvPr id="33" name="Text 31"/>
          <p:cNvSpPr txBox="1"/>
          <p:nvPr/>
        </p:nvSpPr>
        <p:spPr>
          <a:xfrm>
            <a:off x="5532120" y="4261104"/>
            <a:ext cx="2377440" cy="566928"/>
          </a:xfrm>
          <a:prstGeom prst="rect">
            <a:avLst/>
          </a:prstGeom>
          <a:noFill/>
          <a:ln/>
        </p:spPr>
        <p:txBody>
          <a:bodyPr wrap="square" lIns="0" tIns="0" rIns="0" bIns="0" rtlCol="0" anchor="ctr"/>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REQ-FUNC-008</a:t>
            </a:r>
            <a:endParaRPr lang="en-US" sz="1050" dirty="0"/>
          </a:p>
        </p:txBody>
      </p:sp>
      <p:sp>
        <p:nvSpPr>
          <p:cNvPr id="34" name="Shape 32"/>
          <p:cNvSpPr/>
          <p:nvPr/>
        </p:nvSpPr>
        <p:spPr>
          <a:xfrm>
            <a:off x="640080" y="4919472"/>
            <a:ext cx="6675120" cy="566928"/>
          </a:xfrm>
          <a:prstGeom prst="roundRect">
            <a:avLst>
              <a:gd name="adj" fmla="val 14516"/>
            </a:avLst>
          </a:prstGeom>
          <a:solidFill>
            <a:srgbClr val="FFFFFF"/>
          </a:solidFill>
          <a:ln w="12700">
            <a:solidFill>
              <a:srgbClr val="E3EAF5"/>
            </a:solidFill>
            <a:prstDash val="solid"/>
          </a:ln>
        </p:spPr>
      </p:sp>
      <p:sp>
        <p:nvSpPr>
          <p:cNvPr id="35" name="Text 33"/>
          <p:cNvSpPr txBox="1"/>
          <p:nvPr/>
        </p:nvSpPr>
        <p:spPr>
          <a:xfrm>
            <a:off x="822960" y="4919472"/>
            <a:ext cx="1600200" cy="566928"/>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SCR-REV-002</a:t>
            </a:r>
            <a:endParaRPr lang="en-US" sz="1100" dirty="0"/>
          </a:p>
        </p:txBody>
      </p:sp>
      <p:sp>
        <p:nvSpPr>
          <p:cNvPr id="36" name="Text 34"/>
          <p:cNvSpPr txBox="1"/>
          <p:nvPr/>
        </p:nvSpPr>
        <p:spPr>
          <a:xfrm>
            <a:off x="2468880" y="4919472"/>
            <a:ext cx="2423160" cy="566928"/>
          </a:xfrm>
          <a:prstGeom prst="rect">
            <a:avLst/>
          </a:prstGeom>
          <a:noFill/>
          <a:ln/>
        </p:spPr>
        <p:txBody>
          <a:bodyPr wrap="square" lIns="0" tIns="0" rIns="0" bIns="0" rtlCol="0" anchor="ctr"/>
          <a:lstStyle/>
          <a:p>
            <a:pPr indent="0" marL="0">
              <a:buNone/>
            </a:pPr>
            <a:r>
              <a:rPr lang="en-US" sz="1250" b="1" dirty="0">
                <a:solidFill>
                  <a:srgbClr val="33405C"/>
                </a:solidFill>
                <a:latin typeface="Apple SD Gothic Neo" pitchFamily="34" charset="0"/>
                <a:ea typeface="Apple SD Gothic Neo" pitchFamily="34" charset="-122"/>
                <a:cs typeface="Apple SD Gothic Neo" pitchFamily="34" charset="-120"/>
              </a:rPr>
              <a:t>은행 담당자 상세 검토</a:t>
            </a:r>
            <a:endParaRPr lang="en-US" sz="1250" dirty="0"/>
          </a:p>
        </p:txBody>
      </p:sp>
      <p:sp>
        <p:nvSpPr>
          <p:cNvPr id="37" name="Shape 35"/>
          <p:cNvSpPr/>
          <p:nvPr/>
        </p:nvSpPr>
        <p:spPr>
          <a:xfrm>
            <a:off x="4919472" y="5074920"/>
            <a:ext cx="512064" cy="256032"/>
          </a:xfrm>
          <a:prstGeom prst="roundRect">
            <a:avLst>
              <a:gd name="adj" fmla="val 50000"/>
            </a:avLst>
          </a:prstGeom>
          <a:solidFill>
            <a:srgbClr val="5C6B8A"/>
          </a:solidFill>
          <a:ln w="12700">
            <a:solidFill>
              <a:srgbClr val="5C6B8A"/>
            </a:solidFill>
            <a:prstDash val="solid"/>
          </a:ln>
        </p:spPr>
      </p:sp>
      <p:sp>
        <p:nvSpPr>
          <p:cNvPr id="38" name="Text 36"/>
          <p:cNvSpPr txBox="1"/>
          <p:nvPr/>
        </p:nvSpPr>
        <p:spPr>
          <a:xfrm>
            <a:off x="4919472" y="5074920"/>
            <a:ext cx="51206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pple SD Gothic Neo" pitchFamily="34" charset="0"/>
                <a:ea typeface="Apple SD Gothic Neo" pitchFamily="34" charset="-122"/>
                <a:cs typeface="Apple SD Gothic Neo" pitchFamily="34" charset="-120"/>
              </a:rPr>
              <a:t>은행</a:t>
            </a:r>
            <a:endParaRPr lang="en-US" sz="900" dirty="0"/>
          </a:p>
        </p:txBody>
      </p:sp>
      <p:sp>
        <p:nvSpPr>
          <p:cNvPr id="39" name="Text 37"/>
          <p:cNvSpPr txBox="1"/>
          <p:nvPr/>
        </p:nvSpPr>
        <p:spPr>
          <a:xfrm>
            <a:off x="5532120" y="4919472"/>
            <a:ext cx="2377440" cy="566928"/>
          </a:xfrm>
          <a:prstGeom prst="rect">
            <a:avLst/>
          </a:prstGeom>
          <a:noFill/>
          <a:ln/>
        </p:spPr>
        <p:txBody>
          <a:bodyPr wrap="square" lIns="0" tIns="0" rIns="0" bIns="0" rtlCol="0" anchor="ctr"/>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REQ-FUNC-009, 010, 011</a:t>
            </a:r>
            <a:endParaRPr lang="en-US" sz="1050" dirty="0"/>
          </a:p>
        </p:txBody>
      </p:sp>
      <p:sp>
        <p:nvSpPr>
          <p:cNvPr id="40" name="Shape 38"/>
          <p:cNvSpPr/>
          <p:nvPr/>
        </p:nvSpPr>
        <p:spPr>
          <a:xfrm>
            <a:off x="7607808" y="1627632"/>
            <a:ext cx="3941064" cy="2084832"/>
          </a:xfrm>
          <a:prstGeom prst="roundRect">
            <a:avLst>
              <a:gd name="adj" fmla="val 3947"/>
            </a:avLst>
          </a:prstGeom>
          <a:solidFill>
            <a:srgbClr val="F2F6FC"/>
          </a:solidFill>
          <a:ln w="12700">
            <a:solidFill>
              <a:srgbClr val="E3EAF5"/>
            </a:solidFill>
            <a:prstDash val="solid"/>
          </a:ln>
        </p:spPr>
      </p:sp>
      <p:sp>
        <p:nvSpPr>
          <p:cNvPr id="41" name="Text 39"/>
          <p:cNvSpPr txBox="1"/>
          <p:nvPr/>
        </p:nvSpPr>
        <p:spPr>
          <a:xfrm>
            <a:off x="7863840" y="1792224"/>
            <a:ext cx="3429000" cy="274320"/>
          </a:xfrm>
          <a:prstGeom prst="rect">
            <a:avLst/>
          </a:prstGeom>
          <a:noFill/>
          <a:ln/>
        </p:spPr>
        <p:txBody>
          <a:bodyPr wrap="square" lIns="0" tIns="0" rIns="0" bIns="0" rtlCol="0" anchor="ctr"/>
          <a:lstStyle/>
          <a:p>
            <a:pPr indent="0" marL="0">
              <a:buNone/>
            </a:pPr>
            <a:r>
              <a:rPr lang="en-US" sz="1300" b="1" dirty="0">
                <a:solidFill>
                  <a:srgbClr val="1E2761"/>
                </a:solidFill>
                <a:latin typeface="Apple SD Gothic Neo" pitchFamily="34" charset="0"/>
                <a:ea typeface="Apple SD Gothic Neo" pitchFamily="34" charset="-122"/>
                <a:cs typeface="Apple SD Gothic Neo" pitchFamily="34" charset="-120"/>
              </a:rPr>
              <a:t>흐름 A — 기업 고객</a:t>
            </a:r>
            <a:endParaRPr lang="en-US" sz="1300" dirty="0"/>
          </a:p>
        </p:txBody>
      </p:sp>
      <p:sp>
        <p:nvSpPr>
          <p:cNvPr id="42" name="Text 40"/>
          <p:cNvSpPr txBox="1"/>
          <p:nvPr/>
        </p:nvSpPr>
        <p:spPr>
          <a:xfrm>
            <a:off x="7863840" y="2121408"/>
            <a:ext cx="3429000" cy="822960"/>
          </a:xfrm>
          <a:prstGeom prst="rect">
            <a:avLst/>
          </a:prstGeom>
          <a:noFill/>
          <a:ln/>
        </p:spPr>
        <p:txBody>
          <a:bodyPr wrap="square" lIns="0" tIns="0" rIns="0" bIns="0" rtlCol="0" anchor="ctr"/>
          <a:lstStyle/>
          <a:p>
            <a:pPr indent="0" marL="0">
              <a:lnSpc>
                <a:spcPct val="130000"/>
              </a:lnSpc>
              <a:buNone/>
            </a:pPr>
            <a:r>
              <a:rPr lang="en-US" sz="1150" dirty="0">
                <a:solidFill>
                  <a:srgbClr val="5C6B8A"/>
                </a:solidFill>
                <a:latin typeface="Apple SD Gothic Neo" pitchFamily="34" charset="0"/>
                <a:ea typeface="Apple SD Gothic Neo" pitchFamily="34" charset="-122"/>
                <a:cs typeface="Apple SD Gothic Neo" pitchFamily="34" charset="-120"/>
              </a:rPr>
              <a:t>AUTH-001 → CUST-001 → DOC-001</a:t>
            </a:r>
            <a:endParaRPr lang="en-US" sz="1150" dirty="0"/>
          </a:p>
          <a:p>
            <a:pPr indent="0" marL="0">
              <a:lnSpc>
                <a:spcPct val="130000"/>
              </a:lnSpc>
              <a:buNone/>
            </a:pPr>
            <a:r>
              <a:rPr lang="en-US" sz="1150" dirty="0">
                <a:solidFill>
                  <a:srgbClr val="5C6B8A"/>
                </a:solidFill>
                <a:latin typeface="Apple SD Gothic Neo" pitchFamily="34" charset="0"/>
                <a:ea typeface="Apple SD Gothic Neo" pitchFamily="34" charset="-122"/>
                <a:cs typeface="Apple SD Gothic Neo" pitchFamily="34" charset="-120"/>
              </a:rPr>
              <a:t>→ DOC-002 정정 → 최종 제출</a:t>
            </a:r>
            <a:endParaRPr lang="en-US" sz="1150" dirty="0"/>
          </a:p>
          <a:p>
            <a:pPr indent="0" marL="0">
              <a:lnSpc>
                <a:spcPct val="130000"/>
              </a:lnSpc>
              <a:buNone/>
            </a:pPr>
            <a:r>
              <a:rPr lang="en-US" sz="1150" dirty="0">
                <a:solidFill>
                  <a:srgbClr val="5C6B8A"/>
                </a:solidFill>
                <a:latin typeface="Apple SD Gothic Neo" pitchFamily="34" charset="0"/>
                <a:ea typeface="Apple SD Gothic Neo" pitchFamily="34" charset="-122"/>
                <a:cs typeface="Apple SD Gothic Neo" pitchFamily="34" charset="-120"/>
              </a:rPr>
              <a:t>→ REVIEW_PENDING</a:t>
            </a:r>
            <a:endParaRPr lang="en-US" sz="1150" dirty="0"/>
          </a:p>
        </p:txBody>
      </p:sp>
      <p:sp>
        <p:nvSpPr>
          <p:cNvPr id="43" name="Text 41"/>
          <p:cNvSpPr txBox="1"/>
          <p:nvPr/>
        </p:nvSpPr>
        <p:spPr>
          <a:xfrm>
            <a:off x="7863840" y="3017520"/>
            <a:ext cx="3429000" cy="457200"/>
          </a:xfrm>
          <a:prstGeom prst="rect">
            <a:avLst/>
          </a:prstGeom>
          <a:noFill/>
          <a:ln/>
        </p:spPr>
        <p:txBody>
          <a:bodyPr wrap="square" lIns="0" tIns="0" rIns="0" bIns="0" rtlCol="0" anchor="ctr"/>
          <a:lstStyle/>
          <a:p>
            <a:pPr indent="0" marL="0">
              <a:buNone/>
            </a:pPr>
            <a:r>
              <a:rPr lang="en-US" sz="1100" b="1" dirty="0">
                <a:solidFill>
                  <a:srgbClr val="E2603F"/>
                </a:solidFill>
                <a:latin typeface="Apple SD Gothic Neo" pitchFamily="34" charset="0"/>
                <a:ea typeface="Apple SD Gothic Neo" pitchFamily="34" charset="-122"/>
                <a:cs typeface="Apple SD Gothic Neo" pitchFamily="34" charset="-120"/>
              </a:rPr>
              <a:t>차단 오류 잔존 시 제출 불가 (422)</a:t>
            </a:r>
            <a:endParaRPr lang="en-US" sz="1100" dirty="0"/>
          </a:p>
        </p:txBody>
      </p:sp>
      <p:sp>
        <p:nvSpPr>
          <p:cNvPr id="44" name="Shape 42"/>
          <p:cNvSpPr/>
          <p:nvPr/>
        </p:nvSpPr>
        <p:spPr>
          <a:xfrm>
            <a:off x="7607808" y="3822192"/>
            <a:ext cx="3941064" cy="2084832"/>
          </a:xfrm>
          <a:prstGeom prst="roundRect">
            <a:avLst>
              <a:gd name="adj" fmla="val 3947"/>
            </a:avLst>
          </a:prstGeom>
          <a:solidFill>
            <a:srgbClr val="F2F6FC"/>
          </a:solidFill>
          <a:ln w="12700">
            <a:solidFill>
              <a:srgbClr val="E3EAF5"/>
            </a:solidFill>
            <a:prstDash val="solid"/>
          </a:ln>
        </p:spPr>
      </p:sp>
      <p:sp>
        <p:nvSpPr>
          <p:cNvPr id="45" name="Text 43"/>
          <p:cNvSpPr txBox="1"/>
          <p:nvPr/>
        </p:nvSpPr>
        <p:spPr>
          <a:xfrm>
            <a:off x="7863840" y="3986784"/>
            <a:ext cx="3429000" cy="274320"/>
          </a:xfrm>
          <a:prstGeom prst="rect">
            <a:avLst/>
          </a:prstGeom>
          <a:noFill/>
          <a:ln/>
        </p:spPr>
        <p:txBody>
          <a:bodyPr wrap="square" lIns="0" tIns="0" rIns="0" bIns="0" rtlCol="0" anchor="ctr"/>
          <a:lstStyle/>
          <a:p>
            <a:pPr indent="0" marL="0">
              <a:buNone/>
            </a:pPr>
            <a:r>
              <a:rPr lang="en-US" sz="1300" b="1" dirty="0">
                <a:solidFill>
                  <a:srgbClr val="1E2761"/>
                </a:solidFill>
                <a:latin typeface="Apple SD Gothic Neo" pitchFamily="34" charset="0"/>
                <a:ea typeface="Apple SD Gothic Neo" pitchFamily="34" charset="-122"/>
                <a:cs typeface="Apple SD Gothic Neo" pitchFamily="34" charset="-120"/>
              </a:rPr>
              <a:t>흐름 B — 은행 담당자</a:t>
            </a:r>
            <a:endParaRPr lang="en-US" sz="1300" dirty="0"/>
          </a:p>
        </p:txBody>
      </p:sp>
      <p:sp>
        <p:nvSpPr>
          <p:cNvPr id="46" name="Text 44"/>
          <p:cNvSpPr txBox="1"/>
          <p:nvPr/>
        </p:nvSpPr>
        <p:spPr>
          <a:xfrm>
            <a:off x="7863840" y="4315968"/>
            <a:ext cx="3429000" cy="822960"/>
          </a:xfrm>
          <a:prstGeom prst="rect">
            <a:avLst/>
          </a:prstGeom>
          <a:noFill/>
          <a:ln/>
        </p:spPr>
        <p:txBody>
          <a:bodyPr wrap="square" lIns="0" tIns="0" rIns="0" bIns="0" rtlCol="0" anchor="ctr"/>
          <a:lstStyle/>
          <a:p>
            <a:pPr indent="0" marL="0">
              <a:lnSpc>
                <a:spcPct val="130000"/>
              </a:lnSpc>
              <a:buNone/>
            </a:pPr>
            <a:r>
              <a:rPr lang="en-US" sz="1150" dirty="0">
                <a:solidFill>
                  <a:srgbClr val="5C6B8A"/>
                </a:solidFill>
                <a:latin typeface="Apple SD Gothic Neo" pitchFamily="34" charset="0"/>
                <a:ea typeface="Apple SD Gothic Neo" pitchFamily="34" charset="-122"/>
                <a:cs typeface="Apple SD Gothic Neo" pitchFamily="34" charset="-120"/>
              </a:rPr>
              <a:t>AUTH-001 → REV-001 → REV-002</a:t>
            </a:r>
            <a:endParaRPr lang="en-US" sz="1150" dirty="0"/>
          </a:p>
          <a:p>
            <a:pPr indent="0" marL="0">
              <a:lnSpc>
                <a:spcPct val="130000"/>
              </a:lnSpc>
              <a:buNone/>
            </a:pPr>
            <a:r>
              <a:rPr lang="en-US" sz="1150" dirty="0">
                <a:solidFill>
                  <a:srgbClr val="5C6B8A"/>
                </a:solidFill>
                <a:latin typeface="Apple SD Gothic Neo" pitchFamily="34" charset="0"/>
                <a:ea typeface="Apple SD Gothic Neo" pitchFamily="34" charset="-122"/>
                <a:cs typeface="Apple SD Gothic Neo" pitchFamily="34" charset="-120"/>
              </a:rPr>
              <a:t>→ 확인 완료 (DOCUMENTS_APPROVED)</a:t>
            </a:r>
            <a:endParaRPr lang="en-US" sz="1150" dirty="0"/>
          </a:p>
          <a:p>
            <a:pPr indent="0" marL="0">
              <a:lnSpc>
                <a:spcPct val="130000"/>
              </a:lnSpc>
              <a:buNone/>
            </a:pPr>
            <a:r>
              <a:rPr lang="en-US" sz="1150" dirty="0">
                <a:solidFill>
                  <a:srgbClr val="5C6B8A"/>
                </a:solidFill>
                <a:latin typeface="Apple SD Gothic Neo" pitchFamily="34" charset="0"/>
                <a:ea typeface="Apple SD Gothic Neo" pitchFamily="34" charset="-122"/>
                <a:cs typeface="Apple SD Gothic Neo" pitchFamily="34" charset="-120"/>
              </a:rPr>
              <a:t>→ 또는 보완 요청 → 재제출</a:t>
            </a:r>
            <a:endParaRPr lang="en-US" sz="1150" dirty="0"/>
          </a:p>
        </p:txBody>
      </p:sp>
      <p:sp>
        <p:nvSpPr>
          <p:cNvPr id="47" name="Text 45"/>
          <p:cNvSpPr txBox="1"/>
          <p:nvPr/>
        </p:nvSpPr>
        <p:spPr>
          <a:xfrm>
            <a:off x="7863840" y="5212080"/>
            <a:ext cx="3429000" cy="457200"/>
          </a:xfrm>
          <a:prstGeom prst="rect">
            <a:avLst/>
          </a:prstGeom>
          <a:noFill/>
          <a:ln/>
        </p:spPr>
        <p:txBody>
          <a:bodyPr wrap="square" lIns="0" tIns="0" rIns="0" bIns="0" rtlCol="0" anchor="ctr"/>
          <a:lstStyle/>
          <a:p>
            <a:pPr indent="0" marL="0">
              <a:buNone/>
            </a:pPr>
            <a:r>
              <a:rPr lang="en-US" sz="1100" b="1" dirty="0">
                <a:solidFill>
                  <a:srgbClr val="E2603F"/>
                </a:solidFill>
                <a:latin typeface="Apple SD Gothic Neo" pitchFamily="34" charset="0"/>
                <a:ea typeface="Apple SD Gothic Neo" pitchFamily="34" charset="-122"/>
                <a:cs typeface="Apple SD Gothic Neo" pitchFamily="34" charset="-120"/>
              </a:rPr>
              <a:t>이미 처리된 건 재처리 시 409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200" b="1" spc="100" kern="0" dirty="0">
                <a:solidFill>
                  <a:srgbClr val="E2603F"/>
                </a:solidFill>
                <a:latin typeface="Apple SD Gothic Neo" pitchFamily="34" charset="0"/>
                <a:ea typeface="Apple SD Gothic Neo" pitchFamily="34" charset="-122"/>
                <a:cs typeface="Apple SD Gothic Neo" pitchFamily="34" charset="-120"/>
              </a:rPr>
              <a:t>데이터 모델</a:t>
            </a:r>
            <a:endParaRPr lang="en-US" sz="1200" dirty="0"/>
          </a:p>
        </p:txBody>
      </p:sp>
      <p:sp>
        <p:nvSpPr>
          <p:cNvPr id="3" name="Text 1"/>
          <p:cNvSpPr txBox="1"/>
          <p:nvPr/>
        </p:nvSpPr>
        <p:spPr>
          <a:xfrm>
            <a:off x="640080" y="658368"/>
            <a:ext cx="10908792" cy="621792"/>
          </a:xfrm>
          <a:prstGeom prst="rect">
            <a:avLst/>
          </a:prstGeom>
          <a:noFill/>
          <a:ln/>
        </p:spPr>
        <p:txBody>
          <a:bodyPr wrap="square" lIns="0" tIns="0" rIns="0" bIns="0" rtlCol="0" anchor="t"/>
          <a:lstStyle/>
          <a:p>
            <a:pPr indent="0" marL="0">
              <a:buNone/>
            </a:pPr>
            <a:r>
              <a:rPr lang="en-US" sz="3000" b="1" dirty="0">
                <a:solidFill>
                  <a:srgbClr val="1E2761"/>
                </a:solidFill>
                <a:latin typeface="Apple SD Gothic Neo" pitchFamily="34" charset="0"/>
                <a:ea typeface="Apple SD Gothic Neo" pitchFamily="34" charset="-122"/>
                <a:cs typeface="Apple SD Gothic Neo" pitchFamily="34" charset="-120"/>
              </a:rPr>
              <a:t>테이블 7개 · 화면에 쓰이는 데이터만 만든다</a:t>
            </a:r>
            <a:endParaRPr lang="en-US" sz="3000" dirty="0"/>
          </a:p>
        </p:txBody>
      </p:sp>
      <p:sp>
        <p:nvSpPr>
          <p:cNvPr id="4" name="Shape 2"/>
          <p:cNvSpPr/>
          <p:nvPr/>
        </p:nvSpPr>
        <p:spPr>
          <a:xfrm>
            <a:off x="640080" y="1627632"/>
            <a:ext cx="3712464" cy="822960"/>
          </a:xfrm>
          <a:prstGeom prst="roundRect">
            <a:avLst>
              <a:gd name="adj" fmla="val 10000"/>
            </a:avLst>
          </a:prstGeom>
          <a:solidFill>
            <a:srgbClr val="F2F6FC"/>
          </a:solidFill>
          <a:ln w="12700">
            <a:solidFill>
              <a:srgbClr val="E3EAF5"/>
            </a:solidFill>
            <a:prstDash val="solid"/>
          </a:ln>
        </p:spPr>
      </p:sp>
      <p:sp>
        <p:nvSpPr>
          <p:cNvPr id="5" name="Text 3"/>
          <p:cNvSpPr txBox="1"/>
          <p:nvPr/>
        </p:nvSpPr>
        <p:spPr>
          <a:xfrm>
            <a:off x="841248" y="1728216"/>
            <a:ext cx="3291840" cy="256032"/>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users</a:t>
            </a:r>
            <a:endParaRPr lang="en-US" sz="1250" dirty="0"/>
          </a:p>
        </p:txBody>
      </p:sp>
      <p:sp>
        <p:nvSpPr>
          <p:cNvPr id="6" name="Text 4"/>
          <p:cNvSpPr txBox="1"/>
          <p:nvPr/>
        </p:nvSpPr>
        <p:spPr>
          <a:xfrm>
            <a:off x="841248" y="1975104"/>
            <a:ext cx="3291840" cy="219456"/>
          </a:xfrm>
          <a:prstGeom prst="rect">
            <a:avLst/>
          </a:prstGeom>
          <a:noFill/>
          <a:ln/>
        </p:spPr>
        <p:txBody>
          <a:bodyPr wrap="square" lIns="0" tIns="0" rIns="0" bIns="0" rtlCol="0" anchor="ctr"/>
          <a:lstStyle/>
          <a:p>
            <a:pPr indent="0" marL="0">
              <a:buNone/>
            </a:pPr>
            <a:r>
              <a:rPr lang="en-US" sz="1050" dirty="0">
                <a:solidFill>
                  <a:srgbClr val="33405C"/>
                </a:solidFill>
                <a:latin typeface="Apple SD Gothic Neo" pitchFamily="34" charset="0"/>
                <a:ea typeface="Apple SD Gothic Neo" pitchFamily="34" charset="-122"/>
                <a:cs typeface="Apple SD Gothic Neo" pitchFamily="34" charset="-120"/>
              </a:rPr>
              <a:t>기업 고객 / 은행 담당자를 role로 구분</a:t>
            </a:r>
            <a:endParaRPr lang="en-US" sz="1050" dirty="0"/>
          </a:p>
        </p:txBody>
      </p:sp>
      <p:sp>
        <p:nvSpPr>
          <p:cNvPr id="7" name="Text 5"/>
          <p:cNvSpPr txBox="1"/>
          <p:nvPr/>
        </p:nvSpPr>
        <p:spPr>
          <a:xfrm>
            <a:off x="841248" y="2176272"/>
            <a:ext cx="3291840" cy="219456"/>
          </a:xfrm>
          <a:prstGeom prst="rect">
            <a:avLst/>
          </a:prstGeom>
          <a:noFill/>
          <a:ln/>
        </p:spPr>
        <p:txBody>
          <a:bodyPr wrap="square" lIns="0" tIns="0" rIns="0" bIns="0" rtlCol="0" anchor="ctr"/>
          <a:lstStyle/>
          <a:p>
            <a:pPr indent="0" marL="0">
              <a:buNone/>
            </a:pPr>
            <a:r>
              <a:rPr lang="en-US" sz="850" dirty="0">
                <a:solidFill>
                  <a:srgbClr val="5C6B8A"/>
                </a:solidFill>
                <a:latin typeface="Courier New" pitchFamily="34" charset="0"/>
                <a:ea typeface="Courier New" pitchFamily="34" charset="-122"/>
                <a:cs typeface="Courier New" pitchFamily="34" charset="-120"/>
              </a:rPr>
              <a:t>PK id · role · organization_name</a:t>
            </a:r>
            <a:endParaRPr lang="en-US" sz="850" dirty="0"/>
          </a:p>
        </p:txBody>
      </p:sp>
      <p:sp>
        <p:nvSpPr>
          <p:cNvPr id="8" name="Shape 6"/>
          <p:cNvSpPr/>
          <p:nvPr/>
        </p:nvSpPr>
        <p:spPr>
          <a:xfrm>
            <a:off x="4553712" y="1627632"/>
            <a:ext cx="3712464" cy="822960"/>
          </a:xfrm>
          <a:prstGeom prst="roundRect">
            <a:avLst>
              <a:gd name="adj" fmla="val 10000"/>
            </a:avLst>
          </a:prstGeom>
          <a:solidFill>
            <a:srgbClr val="F2F6FC"/>
          </a:solidFill>
          <a:ln w="12700">
            <a:solidFill>
              <a:srgbClr val="E3EAF5"/>
            </a:solidFill>
            <a:prstDash val="solid"/>
          </a:ln>
        </p:spPr>
      </p:sp>
      <p:sp>
        <p:nvSpPr>
          <p:cNvPr id="9" name="Text 7"/>
          <p:cNvSpPr txBox="1"/>
          <p:nvPr/>
        </p:nvSpPr>
        <p:spPr>
          <a:xfrm>
            <a:off x="4754880" y="1728216"/>
            <a:ext cx="3291840" cy="256032"/>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loan_applications</a:t>
            </a:r>
            <a:endParaRPr lang="en-US" sz="1250" dirty="0"/>
          </a:p>
        </p:txBody>
      </p:sp>
      <p:sp>
        <p:nvSpPr>
          <p:cNvPr id="10" name="Text 8"/>
          <p:cNvSpPr txBox="1"/>
          <p:nvPr/>
        </p:nvSpPr>
        <p:spPr>
          <a:xfrm>
            <a:off x="4754880" y="1975104"/>
            <a:ext cx="3291840" cy="219456"/>
          </a:xfrm>
          <a:prstGeom prst="rect">
            <a:avLst/>
          </a:prstGeom>
          <a:noFill/>
          <a:ln/>
        </p:spPr>
        <p:txBody>
          <a:bodyPr wrap="square" lIns="0" tIns="0" rIns="0" bIns="0" rtlCol="0" anchor="ctr"/>
          <a:lstStyle/>
          <a:p>
            <a:pPr indent="0" marL="0">
              <a:buNone/>
            </a:pPr>
            <a:r>
              <a:rPr lang="en-US" sz="1050" dirty="0">
                <a:solidFill>
                  <a:srgbClr val="33405C"/>
                </a:solidFill>
                <a:latin typeface="Apple SD Gothic Neo" pitchFamily="34" charset="0"/>
                <a:ea typeface="Apple SD Gothic Neo" pitchFamily="34" charset="-122"/>
                <a:cs typeface="Apple SD Gothic Neo" pitchFamily="34" charset="-120"/>
              </a:rPr>
              <a:t>기업별 서류 제출 건 · 상태 5종</a:t>
            </a:r>
            <a:endParaRPr lang="en-US" sz="1050" dirty="0"/>
          </a:p>
        </p:txBody>
      </p:sp>
      <p:sp>
        <p:nvSpPr>
          <p:cNvPr id="11" name="Text 9"/>
          <p:cNvSpPr txBox="1"/>
          <p:nvPr/>
        </p:nvSpPr>
        <p:spPr>
          <a:xfrm>
            <a:off x="4754880" y="2176272"/>
            <a:ext cx="3291840" cy="219456"/>
          </a:xfrm>
          <a:prstGeom prst="rect">
            <a:avLst/>
          </a:prstGeom>
          <a:noFill/>
          <a:ln/>
        </p:spPr>
        <p:txBody>
          <a:bodyPr wrap="square" lIns="0" tIns="0" rIns="0" bIns="0" rtlCol="0" anchor="ctr"/>
          <a:lstStyle/>
          <a:p>
            <a:pPr indent="0" marL="0">
              <a:buNone/>
            </a:pPr>
            <a:r>
              <a:rPr lang="en-US" sz="850" dirty="0">
                <a:solidFill>
                  <a:srgbClr val="5C6B8A"/>
                </a:solidFill>
                <a:latin typeface="Courier New" pitchFamily="34" charset="0"/>
                <a:ea typeface="Courier New" pitchFamily="34" charset="-122"/>
                <a:cs typeface="Courier New" pitchFamily="34" charset="-120"/>
              </a:rPr>
              <a:t>FK company_user_id · required_fiscal_year</a:t>
            </a:r>
            <a:endParaRPr lang="en-US" sz="850" dirty="0"/>
          </a:p>
        </p:txBody>
      </p:sp>
      <p:sp>
        <p:nvSpPr>
          <p:cNvPr id="12" name="Shape 10"/>
          <p:cNvSpPr/>
          <p:nvPr/>
        </p:nvSpPr>
        <p:spPr>
          <a:xfrm>
            <a:off x="640080" y="2560320"/>
            <a:ext cx="3712464" cy="822960"/>
          </a:xfrm>
          <a:prstGeom prst="roundRect">
            <a:avLst>
              <a:gd name="adj" fmla="val 10000"/>
            </a:avLst>
          </a:prstGeom>
          <a:solidFill>
            <a:srgbClr val="F2F6FC"/>
          </a:solidFill>
          <a:ln w="12700">
            <a:solidFill>
              <a:srgbClr val="E3EAF5"/>
            </a:solidFill>
            <a:prstDash val="solid"/>
          </a:ln>
        </p:spPr>
      </p:sp>
      <p:sp>
        <p:nvSpPr>
          <p:cNvPr id="13" name="Text 11"/>
          <p:cNvSpPr txBox="1"/>
          <p:nvPr/>
        </p:nvSpPr>
        <p:spPr>
          <a:xfrm>
            <a:off x="841248" y="2660904"/>
            <a:ext cx="3291840" cy="256032"/>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document_types</a:t>
            </a:r>
            <a:endParaRPr lang="en-US" sz="1250" dirty="0"/>
          </a:p>
        </p:txBody>
      </p:sp>
      <p:sp>
        <p:nvSpPr>
          <p:cNvPr id="14" name="Text 12"/>
          <p:cNvSpPr txBox="1"/>
          <p:nvPr/>
        </p:nvSpPr>
        <p:spPr>
          <a:xfrm>
            <a:off x="841248" y="2907792"/>
            <a:ext cx="3291840" cy="219456"/>
          </a:xfrm>
          <a:prstGeom prst="rect">
            <a:avLst/>
          </a:prstGeom>
          <a:noFill/>
          <a:ln/>
        </p:spPr>
        <p:txBody>
          <a:bodyPr wrap="square" lIns="0" tIns="0" rIns="0" bIns="0" rtlCol="0" anchor="ctr"/>
          <a:lstStyle/>
          <a:p>
            <a:pPr indent="0" marL="0">
              <a:buNone/>
            </a:pPr>
            <a:r>
              <a:rPr lang="en-US" sz="1050" dirty="0">
                <a:solidFill>
                  <a:srgbClr val="33405C"/>
                </a:solidFill>
                <a:latin typeface="Apple SD Gothic Neo" pitchFamily="34" charset="0"/>
                <a:ea typeface="Apple SD Gothic Neo" pitchFamily="34" charset="-122"/>
                <a:cs typeface="Apple SD Gothic Neo" pitchFamily="34" charset="-120"/>
              </a:rPr>
              <a:t>MVP 필수 문서 3종 코드</a:t>
            </a:r>
            <a:endParaRPr lang="en-US" sz="1050" dirty="0"/>
          </a:p>
        </p:txBody>
      </p:sp>
      <p:sp>
        <p:nvSpPr>
          <p:cNvPr id="15" name="Text 13"/>
          <p:cNvSpPr txBox="1"/>
          <p:nvPr/>
        </p:nvSpPr>
        <p:spPr>
          <a:xfrm>
            <a:off x="841248" y="3108960"/>
            <a:ext cx="3291840" cy="219456"/>
          </a:xfrm>
          <a:prstGeom prst="rect">
            <a:avLst/>
          </a:prstGeom>
          <a:noFill/>
          <a:ln/>
        </p:spPr>
        <p:txBody>
          <a:bodyPr wrap="square" lIns="0" tIns="0" rIns="0" bIns="0" rtlCol="0" anchor="ctr"/>
          <a:lstStyle/>
          <a:p>
            <a:pPr indent="0" marL="0">
              <a:buNone/>
            </a:pPr>
            <a:r>
              <a:rPr lang="en-US" sz="850" dirty="0">
                <a:solidFill>
                  <a:srgbClr val="5C6B8A"/>
                </a:solidFill>
                <a:latin typeface="Courier New" pitchFamily="34" charset="0"/>
                <a:ea typeface="Courier New" pitchFamily="34" charset="-122"/>
                <a:cs typeface="Courier New" pitchFamily="34" charset="-120"/>
              </a:rPr>
              <a:t>PK id · code · display_name</a:t>
            </a:r>
            <a:endParaRPr lang="en-US" sz="850" dirty="0"/>
          </a:p>
        </p:txBody>
      </p:sp>
      <p:sp>
        <p:nvSpPr>
          <p:cNvPr id="16" name="Shape 14"/>
          <p:cNvSpPr/>
          <p:nvPr/>
        </p:nvSpPr>
        <p:spPr>
          <a:xfrm>
            <a:off x="4553712" y="2560320"/>
            <a:ext cx="3712464" cy="822960"/>
          </a:xfrm>
          <a:prstGeom prst="roundRect">
            <a:avLst>
              <a:gd name="adj" fmla="val 10000"/>
            </a:avLst>
          </a:prstGeom>
          <a:solidFill>
            <a:srgbClr val="F2F6FC"/>
          </a:solidFill>
          <a:ln w="12700">
            <a:solidFill>
              <a:srgbClr val="E3EAF5"/>
            </a:solidFill>
            <a:prstDash val="solid"/>
          </a:ln>
        </p:spPr>
      </p:sp>
      <p:sp>
        <p:nvSpPr>
          <p:cNvPr id="17" name="Text 15"/>
          <p:cNvSpPr txBox="1"/>
          <p:nvPr/>
        </p:nvSpPr>
        <p:spPr>
          <a:xfrm>
            <a:off x="4754880" y="2660904"/>
            <a:ext cx="3291840" cy="256032"/>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submitted_documents</a:t>
            </a:r>
            <a:endParaRPr lang="en-US" sz="1250" dirty="0"/>
          </a:p>
        </p:txBody>
      </p:sp>
      <p:sp>
        <p:nvSpPr>
          <p:cNvPr id="18" name="Text 16"/>
          <p:cNvSpPr txBox="1"/>
          <p:nvPr/>
        </p:nvSpPr>
        <p:spPr>
          <a:xfrm>
            <a:off x="4754880" y="2907792"/>
            <a:ext cx="3291840" cy="219456"/>
          </a:xfrm>
          <a:prstGeom prst="rect">
            <a:avLst/>
          </a:prstGeom>
          <a:noFill/>
          <a:ln/>
        </p:spPr>
        <p:txBody>
          <a:bodyPr wrap="square" lIns="0" tIns="0" rIns="0" bIns="0" rtlCol="0" anchor="ctr"/>
          <a:lstStyle/>
          <a:p>
            <a:pPr indent="0" marL="0">
              <a:buNone/>
            </a:pPr>
            <a:r>
              <a:rPr lang="en-US" sz="1050" dirty="0">
                <a:solidFill>
                  <a:srgbClr val="33405C"/>
                </a:solidFill>
                <a:latin typeface="Apple SD Gothic Neo" pitchFamily="34" charset="0"/>
                <a:ea typeface="Apple SD Gothic Neo" pitchFamily="34" charset="-122"/>
                <a:cs typeface="Apple SD Gothic Neo" pitchFamily="34" charset="-120"/>
              </a:rPr>
              <a:t>원본 메타 · 처리 상태 · 유형별 버전</a:t>
            </a:r>
            <a:endParaRPr lang="en-US" sz="1050" dirty="0"/>
          </a:p>
        </p:txBody>
      </p:sp>
      <p:sp>
        <p:nvSpPr>
          <p:cNvPr id="19" name="Text 17"/>
          <p:cNvSpPr txBox="1"/>
          <p:nvPr/>
        </p:nvSpPr>
        <p:spPr>
          <a:xfrm>
            <a:off x="4754880" y="3108960"/>
            <a:ext cx="3291840" cy="219456"/>
          </a:xfrm>
          <a:prstGeom prst="rect">
            <a:avLst/>
          </a:prstGeom>
          <a:noFill/>
          <a:ln/>
        </p:spPr>
        <p:txBody>
          <a:bodyPr wrap="square" lIns="0" tIns="0" rIns="0" bIns="0" rtlCol="0" anchor="ctr"/>
          <a:lstStyle/>
          <a:p>
            <a:pPr indent="0" marL="0">
              <a:buNone/>
            </a:pPr>
            <a:r>
              <a:rPr lang="en-US" sz="850" dirty="0">
                <a:solidFill>
                  <a:srgbClr val="5C6B8A"/>
                </a:solidFill>
                <a:latin typeface="Courier New" pitchFamily="34" charset="0"/>
                <a:ea typeface="Courier New" pitchFamily="34" charset="-122"/>
                <a:cs typeface="Courier New" pitchFamily="34" charset="-120"/>
              </a:rPr>
              <a:t>FK application_id, type_id · version_no</a:t>
            </a:r>
            <a:endParaRPr lang="en-US" sz="850" dirty="0"/>
          </a:p>
        </p:txBody>
      </p:sp>
      <p:sp>
        <p:nvSpPr>
          <p:cNvPr id="20" name="Shape 18"/>
          <p:cNvSpPr/>
          <p:nvPr/>
        </p:nvSpPr>
        <p:spPr>
          <a:xfrm>
            <a:off x="640080" y="3493008"/>
            <a:ext cx="3712464" cy="822960"/>
          </a:xfrm>
          <a:prstGeom prst="roundRect">
            <a:avLst>
              <a:gd name="adj" fmla="val 10000"/>
            </a:avLst>
          </a:prstGeom>
          <a:solidFill>
            <a:srgbClr val="F2F6FC"/>
          </a:solidFill>
          <a:ln w="12700">
            <a:solidFill>
              <a:srgbClr val="E3EAF5"/>
            </a:solidFill>
            <a:prstDash val="solid"/>
          </a:ln>
        </p:spPr>
      </p:sp>
      <p:sp>
        <p:nvSpPr>
          <p:cNvPr id="21" name="Text 19"/>
          <p:cNvSpPr txBox="1"/>
          <p:nvPr/>
        </p:nvSpPr>
        <p:spPr>
          <a:xfrm>
            <a:off x="841248" y="3593592"/>
            <a:ext cx="3291840" cy="256032"/>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extracted_fields</a:t>
            </a:r>
            <a:endParaRPr lang="en-US" sz="1250" dirty="0"/>
          </a:p>
        </p:txBody>
      </p:sp>
      <p:sp>
        <p:nvSpPr>
          <p:cNvPr id="22" name="Text 20"/>
          <p:cNvSpPr txBox="1"/>
          <p:nvPr/>
        </p:nvSpPr>
        <p:spPr>
          <a:xfrm>
            <a:off x="841248" y="3840480"/>
            <a:ext cx="3291840" cy="219456"/>
          </a:xfrm>
          <a:prstGeom prst="rect">
            <a:avLst/>
          </a:prstGeom>
          <a:noFill/>
          <a:ln/>
        </p:spPr>
        <p:txBody>
          <a:bodyPr wrap="square" lIns="0" tIns="0" rIns="0" bIns="0" rtlCol="0" anchor="ctr"/>
          <a:lstStyle/>
          <a:p>
            <a:pPr indent="0" marL="0">
              <a:buNone/>
            </a:pPr>
            <a:r>
              <a:rPr lang="en-US" sz="1050" dirty="0">
                <a:solidFill>
                  <a:srgbClr val="33405C"/>
                </a:solidFill>
                <a:latin typeface="Apple SD Gothic Neo" pitchFamily="34" charset="0"/>
                <a:ea typeface="Apple SD Gothic Neo" pitchFamily="34" charset="-122"/>
                <a:cs typeface="Apple SD Gothic Neo" pitchFamily="34" charset="-120"/>
              </a:rPr>
              <a:t>OCR 원본값과 고객 정정값을 분리 저장</a:t>
            </a:r>
            <a:endParaRPr lang="en-US" sz="1050" dirty="0"/>
          </a:p>
        </p:txBody>
      </p:sp>
      <p:sp>
        <p:nvSpPr>
          <p:cNvPr id="23" name="Text 21"/>
          <p:cNvSpPr txBox="1"/>
          <p:nvPr/>
        </p:nvSpPr>
        <p:spPr>
          <a:xfrm>
            <a:off x="841248" y="4041648"/>
            <a:ext cx="3291840" cy="219456"/>
          </a:xfrm>
          <a:prstGeom prst="rect">
            <a:avLst/>
          </a:prstGeom>
          <a:noFill/>
          <a:ln/>
        </p:spPr>
        <p:txBody>
          <a:bodyPr wrap="square" lIns="0" tIns="0" rIns="0" bIns="0" rtlCol="0" anchor="ctr"/>
          <a:lstStyle/>
          <a:p>
            <a:pPr indent="0" marL="0">
              <a:buNone/>
            </a:pPr>
            <a:r>
              <a:rPr lang="en-US" sz="850" dirty="0">
                <a:solidFill>
                  <a:srgbClr val="5C6B8A"/>
                </a:solidFill>
                <a:latin typeface="Courier New" pitchFamily="34" charset="0"/>
                <a:ea typeface="Courier New" pitchFamily="34" charset="-122"/>
                <a:cs typeface="Courier New" pitchFamily="34" charset="-120"/>
              </a:rPr>
              <a:t>FK document_id · ocr_value · corrected_value</a:t>
            </a:r>
            <a:endParaRPr lang="en-US" sz="850" dirty="0"/>
          </a:p>
        </p:txBody>
      </p:sp>
      <p:sp>
        <p:nvSpPr>
          <p:cNvPr id="24" name="Shape 22"/>
          <p:cNvSpPr/>
          <p:nvPr/>
        </p:nvSpPr>
        <p:spPr>
          <a:xfrm>
            <a:off x="4553712" y="3493008"/>
            <a:ext cx="3712464" cy="822960"/>
          </a:xfrm>
          <a:prstGeom prst="roundRect">
            <a:avLst>
              <a:gd name="adj" fmla="val 10000"/>
            </a:avLst>
          </a:prstGeom>
          <a:solidFill>
            <a:srgbClr val="F2F6FC"/>
          </a:solidFill>
          <a:ln w="12700">
            <a:solidFill>
              <a:srgbClr val="E3EAF5"/>
            </a:solidFill>
            <a:prstDash val="solid"/>
          </a:ln>
        </p:spPr>
      </p:sp>
      <p:sp>
        <p:nvSpPr>
          <p:cNvPr id="25" name="Text 23"/>
          <p:cNvSpPr txBox="1"/>
          <p:nvPr/>
        </p:nvSpPr>
        <p:spPr>
          <a:xfrm>
            <a:off x="4754880" y="3593592"/>
            <a:ext cx="3291840" cy="256032"/>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validation_issues</a:t>
            </a:r>
            <a:endParaRPr lang="en-US" sz="1250" dirty="0"/>
          </a:p>
        </p:txBody>
      </p:sp>
      <p:sp>
        <p:nvSpPr>
          <p:cNvPr id="26" name="Text 24"/>
          <p:cNvSpPr txBox="1"/>
          <p:nvPr/>
        </p:nvSpPr>
        <p:spPr>
          <a:xfrm>
            <a:off x="4754880" y="3840480"/>
            <a:ext cx="3291840" cy="219456"/>
          </a:xfrm>
          <a:prstGeom prst="rect">
            <a:avLst/>
          </a:prstGeom>
          <a:noFill/>
          <a:ln/>
        </p:spPr>
        <p:txBody>
          <a:bodyPr wrap="square" lIns="0" tIns="0" rIns="0" bIns="0" rtlCol="0" anchor="ctr"/>
          <a:lstStyle/>
          <a:p>
            <a:pPr indent="0" marL="0">
              <a:buNone/>
            </a:pPr>
            <a:r>
              <a:rPr lang="en-US" sz="1050" dirty="0">
                <a:solidFill>
                  <a:srgbClr val="33405C"/>
                </a:solidFill>
                <a:latin typeface="Apple SD Gothic Neo" pitchFamily="34" charset="0"/>
                <a:ea typeface="Apple SD Gothic Neo" pitchFamily="34" charset="-122"/>
                <a:cs typeface="Apple SD Gothic Neo" pitchFamily="34" charset="-120"/>
              </a:rPr>
              <a:t>검증 규칙 · 심각도 · 해결 상태</a:t>
            </a:r>
            <a:endParaRPr lang="en-US" sz="1050" dirty="0"/>
          </a:p>
        </p:txBody>
      </p:sp>
      <p:sp>
        <p:nvSpPr>
          <p:cNvPr id="27" name="Text 25"/>
          <p:cNvSpPr txBox="1"/>
          <p:nvPr/>
        </p:nvSpPr>
        <p:spPr>
          <a:xfrm>
            <a:off x="4754880" y="4041648"/>
            <a:ext cx="3291840" cy="219456"/>
          </a:xfrm>
          <a:prstGeom prst="rect">
            <a:avLst/>
          </a:prstGeom>
          <a:noFill/>
          <a:ln/>
        </p:spPr>
        <p:txBody>
          <a:bodyPr wrap="square" lIns="0" tIns="0" rIns="0" bIns="0" rtlCol="0" anchor="ctr"/>
          <a:lstStyle/>
          <a:p>
            <a:pPr indent="0" marL="0">
              <a:buNone/>
            </a:pPr>
            <a:r>
              <a:rPr lang="en-US" sz="850" dirty="0">
                <a:solidFill>
                  <a:srgbClr val="5C6B8A"/>
                </a:solidFill>
                <a:latin typeface="Courier New" pitchFamily="34" charset="0"/>
                <a:ea typeface="Courier New" pitchFamily="34" charset="-122"/>
                <a:cs typeface="Courier New" pitchFamily="34" charset="-120"/>
              </a:rPr>
              <a:t>FK application_id, document_id · severity</a:t>
            </a:r>
            <a:endParaRPr lang="en-US" sz="850" dirty="0"/>
          </a:p>
        </p:txBody>
      </p:sp>
      <p:sp>
        <p:nvSpPr>
          <p:cNvPr id="28" name="Shape 26"/>
          <p:cNvSpPr/>
          <p:nvPr/>
        </p:nvSpPr>
        <p:spPr>
          <a:xfrm>
            <a:off x="640080" y="4425696"/>
            <a:ext cx="3712464" cy="822960"/>
          </a:xfrm>
          <a:prstGeom prst="roundRect">
            <a:avLst>
              <a:gd name="adj" fmla="val 10000"/>
            </a:avLst>
          </a:prstGeom>
          <a:solidFill>
            <a:srgbClr val="F2F6FC"/>
          </a:solidFill>
          <a:ln w="12700">
            <a:solidFill>
              <a:srgbClr val="E3EAF5"/>
            </a:solidFill>
            <a:prstDash val="solid"/>
          </a:ln>
        </p:spPr>
      </p:sp>
      <p:sp>
        <p:nvSpPr>
          <p:cNvPr id="29" name="Text 27"/>
          <p:cNvSpPr txBox="1"/>
          <p:nvPr/>
        </p:nvSpPr>
        <p:spPr>
          <a:xfrm>
            <a:off x="841248" y="4526280"/>
            <a:ext cx="3291840" cy="256032"/>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reviews</a:t>
            </a:r>
            <a:endParaRPr lang="en-US" sz="1250" dirty="0"/>
          </a:p>
        </p:txBody>
      </p:sp>
      <p:sp>
        <p:nvSpPr>
          <p:cNvPr id="30" name="Text 28"/>
          <p:cNvSpPr txBox="1"/>
          <p:nvPr/>
        </p:nvSpPr>
        <p:spPr>
          <a:xfrm>
            <a:off x="841248" y="4773168"/>
            <a:ext cx="3291840" cy="219456"/>
          </a:xfrm>
          <a:prstGeom prst="rect">
            <a:avLst/>
          </a:prstGeom>
          <a:noFill/>
          <a:ln/>
        </p:spPr>
        <p:txBody>
          <a:bodyPr wrap="square" lIns="0" tIns="0" rIns="0" bIns="0" rtlCol="0" anchor="ctr"/>
          <a:lstStyle/>
          <a:p>
            <a:pPr indent="0" marL="0">
              <a:buNone/>
            </a:pPr>
            <a:r>
              <a:rPr lang="en-US" sz="1050" dirty="0">
                <a:solidFill>
                  <a:srgbClr val="33405C"/>
                </a:solidFill>
                <a:latin typeface="Apple SD Gothic Neo" pitchFamily="34" charset="0"/>
                <a:ea typeface="Apple SD Gothic Neo" pitchFamily="34" charset="-122"/>
                <a:cs typeface="Apple SD Gothic Neo" pitchFamily="34" charset="-120"/>
              </a:rPr>
              <a:t>담당자 결정 · 보완 사유 · 처리 시각</a:t>
            </a:r>
            <a:endParaRPr lang="en-US" sz="1050" dirty="0"/>
          </a:p>
        </p:txBody>
      </p:sp>
      <p:sp>
        <p:nvSpPr>
          <p:cNvPr id="31" name="Text 29"/>
          <p:cNvSpPr txBox="1"/>
          <p:nvPr/>
        </p:nvSpPr>
        <p:spPr>
          <a:xfrm>
            <a:off x="841248" y="4974336"/>
            <a:ext cx="3291840" cy="219456"/>
          </a:xfrm>
          <a:prstGeom prst="rect">
            <a:avLst/>
          </a:prstGeom>
          <a:noFill/>
          <a:ln/>
        </p:spPr>
        <p:txBody>
          <a:bodyPr wrap="square" lIns="0" tIns="0" rIns="0" bIns="0" rtlCol="0" anchor="ctr"/>
          <a:lstStyle/>
          <a:p>
            <a:pPr indent="0" marL="0">
              <a:buNone/>
            </a:pPr>
            <a:r>
              <a:rPr lang="en-US" sz="850" dirty="0">
                <a:solidFill>
                  <a:srgbClr val="5C6B8A"/>
                </a:solidFill>
                <a:latin typeface="Courier New" pitchFamily="34" charset="0"/>
                <a:ea typeface="Courier New" pitchFamily="34" charset="-122"/>
                <a:cs typeface="Courier New" pitchFamily="34" charset="-120"/>
              </a:rPr>
              <a:t>FK application_id, reviewer_id · decision</a:t>
            </a:r>
            <a:endParaRPr lang="en-US" sz="850" dirty="0"/>
          </a:p>
        </p:txBody>
      </p:sp>
      <p:sp>
        <p:nvSpPr>
          <p:cNvPr id="32" name="Shape 30"/>
          <p:cNvSpPr/>
          <p:nvPr/>
        </p:nvSpPr>
        <p:spPr>
          <a:xfrm>
            <a:off x="8467344" y="1627632"/>
            <a:ext cx="3081528" cy="3822192"/>
          </a:xfrm>
          <a:prstGeom prst="roundRect">
            <a:avLst>
              <a:gd name="adj" fmla="val 2671"/>
            </a:avLst>
          </a:prstGeom>
          <a:solidFill>
            <a:srgbClr val="1E2761"/>
          </a:solidFill>
          <a:ln w="12700">
            <a:solidFill>
              <a:srgbClr val="1E2761"/>
            </a:solidFill>
            <a:prstDash val="solid"/>
          </a:ln>
        </p:spPr>
      </p:sp>
      <p:sp>
        <p:nvSpPr>
          <p:cNvPr id="33" name="Text 31"/>
          <p:cNvSpPr txBox="1"/>
          <p:nvPr/>
        </p:nvSpPr>
        <p:spPr>
          <a:xfrm>
            <a:off x="8723376" y="1810512"/>
            <a:ext cx="2569464" cy="292608"/>
          </a:xfrm>
          <a:prstGeom prst="rect">
            <a:avLst/>
          </a:prstGeom>
          <a:noFill/>
          <a:ln/>
        </p:spPr>
        <p:txBody>
          <a:bodyPr wrap="square" lIns="0" tIns="0" rIns="0" bIns="0" rtlCol="0" anchor="ctr"/>
          <a:lstStyle/>
          <a:p>
            <a:pPr indent="0" marL="0">
              <a:buNone/>
            </a:pPr>
            <a:r>
              <a:rPr lang="en-US" sz="1400" b="1" dirty="0">
                <a:solidFill>
                  <a:srgbClr val="CADCFC"/>
                </a:solidFill>
                <a:latin typeface="Apple SD Gothic Neo" pitchFamily="34" charset="0"/>
                <a:ea typeface="Apple SD Gothic Neo" pitchFamily="34" charset="-122"/>
                <a:cs typeface="Apple SD Gothic Neo" pitchFamily="34" charset="-120"/>
              </a:rPr>
              <a:t>설계 원칙</a:t>
            </a:r>
            <a:endParaRPr lang="en-US" sz="1400" dirty="0"/>
          </a:p>
        </p:txBody>
      </p:sp>
      <p:sp>
        <p:nvSpPr>
          <p:cNvPr id="34" name="Text 32"/>
          <p:cNvSpPr txBox="1"/>
          <p:nvPr/>
        </p:nvSpPr>
        <p:spPr>
          <a:xfrm>
            <a:off x="8723376" y="2212848"/>
            <a:ext cx="2569464" cy="3017520"/>
          </a:xfrm>
          <a:prstGeom prst="rect">
            <a:avLst/>
          </a:prstGeom>
          <a:noFill/>
          <a:ln/>
        </p:spPr>
        <p:txBody>
          <a:bodyPr wrap="square" lIns="0" tIns="0" rIns="0" bIns="0" rtlCol="0" anchor="t"/>
          <a:lstStyle/>
          <a:p>
            <a:pPr marL="342900" indent="-342900">
              <a:lnSpc>
                <a:spcPct val="125000"/>
              </a:lnSpc>
              <a:spcAft>
                <a:spcPts val="600"/>
              </a:spcAft>
              <a:buSzPct val="100000"/>
              <a:buChar char="•"/>
            </a:pPr>
            <a:r>
              <a:rPr lang="en-US" sz="1150" dirty="0">
                <a:solidFill>
                  <a:srgbClr val="CADCFC"/>
                </a:solidFill>
                <a:latin typeface="Apple SD Gothic Neo" pitchFamily="34" charset="0"/>
                <a:ea typeface="Apple SD Gothic Neo" pitchFamily="34" charset="-122"/>
                <a:cs typeface="Apple SD Gothic Neo" pitchFamily="34" charset="-120"/>
              </a:rPr>
              <a:t>모든 테이블에 PK, 관계는 FK로 명시</a:t>
            </a:r>
            <a:endParaRPr lang="en-US" sz="1150" dirty="0"/>
          </a:p>
          <a:p>
            <a:pPr marL="342900" indent="-342900">
              <a:lnSpc>
                <a:spcPct val="125000"/>
              </a:lnSpc>
              <a:spcAft>
                <a:spcPts val="600"/>
              </a:spcAft>
              <a:buSzPct val="100000"/>
              <a:buChar char="•"/>
            </a:pPr>
            <a:r>
              <a:rPr lang="en-US" sz="1150" dirty="0">
                <a:solidFill>
                  <a:srgbClr val="CADCFC"/>
                </a:solidFill>
                <a:latin typeface="Apple SD Gothic Neo" pitchFamily="34" charset="0"/>
                <a:ea typeface="Apple SD Gothic Neo" pitchFamily="34" charset="-122"/>
                <a:cs typeface="Apple SD Gothic Neo" pitchFamily="34" charset="-120"/>
              </a:rPr>
              <a:t>회의실형 M:N 없음 — 전부 1:N 으로 정규화</a:t>
            </a:r>
            <a:endParaRPr lang="en-US" sz="1150" dirty="0"/>
          </a:p>
          <a:p>
            <a:pPr marL="342900" indent="-342900">
              <a:lnSpc>
                <a:spcPct val="125000"/>
              </a:lnSpc>
              <a:spcAft>
                <a:spcPts val="600"/>
              </a:spcAft>
              <a:buSzPct val="100000"/>
              <a:buChar char="•"/>
            </a:pPr>
            <a:r>
              <a:rPr lang="en-US" sz="1150" dirty="0">
                <a:solidFill>
                  <a:srgbClr val="CADCFC"/>
                </a:solidFill>
                <a:latin typeface="Apple SD Gothic Neo" pitchFamily="34" charset="0"/>
                <a:ea typeface="Apple SD Gothic Neo" pitchFamily="34" charset="-122"/>
                <a:cs typeface="Apple SD Gothic Neo" pitchFamily="34" charset="-120"/>
              </a:rPr>
              <a:t>OCR 원본값과 고객 정정값을 같은 행에 분리 보관 (REQ-NFN-008)</a:t>
            </a:r>
            <a:endParaRPr lang="en-US" sz="1150" dirty="0"/>
          </a:p>
          <a:p>
            <a:pPr marL="342900" indent="-342900">
              <a:lnSpc>
                <a:spcPct val="125000"/>
              </a:lnSpc>
              <a:spcAft>
                <a:spcPts val="600"/>
              </a:spcAft>
              <a:buSzPct val="100000"/>
              <a:buChar char="•"/>
            </a:pPr>
            <a:r>
              <a:rPr lang="en-US" sz="1150" dirty="0">
                <a:solidFill>
                  <a:srgbClr val="CADCFC"/>
                </a:solidFill>
                <a:latin typeface="Apple SD Gothic Neo" pitchFamily="34" charset="0"/>
                <a:ea typeface="Apple SD Gothic Neo" pitchFamily="34" charset="-122"/>
                <a:cs typeface="Apple SD Gothic Neo" pitchFamily="34" charset="-120"/>
              </a:rPr>
              <a:t>문서는 덮어쓰지 않고 유형별 version_no 증가</a:t>
            </a:r>
            <a:endParaRPr lang="en-US" sz="1150" dirty="0"/>
          </a:p>
          <a:p>
            <a:pPr marL="342900" indent="-342900">
              <a:lnSpc>
                <a:spcPct val="125000"/>
              </a:lnSpc>
              <a:spcAft>
                <a:spcPts val="600"/>
              </a:spcAft>
              <a:buSzPct val="100000"/>
              <a:buChar char="•"/>
            </a:pPr>
            <a:r>
              <a:rPr lang="en-US" sz="1150" dirty="0">
                <a:solidFill>
                  <a:srgbClr val="CADCFC"/>
                </a:solidFill>
                <a:latin typeface="Apple SD Gothic Neo" pitchFamily="34" charset="0"/>
                <a:ea typeface="Apple SD Gothic Neo" pitchFamily="34" charset="-122"/>
                <a:cs typeface="Apple SD Gothic Neo" pitchFamily="34" charset="-120"/>
              </a:rPr>
              <a:t>비밀번호는 password_hash 로만 저장 (REQ-NFN-003)</a:t>
            </a:r>
            <a:endParaRPr lang="en-US" sz="1150" dirty="0"/>
          </a:p>
          <a:p>
            <a:pPr marL="342900" indent="-342900">
              <a:lnSpc>
                <a:spcPct val="125000"/>
              </a:lnSpc>
              <a:spcAft>
                <a:spcPts val="600"/>
              </a:spcAft>
              <a:buSzPct val="100000"/>
              <a:buChar char="•"/>
            </a:pPr>
            <a:r>
              <a:rPr lang="en-US" sz="1150" dirty="0">
                <a:solidFill>
                  <a:srgbClr val="CADCFC"/>
                </a:solidFill>
                <a:latin typeface="Apple SD Gothic Neo" pitchFamily="34" charset="0"/>
                <a:ea typeface="Apple SD Gothic Neo" pitchFamily="34" charset="-122"/>
                <a:cs typeface="Apple SD Gothic Neo" pitchFamily="34" charset="-120"/>
              </a:rPr>
              <a:t>화면·API에서 쓰지 않는 미래 기능용 테이블은 만들지 않음</a:t>
            </a:r>
            <a:endParaRPr lang="en-US" sz="1150" dirty="0"/>
          </a:p>
        </p:txBody>
      </p:sp>
      <p:sp>
        <p:nvSpPr>
          <p:cNvPr id="35" name="Text 33"/>
          <p:cNvSpPr txBox="1"/>
          <p:nvPr/>
        </p:nvSpPr>
        <p:spPr>
          <a:xfrm>
            <a:off x="640080" y="5650992"/>
            <a:ext cx="10908792" cy="365760"/>
          </a:xfrm>
          <a:prstGeom prst="rect">
            <a:avLst/>
          </a:prstGeom>
          <a:noFill/>
          <a:ln/>
        </p:spPr>
        <p:txBody>
          <a:bodyPr wrap="square" lIns="0" tIns="0" rIns="0" bIns="0" rtlCol="0" anchor="ctr"/>
          <a:lstStyle/>
          <a:p>
            <a:pPr indent="0" marL="0">
              <a:buNone/>
            </a:pPr>
            <a:r>
              <a:rPr lang="en-US" sz="1050" dirty="0">
                <a:solidFill>
                  <a:srgbClr val="5C6B8A"/>
                </a:solidFill>
                <a:latin typeface="Apple SD Gothic Neo" pitchFamily="34" charset="0"/>
                <a:ea typeface="Apple SD Gothic Neo" pitchFamily="34" charset="-122"/>
                <a:cs typeface="Apple SD Gothic Neo" pitchFamily="34" charset="-120"/>
              </a:rPr>
              <a:t>주요 관계  ·  users 1:N loan_applications  ·  loan_applications 1:N submitted_documents  ·  submitted_documents 1:N extracted_fields  ·  loan_applications 1:N validation_issues / reviews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200" b="1" spc="100" kern="0" dirty="0">
                <a:solidFill>
                  <a:srgbClr val="E2603F"/>
                </a:solidFill>
                <a:latin typeface="Apple SD Gothic Neo" pitchFamily="34" charset="0"/>
                <a:ea typeface="Apple SD Gothic Neo" pitchFamily="34" charset="-122"/>
                <a:cs typeface="Apple SD Gothic Neo" pitchFamily="34" charset="-120"/>
              </a:rPr>
              <a:t>API 명세</a:t>
            </a:r>
            <a:endParaRPr lang="en-US" sz="1200" dirty="0"/>
          </a:p>
        </p:txBody>
      </p:sp>
      <p:sp>
        <p:nvSpPr>
          <p:cNvPr id="3" name="Text 1"/>
          <p:cNvSpPr txBox="1"/>
          <p:nvPr/>
        </p:nvSpPr>
        <p:spPr>
          <a:xfrm>
            <a:off x="640080" y="658368"/>
            <a:ext cx="10908792" cy="621792"/>
          </a:xfrm>
          <a:prstGeom prst="rect">
            <a:avLst/>
          </a:prstGeom>
          <a:noFill/>
          <a:ln/>
        </p:spPr>
        <p:txBody>
          <a:bodyPr wrap="square" lIns="0" tIns="0" rIns="0" bIns="0" rtlCol="0" anchor="t"/>
          <a:lstStyle/>
          <a:p>
            <a:pPr indent="0" marL="0">
              <a:buNone/>
            </a:pPr>
            <a:r>
              <a:rPr lang="en-US" sz="3000" b="1" dirty="0">
                <a:solidFill>
                  <a:srgbClr val="1E2761"/>
                </a:solidFill>
                <a:latin typeface="Apple SD Gothic Neo" pitchFamily="34" charset="0"/>
                <a:ea typeface="Apple SD Gothic Neo" pitchFamily="34" charset="-122"/>
                <a:cs typeface="Apple SD Gothic Neo" pitchFamily="34" charset="-120"/>
              </a:rPr>
              <a:t>화면에서 호출되는 API만 · OpenAPI 3.0</a:t>
            </a:r>
            <a:endParaRPr lang="en-US" sz="3000" dirty="0"/>
          </a:p>
        </p:txBody>
      </p:sp>
      <p:sp>
        <p:nvSpPr>
          <p:cNvPr id="4" name="Shape 2"/>
          <p:cNvSpPr/>
          <p:nvPr/>
        </p:nvSpPr>
        <p:spPr>
          <a:xfrm>
            <a:off x="640080" y="1627632"/>
            <a:ext cx="7635240" cy="1280160"/>
          </a:xfrm>
          <a:prstGeom prst="roundRect">
            <a:avLst>
              <a:gd name="adj" fmla="val 6429"/>
            </a:avLst>
          </a:prstGeom>
          <a:solidFill>
            <a:srgbClr val="F2F6FC"/>
          </a:solidFill>
          <a:ln w="12700">
            <a:solidFill>
              <a:srgbClr val="E3EAF5"/>
            </a:solidFill>
            <a:prstDash val="solid"/>
          </a:ln>
        </p:spPr>
      </p:sp>
      <p:sp>
        <p:nvSpPr>
          <p:cNvPr id="5" name="Shape 3"/>
          <p:cNvSpPr/>
          <p:nvPr/>
        </p:nvSpPr>
        <p:spPr>
          <a:xfrm>
            <a:off x="859536" y="1810512"/>
            <a:ext cx="658368" cy="292608"/>
          </a:xfrm>
          <a:prstGeom prst="roundRect">
            <a:avLst>
              <a:gd name="adj" fmla="val 18750"/>
            </a:avLst>
          </a:prstGeom>
          <a:solidFill>
            <a:srgbClr val="2E7D5B"/>
          </a:solidFill>
          <a:ln w="12700">
            <a:solidFill>
              <a:srgbClr val="2E7D5B"/>
            </a:solidFill>
            <a:prstDash val="solid"/>
          </a:ln>
        </p:spPr>
      </p:sp>
      <p:sp>
        <p:nvSpPr>
          <p:cNvPr id="6" name="Text 4"/>
          <p:cNvSpPr txBox="1"/>
          <p:nvPr/>
        </p:nvSpPr>
        <p:spPr>
          <a:xfrm>
            <a:off x="859536" y="1810512"/>
            <a:ext cx="6583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POST</a:t>
            </a:r>
            <a:endParaRPr lang="en-US" sz="1000" dirty="0"/>
          </a:p>
        </p:txBody>
      </p:sp>
      <p:sp>
        <p:nvSpPr>
          <p:cNvPr id="7" name="Text 5"/>
          <p:cNvSpPr txBox="1"/>
          <p:nvPr/>
        </p:nvSpPr>
        <p:spPr>
          <a:xfrm>
            <a:off x="1627632" y="1792224"/>
            <a:ext cx="6446520" cy="329184"/>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/api/loan-applications/{id}/documents</a:t>
            </a:r>
            <a:endParaRPr lang="en-US" sz="1250" dirty="0"/>
          </a:p>
        </p:txBody>
      </p:sp>
      <p:sp>
        <p:nvSpPr>
          <p:cNvPr id="8" name="Text 6"/>
          <p:cNvSpPr txBox="1"/>
          <p:nvPr/>
        </p:nvSpPr>
        <p:spPr>
          <a:xfrm>
            <a:off x="859536" y="2157984"/>
            <a:ext cx="7223760" cy="256032"/>
          </a:xfrm>
          <a:prstGeom prst="rect">
            <a:avLst/>
          </a:prstGeom>
          <a:noFill/>
          <a:ln/>
        </p:spPr>
        <p:txBody>
          <a:bodyPr wrap="square" lIns="0" tIns="0" rIns="0" bIns="0" rtlCol="0" anchor="ct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제출서류 패키지 업로드 · 유형별 version_no 증가</a:t>
            </a:r>
            <a:endParaRPr lang="en-US" sz="1150" dirty="0"/>
          </a:p>
        </p:txBody>
      </p:sp>
      <p:sp>
        <p:nvSpPr>
          <p:cNvPr id="9" name="Text 7"/>
          <p:cNvSpPr txBox="1"/>
          <p:nvPr/>
        </p:nvSpPr>
        <p:spPr>
          <a:xfrm>
            <a:off x="859536" y="2404872"/>
            <a:ext cx="7223760" cy="237744"/>
          </a:xfrm>
          <a:prstGeom prst="rect">
            <a:avLst/>
          </a:prstGeom>
          <a:noFill/>
          <a:ln/>
        </p:spPr>
        <p:txBody>
          <a:bodyPr wrap="square" lIns="0" tIns="0" rIns="0" bIns="0" rtlCol="0" anchor="ctr"/>
          <a:lstStyle/>
          <a:p>
            <a:pPr indent="0" marL="0">
              <a:buNone/>
            </a:pPr>
            <a:r>
              <a:rPr lang="en-US" sz="1000" dirty="0">
                <a:solidFill>
                  <a:srgbClr val="5C6B8A"/>
                </a:solidFill>
                <a:latin typeface="Apple SD Gothic Neo" pitchFamily="34" charset="0"/>
                <a:ea typeface="Apple SD Gothic Neo" pitchFamily="34" charset="-122"/>
                <a:cs typeface="Apple SD Gothic Neo" pitchFamily="34" charset="-120"/>
              </a:rPr>
              <a:t>REQ-FUNC-003 · SCR-DOC-001 · submitted_documents</a:t>
            </a:r>
            <a:endParaRPr lang="en-US" sz="1000" dirty="0"/>
          </a:p>
        </p:txBody>
      </p:sp>
      <p:sp>
        <p:nvSpPr>
          <p:cNvPr id="10" name="Text 8"/>
          <p:cNvSpPr txBox="1"/>
          <p:nvPr/>
        </p:nvSpPr>
        <p:spPr>
          <a:xfrm>
            <a:off x="859536" y="2615184"/>
            <a:ext cx="7223760" cy="237744"/>
          </a:xfrm>
          <a:prstGeom prst="rect">
            <a:avLst/>
          </a:prstGeom>
          <a:noFill/>
          <a:ln/>
        </p:spPr>
        <p:txBody>
          <a:bodyPr wrap="square" lIns="0" tIns="0" rIns="0" bIns="0" rtlCol="0" anchor="ctr"/>
          <a:lstStyle/>
          <a:p>
            <a:pPr indent="0" marL="0">
              <a:buNone/>
            </a:pPr>
            <a:r>
              <a:rPr lang="en-US" sz="1000" b="1" dirty="0">
                <a:solidFill>
                  <a:srgbClr val="E2603F"/>
                </a:solidFill>
                <a:latin typeface="Apple SD Gothic Neo" pitchFamily="34" charset="0"/>
                <a:ea typeface="Apple SD Gothic Neo" pitchFamily="34" charset="-122"/>
                <a:cs typeface="Apple SD Gothic Neo" pitchFamily="34" charset="-120"/>
              </a:rPr>
              <a:t>201 등록 / 400 필수값 / 415 지원하지 않는 형식 / 409 중복 유형</a:t>
            </a:r>
            <a:endParaRPr lang="en-US" sz="1000" dirty="0"/>
          </a:p>
        </p:txBody>
      </p:sp>
      <p:sp>
        <p:nvSpPr>
          <p:cNvPr id="11" name="Shape 9"/>
          <p:cNvSpPr/>
          <p:nvPr/>
        </p:nvSpPr>
        <p:spPr>
          <a:xfrm>
            <a:off x="640080" y="3044952"/>
            <a:ext cx="7635240" cy="1280160"/>
          </a:xfrm>
          <a:prstGeom prst="roundRect">
            <a:avLst>
              <a:gd name="adj" fmla="val 6429"/>
            </a:avLst>
          </a:prstGeom>
          <a:solidFill>
            <a:srgbClr val="F2F6FC"/>
          </a:solidFill>
          <a:ln w="12700">
            <a:solidFill>
              <a:srgbClr val="E3EAF5"/>
            </a:solidFill>
            <a:prstDash val="solid"/>
          </a:ln>
        </p:spPr>
      </p:sp>
      <p:sp>
        <p:nvSpPr>
          <p:cNvPr id="12" name="Shape 10"/>
          <p:cNvSpPr/>
          <p:nvPr/>
        </p:nvSpPr>
        <p:spPr>
          <a:xfrm>
            <a:off x="859536" y="3227832"/>
            <a:ext cx="658368" cy="292608"/>
          </a:xfrm>
          <a:prstGeom prst="roundRect">
            <a:avLst>
              <a:gd name="adj" fmla="val 18750"/>
            </a:avLst>
          </a:prstGeom>
          <a:solidFill>
            <a:srgbClr val="1E2761"/>
          </a:solidFill>
          <a:ln w="12700">
            <a:solidFill>
              <a:srgbClr val="1E2761"/>
            </a:solidFill>
            <a:prstDash val="solid"/>
          </a:ln>
        </p:spPr>
      </p:sp>
      <p:sp>
        <p:nvSpPr>
          <p:cNvPr id="13" name="Text 11"/>
          <p:cNvSpPr txBox="1"/>
          <p:nvPr/>
        </p:nvSpPr>
        <p:spPr>
          <a:xfrm>
            <a:off x="859536" y="3227832"/>
            <a:ext cx="6583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GET</a:t>
            </a:r>
            <a:endParaRPr lang="en-US" sz="1000" dirty="0"/>
          </a:p>
        </p:txBody>
      </p:sp>
      <p:sp>
        <p:nvSpPr>
          <p:cNvPr id="14" name="Text 12"/>
          <p:cNvSpPr txBox="1"/>
          <p:nvPr/>
        </p:nvSpPr>
        <p:spPr>
          <a:xfrm>
            <a:off x="1627632" y="3209544"/>
            <a:ext cx="6446520" cy="329184"/>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/api/loan-applications/{id}/validation</a:t>
            </a:r>
            <a:endParaRPr lang="en-US" sz="1250" dirty="0"/>
          </a:p>
        </p:txBody>
      </p:sp>
      <p:sp>
        <p:nvSpPr>
          <p:cNvPr id="15" name="Text 13"/>
          <p:cNvSpPr txBox="1"/>
          <p:nvPr/>
        </p:nvSpPr>
        <p:spPr>
          <a:xfrm>
            <a:off x="859536" y="3575304"/>
            <a:ext cx="7223760" cy="256032"/>
          </a:xfrm>
          <a:prstGeom prst="rect">
            <a:avLst/>
          </a:prstGeom>
          <a:noFill/>
          <a:ln/>
        </p:spPr>
        <p:txBody>
          <a:bodyPr wrap="square" lIns="0" tIns="0" rIns="0" bIns="0" rtlCol="0" anchor="ct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추출값 · 교차검증 결과 조회 (오류 위치 · 원인 · 해결 행동)</a:t>
            </a:r>
            <a:endParaRPr lang="en-US" sz="1150" dirty="0"/>
          </a:p>
        </p:txBody>
      </p:sp>
      <p:sp>
        <p:nvSpPr>
          <p:cNvPr id="16" name="Text 14"/>
          <p:cNvSpPr txBox="1"/>
          <p:nvPr/>
        </p:nvSpPr>
        <p:spPr>
          <a:xfrm>
            <a:off x="859536" y="3822192"/>
            <a:ext cx="7223760" cy="237744"/>
          </a:xfrm>
          <a:prstGeom prst="rect">
            <a:avLst/>
          </a:prstGeom>
          <a:noFill/>
          <a:ln/>
        </p:spPr>
        <p:txBody>
          <a:bodyPr wrap="square" lIns="0" tIns="0" rIns="0" bIns="0" rtlCol="0" anchor="ctr"/>
          <a:lstStyle/>
          <a:p>
            <a:pPr indent="0" marL="0">
              <a:buNone/>
            </a:pPr>
            <a:r>
              <a:rPr lang="en-US" sz="1000" dirty="0">
                <a:solidFill>
                  <a:srgbClr val="5C6B8A"/>
                </a:solidFill>
                <a:latin typeface="Apple SD Gothic Neo" pitchFamily="34" charset="0"/>
                <a:ea typeface="Apple SD Gothic Neo" pitchFamily="34" charset="-122"/>
                <a:cs typeface="Apple SD Gothic Neo" pitchFamily="34" charset="-120"/>
              </a:rPr>
              <a:t>REQ-FUNC-005 · SCR-DOC-002 · extracted_fields, validation_issues</a:t>
            </a:r>
            <a:endParaRPr lang="en-US" sz="1000" dirty="0"/>
          </a:p>
        </p:txBody>
      </p:sp>
      <p:sp>
        <p:nvSpPr>
          <p:cNvPr id="17" name="Text 15"/>
          <p:cNvSpPr txBox="1"/>
          <p:nvPr/>
        </p:nvSpPr>
        <p:spPr>
          <a:xfrm>
            <a:off x="859536" y="4032504"/>
            <a:ext cx="7223760" cy="237744"/>
          </a:xfrm>
          <a:prstGeom prst="rect">
            <a:avLst/>
          </a:prstGeom>
          <a:noFill/>
          <a:ln/>
        </p:spPr>
        <p:txBody>
          <a:bodyPr wrap="square" lIns="0" tIns="0" rIns="0" bIns="0" rtlCol="0" anchor="ctr"/>
          <a:lstStyle/>
          <a:p>
            <a:pPr indent="0" marL="0">
              <a:buNone/>
            </a:pPr>
            <a:r>
              <a:rPr lang="en-US" sz="1000" b="1" dirty="0">
                <a:solidFill>
                  <a:srgbClr val="E2603F"/>
                </a:solidFill>
                <a:latin typeface="Apple SD Gothic Neo" pitchFamily="34" charset="0"/>
                <a:ea typeface="Apple SD Gothic Neo" pitchFamily="34" charset="-122"/>
                <a:cs typeface="Apple SD Gothic Neo" pitchFamily="34" charset="-120"/>
              </a:rPr>
              <a:t>200 조회 / 403 타 기업 접근 / 404 없는 신청</a:t>
            </a:r>
            <a:endParaRPr lang="en-US" sz="1000" dirty="0"/>
          </a:p>
        </p:txBody>
      </p:sp>
      <p:sp>
        <p:nvSpPr>
          <p:cNvPr id="18" name="Shape 16"/>
          <p:cNvSpPr/>
          <p:nvPr/>
        </p:nvSpPr>
        <p:spPr>
          <a:xfrm>
            <a:off x="640080" y="4462272"/>
            <a:ext cx="7635240" cy="1280160"/>
          </a:xfrm>
          <a:prstGeom prst="roundRect">
            <a:avLst>
              <a:gd name="adj" fmla="val 6429"/>
            </a:avLst>
          </a:prstGeom>
          <a:solidFill>
            <a:srgbClr val="F2F6FC"/>
          </a:solidFill>
          <a:ln w="12700">
            <a:solidFill>
              <a:srgbClr val="E3EAF5"/>
            </a:solidFill>
            <a:prstDash val="solid"/>
          </a:ln>
        </p:spPr>
      </p:sp>
      <p:sp>
        <p:nvSpPr>
          <p:cNvPr id="19" name="Shape 17"/>
          <p:cNvSpPr/>
          <p:nvPr/>
        </p:nvSpPr>
        <p:spPr>
          <a:xfrm>
            <a:off x="859536" y="4645152"/>
            <a:ext cx="658368" cy="292608"/>
          </a:xfrm>
          <a:prstGeom prst="roundRect">
            <a:avLst>
              <a:gd name="adj" fmla="val 18750"/>
            </a:avLst>
          </a:prstGeom>
          <a:solidFill>
            <a:srgbClr val="2E7D5B"/>
          </a:solidFill>
          <a:ln w="12700">
            <a:solidFill>
              <a:srgbClr val="2E7D5B"/>
            </a:solidFill>
            <a:prstDash val="solid"/>
          </a:ln>
        </p:spPr>
      </p:sp>
      <p:sp>
        <p:nvSpPr>
          <p:cNvPr id="20" name="Text 18"/>
          <p:cNvSpPr txBox="1"/>
          <p:nvPr/>
        </p:nvSpPr>
        <p:spPr>
          <a:xfrm>
            <a:off x="859536" y="4645152"/>
            <a:ext cx="6583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POST</a:t>
            </a:r>
            <a:endParaRPr lang="en-US" sz="1000" dirty="0"/>
          </a:p>
        </p:txBody>
      </p:sp>
      <p:sp>
        <p:nvSpPr>
          <p:cNvPr id="21" name="Text 19"/>
          <p:cNvSpPr txBox="1"/>
          <p:nvPr/>
        </p:nvSpPr>
        <p:spPr>
          <a:xfrm>
            <a:off x="1627632" y="4626864"/>
            <a:ext cx="6446520" cy="329184"/>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/api/loan-applications/{id}/submit</a:t>
            </a:r>
            <a:endParaRPr lang="en-US" sz="1250" dirty="0"/>
          </a:p>
        </p:txBody>
      </p:sp>
      <p:sp>
        <p:nvSpPr>
          <p:cNvPr id="22" name="Text 20"/>
          <p:cNvSpPr txBox="1"/>
          <p:nvPr/>
        </p:nvSpPr>
        <p:spPr>
          <a:xfrm>
            <a:off x="859536" y="4992624"/>
            <a:ext cx="7223760" cy="256032"/>
          </a:xfrm>
          <a:prstGeom prst="rect">
            <a:avLst/>
          </a:prstGeom>
          <a:noFill/>
          <a:ln/>
        </p:spPr>
        <p:txBody>
          <a:bodyPr wrap="square" lIns="0" tIns="0" rIns="0" bIns="0" rtlCol="0" anchor="ctr"/>
          <a:lstStyle/>
          <a:p>
            <a:pPr indent="0" marL="0">
              <a:buNone/>
            </a:pPr>
            <a:r>
              <a:rPr lang="en-US" sz="1150" dirty="0">
                <a:solidFill>
                  <a:srgbClr val="33405C"/>
                </a:solidFill>
                <a:latin typeface="Apple SD Gothic Neo" pitchFamily="34" charset="0"/>
                <a:ea typeface="Apple SD Gothic Neo" pitchFamily="34" charset="-122"/>
                <a:cs typeface="Apple SD Gothic Neo" pitchFamily="34" charset="-120"/>
              </a:rPr>
              <a:t>최종 제출 · 차단 오류 잔존 시 거부, 해당 버전 잠금</a:t>
            </a:r>
            <a:endParaRPr lang="en-US" sz="1150" dirty="0"/>
          </a:p>
        </p:txBody>
      </p:sp>
      <p:sp>
        <p:nvSpPr>
          <p:cNvPr id="23" name="Text 21"/>
          <p:cNvSpPr txBox="1"/>
          <p:nvPr/>
        </p:nvSpPr>
        <p:spPr>
          <a:xfrm>
            <a:off x="859536" y="5239512"/>
            <a:ext cx="7223760" cy="237744"/>
          </a:xfrm>
          <a:prstGeom prst="rect">
            <a:avLst/>
          </a:prstGeom>
          <a:noFill/>
          <a:ln/>
        </p:spPr>
        <p:txBody>
          <a:bodyPr wrap="square" lIns="0" tIns="0" rIns="0" bIns="0" rtlCol="0" anchor="ctr"/>
          <a:lstStyle/>
          <a:p>
            <a:pPr indent="0" marL="0">
              <a:buNone/>
            </a:pPr>
            <a:r>
              <a:rPr lang="en-US" sz="1000" dirty="0">
                <a:solidFill>
                  <a:srgbClr val="5C6B8A"/>
                </a:solidFill>
                <a:latin typeface="Apple SD Gothic Neo" pitchFamily="34" charset="0"/>
                <a:ea typeface="Apple SD Gothic Neo" pitchFamily="34" charset="-122"/>
                <a:cs typeface="Apple SD Gothic Neo" pitchFamily="34" charset="-120"/>
              </a:rPr>
              <a:t>REQ-FUNC-007 · SCR-DOC-002 · loan_applications</a:t>
            </a:r>
            <a:endParaRPr lang="en-US" sz="1000" dirty="0"/>
          </a:p>
        </p:txBody>
      </p:sp>
      <p:sp>
        <p:nvSpPr>
          <p:cNvPr id="24" name="Text 22"/>
          <p:cNvSpPr txBox="1"/>
          <p:nvPr/>
        </p:nvSpPr>
        <p:spPr>
          <a:xfrm>
            <a:off x="859536" y="5449824"/>
            <a:ext cx="7223760" cy="237744"/>
          </a:xfrm>
          <a:prstGeom prst="rect">
            <a:avLst/>
          </a:prstGeom>
          <a:noFill/>
          <a:ln/>
        </p:spPr>
        <p:txBody>
          <a:bodyPr wrap="square" lIns="0" tIns="0" rIns="0" bIns="0" rtlCol="0" anchor="ctr"/>
          <a:lstStyle/>
          <a:p>
            <a:pPr indent="0" marL="0">
              <a:buNone/>
            </a:pPr>
            <a:r>
              <a:rPr lang="en-US" sz="1000" b="1" dirty="0">
                <a:solidFill>
                  <a:srgbClr val="E2603F"/>
                </a:solidFill>
                <a:latin typeface="Apple SD Gothic Neo" pitchFamily="34" charset="0"/>
                <a:ea typeface="Apple SD Gothic Neo" pitchFamily="34" charset="-122"/>
                <a:cs typeface="Apple SD Gothic Neo" pitchFamily="34" charset="-120"/>
              </a:rPr>
              <a:t>200 REVIEW_PENDING / 422 차단 오류 잔존 / 409 중복 제출</a:t>
            </a:r>
            <a:endParaRPr lang="en-US" sz="1000" dirty="0"/>
          </a:p>
        </p:txBody>
      </p:sp>
      <p:sp>
        <p:nvSpPr>
          <p:cNvPr id="25" name="Shape 23"/>
          <p:cNvSpPr/>
          <p:nvPr/>
        </p:nvSpPr>
        <p:spPr>
          <a:xfrm>
            <a:off x="8558784" y="1627632"/>
            <a:ext cx="2990088" cy="4297680"/>
          </a:xfrm>
          <a:prstGeom prst="roundRect">
            <a:avLst>
              <a:gd name="adj" fmla="val 2752"/>
            </a:avLst>
          </a:prstGeom>
          <a:solidFill>
            <a:srgbClr val="1E2761"/>
          </a:solidFill>
          <a:ln w="12700">
            <a:solidFill>
              <a:srgbClr val="1E2761"/>
            </a:solidFill>
            <a:prstDash val="solid"/>
          </a:ln>
        </p:spPr>
      </p:sp>
      <p:sp>
        <p:nvSpPr>
          <p:cNvPr id="26" name="Text 24"/>
          <p:cNvSpPr txBox="1"/>
          <p:nvPr/>
        </p:nvSpPr>
        <p:spPr>
          <a:xfrm>
            <a:off x="8814816" y="1810512"/>
            <a:ext cx="2478024" cy="274320"/>
          </a:xfrm>
          <a:prstGeom prst="rect">
            <a:avLst/>
          </a:prstGeom>
          <a:noFill/>
          <a:ln/>
        </p:spPr>
        <p:txBody>
          <a:bodyPr wrap="square" lIns="0" tIns="0" rIns="0" bIns="0" rtlCol="0" anchor="ctr"/>
          <a:lstStyle/>
          <a:p>
            <a:pPr indent="0" marL="0">
              <a:buNone/>
            </a:pPr>
            <a:r>
              <a:rPr lang="en-US" sz="1400" b="1" dirty="0">
                <a:solidFill>
                  <a:srgbClr val="CADCFC"/>
                </a:solidFill>
                <a:latin typeface="Apple SD Gothic Neo" pitchFamily="34" charset="0"/>
                <a:ea typeface="Apple SD Gothic Neo" pitchFamily="34" charset="-122"/>
                <a:cs typeface="Apple SD Gothic Neo" pitchFamily="34" charset="-120"/>
              </a:rPr>
              <a:t>공통 예외 처리</a:t>
            </a:r>
            <a:endParaRPr lang="en-US" sz="1400" dirty="0"/>
          </a:p>
        </p:txBody>
      </p:sp>
      <p:sp>
        <p:nvSpPr>
          <p:cNvPr id="27" name="Text 25"/>
          <p:cNvSpPr txBox="1"/>
          <p:nvPr/>
        </p:nvSpPr>
        <p:spPr>
          <a:xfrm>
            <a:off x="8814816" y="2212848"/>
            <a:ext cx="749808" cy="310896"/>
          </a:xfrm>
          <a:prstGeom prst="rect">
            <a:avLst/>
          </a:prstGeom>
          <a:noFill/>
          <a:ln/>
        </p:spPr>
        <p:txBody>
          <a:bodyPr wrap="square" lIns="0" tIns="0" rIns="0" bIns="0" rtlCol="0" anchor="ctr"/>
          <a:lstStyle/>
          <a:p>
            <a:pPr indent="0" marL="0">
              <a:buNone/>
            </a:pPr>
            <a:r>
              <a:rPr lang="en-US" sz="1150" b="1" dirty="0">
                <a:solidFill>
                  <a:srgbClr val="CADCFC"/>
                </a:solidFill>
                <a:latin typeface="Courier New" pitchFamily="34" charset="0"/>
                <a:ea typeface="Courier New" pitchFamily="34" charset="-122"/>
                <a:cs typeface="Courier New" pitchFamily="34" charset="-120"/>
              </a:rPr>
              <a:t>400</a:t>
            </a:r>
            <a:endParaRPr lang="en-US" sz="1150" dirty="0"/>
          </a:p>
        </p:txBody>
      </p:sp>
      <p:sp>
        <p:nvSpPr>
          <p:cNvPr id="28" name="Text 26"/>
          <p:cNvSpPr txBox="1"/>
          <p:nvPr/>
        </p:nvSpPr>
        <p:spPr>
          <a:xfrm>
            <a:off x="9582912" y="2212848"/>
            <a:ext cx="1709928" cy="310896"/>
          </a:xfrm>
          <a:prstGeom prst="rect">
            <a:avLst/>
          </a:prstGeom>
          <a:noFill/>
          <a:ln/>
        </p:spPr>
        <p:txBody>
          <a:bodyPr wrap="square" lIns="0" tIns="0" rIns="0" bIns="0" rtlCol="0" anchor="ctr"/>
          <a:lstStyle/>
          <a:p>
            <a:pPr indent="0" marL="0">
              <a:buNone/>
            </a:pPr>
            <a:r>
              <a:rPr lang="en-US" sz="1050" dirty="0">
                <a:solidFill>
                  <a:srgbClr val="AFC0E0"/>
                </a:solidFill>
                <a:latin typeface="Apple SD Gothic Neo" pitchFamily="34" charset="0"/>
                <a:ea typeface="Apple SD Gothic Neo" pitchFamily="34" charset="-122"/>
                <a:cs typeface="Apple SD Gothic Neo" pitchFamily="34" charset="-120"/>
              </a:rPr>
              <a:t>필수값 누락 · 형식 오류</a:t>
            </a:r>
            <a:endParaRPr lang="en-US" sz="1050" dirty="0"/>
          </a:p>
        </p:txBody>
      </p:sp>
      <p:sp>
        <p:nvSpPr>
          <p:cNvPr id="29" name="Text 27"/>
          <p:cNvSpPr txBox="1"/>
          <p:nvPr/>
        </p:nvSpPr>
        <p:spPr>
          <a:xfrm>
            <a:off x="8814816" y="2615184"/>
            <a:ext cx="749808" cy="310896"/>
          </a:xfrm>
          <a:prstGeom prst="rect">
            <a:avLst/>
          </a:prstGeom>
          <a:noFill/>
          <a:ln/>
        </p:spPr>
        <p:txBody>
          <a:bodyPr wrap="square" lIns="0" tIns="0" rIns="0" bIns="0" rtlCol="0" anchor="ctr"/>
          <a:lstStyle/>
          <a:p>
            <a:pPr indent="0" marL="0">
              <a:buNone/>
            </a:pPr>
            <a:r>
              <a:rPr lang="en-US" sz="1150" b="1" dirty="0">
                <a:solidFill>
                  <a:srgbClr val="CADCFC"/>
                </a:solidFill>
                <a:latin typeface="Courier New" pitchFamily="34" charset="0"/>
                <a:ea typeface="Courier New" pitchFamily="34" charset="-122"/>
                <a:cs typeface="Courier New" pitchFamily="34" charset="-120"/>
              </a:rPr>
              <a:t>401</a:t>
            </a:r>
            <a:endParaRPr lang="en-US" sz="1150" dirty="0"/>
          </a:p>
        </p:txBody>
      </p:sp>
      <p:sp>
        <p:nvSpPr>
          <p:cNvPr id="30" name="Text 28"/>
          <p:cNvSpPr txBox="1"/>
          <p:nvPr/>
        </p:nvSpPr>
        <p:spPr>
          <a:xfrm>
            <a:off x="9582912" y="2615184"/>
            <a:ext cx="1709928" cy="310896"/>
          </a:xfrm>
          <a:prstGeom prst="rect">
            <a:avLst/>
          </a:prstGeom>
          <a:noFill/>
          <a:ln/>
        </p:spPr>
        <p:txBody>
          <a:bodyPr wrap="square" lIns="0" tIns="0" rIns="0" bIns="0" rtlCol="0" anchor="ctr"/>
          <a:lstStyle/>
          <a:p>
            <a:pPr indent="0" marL="0">
              <a:buNone/>
            </a:pPr>
            <a:r>
              <a:rPr lang="en-US" sz="1050" dirty="0">
                <a:solidFill>
                  <a:srgbClr val="AFC0E0"/>
                </a:solidFill>
                <a:latin typeface="Apple SD Gothic Neo" pitchFamily="34" charset="0"/>
                <a:ea typeface="Apple SD Gothic Neo" pitchFamily="34" charset="-122"/>
                <a:cs typeface="Apple SD Gothic Neo" pitchFamily="34" charset="-120"/>
              </a:rPr>
              <a:t>로그인 실패 · 세션 만료</a:t>
            </a:r>
            <a:endParaRPr lang="en-US" sz="1050" dirty="0"/>
          </a:p>
        </p:txBody>
      </p:sp>
      <p:sp>
        <p:nvSpPr>
          <p:cNvPr id="31" name="Text 29"/>
          <p:cNvSpPr txBox="1"/>
          <p:nvPr/>
        </p:nvSpPr>
        <p:spPr>
          <a:xfrm>
            <a:off x="8814816" y="3017520"/>
            <a:ext cx="749808" cy="310896"/>
          </a:xfrm>
          <a:prstGeom prst="rect">
            <a:avLst/>
          </a:prstGeom>
          <a:noFill/>
          <a:ln/>
        </p:spPr>
        <p:txBody>
          <a:bodyPr wrap="square" lIns="0" tIns="0" rIns="0" bIns="0" rtlCol="0" anchor="ctr"/>
          <a:lstStyle/>
          <a:p>
            <a:pPr indent="0" marL="0">
              <a:buNone/>
            </a:pPr>
            <a:r>
              <a:rPr lang="en-US" sz="1150" b="1" dirty="0">
                <a:solidFill>
                  <a:srgbClr val="CADCFC"/>
                </a:solidFill>
                <a:latin typeface="Courier New" pitchFamily="34" charset="0"/>
                <a:ea typeface="Courier New" pitchFamily="34" charset="-122"/>
                <a:cs typeface="Courier New" pitchFamily="34" charset="-120"/>
              </a:rPr>
              <a:t>403</a:t>
            </a:r>
            <a:endParaRPr lang="en-US" sz="1150" dirty="0"/>
          </a:p>
        </p:txBody>
      </p:sp>
      <p:sp>
        <p:nvSpPr>
          <p:cNvPr id="32" name="Text 30"/>
          <p:cNvSpPr txBox="1"/>
          <p:nvPr/>
        </p:nvSpPr>
        <p:spPr>
          <a:xfrm>
            <a:off x="9582912" y="3017520"/>
            <a:ext cx="1709928" cy="310896"/>
          </a:xfrm>
          <a:prstGeom prst="rect">
            <a:avLst/>
          </a:prstGeom>
          <a:noFill/>
          <a:ln/>
        </p:spPr>
        <p:txBody>
          <a:bodyPr wrap="square" lIns="0" tIns="0" rIns="0" bIns="0" rtlCol="0" anchor="ctr"/>
          <a:lstStyle/>
          <a:p>
            <a:pPr indent="0" marL="0">
              <a:buNone/>
            </a:pPr>
            <a:r>
              <a:rPr lang="en-US" sz="1050" dirty="0">
                <a:solidFill>
                  <a:srgbClr val="AFC0E0"/>
                </a:solidFill>
                <a:latin typeface="Apple SD Gothic Neo" pitchFamily="34" charset="0"/>
                <a:ea typeface="Apple SD Gothic Neo" pitchFamily="34" charset="-122"/>
                <a:cs typeface="Apple SD Gothic Neo" pitchFamily="34" charset="-120"/>
              </a:rPr>
              <a:t>타 기업 문서 · 역할 위반</a:t>
            </a:r>
            <a:endParaRPr lang="en-US" sz="1050" dirty="0"/>
          </a:p>
        </p:txBody>
      </p:sp>
      <p:sp>
        <p:nvSpPr>
          <p:cNvPr id="33" name="Text 31"/>
          <p:cNvSpPr txBox="1"/>
          <p:nvPr/>
        </p:nvSpPr>
        <p:spPr>
          <a:xfrm>
            <a:off x="8814816" y="3419856"/>
            <a:ext cx="749808" cy="310896"/>
          </a:xfrm>
          <a:prstGeom prst="rect">
            <a:avLst/>
          </a:prstGeom>
          <a:noFill/>
          <a:ln/>
        </p:spPr>
        <p:txBody>
          <a:bodyPr wrap="square" lIns="0" tIns="0" rIns="0" bIns="0" rtlCol="0" anchor="ctr"/>
          <a:lstStyle/>
          <a:p>
            <a:pPr indent="0" marL="0">
              <a:buNone/>
            </a:pPr>
            <a:r>
              <a:rPr lang="en-US" sz="1150" b="1" dirty="0">
                <a:solidFill>
                  <a:srgbClr val="CADCFC"/>
                </a:solidFill>
                <a:latin typeface="Courier New" pitchFamily="34" charset="0"/>
                <a:ea typeface="Courier New" pitchFamily="34" charset="-122"/>
                <a:cs typeface="Courier New" pitchFamily="34" charset="-120"/>
              </a:rPr>
              <a:t>404</a:t>
            </a:r>
            <a:endParaRPr lang="en-US" sz="1150" dirty="0"/>
          </a:p>
        </p:txBody>
      </p:sp>
      <p:sp>
        <p:nvSpPr>
          <p:cNvPr id="34" name="Text 32"/>
          <p:cNvSpPr txBox="1"/>
          <p:nvPr/>
        </p:nvSpPr>
        <p:spPr>
          <a:xfrm>
            <a:off x="9582912" y="3419856"/>
            <a:ext cx="1709928" cy="310896"/>
          </a:xfrm>
          <a:prstGeom prst="rect">
            <a:avLst/>
          </a:prstGeom>
          <a:noFill/>
          <a:ln/>
        </p:spPr>
        <p:txBody>
          <a:bodyPr wrap="square" lIns="0" tIns="0" rIns="0" bIns="0" rtlCol="0" anchor="ctr"/>
          <a:lstStyle/>
          <a:p>
            <a:pPr indent="0" marL="0">
              <a:buNone/>
            </a:pPr>
            <a:r>
              <a:rPr lang="en-US" sz="1050" dirty="0">
                <a:solidFill>
                  <a:srgbClr val="AFC0E0"/>
                </a:solidFill>
                <a:latin typeface="Apple SD Gothic Neo" pitchFamily="34" charset="0"/>
                <a:ea typeface="Apple SD Gothic Neo" pitchFamily="34" charset="-122"/>
                <a:cs typeface="Apple SD Gothic Neo" pitchFamily="34" charset="-120"/>
              </a:rPr>
              <a:t>없는 신청 · 문서</a:t>
            </a:r>
            <a:endParaRPr lang="en-US" sz="1050" dirty="0"/>
          </a:p>
        </p:txBody>
      </p:sp>
      <p:sp>
        <p:nvSpPr>
          <p:cNvPr id="35" name="Text 33"/>
          <p:cNvSpPr txBox="1"/>
          <p:nvPr/>
        </p:nvSpPr>
        <p:spPr>
          <a:xfrm>
            <a:off x="8814816" y="3822192"/>
            <a:ext cx="749808" cy="310896"/>
          </a:xfrm>
          <a:prstGeom prst="rect">
            <a:avLst/>
          </a:prstGeom>
          <a:noFill/>
          <a:ln/>
        </p:spPr>
        <p:txBody>
          <a:bodyPr wrap="square" lIns="0" tIns="0" rIns="0" bIns="0" rtlCol="0" anchor="ctr"/>
          <a:lstStyle/>
          <a:p>
            <a:pPr indent="0" marL="0">
              <a:buNone/>
            </a:pPr>
            <a:r>
              <a:rPr lang="en-US" sz="1150" b="1" dirty="0">
                <a:solidFill>
                  <a:srgbClr val="E2603F"/>
                </a:solidFill>
                <a:latin typeface="Courier New" pitchFamily="34" charset="0"/>
                <a:ea typeface="Courier New" pitchFamily="34" charset="-122"/>
                <a:cs typeface="Courier New" pitchFamily="34" charset="-120"/>
              </a:rPr>
              <a:t>409</a:t>
            </a:r>
            <a:endParaRPr lang="en-US" sz="1150" dirty="0"/>
          </a:p>
        </p:txBody>
      </p:sp>
      <p:sp>
        <p:nvSpPr>
          <p:cNvPr id="36" name="Text 34"/>
          <p:cNvSpPr txBox="1"/>
          <p:nvPr/>
        </p:nvSpPr>
        <p:spPr>
          <a:xfrm>
            <a:off x="9582912" y="3822192"/>
            <a:ext cx="1709928" cy="310896"/>
          </a:xfrm>
          <a:prstGeom prst="rect">
            <a:avLst/>
          </a:prstGeom>
          <a:noFill/>
          <a:ln/>
        </p:spPr>
        <p:txBody>
          <a:bodyPr wrap="square" lIns="0" tIns="0" rIns="0" bIns="0" rtlCol="0" anchor="ctr"/>
          <a:lstStyle/>
          <a:p>
            <a:pPr indent="0" marL="0">
              <a:buNone/>
            </a:pPr>
            <a:r>
              <a:rPr lang="en-US" sz="1050" dirty="0">
                <a:solidFill>
                  <a:srgbClr val="AFC0E0"/>
                </a:solidFill>
                <a:latin typeface="Apple SD Gothic Neo" pitchFamily="34" charset="0"/>
                <a:ea typeface="Apple SD Gothic Neo" pitchFamily="34" charset="-122"/>
                <a:cs typeface="Apple SD Gothic Neo" pitchFamily="34" charset="-120"/>
              </a:rPr>
              <a:t>이미 처리된 건 재처리</a:t>
            </a:r>
            <a:endParaRPr lang="en-US" sz="1050" dirty="0"/>
          </a:p>
        </p:txBody>
      </p:sp>
      <p:sp>
        <p:nvSpPr>
          <p:cNvPr id="37" name="Text 35"/>
          <p:cNvSpPr txBox="1"/>
          <p:nvPr/>
        </p:nvSpPr>
        <p:spPr>
          <a:xfrm>
            <a:off x="8814816" y="4224528"/>
            <a:ext cx="749808" cy="310896"/>
          </a:xfrm>
          <a:prstGeom prst="rect">
            <a:avLst/>
          </a:prstGeom>
          <a:noFill/>
          <a:ln/>
        </p:spPr>
        <p:txBody>
          <a:bodyPr wrap="square" lIns="0" tIns="0" rIns="0" bIns="0" rtlCol="0" anchor="ctr"/>
          <a:lstStyle/>
          <a:p>
            <a:pPr indent="0" marL="0">
              <a:buNone/>
            </a:pPr>
            <a:r>
              <a:rPr lang="en-US" sz="1150" b="1" dirty="0">
                <a:solidFill>
                  <a:srgbClr val="CADCFC"/>
                </a:solidFill>
                <a:latin typeface="Courier New" pitchFamily="34" charset="0"/>
                <a:ea typeface="Courier New" pitchFamily="34" charset="-122"/>
                <a:cs typeface="Courier New" pitchFamily="34" charset="-120"/>
              </a:rPr>
              <a:t>415</a:t>
            </a:r>
            <a:endParaRPr lang="en-US" sz="1150" dirty="0"/>
          </a:p>
        </p:txBody>
      </p:sp>
      <p:sp>
        <p:nvSpPr>
          <p:cNvPr id="38" name="Text 36"/>
          <p:cNvSpPr txBox="1"/>
          <p:nvPr/>
        </p:nvSpPr>
        <p:spPr>
          <a:xfrm>
            <a:off x="9582912" y="4224528"/>
            <a:ext cx="1709928" cy="310896"/>
          </a:xfrm>
          <a:prstGeom prst="rect">
            <a:avLst/>
          </a:prstGeom>
          <a:noFill/>
          <a:ln/>
        </p:spPr>
        <p:txBody>
          <a:bodyPr wrap="square" lIns="0" tIns="0" rIns="0" bIns="0" rtlCol="0" anchor="ctr"/>
          <a:lstStyle/>
          <a:p>
            <a:pPr indent="0" marL="0">
              <a:buNone/>
            </a:pPr>
            <a:r>
              <a:rPr lang="en-US" sz="1050" dirty="0">
                <a:solidFill>
                  <a:srgbClr val="AFC0E0"/>
                </a:solidFill>
                <a:latin typeface="Apple SD Gothic Neo" pitchFamily="34" charset="0"/>
                <a:ea typeface="Apple SD Gothic Neo" pitchFamily="34" charset="-122"/>
                <a:cs typeface="Apple SD Gothic Neo" pitchFamily="34" charset="-120"/>
              </a:rPr>
              <a:t>JPG/PNG/PDF 외 파일</a:t>
            </a:r>
            <a:endParaRPr lang="en-US" sz="1050" dirty="0"/>
          </a:p>
        </p:txBody>
      </p:sp>
      <p:sp>
        <p:nvSpPr>
          <p:cNvPr id="39" name="Text 37"/>
          <p:cNvSpPr txBox="1"/>
          <p:nvPr/>
        </p:nvSpPr>
        <p:spPr>
          <a:xfrm>
            <a:off x="8814816" y="4626864"/>
            <a:ext cx="749808" cy="310896"/>
          </a:xfrm>
          <a:prstGeom prst="rect">
            <a:avLst/>
          </a:prstGeom>
          <a:noFill/>
          <a:ln/>
        </p:spPr>
        <p:txBody>
          <a:bodyPr wrap="square" lIns="0" tIns="0" rIns="0" bIns="0" rtlCol="0" anchor="ctr"/>
          <a:lstStyle/>
          <a:p>
            <a:pPr indent="0" marL="0">
              <a:buNone/>
            </a:pPr>
            <a:r>
              <a:rPr lang="en-US" sz="1150" b="1" dirty="0">
                <a:solidFill>
                  <a:srgbClr val="E2603F"/>
                </a:solidFill>
                <a:latin typeface="Courier New" pitchFamily="34" charset="0"/>
                <a:ea typeface="Courier New" pitchFamily="34" charset="-122"/>
                <a:cs typeface="Courier New" pitchFamily="34" charset="-120"/>
              </a:rPr>
              <a:t>422</a:t>
            </a:r>
            <a:endParaRPr lang="en-US" sz="1150" dirty="0"/>
          </a:p>
        </p:txBody>
      </p:sp>
      <p:sp>
        <p:nvSpPr>
          <p:cNvPr id="40" name="Text 38"/>
          <p:cNvSpPr txBox="1"/>
          <p:nvPr/>
        </p:nvSpPr>
        <p:spPr>
          <a:xfrm>
            <a:off x="9582912" y="4626864"/>
            <a:ext cx="1709928" cy="310896"/>
          </a:xfrm>
          <a:prstGeom prst="rect">
            <a:avLst/>
          </a:prstGeom>
          <a:noFill/>
          <a:ln/>
        </p:spPr>
        <p:txBody>
          <a:bodyPr wrap="square" lIns="0" tIns="0" rIns="0" bIns="0" rtlCol="0" anchor="ctr"/>
          <a:lstStyle/>
          <a:p>
            <a:pPr indent="0" marL="0">
              <a:buNone/>
            </a:pPr>
            <a:r>
              <a:rPr lang="en-US" sz="1050" dirty="0">
                <a:solidFill>
                  <a:srgbClr val="AFC0E0"/>
                </a:solidFill>
                <a:latin typeface="Apple SD Gothic Neo" pitchFamily="34" charset="0"/>
                <a:ea typeface="Apple SD Gothic Neo" pitchFamily="34" charset="-122"/>
                <a:cs typeface="Apple SD Gothic Neo" pitchFamily="34" charset="-120"/>
              </a:rPr>
              <a:t>차단 오류 미해결</a:t>
            </a:r>
            <a:endParaRPr lang="en-US" sz="1050" dirty="0"/>
          </a:p>
        </p:txBody>
      </p:sp>
      <p:sp>
        <p:nvSpPr>
          <p:cNvPr id="41" name="Text 39"/>
          <p:cNvSpPr txBox="1"/>
          <p:nvPr/>
        </p:nvSpPr>
        <p:spPr>
          <a:xfrm>
            <a:off x="8814816" y="5029200"/>
            <a:ext cx="749808" cy="310896"/>
          </a:xfrm>
          <a:prstGeom prst="rect">
            <a:avLst/>
          </a:prstGeom>
          <a:noFill/>
          <a:ln/>
        </p:spPr>
        <p:txBody>
          <a:bodyPr wrap="square" lIns="0" tIns="0" rIns="0" bIns="0" rtlCol="0" anchor="ctr"/>
          <a:lstStyle/>
          <a:p>
            <a:pPr indent="0" marL="0">
              <a:buNone/>
            </a:pPr>
            <a:r>
              <a:rPr lang="en-US" sz="1150" b="1" dirty="0">
                <a:solidFill>
                  <a:srgbClr val="CADCFC"/>
                </a:solidFill>
                <a:latin typeface="Courier New" pitchFamily="34" charset="0"/>
                <a:ea typeface="Courier New" pitchFamily="34" charset="-122"/>
                <a:cs typeface="Courier New" pitchFamily="34" charset="-120"/>
              </a:rPr>
              <a:t>500</a:t>
            </a:r>
            <a:endParaRPr lang="en-US" sz="1150" dirty="0"/>
          </a:p>
        </p:txBody>
      </p:sp>
      <p:sp>
        <p:nvSpPr>
          <p:cNvPr id="42" name="Text 40"/>
          <p:cNvSpPr txBox="1"/>
          <p:nvPr/>
        </p:nvSpPr>
        <p:spPr>
          <a:xfrm>
            <a:off x="9582912" y="5029200"/>
            <a:ext cx="1709928" cy="310896"/>
          </a:xfrm>
          <a:prstGeom prst="rect">
            <a:avLst/>
          </a:prstGeom>
          <a:noFill/>
          <a:ln/>
        </p:spPr>
        <p:txBody>
          <a:bodyPr wrap="square" lIns="0" tIns="0" rIns="0" bIns="0" rtlCol="0" anchor="ctr"/>
          <a:lstStyle/>
          <a:p>
            <a:pPr indent="0" marL="0">
              <a:buNone/>
            </a:pPr>
            <a:r>
              <a:rPr lang="en-US" sz="1050" dirty="0">
                <a:solidFill>
                  <a:srgbClr val="AFC0E0"/>
                </a:solidFill>
                <a:latin typeface="Apple SD Gothic Neo" pitchFamily="34" charset="0"/>
                <a:ea typeface="Apple SD Gothic Neo" pitchFamily="34" charset="-122"/>
                <a:cs typeface="Apple SD Gothic Neo" pitchFamily="34" charset="-120"/>
              </a:rPr>
              <a:t>내부 처리 실패</a:t>
            </a:r>
            <a:endParaRPr lang="en-US" sz="1050" dirty="0"/>
          </a:p>
        </p:txBody>
      </p:sp>
      <p:sp>
        <p:nvSpPr>
          <p:cNvPr id="43" name="Text 41"/>
          <p:cNvSpPr txBox="1"/>
          <p:nvPr/>
        </p:nvSpPr>
        <p:spPr>
          <a:xfrm>
            <a:off x="8814816" y="5431536"/>
            <a:ext cx="749808" cy="310896"/>
          </a:xfrm>
          <a:prstGeom prst="rect">
            <a:avLst/>
          </a:prstGeom>
          <a:noFill/>
          <a:ln/>
        </p:spPr>
        <p:txBody>
          <a:bodyPr wrap="square" lIns="0" tIns="0" rIns="0" bIns="0" rtlCol="0" anchor="ctr"/>
          <a:lstStyle/>
          <a:p>
            <a:pPr indent="0" marL="0">
              <a:buNone/>
            </a:pPr>
            <a:r>
              <a:rPr lang="en-US" sz="1150" b="1" dirty="0">
                <a:solidFill>
                  <a:srgbClr val="E2603F"/>
                </a:solidFill>
                <a:latin typeface="Courier New" pitchFamily="34" charset="0"/>
                <a:ea typeface="Courier New" pitchFamily="34" charset="-122"/>
                <a:cs typeface="Courier New" pitchFamily="34" charset="-120"/>
              </a:rPr>
              <a:t>502/504</a:t>
            </a:r>
            <a:endParaRPr lang="en-US" sz="1150" dirty="0"/>
          </a:p>
        </p:txBody>
      </p:sp>
      <p:sp>
        <p:nvSpPr>
          <p:cNvPr id="44" name="Text 42"/>
          <p:cNvSpPr txBox="1"/>
          <p:nvPr/>
        </p:nvSpPr>
        <p:spPr>
          <a:xfrm>
            <a:off x="9582912" y="5431536"/>
            <a:ext cx="1709928" cy="310896"/>
          </a:xfrm>
          <a:prstGeom prst="rect">
            <a:avLst/>
          </a:prstGeom>
          <a:noFill/>
          <a:ln/>
        </p:spPr>
        <p:txBody>
          <a:bodyPr wrap="square" lIns="0" tIns="0" rIns="0" bIns="0" rtlCol="0" anchor="ctr"/>
          <a:lstStyle/>
          <a:p>
            <a:pPr indent="0" marL="0">
              <a:buNone/>
            </a:pPr>
            <a:r>
              <a:rPr lang="en-US" sz="1050" dirty="0">
                <a:solidFill>
                  <a:srgbClr val="AFC0E0"/>
                </a:solidFill>
                <a:latin typeface="Apple SD Gothic Neo" pitchFamily="34" charset="0"/>
                <a:ea typeface="Apple SD Gothic Neo" pitchFamily="34" charset="-122"/>
                <a:cs typeface="Apple SD Gothic Neo" pitchFamily="34" charset="-120"/>
              </a:rPr>
              <a:t>외부 OCR 실패 · 타임아웃</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45"/>
        </a:solidFill>
      </p:bgPr>
    </p:bg>
    <p:spTree>
      <p:nvGrpSpPr>
        <p:cNvPr id="1" name=""/>
        <p:cNvGrpSpPr/>
        <p:nvPr/>
      </p:nvGrpSpPr>
      <p:grpSpPr>
        <a:xfrm>
          <a:off x="0" y="0"/>
          <a:ext cx="0" cy="0"/>
          <a:chOff x="0" y="0"/>
          <a:chExt cx="0" cy="0"/>
        </a:xfrm>
      </p:grpSpPr>
      <p:sp>
        <p:nvSpPr>
          <p:cNvPr id="2" name="Text 0"/>
          <p:cNvSpPr txBox="1"/>
          <p:nvPr/>
        </p:nvSpPr>
        <p:spPr>
          <a:xfrm>
            <a:off x="640080" y="566928"/>
            <a:ext cx="10908792" cy="640080"/>
          </a:xfrm>
          <a:prstGeom prst="rect">
            <a:avLst/>
          </a:prstGeom>
          <a:noFill/>
          <a:ln/>
        </p:spPr>
        <p:txBody>
          <a:bodyPr wrap="square" lIns="0" tIns="0" rIns="0" bIns="0" rtlCol="0" anchor="ctr"/>
          <a:lstStyle/>
          <a:p>
            <a:pPr indent="0" marL="0">
              <a:buNone/>
            </a:pPr>
            <a:r>
              <a:rPr lang="en-US" sz="3000" b="1" dirty="0">
                <a:solidFill>
                  <a:srgbClr val="FFFFFF"/>
                </a:solidFill>
                <a:latin typeface="Apple SD Gothic Neo" pitchFamily="34" charset="0"/>
                <a:ea typeface="Apple SD Gothic Neo" pitchFamily="34" charset="-122"/>
                <a:cs typeface="Apple SD Gothic Neo" pitchFamily="34" charset="-120"/>
              </a:rPr>
              <a:t>마무리</a:t>
            </a:r>
            <a:endParaRPr lang="en-US" sz="3000" dirty="0"/>
          </a:p>
        </p:txBody>
      </p:sp>
      <p:sp>
        <p:nvSpPr>
          <p:cNvPr id="3" name="Shape 1"/>
          <p:cNvSpPr/>
          <p:nvPr/>
        </p:nvSpPr>
        <p:spPr>
          <a:xfrm>
            <a:off x="640080" y="1572768"/>
            <a:ext cx="5276088" cy="3520440"/>
          </a:xfrm>
          <a:prstGeom prst="roundRect">
            <a:avLst>
              <a:gd name="adj" fmla="val 2597"/>
            </a:avLst>
          </a:prstGeom>
          <a:solidFill>
            <a:srgbClr val="1E2761"/>
          </a:solidFill>
          <a:ln w="12700">
            <a:solidFill>
              <a:srgbClr val="2E3D7A"/>
            </a:solidFill>
            <a:prstDash val="solid"/>
          </a:ln>
        </p:spPr>
      </p:sp>
      <p:sp>
        <p:nvSpPr>
          <p:cNvPr id="4" name="Text 2"/>
          <p:cNvSpPr txBox="1"/>
          <p:nvPr/>
        </p:nvSpPr>
        <p:spPr>
          <a:xfrm>
            <a:off x="932688" y="1792224"/>
            <a:ext cx="4690872" cy="310896"/>
          </a:xfrm>
          <a:prstGeom prst="rect">
            <a:avLst/>
          </a:prstGeom>
          <a:noFill/>
          <a:ln/>
        </p:spPr>
        <p:txBody>
          <a:bodyPr wrap="square" lIns="0" tIns="0" rIns="0" bIns="0" rtlCol="0" anchor="ctr"/>
          <a:lstStyle/>
          <a:p>
            <a:pPr indent="0" marL="0">
              <a:buNone/>
            </a:pPr>
            <a:r>
              <a:rPr lang="en-US" sz="1500" b="1" dirty="0">
                <a:solidFill>
                  <a:srgbClr val="CADCFC"/>
                </a:solidFill>
                <a:latin typeface="Apple SD Gothic Neo" pitchFamily="34" charset="0"/>
                <a:ea typeface="Apple SD Gothic Neo" pitchFamily="34" charset="-122"/>
                <a:cs typeface="Apple SD Gothic Neo" pitchFamily="34" charset="-120"/>
              </a:rPr>
              <a:t>설계하며 고민한 점</a:t>
            </a:r>
            <a:endParaRPr lang="en-US" sz="1500" dirty="0"/>
          </a:p>
        </p:txBody>
      </p:sp>
      <p:sp>
        <p:nvSpPr>
          <p:cNvPr id="5" name="Shape 3"/>
          <p:cNvSpPr/>
          <p:nvPr/>
        </p:nvSpPr>
        <p:spPr>
          <a:xfrm>
            <a:off x="932688" y="2304288"/>
            <a:ext cx="292608" cy="292608"/>
          </a:xfrm>
          <a:prstGeom prst="ellipse">
            <a:avLst/>
          </a:prstGeom>
          <a:solidFill>
            <a:srgbClr val="CADCFC"/>
          </a:solidFill>
          <a:ln w="12700">
            <a:solidFill>
              <a:srgbClr val="CADCFC"/>
            </a:solidFill>
            <a:prstDash val="solid"/>
          </a:ln>
        </p:spPr>
      </p:sp>
      <p:sp>
        <p:nvSpPr>
          <p:cNvPr id="6" name="Text 4"/>
          <p:cNvSpPr txBox="1"/>
          <p:nvPr/>
        </p:nvSpPr>
        <p:spPr>
          <a:xfrm>
            <a:off x="932688" y="2304288"/>
            <a:ext cx="292608" cy="292608"/>
          </a:xfrm>
          <a:prstGeom prst="rect">
            <a:avLst/>
          </a:prstGeom>
          <a:noFill/>
          <a:ln/>
        </p:spPr>
        <p:txBody>
          <a:bodyPr wrap="square" lIns="0" tIns="0" rIns="0" bIns="0" rtlCol="0" anchor="ctr"/>
          <a:lstStyle/>
          <a:p>
            <a:pPr algn="ctr" indent="0" marL="0">
              <a:buNone/>
            </a:pPr>
            <a:r>
              <a:rPr lang="en-US" sz="1300" b="1" dirty="0">
                <a:solidFill>
                  <a:srgbClr val="141B45"/>
                </a:solidFill>
                <a:latin typeface="Apple SD Gothic Neo" pitchFamily="34" charset="0"/>
                <a:ea typeface="Apple SD Gothic Neo" pitchFamily="34" charset="-122"/>
                <a:cs typeface="Apple SD Gothic Neo" pitchFamily="34" charset="-120"/>
              </a:rPr>
              <a:t>1</a:t>
            </a:r>
            <a:endParaRPr lang="en-US" sz="1300" dirty="0"/>
          </a:p>
        </p:txBody>
      </p:sp>
      <p:sp>
        <p:nvSpPr>
          <p:cNvPr id="7" name="Text 5"/>
          <p:cNvSpPr txBox="1"/>
          <p:nvPr/>
        </p:nvSpPr>
        <p:spPr>
          <a:xfrm>
            <a:off x="1353312" y="2267712"/>
            <a:ext cx="4279392" cy="841248"/>
          </a:xfrm>
          <a:prstGeom prst="rect">
            <a:avLst/>
          </a:prstGeom>
          <a:noFill/>
          <a:ln/>
        </p:spPr>
        <p:txBody>
          <a:bodyPr wrap="square" lIns="0" tIns="0" rIns="0" bIns="0" rtlCol="0" anchor="t"/>
          <a:lstStyle/>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OCR 오인식은 고객이 정정하게 두되,</a:t>
            </a:r>
            <a:endParaRPr lang="en-US" sz="1100" dirty="0"/>
          </a:p>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사업자번호·유효기간처럼 증빙 자체가</a:t>
            </a:r>
            <a:endParaRPr lang="en-US" sz="1100" dirty="0"/>
          </a:p>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틀린 값은 정정 대신 재업로드로 유도</a:t>
            </a:r>
            <a:endParaRPr lang="en-US" sz="1100" dirty="0"/>
          </a:p>
        </p:txBody>
      </p:sp>
      <p:sp>
        <p:nvSpPr>
          <p:cNvPr id="8" name="Shape 6"/>
          <p:cNvSpPr/>
          <p:nvPr/>
        </p:nvSpPr>
        <p:spPr>
          <a:xfrm>
            <a:off x="932688" y="3236976"/>
            <a:ext cx="292608" cy="292608"/>
          </a:xfrm>
          <a:prstGeom prst="ellipse">
            <a:avLst/>
          </a:prstGeom>
          <a:solidFill>
            <a:srgbClr val="CADCFC"/>
          </a:solidFill>
          <a:ln w="12700">
            <a:solidFill>
              <a:srgbClr val="CADCFC"/>
            </a:solidFill>
            <a:prstDash val="solid"/>
          </a:ln>
        </p:spPr>
      </p:sp>
      <p:sp>
        <p:nvSpPr>
          <p:cNvPr id="9" name="Text 7"/>
          <p:cNvSpPr txBox="1"/>
          <p:nvPr/>
        </p:nvSpPr>
        <p:spPr>
          <a:xfrm>
            <a:off x="932688" y="3236976"/>
            <a:ext cx="292608" cy="292608"/>
          </a:xfrm>
          <a:prstGeom prst="rect">
            <a:avLst/>
          </a:prstGeom>
          <a:noFill/>
          <a:ln/>
        </p:spPr>
        <p:txBody>
          <a:bodyPr wrap="square" lIns="0" tIns="0" rIns="0" bIns="0" rtlCol="0" anchor="ctr"/>
          <a:lstStyle/>
          <a:p>
            <a:pPr algn="ctr" indent="0" marL="0">
              <a:buNone/>
            </a:pPr>
            <a:r>
              <a:rPr lang="en-US" sz="1300" b="1" dirty="0">
                <a:solidFill>
                  <a:srgbClr val="141B45"/>
                </a:solidFill>
                <a:latin typeface="Apple SD Gothic Neo" pitchFamily="34" charset="0"/>
                <a:ea typeface="Apple SD Gothic Neo" pitchFamily="34" charset="-122"/>
                <a:cs typeface="Apple SD Gothic Neo" pitchFamily="34" charset="-120"/>
              </a:rPr>
              <a:t>2</a:t>
            </a:r>
            <a:endParaRPr lang="en-US" sz="1300" dirty="0"/>
          </a:p>
        </p:txBody>
      </p:sp>
      <p:sp>
        <p:nvSpPr>
          <p:cNvPr id="10" name="Text 8"/>
          <p:cNvSpPr txBox="1"/>
          <p:nvPr/>
        </p:nvSpPr>
        <p:spPr>
          <a:xfrm>
            <a:off x="1353312" y="3200400"/>
            <a:ext cx="4279392" cy="841248"/>
          </a:xfrm>
          <a:prstGeom prst="rect">
            <a:avLst/>
          </a:prstGeom>
          <a:noFill/>
          <a:ln/>
        </p:spPr>
        <p:txBody>
          <a:bodyPr wrap="square" lIns="0" tIns="0" rIns="0" bIns="0" rtlCol="0" anchor="t"/>
          <a:lstStyle/>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'서류 확인 완료'가 대출 승인으로</a:t>
            </a:r>
            <a:endParaRPr lang="en-US" sz="1100" dirty="0"/>
          </a:p>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오해되지 않도록 상태명과 확인 모달에</a:t>
            </a:r>
            <a:endParaRPr lang="en-US" sz="1100" dirty="0"/>
          </a:p>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무관함을 명시 (DOCUMENTS_APPROVED)</a:t>
            </a:r>
            <a:endParaRPr lang="en-US" sz="1100" dirty="0"/>
          </a:p>
        </p:txBody>
      </p:sp>
      <p:sp>
        <p:nvSpPr>
          <p:cNvPr id="11" name="Shape 9"/>
          <p:cNvSpPr/>
          <p:nvPr/>
        </p:nvSpPr>
        <p:spPr>
          <a:xfrm>
            <a:off x="932688" y="4169664"/>
            <a:ext cx="292608" cy="292608"/>
          </a:xfrm>
          <a:prstGeom prst="ellipse">
            <a:avLst/>
          </a:prstGeom>
          <a:solidFill>
            <a:srgbClr val="CADCFC"/>
          </a:solidFill>
          <a:ln w="12700">
            <a:solidFill>
              <a:srgbClr val="CADCFC"/>
            </a:solidFill>
            <a:prstDash val="solid"/>
          </a:ln>
        </p:spPr>
      </p:sp>
      <p:sp>
        <p:nvSpPr>
          <p:cNvPr id="12" name="Text 10"/>
          <p:cNvSpPr txBox="1"/>
          <p:nvPr/>
        </p:nvSpPr>
        <p:spPr>
          <a:xfrm>
            <a:off x="932688" y="4169664"/>
            <a:ext cx="292608" cy="292608"/>
          </a:xfrm>
          <a:prstGeom prst="rect">
            <a:avLst/>
          </a:prstGeom>
          <a:noFill/>
          <a:ln/>
        </p:spPr>
        <p:txBody>
          <a:bodyPr wrap="square" lIns="0" tIns="0" rIns="0" bIns="0" rtlCol="0" anchor="ctr"/>
          <a:lstStyle/>
          <a:p>
            <a:pPr algn="ctr" indent="0" marL="0">
              <a:buNone/>
            </a:pPr>
            <a:r>
              <a:rPr lang="en-US" sz="1300" b="1" dirty="0">
                <a:solidFill>
                  <a:srgbClr val="141B45"/>
                </a:solidFill>
                <a:latin typeface="Apple SD Gothic Neo" pitchFamily="34" charset="0"/>
                <a:ea typeface="Apple SD Gothic Neo" pitchFamily="34" charset="-122"/>
                <a:cs typeface="Apple SD Gothic Neo" pitchFamily="34" charset="-120"/>
              </a:rPr>
              <a:t>3</a:t>
            </a:r>
            <a:endParaRPr lang="en-US" sz="1300" dirty="0"/>
          </a:p>
        </p:txBody>
      </p:sp>
      <p:sp>
        <p:nvSpPr>
          <p:cNvPr id="13" name="Text 11"/>
          <p:cNvSpPr txBox="1"/>
          <p:nvPr/>
        </p:nvSpPr>
        <p:spPr>
          <a:xfrm>
            <a:off x="1353312" y="4133088"/>
            <a:ext cx="4279392" cy="841248"/>
          </a:xfrm>
          <a:prstGeom prst="rect">
            <a:avLst/>
          </a:prstGeom>
          <a:noFill/>
          <a:ln/>
        </p:spPr>
        <p:txBody>
          <a:bodyPr wrap="square" lIns="0" tIns="0" rIns="0" bIns="0" rtlCol="0" anchor="t"/>
          <a:lstStyle/>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외부 OCR은 액터가 아니라 연동 대상.</a:t>
            </a:r>
            <a:endParaRPr lang="en-US" sz="1100" dirty="0"/>
          </a:p>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실패해도 원본과 신청 상태를 보존하고</a:t>
            </a:r>
            <a:endParaRPr lang="en-US" sz="1100" dirty="0"/>
          </a:p>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최대 3회 재시도 (REQ-NFN-007)</a:t>
            </a:r>
            <a:endParaRPr lang="en-US" sz="1100" dirty="0"/>
          </a:p>
        </p:txBody>
      </p:sp>
      <p:sp>
        <p:nvSpPr>
          <p:cNvPr id="14" name="Shape 12"/>
          <p:cNvSpPr/>
          <p:nvPr/>
        </p:nvSpPr>
        <p:spPr>
          <a:xfrm>
            <a:off x="6272784" y="1572768"/>
            <a:ext cx="5276088" cy="3520440"/>
          </a:xfrm>
          <a:prstGeom prst="roundRect">
            <a:avLst>
              <a:gd name="adj" fmla="val 2597"/>
            </a:avLst>
          </a:prstGeom>
          <a:solidFill>
            <a:srgbClr val="1E2761"/>
          </a:solidFill>
          <a:ln w="12700">
            <a:solidFill>
              <a:srgbClr val="5A3B34"/>
            </a:solidFill>
            <a:prstDash val="solid"/>
          </a:ln>
        </p:spPr>
      </p:sp>
      <p:sp>
        <p:nvSpPr>
          <p:cNvPr id="15" name="Text 13"/>
          <p:cNvSpPr txBox="1"/>
          <p:nvPr/>
        </p:nvSpPr>
        <p:spPr>
          <a:xfrm>
            <a:off x="6565392" y="1792224"/>
            <a:ext cx="4690872" cy="310896"/>
          </a:xfrm>
          <a:prstGeom prst="rect">
            <a:avLst/>
          </a:prstGeom>
          <a:noFill/>
          <a:ln/>
        </p:spPr>
        <p:txBody>
          <a:bodyPr wrap="square" lIns="0" tIns="0" rIns="0" bIns="0" rtlCol="0" anchor="ctr"/>
          <a:lstStyle/>
          <a:p>
            <a:pPr indent="0" marL="0">
              <a:buNone/>
            </a:pPr>
            <a:r>
              <a:rPr lang="en-US" sz="1500" b="1" dirty="0">
                <a:solidFill>
                  <a:srgbClr val="E2603F"/>
                </a:solidFill>
                <a:latin typeface="Apple SD Gothic Neo" pitchFamily="34" charset="0"/>
                <a:ea typeface="Apple SD Gothic Neo" pitchFamily="34" charset="-122"/>
                <a:cs typeface="Apple SD Gothic Neo" pitchFamily="34" charset="-120"/>
              </a:rPr>
              <a:t>다음 개발 시 고려사항</a:t>
            </a:r>
            <a:endParaRPr lang="en-US" sz="1500" dirty="0"/>
          </a:p>
        </p:txBody>
      </p:sp>
      <p:sp>
        <p:nvSpPr>
          <p:cNvPr id="16" name="Shape 14"/>
          <p:cNvSpPr/>
          <p:nvPr/>
        </p:nvSpPr>
        <p:spPr>
          <a:xfrm>
            <a:off x="6565392" y="2304288"/>
            <a:ext cx="292608" cy="292608"/>
          </a:xfrm>
          <a:prstGeom prst="ellipse">
            <a:avLst/>
          </a:prstGeom>
          <a:solidFill>
            <a:srgbClr val="E2603F"/>
          </a:solidFill>
          <a:ln w="12700">
            <a:solidFill>
              <a:srgbClr val="E2603F"/>
            </a:solidFill>
            <a:prstDash val="solid"/>
          </a:ln>
        </p:spPr>
      </p:sp>
      <p:sp>
        <p:nvSpPr>
          <p:cNvPr id="17" name="Text 15"/>
          <p:cNvSpPr txBox="1"/>
          <p:nvPr/>
        </p:nvSpPr>
        <p:spPr>
          <a:xfrm>
            <a:off x="6565392" y="2304288"/>
            <a:ext cx="292608" cy="292608"/>
          </a:xfrm>
          <a:prstGeom prst="rect">
            <a:avLst/>
          </a:prstGeom>
          <a:noFill/>
          <a:ln/>
        </p:spPr>
        <p:txBody>
          <a:bodyPr wrap="square" lIns="0" tIns="0" rIns="0" bIns="0" rtlCol="0" anchor="ctr"/>
          <a:lstStyle/>
          <a:p>
            <a:pPr algn="ctr" indent="0" marL="0">
              <a:buNone/>
            </a:pPr>
            <a:r>
              <a:rPr lang="en-US" sz="1300" b="1" dirty="0">
                <a:solidFill>
                  <a:srgbClr val="141B45"/>
                </a:solidFill>
                <a:latin typeface="Apple SD Gothic Neo" pitchFamily="34" charset="0"/>
                <a:ea typeface="Apple SD Gothic Neo" pitchFamily="34" charset="-122"/>
                <a:cs typeface="Apple SD Gothic Neo" pitchFamily="34" charset="-120"/>
              </a:rPr>
              <a:t>1</a:t>
            </a:r>
            <a:endParaRPr lang="en-US" sz="1300" dirty="0"/>
          </a:p>
        </p:txBody>
      </p:sp>
      <p:sp>
        <p:nvSpPr>
          <p:cNvPr id="18" name="Text 16"/>
          <p:cNvSpPr txBox="1"/>
          <p:nvPr/>
        </p:nvSpPr>
        <p:spPr>
          <a:xfrm>
            <a:off x="6986016" y="2267712"/>
            <a:ext cx="4279392" cy="841248"/>
          </a:xfrm>
          <a:prstGeom prst="rect">
            <a:avLst/>
          </a:prstGeom>
          <a:noFill/>
          <a:ln/>
        </p:spPr>
        <p:txBody>
          <a:bodyPr wrap="square" lIns="0" tIns="0" rIns="0" bIns="0" rtlCol="0" anchor="t"/>
          <a:lstStyle/>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은행 SSO · 기업 권한관리 연동,</a:t>
            </a:r>
            <a:endParaRPr lang="en-US" sz="1100" dirty="0"/>
          </a:p>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부가세과세표준증명 등 문서 유형 확대</a:t>
            </a:r>
            <a:endParaRPr lang="en-US" sz="1100" dirty="0"/>
          </a:p>
        </p:txBody>
      </p:sp>
      <p:sp>
        <p:nvSpPr>
          <p:cNvPr id="19" name="Shape 17"/>
          <p:cNvSpPr/>
          <p:nvPr/>
        </p:nvSpPr>
        <p:spPr>
          <a:xfrm>
            <a:off x="6565392" y="3236976"/>
            <a:ext cx="292608" cy="292608"/>
          </a:xfrm>
          <a:prstGeom prst="ellipse">
            <a:avLst/>
          </a:prstGeom>
          <a:solidFill>
            <a:srgbClr val="E2603F"/>
          </a:solidFill>
          <a:ln w="12700">
            <a:solidFill>
              <a:srgbClr val="E2603F"/>
            </a:solidFill>
            <a:prstDash val="solid"/>
          </a:ln>
        </p:spPr>
      </p:sp>
      <p:sp>
        <p:nvSpPr>
          <p:cNvPr id="20" name="Text 18"/>
          <p:cNvSpPr txBox="1"/>
          <p:nvPr/>
        </p:nvSpPr>
        <p:spPr>
          <a:xfrm>
            <a:off x="6565392" y="3236976"/>
            <a:ext cx="292608" cy="292608"/>
          </a:xfrm>
          <a:prstGeom prst="rect">
            <a:avLst/>
          </a:prstGeom>
          <a:noFill/>
          <a:ln/>
        </p:spPr>
        <p:txBody>
          <a:bodyPr wrap="square" lIns="0" tIns="0" rIns="0" bIns="0" rtlCol="0" anchor="ctr"/>
          <a:lstStyle/>
          <a:p>
            <a:pPr algn="ctr" indent="0" marL="0">
              <a:buNone/>
            </a:pPr>
            <a:r>
              <a:rPr lang="en-US" sz="1300" b="1" dirty="0">
                <a:solidFill>
                  <a:srgbClr val="141B45"/>
                </a:solidFill>
                <a:latin typeface="Apple SD Gothic Neo" pitchFamily="34" charset="0"/>
                <a:ea typeface="Apple SD Gothic Neo" pitchFamily="34" charset="-122"/>
                <a:cs typeface="Apple SD Gothic Neo" pitchFamily="34" charset="-120"/>
              </a:rPr>
              <a:t>2</a:t>
            </a:r>
            <a:endParaRPr lang="en-US" sz="1300" dirty="0"/>
          </a:p>
        </p:txBody>
      </p:sp>
      <p:sp>
        <p:nvSpPr>
          <p:cNvPr id="21" name="Text 19"/>
          <p:cNvSpPr txBox="1"/>
          <p:nvPr/>
        </p:nvSpPr>
        <p:spPr>
          <a:xfrm>
            <a:off x="6986016" y="3200400"/>
            <a:ext cx="4279392" cy="841248"/>
          </a:xfrm>
          <a:prstGeom prst="rect">
            <a:avLst/>
          </a:prstGeom>
          <a:noFill/>
          <a:ln/>
        </p:spPr>
        <p:txBody>
          <a:bodyPr wrap="square" lIns="0" tIns="0" rIns="0" bIns="0" rtlCol="0" anchor="t"/>
          <a:lstStyle/>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금융상품별 필수 문서 · 유효기간 ·</a:t>
            </a:r>
            <a:endParaRPr lang="en-US" sz="1100" dirty="0"/>
          </a:p>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허용 사업연도 규칙 관리 화면</a:t>
            </a:r>
            <a:endParaRPr lang="en-US" sz="1100" dirty="0"/>
          </a:p>
        </p:txBody>
      </p:sp>
      <p:sp>
        <p:nvSpPr>
          <p:cNvPr id="22" name="Shape 20"/>
          <p:cNvSpPr/>
          <p:nvPr/>
        </p:nvSpPr>
        <p:spPr>
          <a:xfrm>
            <a:off x="6565392" y="4169664"/>
            <a:ext cx="292608" cy="292608"/>
          </a:xfrm>
          <a:prstGeom prst="ellipse">
            <a:avLst/>
          </a:prstGeom>
          <a:solidFill>
            <a:srgbClr val="E2603F"/>
          </a:solidFill>
          <a:ln w="12700">
            <a:solidFill>
              <a:srgbClr val="E2603F"/>
            </a:solidFill>
            <a:prstDash val="solid"/>
          </a:ln>
        </p:spPr>
      </p:sp>
      <p:sp>
        <p:nvSpPr>
          <p:cNvPr id="23" name="Text 21"/>
          <p:cNvSpPr txBox="1"/>
          <p:nvPr/>
        </p:nvSpPr>
        <p:spPr>
          <a:xfrm>
            <a:off x="6565392" y="4169664"/>
            <a:ext cx="292608" cy="292608"/>
          </a:xfrm>
          <a:prstGeom prst="rect">
            <a:avLst/>
          </a:prstGeom>
          <a:noFill/>
          <a:ln/>
        </p:spPr>
        <p:txBody>
          <a:bodyPr wrap="square" lIns="0" tIns="0" rIns="0" bIns="0" rtlCol="0" anchor="ctr"/>
          <a:lstStyle/>
          <a:p>
            <a:pPr algn="ctr" indent="0" marL="0">
              <a:buNone/>
            </a:pPr>
            <a:r>
              <a:rPr lang="en-US" sz="1300" b="1" dirty="0">
                <a:solidFill>
                  <a:srgbClr val="141B45"/>
                </a:solidFill>
                <a:latin typeface="Apple SD Gothic Neo" pitchFamily="34" charset="0"/>
                <a:ea typeface="Apple SD Gothic Neo" pitchFamily="34" charset="-122"/>
                <a:cs typeface="Apple SD Gothic Neo" pitchFamily="34" charset="-120"/>
              </a:rPr>
              <a:t>3</a:t>
            </a:r>
            <a:endParaRPr lang="en-US" sz="1300" dirty="0"/>
          </a:p>
        </p:txBody>
      </p:sp>
      <p:sp>
        <p:nvSpPr>
          <p:cNvPr id="24" name="Text 22"/>
          <p:cNvSpPr txBox="1"/>
          <p:nvPr/>
        </p:nvSpPr>
        <p:spPr>
          <a:xfrm>
            <a:off x="6986016" y="4133088"/>
            <a:ext cx="4279392" cy="841248"/>
          </a:xfrm>
          <a:prstGeom prst="rect">
            <a:avLst/>
          </a:prstGeom>
          <a:noFill/>
          <a:ln/>
        </p:spPr>
        <p:txBody>
          <a:bodyPr wrap="square" lIns="0" tIns="0" rIns="0" bIns="0" rtlCol="0" anchor="t"/>
          <a:lstStyle/>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국세청 · 정부24 진위확인 연동,</a:t>
            </a:r>
            <a:endParaRPr lang="en-US" sz="1100" dirty="0"/>
          </a:p>
          <a:p>
            <a:pPr indent="0" marL="0">
              <a:lnSpc>
                <a:spcPct val="122000"/>
              </a:lnSpc>
              <a:buNone/>
            </a:pPr>
            <a:r>
              <a:rPr lang="en-US" sz="1100" dirty="0">
                <a:solidFill>
                  <a:srgbClr val="C6D3EC"/>
                </a:solidFill>
                <a:latin typeface="Apple SD Gothic Neo" pitchFamily="34" charset="0"/>
                <a:ea typeface="Apple SD Gothic Neo" pitchFamily="34" charset="-122"/>
                <a:cs typeface="Apple SD Gothic Neo" pitchFamily="34" charset="-120"/>
              </a:rPr>
              <a:t>문서 암호화 · 마스킹 · 보관기간 정책</a:t>
            </a:r>
            <a:endParaRPr lang="en-US" sz="1100" dirty="0"/>
          </a:p>
        </p:txBody>
      </p:sp>
      <p:sp>
        <p:nvSpPr>
          <p:cNvPr id="25" name="Text 23"/>
          <p:cNvSpPr txBox="1"/>
          <p:nvPr/>
        </p:nvSpPr>
        <p:spPr>
          <a:xfrm>
            <a:off x="640080" y="5394960"/>
            <a:ext cx="5486400" cy="457200"/>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감사합니다</a:t>
            </a:r>
            <a:endParaRPr lang="en-US" sz="2400" dirty="0"/>
          </a:p>
        </p:txBody>
      </p:sp>
      <p:sp>
        <p:nvSpPr>
          <p:cNvPr id="26" name="Text 24"/>
          <p:cNvSpPr txBox="1"/>
          <p:nvPr/>
        </p:nvSpPr>
        <p:spPr>
          <a:xfrm>
            <a:off x="6309360" y="5504688"/>
            <a:ext cx="5239512" cy="329184"/>
          </a:xfrm>
          <a:prstGeom prst="rect">
            <a:avLst/>
          </a:prstGeom>
          <a:noFill/>
          <a:ln/>
        </p:spPr>
        <p:txBody>
          <a:bodyPr wrap="square" lIns="0" tIns="0" rIns="0" bIns="0" rtlCol="0" anchor="ctr"/>
          <a:lstStyle/>
          <a:p>
            <a:pPr algn="r" indent="0" marL="0">
              <a:buNone/>
            </a:pPr>
            <a:r>
              <a:rPr lang="en-US" sz="1300" dirty="0">
                <a:solidFill>
                  <a:srgbClr val="CADCFC"/>
                </a:solidFill>
                <a:latin typeface="Apple SD Gothic Neo" pitchFamily="34" charset="0"/>
                <a:ea typeface="Apple SD Gothic Neo" pitchFamily="34" charset="-122"/>
                <a:cs typeface="Apple SD Gothic Neo" pitchFamily="34" charset="-120"/>
              </a:rPr>
              <a:t>판교5 · 홍은비 · DocSure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DocSure — 기업대출 제출서류 사전검수 서비스</dc:title>
  <dc:subject>PptxGenJS Presentation</dc:subject>
  <dc:creator>홍은비</dc:creator>
  <cp:lastModifiedBy>홍은비</cp:lastModifiedBy>
  <cp:revision>1</cp:revision>
  <dcterms:created xsi:type="dcterms:W3CDTF">2026-09-08T04:56:25Z</dcterms:created>
  <dcterms:modified xsi:type="dcterms:W3CDTF">2026-09-08T04:56:25Z</dcterms:modified>
</cp:coreProperties>
</file>