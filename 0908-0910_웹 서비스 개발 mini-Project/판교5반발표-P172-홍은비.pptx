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2" r:id="rId22"/>
    <p:sldId id="259" r:id="rId5"/>
    <p:sldId id="273" r:id="rId23"/>
    <p:sldId id="260" r:id="rId6"/>
    <p:sldId id="274" r:id="rId24"/>
    <p:sldId id="261" r:id="rId7"/>
    <p:sldId id="275" r:id="rId25"/>
    <p:sldId id="278" r:id="rId28"/>
    <p:sldId id="279" r:id="rId29"/>
    <p:sldId id="280" r:id="rId30"/>
    <p:sldId id="281" r:id="rId31"/>
    <p:sldId id="262" r:id="rId8"/>
    <p:sldId id="276" r:id="rId26"/>
    <p:sldId id="263" r:id="rId9"/>
    <p:sldId id="277" r:id="rId27"/>
    <p:sldId id="264" r:id="rId10"/>
    <p:sldId id="271" r:id="rId11"/>
  </p:sldIdLst>
  <p:sldSz cx="18288000" cy="10287000"/>
  <p:notesSz cx="6858000" cy="9144000"/>
  <p:embeddedFontLst>
    <p:embeddedFont>
      <p:font typeface="Pretendard SemiBold" panose="020B0503000000000000" pitchFamily="34" charset="-127"/>
      <p:regular r:id="rId12"/>
    </p:embeddedFont>
    <p:embeddedFont>
      <p:font typeface="Pretendard Medium" panose="020B0603000000000000" pitchFamily="34" charset="-127"/>
      <p:regular r:id="rId13"/>
    </p:embeddedFont>
    <p:embeddedFont>
      <p:font typeface="Pretendard SemiBold" pitchFamily="2" charset="0"/>
      <p:regular r:id="rId14"/>
      <p:bold r:id="rId15"/>
    </p:embeddedFont>
    <p:embeddedFont>
      <p:font typeface="Pretendard SemiBold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3" autoAdjust="0"/>
  </p:normalViewPr>
  <p:slideViewPr>
    <p:cSldViewPr>
      <p:cViewPr>
        <p:scale>
          <a:sx n="53" d="100"/>
          <a:sy n="53" d="100"/>
        </p:scale>
        <p:origin x="1992" y="9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  <Relationship Id="rId22" Type="http://schemas.openxmlformats.org/officeDocument/2006/relationships/slide" Target="slides/slide11.xml"/>
  <Relationship Id="rId23" Type="http://schemas.openxmlformats.org/officeDocument/2006/relationships/slide" Target="slides/slide12.xml"/>
  <Relationship Id="rId24" Type="http://schemas.openxmlformats.org/officeDocument/2006/relationships/slide" Target="slides/slide13.xml"/>
  <Relationship Id="rId25" Type="http://schemas.openxmlformats.org/officeDocument/2006/relationships/slide" Target="slides/slide14.xml"/>
  <Relationship Id="rId26" Type="http://schemas.openxmlformats.org/officeDocument/2006/relationships/slide" Target="slides/slide15.xml"/>
  <Relationship Id="rId27" Type="http://schemas.openxmlformats.org/officeDocument/2006/relationships/slide" Target="slides/slide16.xml"/>
  <Relationship Id="rId28" Type="http://schemas.openxmlformats.org/officeDocument/2006/relationships/slide" Target="slides/slide17.xml"/>
  <Relationship Id="rId29" Type="http://schemas.openxmlformats.org/officeDocument/2006/relationships/slide" Target="slides/slide18.xml"/>
  <Relationship Id="rId30" Type="http://schemas.openxmlformats.org/officeDocument/2006/relationships/slide" Target="slides/slide19.xml"/>
  <Relationship Id="rId31" Type="http://schemas.openxmlformats.org/officeDocument/2006/relationships/slide" Target="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안녕하세요, 판교5반 홍은비입니다. 제가 설계한 서비스는 DocuFit, 기업대출 제출서류를 은행에 내기 전에 미리 검수하는 B2B 웹 서비스입니다.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고민한 점 셋입니다. 차단 오류가 남으면 제출 자체를 막아서, 은행이 받는 건은 항상 형식 검증을 통과한 상태입니다.</a:t>
            </a:r>
          </a:p>
          <a:p>
            <a:r>
              <a:rPr lang="ko-KR" dirty="0"/>
              <a:t>서류 확인 완료가 대출 승인으로 오해되지 않도록 상태명과 확인 모달에 무관함을 명시했습니다.</a:t>
            </a:r>
          </a:p>
          <a:p>
            <a:r>
              <a:rPr lang="ko-KR" dirty="0"/>
              <a:t>OCR 원본값은 읽기 전용으로 두고 잘못된 값은 재업로드로 고치게 했습니다.</a:t>
            </a:r>
          </a:p>
          <a:p>
            <a:r>
              <a:rPr lang="ko-KR" dirty="0"/>
              <a:t>다음 단계로는 은행 SSO 연동과 문서 유형 확대를 생각하고 있습니다. 감사합니다.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기획 배경은 세 단계입니다. 하나은행은 심사의견 작성을 30분에서 10초로 줄였고 신한은행도 여신심사 에이전트를 넣었습니다.</a:t>
            </a:r>
          </a:p>
          <a:p>
            <a:r>
              <a:rPr lang="ko-KR" dirty="0"/>
              <a:t>그런데 자동화된 건 서류가 이미 접수된 뒤의 심사의견 작성입니다. 접수·검증을 건드린 곳은 수출입은행 한 곳뿐이고 그것도 은행 내부 도구입니다.</a:t>
            </a:r>
          </a:p>
          <a:p>
            <a:r>
              <a:rPr lang="ko-KR" dirty="0"/>
              <a:t>서류를 만들어 내는 기업 고객 쪽은 비어 있습니다. 그래서 접수 전 단계, 그리고 기업 고객 쪽을 설계했습니다.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Pain point를 해결책과 요구사항 ID로 연결했습니다. 핵심은 두 번째입니다.</a:t>
            </a:r>
          </a:p>
          <a:p>
            <a:r>
              <a:rPr lang="ko-KR" dirty="0"/>
              <a:t>기존 OCR은 문서 한 장씩 처리하는데, DocuFit은 companies 테이블의 기준값과 세 문서의 추출값을 교차검증합니다.</a:t>
            </a:r>
          </a:p>
          <a:p>
            <a:r>
              <a:rPr lang="ko-KR" dirty="0"/>
              <a:t>검증 오류 여섯 가지는 전부 차단 오류라 하나라도 남으면 제출 자체가 막힙니다.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액터는 둘입니다. 기업 고객은 은행이 보낸 초대 링크로만 계정을 활성화하고 공개 회원가입은 없습니다.</a:t>
            </a:r>
          </a:p>
          <a:p>
            <a:r>
              <a:rPr lang="ko-KR" dirty="0"/>
              <a:t>핵심 흐름은 활성화, 업로드, OCR 자동 검증, 자가 보완, 은행 확인 다섯 단계입니다.</a:t>
            </a:r>
          </a:p>
          <a:p>
            <a:r>
              <a:rPr lang="ko-KR" dirty="0"/>
              <a:t>아래가 이번에 하지 않는 것인데, 특히 대출 승인과 신용평가는 명시적으로 뺐습니다.</a:t>
            </a:r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화면 흐름은 기업 고객과 은행 두 갈래입니다. 기업은 제출 현황에서 올리고 사전검증 결과에서 확인한 뒤 제출합니다.</a:t>
            </a:r>
          </a:p>
          <a:p>
            <a:r>
              <a:rPr lang="ko-KR" dirty="0"/>
              <a:t>은행은 검토 목록에서 상세로 들어가 확인 완료나 보완 요청을 합니다. 보완 요청은 대상 문서 한 건 단위입니다.</a:t>
            </a:r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테이블은 여덟 개, 관계는 열두 개이고 전부 1:N입니다.</a:t>
            </a:r>
          </a:p>
          <a:p>
            <a:r>
              <a:rPr lang="ko-KR" dirty="0"/>
              <a:t>companies를 분리한 게 핵심입니다. 기업명과 사업자등록번호가 교차검증의 기준값이라 한 곳에서만 관리합니다.</a:t>
            </a:r>
          </a:p>
          <a:p>
            <a:r>
              <a:rPr lang="ko-KR" dirty="0"/>
              <a:t>문서는 덮어쓰지 않고 버전을 올리며 uploaded_by로 누가 올렸는지까지 남깁니다. 화면에서 안 쓰는 테이블은 만들지 않았습니다.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API는 열한 개입니다. 왼쪽이 최종 제출 오퍼레이션 원문이고 오른쪽이 명세서입니다.</a:t>
            </a:r>
          </a:p>
          <a:p>
            <a:r>
              <a:rPr lang="ko-KR" dirty="0"/>
              <a:t>모든 오퍼레이션 description에 요구사항 ID, 화면 ID, 사용 테이블을 적어서 요구사항부터 DB까지 한 줄로 이어집니다.</a:t>
            </a:r>
          </a:p>
          <a:p>
            <a:r>
              <a:rPr lang="ko-KR" dirty="0"/>
              <a:t>외부 OCR 호출은 우리가 제공하는 API가 아니라 명세에 넣지 않고 502와 504로 표현했습니다.</a:t>
            </a:r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화면은 다섯 개입니다. 업로드 화면과 검증 결과 화면을 일부러 나눴습니다. 한 화면에 다 넣으면 정보가 과밀해지기 때문입니다.</a:t>
            </a:r>
          </a:p>
          <a:p>
            <a:r>
              <a:rPr lang="ko-KR" dirty="0"/>
              <a:t>화면마다 정상부터 502·504까지, 그리고 빈 화면·로딩·네트워크 오류를 정의했습니다.</a:t>
            </a:r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업로드 화면입니다. 이 화면은 처리 상태만 보여주고 추출값은 다음 화면에서 확인합니다.</a:t>
            </a:r>
          </a:p>
          <a:p>
            <a:r>
              <a:rPr lang="ko-KR" dirty="0"/>
              <a:t>같은 유형을 다시 올리면 덮어쓰지 않고 버전을 올립니다. OCR이 실패하면 재업로드 없이 분석만 최대 3회 재시도합니다.</a:t>
            </a:r>
          </a:p>
          <a:p>
            <a:r>
              <a:rPr lang="ko-KR" dirty="0"/>
              <a:t>왼쪽 위 빨간 배너가 은행이 보낸 보완 요청이고, 클릭하면 해당 문서 카드로 바로 이동합니다.</a:t>
            </a:r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이 화면이 서비스의 핵심입니다. 사업자등록번호가 문서 간 다르고 재무제표 연도가 요구 연도와 달라서 차단 오류 2건이 잡혔습니다.</a:t>
            </a:r>
          </a:p>
          <a:p>
            <a:r>
              <a:rPr lang="ko-KR" dirty="0"/>
              <a:t>오른쪽 비교표에서 기준값과 다른 값이 붉게 표시됩니다. 어느 문서가 잘못됐는지 바로 보입니다.</a:t>
            </a:r>
          </a:p>
          <a:p>
            <a:r>
              <a:rPr lang="ko-KR" dirty="0"/>
              <a:t>오류 카드의 해결 행동을 누르면 업로드 화면의 해당 카드로 이동합니다. 차단 오류가 남아 있으면 제출 버튼은 422로 막힙니다.</a:t>
            </a:r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은행 담당자 화면입니다. 문서 탭을 바꾸면 원본, OCR 추출값, 검증 결과가 함께 바뀝니다.</a:t>
            </a:r>
          </a:p>
          <a:p>
            <a:r>
              <a:rPr lang="ko-KR" dirty="0"/>
              <a:t>추출값은 읽기 전용입니다. 값만 고치면 서류는 여전히 잘못돼 있기 때문에 재업로드로만 고치게 했습니다.</a:t>
            </a:r>
          </a:p>
          <a:p>
            <a:r>
              <a:rPr lang="ko-KR" dirty="0"/>
              <a:t>이력에는 업로드한 기업 담당자와 검토한 은행 담당자가 각각 남습니다. 보완 요청은 대상 문서 한 건과 사유를 받습니다.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docufit04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docufit05.png"/><Relationship Id="rId4" Type="http://schemas.openxmlformats.org/officeDocument/2006/relationships/image" Target="../media/docufit06.png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docufit01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docufit02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docufit03.png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0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87541" y="1779860"/>
            <a:ext cx="6032482" cy="603248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710243" y="1779860"/>
            <a:ext cx="6032482" cy="603248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5002229"/>
            <a:ext cx="10956914" cy="764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8"/>
              </a:lnSpc>
            </a:pPr>
            <a:r>
              <a:rPr lang="en-US" sz="4878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기업대출 제출서류 사전검수 서비스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418972"/>
            <a:ext cx="12712945" cy="1377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24"/>
              </a:lnSpc>
            </a:pPr>
            <a:r>
              <a:rPr lang="en-US" sz="8819" b="1" spc="-176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DocuFit.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705595"/>
            <a:ext cx="3899716" cy="55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19"/>
              </a:lnSpc>
            </a:pPr>
            <a:r>
              <a:rPr lang="en-US" sz="3535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판교5 홍은비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616209"/>
            <a:ext cx="736824" cy="73682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3659027"/>
            <a:ext cx="736824" cy="73682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4701845"/>
            <a:ext cx="736824" cy="7368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0" y="5744664"/>
            <a:ext cx="736824" cy="73682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0" y="6787482"/>
            <a:ext cx="736824" cy="73682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0" y="7830300"/>
            <a:ext cx="736824" cy="73682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1028700" y="962025"/>
            <a:ext cx="4884180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50"/>
              </a:lnSpc>
            </a:pPr>
            <a:r>
              <a:rPr lang="en-US" sz="7500" b="1" spc="-15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Contents.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74727" y="2679402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기획 배경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94066" y="2704027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74727" y="3722220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Pain Points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94066" y="3746845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074727" y="4765039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시스템 액터 정의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94066" y="4789663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74727" y="5807857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UI 흐름도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94066" y="5832481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74727" y="6850675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데이터 모델 설계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4066" y="6875300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74727" y="7893493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API 명세 정의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94066" y="7918118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06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144000" y="8877367"/>
            <a:ext cx="736824" cy="736824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725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074727" y="8940560"/>
            <a:ext cx="6902651" cy="57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3594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Appendix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94066" y="8965185"/>
            <a:ext cx="636692" cy="53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5"/>
              </a:lnSpc>
            </a:pPr>
            <a:r>
              <a:rPr lang="en-US" sz="332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기획 배경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Pain Points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시스템 액터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UI 흐름도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데이터 모델 설계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API 명세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67275"/>
            <a:ext cx="743765" cy="62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5841256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Appendix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9760" y="5519721"/>
            <a:ext cx="6088480" cy="644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985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감사합니다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84027" y="4046673"/>
            <a:ext cx="12319947" cy="128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83"/>
              </a:lnSpc>
            </a:pPr>
            <a:r>
              <a:rPr lang="en-US" sz="8064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Thank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기획 배경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101" name="S102"/>
          <p:cNvSpPr/>
          <p:nvPr/>
        </p:nvSpPr>
        <p:spPr>
          <a:xfrm>
            <a:off x="914400" y="1874520"/>
            <a:ext cx="5303520" cy="5989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03" name="E104"/>
          <p:cNvSpPr/>
          <p:nvPr/>
        </p:nvSpPr>
        <p:spPr>
          <a:xfrm>
            <a:off x="1325880" y="2286000"/>
            <a:ext cx="658368" cy="658368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05" name="T106"/>
          <p:cNvSpPr txBox="1"/>
          <p:nvPr/>
        </p:nvSpPr>
        <p:spPr>
          <a:xfrm>
            <a:off x="1325880" y="2286000"/>
            <a:ext cx="658368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01</a:t>
            </a:r>
          </a:p>
        </p:txBody>
      </p:sp>
      <p:sp>
        <p:nvSpPr>
          <p:cNvPr id="107" name="T108"/>
          <p:cNvSpPr txBox="1"/>
          <p:nvPr/>
        </p:nvSpPr>
        <p:spPr>
          <a:xfrm>
            <a:off x="1325880" y="3172968"/>
            <a:ext cx="4480560" cy="12344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은행은 이미 AI로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여신심사를 바꾸고 있다</a:t>
            </a:r>
          </a:p>
        </p:txBody>
      </p:sp>
      <p:sp>
        <p:nvSpPr>
          <p:cNvPr id="109" name="S110"/>
          <p:cNvSpPr/>
          <p:nvPr/>
        </p:nvSpPr>
        <p:spPr>
          <a:xfrm>
            <a:off x="1325880" y="4690872"/>
            <a:ext cx="91440" cy="91440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11" name="T112"/>
          <p:cNvSpPr txBox="1"/>
          <p:nvPr/>
        </p:nvSpPr>
        <p:spPr>
          <a:xfrm>
            <a:off x="1572768" y="4572000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하나은행 : 기업신용평가 심사의견 작성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30분 → 10초 · 연 2.7만 시간 절감 (26.3)</a:t>
            </a:r>
          </a:p>
        </p:txBody>
      </p:sp>
      <p:sp>
        <p:nvSpPr>
          <p:cNvPr id="113" name="S114"/>
          <p:cNvSpPr/>
          <p:nvPr/>
        </p:nvSpPr>
        <p:spPr>
          <a:xfrm>
            <a:off x="1325880" y="5916168"/>
            <a:ext cx="91440" cy="91440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15" name="T116"/>
          <p:cNvSpPr txBox="1"/>
          <p:nvPr/>
        </p:nvSpPr>
        <p:spPr>
          <a:xfrm>
            <a:off x="1572768" y="5797296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신한은행 : 여신심사지원 Agent 도입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12개 산업군별 분석 엔진 (26.3)</a:t>
            </a:r>
          </a:p>
        </p:txBody>
      </p:sp>
      <p:sp>
        <p:nvSpPr>
          <p:cNvPr id="117" name="S118"/>
          <p:cNvSpPr/>
          <p:nvPr/>
        </p:nvSpPr>
        <p:spPr>
          <a:xfrm>
            <a:off x="1325880" y="7141464"/>
            <a:ext cx="91440" cy="91440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19" name="T120"/>
          <p:cNvSpPr txBox="1"/>
          <p:nvPr/>
        </p:nvSpPr>
        <p:spPr>
          <a:xfrm>
            <a:off x="1572768" y="7022592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은행장 50% 가 하반기 전략으로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'AI 여신심사·평가 고도화' 선정</a:t>
            </a:r>
          </a:p>
        </p:txBody>
      </p:sp>
      <p:sp>
        <p:nvSpPr>
          <p:cNvPr id="121" name="S122"/>
          <p:cNvSpPr/>
          <p:nvPr/>
        </p:nvSpPr>
        <p:spPr>
          <a:xfrm>
            <a:off x="6492240" y="1874520"/>
            <a:ext cx="5303520" cy="5989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23" name="E124"/>
          <p:cNvSpPr/>
          <p:nvPr/>
        </p:nvSpPr>
        <p:spPr>
          <a:xfrm>
            <a:off x="6903720" y="2286000"/>
            <a:ext cx="658368" cy="658368"/>
          </a:xfrm>
          <a:prstGeom prst="ellipse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25" name="T126"/>
          <p:cNvSpPr txBox="1"/>
          <p:nvPr/>
        </p:nvSpPr>
        <p:spPr>
          <a:xfrm>
            <a:off x="6903720" y="2286000"/>
            <a:ext cx="658368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02</a:t>
            </a:r>
          </a:p>
        </p:txBody>
      </p:sp>
      <p:sp>
        <p:nvSpPr>
          <p:cNvPr id="127" name="T128"/>
          <p:cNvSpPr txBox="1"/>
          <p:nvPr/>
        </p:nvSpPr>
        <p:spPr>
          <a:xfrm>
            <a:off x="6903720" y="3172968"/>
            <a:ext cx="4480560" cy="12344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그런데 자동화된 것은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'심사의견 작성'이다</a:t>
            </a:r>
          </a:p>
        </p:txBody>
      </p:sp>
      <p:sp>
        <p:nvSpPr>
          <p:cNvPr id="129" name="S130"/>
          <p:cNvSpPr/>
          <p:nvPr/>
        </p:nvSpPr>
        <p:spPr>
          <a:xfrm>
            <a:off x="6903720" y="4690872"/>
            <a:ext cx="91440" cy="9144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31" name="T132"/>
          <p:cNvSpPr txBox="1"/>
          <p:nvPr/>
        </p:nvSpPr>
        <p:spPr>
          <a:xfrm>
            <a:off x="7150608" y="4572000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서류가 이미 정상 접수된 뒤의 단계</a:t>
            </a:r>
          </a:p>
        </p:txBody>
      </p:sp>
      <p:sp>
        <p:nvSpPr>
          <p:cNvPr id="133" name="S134"/>
          <p:cNvSpPr/>
          <p:nvPr/>
        </p:nvSpPr>
        <p:spPr>
          <a:xfrm>
            <a:off x="6903720" y="5532120"/>
            <a:ext cx="91440" cy="9144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35" name="T136"/>
          <p:cNvSpPr txBox="1"/>
          <p:nvPr/>
        </p:nvSpPr>
        <p:spPr>
          <a:xfrm>
            <a:off x="7150608" y="5413248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서류 접수·검증을 건드린 곳은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수출입은행 한 곳 (26.7 착수)</a:t>
            </a:r>
          </a:p>
        </p:txBody>
      </p:sp>
      <p:sp>
        <p:nvSpPr>
          <p:cNvPr id="137" name="S138"/>
          <p:cNvSpPr/>
          <p:nvPr/>
        </p:nvSpPr>
        <p:spPr>
          <a:xfrm>
            <a:off x="6903720" y="6757416"/>
            <a:ext cx="91440" cy="9144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39" name="T140"/>
          <p:cNvSpPr txBox="1"/>
          <p:nvPr/>
        </p:nvSpPr>
        <p:spPr>
          <a:xfrm>
            <a:off x="7150608" y="6638544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그마저 은행 심사역이 쓰는 내부 도구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'AI는 보조 · 최종 판단은 담당자' 원칙</a:t>
            </a:r>
          </a:p>
        </p:txBody>
      </p:sp>
      <p:sp>
        <p:nvSpPr>
          <p:cNvPr id="141" name="S142"/>
          <p:cNvSpPr/>
          <p:nvPr/>
        </p:nvSpPr>
        <p:spPr>
          <a:xfrm>
            <a:off x="12070080" y="1874520"/>
            <a:ext cx="5303520" cy="5989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43" name="E144"/>
          <p:cNvSpPr/>
          <p:nvPr/>
        </p:nvSpPr>
        <p:spPr>
          <a:xfrm>
            <a:off x="12481560" y="2286000"/>
            <a:ext cx="658368" cy="658368"/>
          </a:xfrm>
          <a:prstGeom prst="ellipse">
            <a:avLst/>
          </a:prstGeom>
          <a:solidFill>
            <a:srgbClr val="F1B61B"/>
          </a:solidFill>
        </p:spPr>
        <p:txBody>
          <a:bodyPr/>
          <a:lstStyle/>
          <a:p/>
        </p:txBody>
      </p:sp>
      <p:sp>
        <p:nvSpPr>
          <p:cNvPr id="145" name="T146"/>
          <p:cNvSpPr txBox="1"/>
          <p:nvPr/>
        </p:nvSpPr>
        <p:spPr>
          <a:xfrm>
            <a:off x="12481560" y="2286000"/>
            <a:ext cx="658368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03</a:t>
            </a:r>
          </a:p>
        </p:txBody>
      </p:sp>
      <p:sp>
        <p:nvSpPr>
          <p:cNvPr id="147" name="T148"/>
          <p:cNvSpPr txBox="1"/>
          <p:nvPr/>
        </p:nvSpPr>
        <p:spPr>
          <a:xfrm>
            <a:off x="12481560" y="3172968"/>
            <a:ext cx="4480560" cy="12344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서류를 만드는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sz="25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기업 고객은 그대로다</a:t>
            </a:r>
          </a:p>
        </p:txBody>
      </p:sp>
      <p:sp>
        <p:nvSpPr>
          <p:cNvPr id="149" name="S150"/>
          <p:cNvSpPr/>
          <p:nvPr/>
        </p:nvSpPr>
        <p:spPr>
          <a:xfrm>
            <a:off x="12481560" y="4690872"/>
            <a:ext cx="91440" cy="91440"/>
          </a:xfrm>
          <a:prstGeom prst="rect">
            <a:avLst/>
          </a:prstGeom>
          <a:solidFill>
            <a:srgbClr val="F1B61B"/>
          </a:solidFill>
        </p:spPr>
        <p:txBody>
          <a:bodyPr/>
          <a:lstStyle/>
          <a:p/>
        </p:txBody>
      </p:sp>
      <p:sp>
        <p:nvSpPr>
          <p:cNvPr id="151" name="T152"/>
          <p:cNvSpPr txBox="1"/>
          <p:nvPr/>
        </p:nvSpPr>
        <p:spPr>
          <a:xfrm>
            <a:off x="12728448" y="4572000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누락 · 만료 · 불일치를 '반려'로 통보받음</a:t>
            </a:r>
          </a:p>
        </p:txBody>
      </p:sp>
      <p:sp>
        <p:nvSpPr>
          <p:cNvPr id="153" name="S154"/>
          <p:cNvSpPr/>
          <p:nvPr/>
        </p:nvSpPr>
        <p:spPr>
          <a:xfrm>
            <a:off x="12481560" y="5532120"/>
            <a:ext cx="91440" cy="91440"/>
          </a:xfrm>
          <a:prstGeom prst="rect">
            <a:avLst/>
          </a:prstGeom>
          <a:solidFill>
            <a:srgbClr val="F1B61B"/>
          </a:solidFill>
        </p:spPr>
        <p:txBody>
          <a:bodyPr/>
          <a:lstStyle/>
          <a:p/>
        </p:txBody>
      </p:sp>
      <p:sp>
        <p:nvSpPr>
          <p:cNvPr id="155" name="T156"/>
          <p:cNvSpPr txBox="1"/>
          <p:nvPr/>
        </p:nvSpPr>
        <p:spPr>
          <a:xfrm>
            <a:off x="12728448" y="5413248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보완 요청 → 재제출 → 이전본과 재대조</a:t>
            </a:r>
          </a:p>
        </p:txBody>
      </p:sp>
      <p:sp>
        <p:nvSpPr>
          <p:cNvPr id="157" name="S158"/>
          <p:cNvSpPr/>
          <p:nvPr/>
        </p:nvSpPr>
        <p:spPr>
          <a:xfrm>
            <a:off x="12481560" y="6373368"/>
            <a:ext cx="91440" cy="91440"/>
          </a:xfrm>
          <a:prstGeom prst="rect">
            <a:avLst/>
          </a:prstGeom>
          <a:solidFill>
            <a:srgbClr val="F1B61B"/>
          </a:solidFill>
        </p:spPr>
        <p:txBody>
          <a:bodyPr/>
          <a:lstStyle/>
          <a:p/>
        </p:txBody>
      </p:sp>
      <p:sp>
        <p:nvSpPr>
          <p:cNvPr id="159" name="T160"/>
          <p:cNvSpPr txBox="1"/>
          <p:nvPr/>
        </p:nvSpPr>
        <p:spPr>
          <a:xfrm>
            <a:off x="12728448" y="6254496"/>
            <a:ext cx="4233672" cy="10058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은행 자동화는 전부 내부 도구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제출하는 쪽을 위한 도구는 없다</a:t>
            </a:r>
          </a:p>
        </p:txBody>
      </p:sp>
      <p:sp>
        <p:nvSpPr>
          <p:cNvPr id="161" name="S162"/>
          <p:cNvSpPr/>
          <p:nvPr/>
        </p:nvSpPr>
        <p:spPr>
          <a:xfrm>
            <a:off x="914400" y="8183880"/>
            <a:ext cx="16459200" cy="868680"/>
          </a:xfrm>
          <a:prstGeom prst="roundRect">
            <a:avLst>
              <a:gd name="adj" fmla="val 8000"/>
            </a:avLst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63" name="T164"/>
          <p:cNvSpPr txBox="1"/>
          <p:nvPr/>
        </p:nvSpPr>
        <p:spPr>
          <a:xfrm>
            <a:off x="914400" y="8183880"/>
            <a:ext cx="16459200" cy="8686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700" dirty="0">
                <a:solidFill>
                  <a:srgbClr val="FFD3D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비어 있는 자리 : </a:t>
            </a:r>
            <a:r>
              <a:rPr lang="ko-KR" sz="27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접수 전 단계</a:t>
            </a:r>
            <a:r>
              <a:rPr lang="ko-KR" sz="2700" dirty="0">
                <a:solidFill>
                  <a:srgbClr val="FFD3D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  ·  그리고  </a:t>
            </a:r>
            <a:r>
              <a:rPr lang="ko-KR" sz="27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기업 고객 쪽</a:t>
            </a:r>
          </a:p>
        </p:txBody>
      </p:sp>
      <p:sp>
        <p:nvSpPr>
          <p:cNvPr id="165" name="T166"/>
          <p:cNvSpPr txBox="1"/>
          <p:nvPr/>
        </p:nvSpPr>
        <p:spPr>
          <a:xfrm>
            <a:off x="914400" y="9189720"/>
            <a:ext cx="1645920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9A958C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출처 : 전자신문 · 헤럴드경제(하나은행, 2026.03) / 신한금융 보도자료(2026.03) / 이투데이(수출입은행 2026.07, 은행장 설문)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Pain Points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167" name="T168"/>
          <p:cNvSpPr txBox="1"/>
          <p:nvPr/>
        </p:nvSpPr>
        <p:spPr>
          <a:xfrm>
            <a:off x="914400" y="1874520"/>
            <a:ext cx="731520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Pain point 1</a:t>
            </a: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   (기업 고객 담당자)</a:t>
            </a:r>
          </a:p>
        </p:txBody>
      </p:sp>
      <p:sp>
        <p:nvSpPr>
          <p:cNvPr id="169" name="T170"/>
          <p:cNvSpPr txBox="1"/>
          <p:nvPr/>
        </p:nvSpPr>
        <p:spPr>
          <a:xfrm>
            <a:off x="9326880" y="1874520"/>
            <a:ext cx="804672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Solution 1</a:t>
            </a:r>
          </a:p>
        </p:txBody>
      </p:sp>
      <p:sp>
        <p:nvSpPr>
          <p:cNvPr id="171" name="S172"/>
          <p:cNvSpPr/>
          <p:nvPr/>
        </p:nvSpPr>
        <p:spPr>
          <a:xfrm>
            <a:off x="914400" y="2331720"/>
            <a:ext cx="7315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73" name="T174"/>
          <p:cNvSpPr txBox="1"/>
          <p:nvPr/>
        </p:nvSpPr>
        <p:spPr>
          <a:xfrm>
            <a:off x="1371600" y="2331720"/>
            <a:ext cx="6400800" cy="15727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무엇이 누락됐고 어떤 값이 어긋나는지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접수 전에는 알 수 없다</a:t>
            </a:r>
          </a:p>
        </p:txBody>
      </p:sp>
      <p:sp>
        <p:nvSpPr>
          <p:cNvPr id="175" name="A176"/>
          <p:cNvSpPr/>
          <p:nvPr/>
        </p:nvSpPr>
        <p:spPr>
          <a:xfrm>
            <a:off x="8549640" y="2916936"/>
            <a:ext cx="868680" cy="411480"/>
          </a:xfrm>
          <a:prstGeom prst="rightArrow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77" name="S178"/>
          <p:cNvSpPr/>
          <p:nvPr/>
        </p:nvSpPr>
        <p:spPr>
          <a:xfrm>
            <a:off x="9326880" y="2331720"/>
            <a:ext cx="8046720" cy="1572768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179" name="T180"/>
          <p:cNvSpPr txBox="1"/>
          <p:nvPr/>
        </p:nvSpPr>
        <p:spPr>
          <a:xfrm>
            <a:off x="9784080" y="2441448"/>
            <a:ext cx="7132320" cy="8686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필수서류 3종 누락 · 납세증명서 유효기간을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업로드 즉시 자동 판정</a:t>
            </a:r>
          </a:p>
        </p:txBody>
      </p:sp>
      <p:sp>
        <p:nvSpPr>
          <p:cNvPr id="181" name="T182"/>
          <p:cNvSpPr txBox="1"/>
          <p:nvPr/>
        </p:nvSpPr>
        <p:spPr>
          <a:xfrm>
            <a:off x="9784080" y="3410712"/>
            <a:ext cx="7132320" cy="3291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A8705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REQ-FUNC-004  ·  MISSING_DOCUMENT / EXPIRED_TAX_CERT</a:t>
            </a:r>
          </a:p>
        </p:txBody>
      </p:sp>
      <p:sp>
        <p:nvSpPr>
          <p:cNvPr id="183" name="T184"/>
          <p:cNvSpPr txBox="1"/>
          <p:nvPr/>
        </p:nvSpPr>
        <p:spPr>
          <a:xfrm>
            <a:off x="914400" y="4361688"/>
            <a:ext cx="731520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Pain point 2</a:t>
            </a: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   (은행 기업금융 담당자)</a:t>
            </a:r>
          </a:p>
        </p:txBody>
      </p:sp>
      <p:sp>
        <p:nvSpPr>
          <p:cNvPr id="185" name="T186"/>
          <p:cNvSpPr txBox="1"/>
          <p:nvPr/>
        </p:nvSpPr>
        <p:spPr>
          <a:xfrm>
            <a:off x="9326880" y="4361688"/>
            <a:ext cx="804672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Solution 2</a:t>
            </a:r>
          </a:p>
        </p:txBody>
      </p:sp>
      <p:sp>
        <p:nvSpPr>
          <p:cNvPr id="187" name="S188"/>
          <p:cNvSpPr/>
          <p:nvPr/>
        </p:nvSpPr>
        <p:spPr>
          <a:xfrm>
            <a:off x="914400" y="4818888"/>
            <a:ext cx="7315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89" name="T190"/>
          <p:cNvSpPr txBox="1"/>
          <p:nvPr/>
        </p:nvSpPr>
        <p:spPr>
          <a:xfrm>
            <a:off x="1371600" y="4818888"/>
            <a:ext cx="6400800" cy="15727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문서마다 기업명 · 사업자등록번호를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눈으로 대조한다</a:t>
            </a:r>
          </a:p>
        </p:txBody>
      </p:sp>
      <p:sp>
        <p:nvSpPr>
          <p:cNvPr id="191" name="A192"/>
          <p:cNvSpPr/>
          <p:nvPr/>
        </p:nvSpPr>
        <p:spPr>
          <a:xfrm>
            <a:off x="8549640" y="5404104"/>
            <a:ext cx="868680" cy="411480"/>
          </a:xfrm>
          <a:prstGeom prst="rightArrow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93" name="S194"/>
          <p:cNvSpPr/>
          <p:nvPr/>
        </p:nvSpPr>
        <p:spPr>
          <a:xfrm>
            <a:off x="9326880" y="4818888"/>
            <a:ext cx="8046720" cy="1572768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195" name="T196"/>
          <p:cNvSpPr txBox="1"/>
          <p:nvPr/>
        </p:nvSpPr>
        <p:spPr>
          <a:xfrm>
            <a:off x="9784080" y="4928616"/>
            <a:ext cx="7132320" cy="8686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companies 기준값과 문서별 추출값을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교차검증해 불일치를 자동 표시</a:t>
            </a:r>
          </a:p>
        </p:txBody>
      </p:sp>
      <p:sp>
        <p:nvSpPr>
          <p:cNvPr id="197" name="T198"/>
          <p:cNvSpPr txBox="1"/>
          <p:nvPr/>
        </p:nvSpPr>
        <p:spPr>
          <a:xfrm>
            <a:off x="9784080" y="5897880"/>
            <a:ext cx="7132320" cy="3291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A8705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REQ-FUNC-004, 006  ·  COMPANY_NAME / BUSINESS_NO 불일치</a:t>
            </a:r>
          </a:p>
        </p:txBody>
      </p:sp>
      <p:sp>
        <p:nvSpPr>
          <p:cNvPr id="199" name="T200"/>
          <p:cNvSpPr txBox="1"/>
          <p:nvPr/>
        </p:nvSpPr>
        <p:spPr>
          <a:xfrm>
            <a:off x="914400" y="6848856"/>
            <a:ext cx="731520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Pain point 3</a:t>
            </a:r>
            <a:r>
              <a:rPr lang="ko-KR" sz="17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   (양측 공통)</a:t>
            </a:r>
          </a:p>
        </p:txBody>
      </p:sp>
      <p:sp>
        <p:nvSpPr>
          <p:cNvPr id="201" name="T202"/>
          <p:cNvSpPr txBox="1"/>
          <p:nvPr/>
        </p:nvSpPr>
        <p:spPr>
          <a:xfrm>
            <a:off x="9326880" y="6848856"/>
            <a:ext cx="8046720" cy="38404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Solution 3</a:t>
            </a:r>
          </a:p>
        </p:txBody>
      </p:sp>
      <p:sp>
        <p:nvSpPr>
          <p:cNvPr id="203" name="S204"/>
          <p:cNvSpPr/>
          <p:nvPr/>
        </p:nvSpPr>
        <p:spPr>
          <a:xfrm>
            <a:off x="914400" y="7306056"/>
            <a:ext cx="7315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05" name="T206"/>
          <p:cNvSpPr txBox="1"/>
          <p:nvPr/>
        </p:nvSpPr>
        <p:spPr>
          <a:xfrm>
            <a:off x="1371600" y="7306056"/>
            <a:ext cx="6400800" cy="15727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보완 · 재제출이 반복되면 최신본과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이전본을 구분하기 어렵다</a:t>
            </a:r>
          </a:p>
        </p:txBody>
      </p:sp>
      <p:sp>
        <p:nvSpPr>
          <p:cNvPr id="207" name="A208"/>
          <p:cNvSpPr/>
          <p:nvPr/>
        </p:nvSpPr>
        <p:spPr>
          <a:xfrm>
            <a:off x="8549640" y="7891272"/>
            <a:ext cx="868680" cy="411480"/>
          </a:xfrm>
          <a:prstGeom prst="rightArrow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209" name="S210"/>
          <p:cNvSpPr/>
          <p:nvPr/>
        </p:nvSpPr>
        <p:spPr>
          <a:xfrm>
            <a:off x="9326880" y="7306056"/>
            <a:ext cx="8046720" cy="1572768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211" name="T212"/>
          <p:cNvSpPr txBox="1"/>
          <p:nvPr/>
        </p:nvSpPr>
        <p:spPr>
          <a:xfrm>
            <a:off x="9784080" y="7415784"/>
            <a:ext cx="7132320" cy="8686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문서 유형별 version_no 관리 ·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업로드 처리자와 검토 이력을 함께 보존</a:t>
            </a:r>
          </a:p>
        </p:txBody>
      </p:sp>
      <p:sp>
        <p:nvSpPr>
          <p:cNvPr id="213" name="T214"/>
          <p:cNvSpPr txBox="1"/>
          <p:nvPr/>
        </p:nvSpPr>
        <p:spPr>
          <a:xfrm>
            <a:off x="9784080" y="8385048"/>
            <a:ext cx="7132320" cy="3291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A8705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REQ-FUNC-003, 006  ·  REQ-NFN-004</a:t>
            </a:r>
          </a:p>
        </p:txBody>
      </p:sp>
      <p:sp>
        <p:nvSpPr>
          <p:cNvPr id="215" name="T216"/>
          <p:cNvSpPr txBox="1"/>
          <p:nvPr/>
        </p:nvSpPr>
        <p:spPr>
          <a:xfrm>
            <a:off x="914400" y="8915400"/>
            <a:ext cx="16459200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검증 오류 6종은 모두 차단 오류다. 하나라도 남으면 최종 제출이 불가능하므로,</a:t>
            </a:r>
          </a:p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은행 목록에는 오류 건수 대신 보완 요청 횟수를 표시한다.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시스템 액터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217" name="S218"/>
          <p:cNvSpPr/>
          <p:nvPr/>
        </p:nvSpPr>
        <p:spPr>
          <a:xfrm>
            <a:off x="914400" y="1874520"/>
            <a:ext cx="274320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19" name="T220"/>
          <p:cNvSpPr txBox="1"/>
          <p:nvPr/>
        </p:nvSpPr>
        <p:spPr>
          <a:xfrm>
            <a:off x="1115568" y="1874520"/>
            <a:ext cx="2340864" cy="7315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20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Actor 구분</a:t>
            </a:r>
          </a:p>
        </p:txBody>
      </p:sp>
      <p:sp>
        <p:nvSpPr>
          <p:cNvPr id="221" name="S222"/>
          <p:cNvSpPr/>
          <p:nvPr/>
        </p:nvSpPr>
        <p:spPr>
          <a:xfrm>
            <a:off x="3657600" y="1874520"/>
            <a:ext cx="329184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23" name="T224"/>
          <p:cNvSpPr txBox="1"/>
          <p:nvPr/>
        </p:nvSpPr>
        <p:spPr>
          <a:xfrm>
            <a:off x="3858768" y="1874520"/>
            <a:ext cx="2889504" cy="7315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20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역할 및 권한</a:t>
            </a:r>
          </a:p>
        </p:txBody>
      </p:sp>
      <p:sp>
        <p:nvSpPr>
          <p:cNvPr id="225" name="S226"/>
          <p:cNvSpPr/>
          <p:nvPr/>
        </p:nvSpPr>
        <p:spPr>
          <a:xfrm>
            <a:off x="6949440" y="1874520"/>
            <a:ext cx="1042416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27" name="T228"/>
          <p:cNvSpPr txBox="1"/>
          <p:nvPr/>
        </p:nvSpPr>
        <p:spPr>
          <a:xfrm>
            <a:off x="7150608" y="1874520"/>
            <a:ext cx="10021824" cy="7315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20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상세 제공 기능</a:t>
            </a:r>
          </a:p>
        </p:txBody>
      </p:sp>
      <p:sp>
        <p:nvSpPr>
          <p:cNvPr id="229" name="S230"/>
          <p:cNvSpPr/>
          <p:nvPr/>
        </p:nvSpPr>
        <p:spPr>
          <a:xfrm>
            <a:off x="914400" y="26060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31" name="T232"/>
          <p:cNvSpPr txBox="1"/>
          <p:nvPr/>
        </p:nvSpPr>
        <p:spPr>
          <a:xfrm>
            <a:off x="1115568" y="2606040"/>
            <a:ext cx="234086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기업 고객
담당자</a:t>
            </a:r>
          </a:p>
        </p:txBody>
      </p:sp>
      <p:sp>
        <p:nvSpPr>
          <p:cNvPr id="233" name="S234"/>
          <p:cNvSpPr/>
          <p:nvPr/>
        </p:nvSpPr>
        <p:spPr>
          <a:xfrm>
            <a:off x="3657600" y="260604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35" name="T236"/>
          <p:cNvSpPr txBox="1"/>
          <p:nvPr/>
        </p:nvSpPr>
        <p:spPr>
          <a:xfrm>
            <a:off x="3858768" y="2606040"/>
            <a:ext cx="288950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서류 준비 및
제출</a:t>
            </a:r>
          </a:p>
        </p:txBody>
      </p:sp>
      <p:sp>
        <p:nvSpPr>
          <p:cNvPr id="237" name="S238"/>
          <p:cNvSpPr/>
          <p:nvPr/>
        </p:nvSpPr>
        <p:spPr>
          <a:xfrm>
            <a:off x="6949440" y="2606040"/>
            <a:ext cx="10424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39" name="T240"/>
          <p:cNvSpPr txBox="1"/>
          <p:nvPr/>
        </p:nvSpPr>
        <p:spPr>
          <a:xfrm>
            <a:off x="7150608" y="2606040"/>
            <a:ext cx="1002182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은행이 보낸 초대 링크 /activate?token=… 로 계정을 활성화, 소속 기업의 신청 건만 조회
필수서류 3종 업로드 · OCR 처리 상태 확인 · 사전검증 결과 확인 · 최종 제출 · 보완 재제출</a:t>
            </a:r>
          </a:p>
        </p:txBody>
      </p:sp>
      <p:sp>
        <p:nvSpPr>
          <p:cNvPr id="241" name="S242"/>
          <p:cNvSpPr/>
          <p:nvPr/>
        </p:nvSpPr>
        <p:spPr>
          <a:xfrm>
            <a:off x="914400" y="40233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43" name="T244"/>
          <p:cNvSpPr txBox="1"/>
          <p:nvPr/>
        </p:nvSpPr>
        <p:spPr>
          <a:xfrm>
            <a:off x="1115568" y="4023360"/>
            <a:ext cx="234086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은행 기업금융
담당자</a:t>
            </a:r>
          </a:p>
        </p:txBody>
      </p:sp>
      <p:sp>
        <p:nvSpPr>
          <p:cNvPr id="245" name="S246"/>
          <p:cNvSpPr/>
          <p:nvPr/>
        </p:nvSpPr>
        <p:spPr>
          <a:xfrm>
            <a:off x="3657600" y="4023360"/>
            <a:ext cx="3291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47" name="T248"/>
          <p:cNvSpPr txBox="1"/>
          <p:nvPr/>
        </p:nvSpPr>
        <p:spPr>
          <a:xfrm>
            <a:off x="3858768" y="4023360"/>
            <a:ext cx="288950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서류 접수
검토 및 판정</a:t>
            </a:r>
          </a:p>
        </p:txBody>
      </p:sp>
      <p:sp>
        <p:nvSpPr>
          <p:cNvPr id="249" name="S250"/>
          <p:cNvSpPr/>
          <p:nvPr/>
        </p:nvSpPr>
        <p:spPr>
          <a:xfrm>
            <a:off x="6949440" y="4023360"/>
            <a:ext cx="10424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51" name="T252"/>
          <p:cNvSpPr txBox="1"/>
          <p:nvPr/>
        </p:nvSpPr>
        <p:spPr>
          <a:xfrm>
            <a:off x="7150608" y="4023360"/>
            <a:ext cx="10021824" cy="14173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은행이 발급한 직원 계정으로 로그인, 제출된 신청 건 검토
최신 원본 · OCR 추출값 · 교차검증 결과 · 버전 이력 확인 · 서류 확인 완료 · 보완 요청</a:t>
            </a:r>
          </a:p>
        </p:txBody>
      </p:sp>
      <p:sp>
        <p:nvSpPr>
          <p:cNvPr id="253" name="T254"/>
          <p:cNvSpPr txBox="1"/>
          <p:nvPr/>
        </p:nvSpPr>
        <p:spPr>
          <a:xfrm>
            <a:off x="914400" y="5605272"/>
            <a:ext cx="1645920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외부 OCR 서비스는 사람이 아니므로 액터에 포함하지 않고 API 명세의 외부 연동 대상으로 정의한다.  공개 회원가입 없음 · 대출 승인과 신용평가는 이 서비스의 범위가 아니다.</a:t>
            </a:r>
          </a:p>
        </p:txBody>
      </p:sp>
      <p:sp>
        <p:nvSpPr>
          <p:cNvPr id="255" name="S256"/>
          <p:cNvSpPr/>
          <p:nvPr/>
        </p:nvSpPr>
        <p:spPr>
          <a:xfrm>
            <a:off x="914400" y="6272784"/>
            <a:ext cx="100584" cy="31089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257" name="T258"/>
          <p:cNvSpPr txBox="1"/>
          <p:nvPr/>
        </p:nvSpPr>
        <p:spPr>
          <a:xfrm>
            <a:off x="1170432" y="6217920"/>
            <a:ext cx="1097280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핵심 흐름</a:t>
            </a:r>
          </a:p>
        </p:txBody>
      </p:sp>
      <p:sp>
        <p:nvSpPr>
          <p:cNvPr id="259" name="S260"/>
          <p:cNvSpPr/>
          <p:nvPr/>
        </p:nvSpPr>
        <p:spPr>
          <a:xfrm>
            <a:off x="914400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61" name="E262"/>
          <p:cNvSpPr/>
          <p:nvPr/>
        </p:nvSpPr>
        <p:spPr>
          <a:xfrm>
            <a:off x="1188720" y="7022592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263" name="T264"/>
          <p:cNvSpPr txBox="1"/>
          <p:nvPr/>
        </p:nvSpPr>
        <p:spPr>
          <a:xfrm>
            <a:off x="1188720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1</a:t>
            </a:r>
          </a:p>
        </p:txBody>
      </p:sp>
      <p:sp>
        <p:nvSpPr>
          <p:cNvPr id="265" name="T266"/>
          <p:cNvSpPr txBox="1"/>
          <p:nvPr/>
        </p:nvSpPr>
        <p:spPr>
          <a:xfrm>
            <a:off x="1737360" y="6986016"/>
            <a:ext cx="2066544" cy="53035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초대 계정 활성화</a:t>
            </a:r>
          </a:p>
        </p:txBody>
      </p:sp>
      <p:sp>
        <p:nvSpPr>
          <p:cNvPr id="267" name="T268"/>
          <p:cNvSpPr txBox="1"/>
          <p:nvPr/>
        </p:nvSpPr>
        <p:spPr>
          <a:xfrm>
            <a:off x="1188720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초대 링크로만 진입</a:t>
            </a:r>
          </a:p>
        </p:txBody>
      </p:sp>
      <p:sp>
        <p:nvSpPr>
          <p:cNvPr id="269" name="T270"/>
          <p:cNvSpPr txBox="1"/>
          <p:nvPr/>
        </p:nvSpPr>
        <p:spPr>
          <a:xfrm>
            <a:off x="3877056" y="7223760"/>
            <a:ext cx="493776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›</a:t>
            </a:r>
          </a:p>
        </p:txBody>
      </p:sp>
      <p:sp>
        <p:nvSpPr>
          <p:cNvPr id="271" name="S272"/>
          <p:cNvSpPr/>
          <p:nvPr/>
        </p:nvSpPr>
        <p:spPr>
          <a:xfrm>
            <a:off x="4261104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73" name="E274"/>
          <p:cNvSpPr/>
          <p:nvPr/>
        </p:nvSpPr>
        <p:spPr>
          <a:xfrm>
            <a:off x="4535424" y="7022592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275" name="T276"/>
          <p:cNvSpPr txBox="1"/>
          <p:nvPr/>
        </p:nvSpPr>
        <p:spPr>
          <a:xfrm>
            <a:off x="4535424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2</a:t>
            </a:r>
          </a:p>
        </p:txBody>
      </p:sp>
      <p:sp>
        <p:nvSpPr>
          <p:cNvPr id="277" name="T278"/>
          <p:cNvSpPr txBox="1"/>
          <p:nvPr/>
        </p:nvSpPr>
        <p:spPr>
          <a:xfrm>
            <a:off x="5084064" y="6986016"/>
            <a:ext cx="2066544" cy="53035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서류 업로드</a:t>
            </a:r>
          </a:p>
        </p:txBody>
      </p:sp>
      <p:sp>
        <p:nvSpPr>
          <p:cNvPr id="279" name="T280"/>
          <p:cNvSpPr txBox="1"/>
          <p:nvPr/>
        </p:nvSpPr>
        <p:spPr>
          <a:xfrm>
            <a:off x="4535424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필수 3종 · JPG/PNG/PDF</a:t>
            </a:r>
          </a:p>
        </p:txBody>
      </p:sp>
      <p:sp>
        <p:nvSpPr>
          <p:cNvPr id="281" name="T282"/>
          <p:cNvSpPr txBox="1"/>
          <p:nvPr/>
        </p:nvSpPr>
        <p:spPr>
          <a:xfrm>
            <a:off x="7223760" y="7223760"/>
            <a:ext cx="493776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›</a:t>
            </a:r>
          </a:p>
        </p:txBody>
      </p:sp>
      <p:sp>
        <p:nvSpPr>
          <p:cNvPr id="283" name="S284"/>
          <p:cNvSpPr/>
          <p:nvPr/>
        </p:nvSpPr>
        <p:spPr>
          <a:xfrm>
            <a:off x="7607808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EA002C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285" name="E286"/>
          <p:cNvSpPr/>
          <p:nvPr/>
        </p:nvSpPr>
        <p:spPr>
          <a:xfrm>
            <a:off x="7882128" y="7022592"/>
            <a:ext cx="457200" cy="45720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87" name="T288"/>
          <p:cNvSpPr txBox="1"/>
          <p:nvPr/>
        </p:nvSpPr>
        <p:spPr>
          <a:xfrm>
            <a:off x="7882128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3</a:t>
            </a:r>
          </a:p>
        </p:txBody>
      </p:sp>
      <p:sp>
        <p:nvSpPr>
          <p:cNvPr id="289" name="T290"/>
          <p:cNvSpPr txBox="1"/>
          <p:nvPr/>
        </p:nvSpPr>
        <p:spPr>
          <a:xfrm>
            <a:off x="8430768" y="6986016"/>
            <a:ext cx="2066544" cy="53035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OCR · 자동 검증</a:t>
            </a:r>
          </a:p>
        </p:txBody>
      </p:sp>
      <p:sp>
        <p:nvSpPr>
          <p:cNvPr id="291" name="T292"/>
          <p:cNvSpPr txBox="1"/>
          <p:nvPr/>
        </p:nvSpPr>
        <p:spPr>
          <a:xfrm>
            <a:off x="7882128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FFC9D2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누락 · 기간 · 불일치</a:t>
            </a:r>
          </a:p>
        </p:txBody>
      </p:sp>
      <p:sp>
        <p:nvSpPr>
          <p:cNvPr id="293" name="T294"/>
          <p:cNvSpPr txBox="1"/>
          <p:nvPr/>
        </p:nvSpPr>
        <p:spPr>
          <a:xfrm>
            <a:off x="10570464" y="7223760"/>
            <a:ext cx="493776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›</a:t>
            </a:r>
          </a:p>
        </p:txBody>
      </p:sp>
      <p:sp>
        <p:nvSpPr>
          <p:cNvPr id="295" name="S296"/>
          <p:cNvSpPr/>
          <p:nvPr/>
        </p:nvSpPr>
        <p:spPr>
          <a:xfrm>
            <a:off x="10954512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97" name="E298"/>
          <p:cNvSpPr/>
          <p:nvPr/>
        </p:nvSpPr>
        <p:spPr>
          <a:xfrm>
            <a:off x="11228832" y="7022592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299" name="T300"/>
          <p:cNvSpPr txBox="1"/>
          <p:nvPr/>
        </p:nvSpPr>
        <p:spPr>
          <a:xfrm>
            <a:off x="11228832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4</a:t>
            </a:r>
          </a:p>
        </p:txBody>
      </p:sp>
      <p:sp>
        <p:nvSpPr>
          <p:cNvPr id="301" name="T302"/>
          <p:cNvSpPr txBox="1"/>
          <p:nvPr/>
        </p:nvSpPr>
        <p:spPr>
          <a:xfrm>
            <a:off x="11777472" y="6986016"/>
            <a:ext cx="2066544" cy="53035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자가 보완</a:t>
            </a:r>
          </a:p>
        </p:txBody>
      </p:sp>
      <p:sp>
        <p:nvSpPr>
          <p:cNvPr id="303" name="T304"/>
          <p:cNvSpPr txBox="1"/>
          <p:nvPr/>
        </p:nvSpPr>
        <p:spPr>
          <a:xfrm>
            <a:off x="11228832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해당 문서 재업로드</a:t>
            </a:r>
          </a:p>
        </p:txBody>
      </p:sp>
      <p:sp>
        <p:nvSpPr>
          <p:cNvPr id="305" name="T306"/>
          <p:cNvSpPr txBox="1"/>
          <p:nvPr/>
        </p:nvSpPr>
        <p:spPr>
          <a:xfrm>
            <a:off x="13917168" y="7223760"/>
            <a:ext cx="493776" cy="457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›</a:t>
            </a:r>
          </a:p>
        </p:txBody>
      </p:sp>
      <p:sp>
        <p:nvSpPr>
          <p:cNvPr id="307" name="S308"/>
          <p:cNvSpPr/>
          <p:nvPr/>
        </p:nvSpPr>
        <p:spPr>
          <a:xfrm>
            <a:off x="14301216" y="6766560"/>
            <a:ext cx="3072384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09" name="E310"/>
          <p:cNvSpPr/>
          <p:nvPr/>
        </p:nvSpPr>
        <p:spPr>
          <a:xfrm>
            <a:off x="14575536" y="7022592"/>
            <a:ext cx="457200" cy="457200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311" name="T312"/>
          <p:cNvSpPr txBox="1"/>
          <p:nvPr/>
        </p:nvSpPr>
        <p:spPr>
          <a:xfrm>
            <a:off x="14575536" y="7022592"/>
            <a:ext cx="457200" cy="45720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5</a:t>
            </a:r>
          </a:p>
        </p:txBody>
      </p:sp>
      <p:sp>
        <p:nvSpPr>
          <p:cNvPr id="313" name="T314"/>
          <p:cNvSpPr txBox="1"/>
          <p:nvPr/>
        </p:nvSpPr>
        <p:spPr>
          <a:xfrm>
            <a:off x="15124176" y="6986016"/>
            <a:ext cx="2066544" cy="53035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은행 확인</a:t>
            </a:r>
          </a:p>
        </p:txBody>
      </p:sp>
      <p:sp>
        <p:nvSpPr>
          <p:cNvPr id="315" name="T316"/>
          <p:cNvSpPr txBox="1"/>
          <p:nvPr/>
        </p:nvSpPr>
        <p:spPr>
          <a:xfrm>
            <a:off x="14575536" y="7607808"/>
            <a:ext cx="2523744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확인 완료 / 보완 요청</a:t>
            </a:r>
          </a:p>
        </p:txBody>
      </p:sp>
      <p:sp>
        <p:nvSpPr>
          <p:cNvPr id="317" name="S318"/>
          <p:cNvSpPr/>
          <p:nvPr/>
        </p:nvSpPr>
        <p:spPr>
          <a:xfrm>
            <a:off x="914400" y="8595360"/>
            <a:ext cx="16459200" cy="960120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319" name="T320"/>
          <p:cNvSpPr txBox="1"/>
          <p:nvPr/>
        </p:nvSpPr>
        <p:spPr>
          <a:xfrm>
            <a:off x="1371600" y="8595360"/>
            <a:ext cx="15544800" cy="9601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이번에 하지 않는 것   </a:t>
            </a:r>
            <a:r>
              <a:rPr lang="ko-KR" sz="1650" dirty="0">
                <a:solidFill>
                  <a:srgbClr val="8A5A4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대출 승인 · 신용평가 · 한도/금리 산정  |  OCR 모델 학습 · 추출값 직접 수정  |  문서 진위확인 · 은행 SSO 연동  |  필수 3종 외 문서 · 알림 · 모바일 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전체 UI 흐름도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321" name="S322"/>
          <p:cNvSpPr/>
          <p:nvPr/>
        </p:nvSpPr>
        <p:spPr>
          <a:xfrm>
            <a:off x="914400" y="1874520"/>
            <a:ext cx="7863840" cy="6400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23" name="S324"/>
          <p:cNvSpPr/>
          <p:nvPr/>
        </p:nvSpPr>
        <p:spPr>
          <a:xfrm>
            <a:off x="914400" y="1874520"/>
            <a:ext cx="7863840" cy="658368"/>
          </a:xfrm>
          <a:prstGeom prst="roundRect">
            <a:avLst>
              <a:gd name="adj" fmla="val 2500"/>
            </a:avLst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325" name="T326"/>
          <p:cNvSpPr txBox="1"/>
          <p:nvPr/>
        </p:nvSpPr>
        <p:spPr>
          <a:xfrm>
            <a:off x="1371600" y="1874520"/>
            <a:ext cx="6949440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1. 기업 고객 담당자</a:t>
            </a:r>
          </a:p>
        </p:txBody>
      </p:sp>
      <p:sp>
        <p:nvSpPr>
          <p:cNvPr id="327" name="S328"/>
          <p:cNvSpPr/>
          <p:nvPr/>
        </p:nvSpPr>
        <p:spPr>
          <a:xfrm>
            <a:off x="1188720" y="32918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329" name="T330"/>
          <p:cNvSpPr txBox="1"/>
          <p:nvPr/>
        </p:nvSpPr>
        <p:spPr>
          <a:xfrm>
            <a:off x="1316736" y="3566160"/>
            <a:ext cx="184708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로그인 · 활성화</a:t>
            </a:r>
          </a:p>
        </p:txBody>
      </p:sp>
      <p:sp>
        <p:nvSpPr>
          <p:cNvPr id="331" name="T332"/>
          <p:cNvSpPr txBox="1"/>
          <p:nvPr/>
        </p:nvSpPr>
        <p:spPr>
          <a:xfrm>
            <a:off x="1316736" y="4133088"/>
            <a:ext cx="184708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SCR-AUTH-001</a:t>
            </a:r>
          </a:p>
        </p:txBody>
      </p:sp>
      <p:sp>
        <p:nvSpPr>
          <p:cNvPr id="333" name="T334"/>
          <p:cNvSpPr txBox="1"/>
          <p:nvPr/>
        </p:nvSpPr>
        <p:spPr>
          <a:xfrm>
            <a:off x="3291840" y="3799332"/>
            <a:ext cx="502920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→</a:t>
            </a:r>
          </a:p>
        </p:txBody>
      </p:sp>
      <p:sp>
        <p:nvSpPr>
          <p:cNvPr id="335" name="S336"/>
          <p:cNvSpPr/>
          <p:nvPr/>
        </p:nvSpPr>
        <p:spPr>
          <a:xfrm>
            <a:off x="3794760" y="32918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37" name="T338"/>
          <p:cNvSpPr txBox="1"/>
          <p:nvPr/>
        </p:nvSpPr>
        <p:spPr>
          <a:xfrm>
            <a:off x="3922776" y="3566160"/>
            <a:ext cx="184708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서류 제출 현황</a:t>
            </a:r>
          </a:p>
        </p:txBody>
      </p:sp>
      <p:sp>
        <p:nvSpPr>
          <p:cNvPr id="339" name="T340"/>
          <p:cNvSpPr txBox="1"/>
          <p:nvPr/>
        </p:nvSpPr>
        <p:spPr>
          <a:xfrm>
            <a:off x="3922776" y="4133088"/>
            <a:ext cx="184708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SCR-COMP-001</a:t>
            </a:r>
          </a:p>
        </p:txBody>
      </p:sp>
      <p:sp>
        <p:nvSpPr>
          <p:cNvPr id="341" name="T342"/>
          <p:cNvSpPr txBox="1"/>
          <p:nvPr/>
        </p:nvSpPr>
        <p:spPr>
          <a:xfrm>
            <a:off x="5897880" y="3799332"/>
            <a:ext cx="502920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→</a:t>
            </a:r>
          </a:p>
        </p:txBody>
      </p:sp>
      <p:sp>
        <p:nvSpPr>
          <p:cNvPr id="343" name="S344"/>
          <p:cNvSpPr/>
          <p:nvPr/>
        </p:nvSpPr>
        <p:spPr>
          <a:xfrm>
            <a:off x="6400800" y="32918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45" name="T346"/>
          <p:cNvSpPr txBox="1"/>
          <p:nvPr/>
        </p:nvSpPr>
        <p:spPr>
          <a:xfrm>
            <a:off x="6528816" y="3566160"/>
            <a:ext cx="184708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사전검증 결과</a:t>
            </a:r>
          </a:p>
        </p:txBody>
      </p:sp>
      <p:sp>
        <p:nvSpPr>
          <p:cNvPr id="347" name="T348"/>
          <p:cNvSpPr txBox="1"/>
          <p:nvPr/>
        </p:nvSpPr>
        <p:spPr>
          <a:xfrm>
            <a:off x="6528816" y="4133088"/>
            <a:ext cx="184708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SCR-COMP-002</a:t>
            </a:r>
          </a:p>
        </p:txBody>
      </p:sp>
      <p:sp>
        <p:nvSpPr>
          <p:cNvPr id="349" name="S350"/>
          <p:cNvSpPr/>
          <p:nvPr/>
        </p:nvSpPr>
        <p:spPr>
          <a:xfrm>
            <a:off x="7442302" y="4709160"/>
            <a:ext cx="20117" cy="777240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351" name="S352"/>
          <p:cNvSpPr/>
          <p:nvPr/>
        </p:nvSpPr>
        <p:spPr>
          <a:xfrm>
            <a:off x="4846320" y="5476342"/>
            <a:ext cx="2606040" cy="20117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353" name="T354"/>
          <p:cNvSpPr txBox="1"/>
          <p:nvPr/>
        </p:nvSpPr>
        <p:spPr>
          <a:xfrm>
            <a:off x="1188720" y="4974336"/>
            <a:ext cx="210312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[ 제출 결과 ]</a:t>
            </a:r>
          </a:p>
        </p:txBody>
      </p:sp>
      <p:cxnSp>
        <p:nvCxnSpPr>
          <p:cNvPr id="355" name="C356"/>
          <p:cNvCxnSpPr/>
          <p:nvPr/>
        </p:nvCxnSpPr>
        <p:spPr>
          <a:xfrm>
            <a:off x="4846320" y="5486400"/>
            <a:ext cx="9144" cy="758952"/>
          </a:xfrm>
          <a:prstGeom prst="straightConnector1">
            <a:avLst/>
          </a:prstGeom>
          <a:ln w="20320">
            <a:solidFill>
              <a:srgbClr val="EA002C"/>
            </a:solidFill>
            <a:tailEnd type="triangle" w="med" len="med"/>
          </a:ln>
        </p:spPr>
      </p:cxnSp>
      <p:sp>
        <p:nvSpPr>
          <p:cNvPr id="357" name="S358"/>
          <p:cNvSpPr/>
          <p:nvPr/>
        </p:nvSpPr>
        <p:spPr>
          <a:xfrm>
            <a:off x="3794760" y="62636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59" name="T360"/>
          <p:cNvSpPr txBox="1"/>
          <p:nvPr/>
        </p:nvSpPr>
        <p:spPr>
          <a:xfrm>
            <a:off x="3922776" y="6537960"/>
            <a:ext cx="184708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최종 제출</a:t>
            </a:r>
          </a:p>
        </p:txBody>
      </p:sp>
      <p:sp>
        <p:nvSpPr>
          <p:cNvPr id="361" name="T362"/>
          <p:cNvSpPr txBox="1"/>
          <p:nvPr/>
        </p:nvSpPr>
        <p:spPr>
          <a:xfrm>
            <a:off x="3922776" y="7104888"/>
            <a:ext cx="184708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REVIEW_PENDING</a:t>
            </a:r>
          </a:p>
        </p:txBody>
      </p:sp>
      <p:cxnSp>
        <p:nvCxnSpPr>
          <p:cNvPr id="363" name="C364"/>
          <p:cNvCxnSpPr/>
          <p:nvPr/>
        </p:nvCxnSpPr>
        <p:spPr>
          <a:xfrm>
            <a:off x="7452360" y="5486400"/>
            <a:ext cx="9144" cy="758952"/>
          </a:xfrm>
          <a:prstGeom prst="straightConnector1">
            <a:avLst/>
          </a:prstGeom>
          <a:ln w="20320">
            <a:solidFill>
              <a:srgbClr val="EA002C"/>
            </a:solidFill>
            <a:tailEnd type="triangle" w="med" len="med"/>
          </a:ln>
        </p:spPr>
      </p:cxnSp>
      <p:sp>
        <p:nvSpPr>
          <p:cNvPr id="365" name="S366"/>
          <p:cNvSpPr/>
          <p:nvPr/>
        </p:nvSpPr>
        <p:spPr>
          <a:xfrm>
            <a:off x="6400800" y="62636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67" name="T368"/>
          <p:cNvSpPr txBox="1"/>
          <p:nvPr/>
        </p:nvSpPr>
        <p:spPr>
          <a:xfrm>
            <a:off x="6528816" y="6537960"/>
            <a:ext cx="184708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보완 재제출</a:t>
            </a:r>
          </a:p>
        </p:txBody>
      </p:sp>
      <p:sp>
        <p:nvSpPr>
          <p:cNvPr id="369" name="T370"/>
          <p:cNvSpPr txBox="1"/>
          <p:nvPr/>
        </p:nvSpPr>
        <p:spPr>
          <a:xfrm>
            <a:off x="6528816" y="7104888"/>
            <a:ext cx="184708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RESUBMITTED</a:t>
            </a:r>
          </a:p>
        </p:txBody>
      </p:sp>
      <p:sp>
        <p:nvSpPr>
          <p:cNvPr id="371" name="S372"/>
          <p:cNvSpPr/>
          <p:nvPr/>
        </p:nvSpPr>
        <p:spPr>
          <a:xfrm>
            <a:off x="9509760" y="1874520"/>
            <a:ext cx="7863840" cy="6400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73" name="S374"/>
          <p:cNvSpPr/>
          <p:nvPr/>
        </p:nvSpPr>
        <p:spPr>
          <a:xfrm>
            <a:off x="9509760" y="1874520"/>
            <a:ext cx="7863840" cy="658368"/>
          </a:xfrm>
          <a:prstGeom prst="roundRect">
            <a:avLst>
              <a:gd name="adj" fmla="val 2500"/>
            </a:avLst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375" name="T376"/>
          <p:cNvSpPr txBox="1"/>
          <p:nvPr/>
        </p:nvSpPr>
        <p:spPr>
          <a:xfrm>
            <a:off x="9966960" y="1874520"/>
            <a:ext cx="6949440" cy="65836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1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2. 은행 기업금융 담당자</a:t>
            </a:r>
          </a:p>
        </p:txBody>
      </p:sp>
      <p:sp>
        <p:nvSpPr>
          <p:cNvPr id="377" name="S378"/>
          <p:cNvSpPr/>
          <p:nvPr/>
        </p:nvSpPr>
        <p:spPr>
          <a:xfrm>
            <a:off x="9784080" y="32918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379" name="T380"/>
          <p:cNvSpPr txBox="1"/>
          <p:nvPr/>
        </p:nvSpPr>
        <p:spPr>
          <a:xfrm>
            <a:off x="9912096" y="3566160"/>
            <a:ext cx="184708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로그인</a:t>
            </a:r>
          </a:p>
        </p:txBody>
      </p:sp>
      <p:sp>
        <p:nvSpPr>
          <p:cNvPr id="381" name="T382"/>
          <p:cNvSpPr txBox="1"/>
          <p:nvPr/>
        </p:nvSpPr>
        <p:spPr>
          <a:xfrm>
            <a:off x="9912096" y="4133088"/>
            <a:ext cx="184708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SCR-AUTH-001</a:t>
            </a:r>
          </a:p>
        </p:txBody>
      </p:sp>
      <p:sp>
        <p:nvSpPr>
          <p:cNvPr id="383" name="T384"/>
          <p:cNvSpPr txBox="1"/>
          <p:nvPr/>
        </p:nvSpPr>
        <p:spPr>
          <a:xfrm>
            <a:off x="11887200" y="3799332"/>
            <a:ext cx="502920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→</a:t>
            </a:r>
          </a:p>
        </p:txBody>
      </p:sp>
      <p:sp>
        <p:nvSpPr>
          <p:cNvPr id="385" name="S386"/>
          <p:cNvSpPr/>
          <p:nvPr/>
        </p:nvSpPr>
        <p:spPr>
          <a:xfrm>
            <a:off x="12390120" y="32918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87" name="T388"/>
          <p:cNvSpPr txBox="1"/>
          <p:nvPr/>
        </p:nvSpPr>
        <p:spPr>
          <a:xfrm>
            <a:off x="12518136" y="3566160"/>
            <a:ext cx="184708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검토 목록</a:t>
            </a:r>
          </a:p>
        </p:txBody>
      </p:sp>
      <p:sp>
        <p:nvSpPr>
          <p:cNvPr id="389" name="T390"/>
          <p:cNvSpPr txBox="1"/>
          <p:nvPr/>
        </p:nvSpPr>
        <p:spPr>
          <a:xfrm>
            <a:off x="12518136" y="4133088"/>
            <a:ext cx="184708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SCR-REV-001</a:t>
            </a:r>
          </a:p>
        </p:txBody>
      </p:sp>
      <p:sp>
        <p:nvSpPr>
          <p:cNvPr id="391" name="T392"/>
          <p:cNvSpPr txBox="1"/>
          <p:nvPr/>
        </p:nvSpPr>
        <p:spPr>
          <a:xfrm>
            <a:off x="14493240" y="3799332"/>
            <a:ext cx="502920" cy="41148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→</a:t>
            </a:r>
          </a:p>
        </p:txBody>
      </p:sp>
      <p:sp>
        <p:nvSpPr>
          <p:cNvPr id="393" name="S394"/>
          <p:cNvSpPr/>
          <p:nvPr/>
        </p:nvSpPr>
        <p:spPr>
          <a:xfrm>
            <a:off x="14996160" y="32918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95" name="T396"/>
          <p:cNvSpPr txBox="1"/>
          <p:nvPr/>
        </p:nvSpPr>
        <p:spPr>
          <a:xfrm>
            <a:off x="15124176" y="3566160"/>
            <a:ext cx="184708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상세 검토</a:t>
            </a:r>
          </a:p>
        </p:txBody>
      </p:sp>
      <p:sp>
        <p:nvSpPr>
          <p:cNvPr id="397" name="T398"/>
          <p:cNvSpPr txBox="1"/>
          <p:nvPr/>
        </p:nvSpPr>
        <p:spPr>
          <a:xfrm>
            <a:off x="15124176" y="4133088"/>
            <a:ext cx="184708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SCR-REV-002</a:t>
            </a:r>
          </a:p>
        </p:txBody>
      </p:sp>
      <p:sp>
        <p:nvSpPr>
          <p:cNvPr id="399" name="S400"/>
          <p:cNvSpPr/>
          <p:nvPr/>
        </p:nvSpPr>
        <p:spPr>
          <a:xfrm>
            <a:off x="16037662" y="4709160"/>
            <a:ext cx="20117" cy="77724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401" name="S402"/>
          <p:cNvSpPr/>
          <p:nvPr/>
        </p:nvSpPr>
        <p:spPr>
          <a:xfrm>
            <a:off x="13441680" y="5476342"/>
            <a:ext cx="2606040" cy="20117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403" name="T404"/>
          <p:cNvSpPr txBox="1"/>
          <p:nvPr/>
        </p:nvSpPr>
        <p:spPr>
          <a:xfrm>
            <a:off x="9784080" y="4974336"/>
            <a:ext cx="210312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[ 검토 결정 ]</a:t>
            </a:r>
          </a:p>
        </p:txBody>
      </p:sp>
      <p:cxnSp>
        <p:nvCxnSpPr>
          <p:cNvPr id="405" name="C406"/>
          <p:cNvCxnSpPr/>
          <p:nvPr/>
        </p:nvCxnSpPr>
        <p:spPr>
          <a:xfrm>
            <a:off x="13441680" y="5486400"/>
            <a:ext cx="9144" cy="758952"/>
          </a:xfrm>
          <a:prstGeom prst="straightConnector1">
            <a:avLst/>
          </a:prstGeom>
          <a:ln w="20320">
            <a:solidFill>
              <a:srgbClr val="F47725"/>
            </a:solidFill>
            <a:tailEnd type="triangle" w="med" len="med"/>
          </a:ln>
        </p:spPr>
      </p:cxnSp>
      <p:sp>
        <p:nvSpPr>
          <p:cNvPr id="407" name="S408"/>
          <p:cNvSpPr/>
          <p:nvPr/>
        </p:nvSpPr>
        <p:spPr>
          <a:xfrm>
            <a:off x="12390120" y="62636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09" name="T410"/>
          <p:cNvSpPr txBox="1"/>
          <p:nvPr/>
        </p:nvSpPr>
        <p:spPr>
          <a:xfrm>
            <a:off x="12518136" y="6537960"/>
            <a:ext cx="184708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서류 확인 완료</a:t>
            </a:r>
          </a:p>
        </p:txBody>
      </p:sp>
      <p:sp>
        <p:nvSpPr>
          <p:cNvPr id="411" name="T412"/>
          <p:cNvSpPr txBox="1"/>
          <p:nvPr/>
        </p:nvSpPr>
        <p:spPr>
          <a:xfrm>
            <a:off x="12518136" y="7104888"/>
            <a:ext cx="184708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DOCUMENTS_APPROVED</a:t>
            </a:r>
          </a:p>
        </p:txBody>
      </p:sp>
      <p:cxnSp>
        <p:nvCxnSpPr>
          <p:cNvPr id="413" name="C414"/>
          <p:cNvCxnSpPr/>
          <p:nvPr/>
        </p:nvCxnSpPr>
        <p:spPr>
          <a:xfrm>
            <a:off x="16047720" y="5486400"/>
            <a:ext cx="9144" cy="758952"/>
          </a:xfrm>
          <a:prstGeom prst="straightConnector1">
            <a:avLst/>
          </a:prstGeom>
          <a:ln w="20320">
            <a:solidFill>
              <a:srgbClr val="F47725"/>
            </a:solidFill>
            <a:tailEnd type="triangle" w="med" len="med"/>
          </a:ln>
        </p:spPr>
      </p:cxnSp>
      <p:sp>
        <p:nvSpPr>
          <p:cNvPr id="415" name="S416"/>
          <p:cNvSpPr/>
          <p:nvPr/>
        </p:nvSpPr>
        <p:spPr>
          <a:xfrm>
            <a:off x="14996160" y="6263640"/>
            <a:ext cx="2103120" cy="14173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17" name="T418"/>
          <p:cNvSpPr txBox="1"/>
          <p:nvPr/>
        </p:nvSpPr>
        <p:spPr>
          <a:xfrm>
            <a:off x="15124176" y="6537960"/>
            <a:ext cx="1847088" cy="51206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보완 요청</a:t>
            </a:r>
          </a:p>
        </p:txBody>
      </p:sp>
      <p:sp>
        <p:nvSpPr>
          <p:cNvPr id="419" name="T420"/>
          <p:cNvSpPr txBox="1"/>
          <p:nvPr/>
        </p:nvSpPr>
        <p:spPr>
          <a:xfrm>
            <a:off x="15124176" y="7104888"/>
            <a:ext cx="1847088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200" dirty="0">
                <a:solidFill>
                  <a:srgbClr val="6E6A63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REVISION_REQUESTED</a:t>
            </a:r>
          </a:p>
        </p:txBody>
      </p:sp>
      <p:sp>
        <p:nvSpPr>
          <p:cNvPr id="421" name="T422"/>
          <p:cNvSpPr txBox="1"/>
          <p:nvPr/>
        </p:nvSpPr>
        <p:spPr>
          <a:xfrm>
            <a:off x="914400" y="8732520"/>
            <a:ext cx="16459200" cy="82296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차단 오류가 하나라도 남아 있으면 최종 제출할 수 없다 (422). 이미 처리된 신청 건을 다시 처리하면 409 를 반환한다.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sz="16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보완 요청은 대상 문서 1건 단위이며, 재제출은 문서를 덮어쓰지 않고 유형별 version_no 를 올려 이전본과 최신본을 함께 보존한다.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데이터 모델 설계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661" name="P662"/>
          <p:cNvPicPr/>
          <p:nvPr/>
        </p:nvPicPr>
        <p:blipFill>
          <a:blip r:embed="rId3"/>
          <a:stretch>
            <a:fillRect/>
          </a:stretch>
        </p:blipFill>
        <p:spPr>
          <a:xfrm>
            <a:off x="6035040" y="1874520"/>
            <a:ext cx="11338560" cy="6803136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663" name="T664"/>
          <p:cNvSpPr txBox="1"/>
          <p:nvPr/>
        </p:nvSpPr>
        <p:spPr>
          <a:xfrm>
            <a:off x="6035040" y="1490472"/>
            <a:ext cx="11338560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DBDiagram 으로 작성한 판교5반-P172-홍은비-DB.dbml   —   테이블 8개 · 외래키 12개 · M:N 없음</a:t>
            </a:r>
          </a:p>
        </p:txBody>
      </p:sp>
      <p:sp>
        <p:nvSpPr>
          <p:cNvPr id="665" name="T666"/>
          <p:cNvSpPr txBox="1"/>
          <p:nvPr/>
        </p:nvSpPr>
        <p:spPr>
          <a:xfrm>
            <a:off x="914400" y="1920240"/>
            <a:ext cx="4846320" cy="4023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[ 핵심 설계 포인트 ]</a:t>
            </a:r>
          </a:p>
        </p:txBody>
      </p:sp>
      <p:sp>
        <p:nvSpPr>
          <p:cNvPr id="667" name="S668"/>
          <p:cNvSpPr/>
          <p:nvPr/>
        </p:nvSpPr>
        <p:spPr>
          <a:xfrm>
            <a:off x="950976" y="2560320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669" name="T670"/>
          <p:cNvSpPr txBox="1"/>
          <p:nvPr/>
        </p:nvSpPr>
        <p:spPr>
          <a:xfrm>
            <a:off x="1207008" y="2432304"/>
            <a:ext cx="45171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기업 기준정보를 companies 로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분리해 교차검증 기준 단일화</a:t>
            </a:r>
          </a:p>
        </p:txBody>
      </p:sp>
      <p:sp>
        <p:nvSpPr>
          <p:cNvPr id="671" name="S672"/>
          <p:cNvSpPr/>
          <p:nvPr/>
        </p:nvSpPr>
        <p:spPr>
          <a:xfrm>
            <a:off x="950976" y="3547872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673" name="T674"/>
          <p:cNvSpPr txBox="1"/>
          <p:nvPr/>
        </p:nvSpPr>
        <p:spPr>
          <a:xfrm>
            <a:off x="1207008" y="3419856"/>
            <a:ext cx="45171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문서 유형별 version_no 로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이전본·최신본 동시 보존</a:t>
            </a:r>
          </a:p>
        </p:txBody>
      </p:sp>
      <p:sp>
        <p:nvSpPr>
          <p:cNvPr id="675" name="S676"/>
          <p:cNvSpPr/>
          <p:nvPr/>
        </p:nvSpPr>
        <p:spPr>
          <a:xfrm>
            <a:off x="950976" y="4535424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677" name="T678"/>
          <p:cNvSpPr txBox="1"/>
          <p:nvPr/>
        </p:nvSpPr>
        <p:spPr>
          <a:xfrm>
            <a:off x="1207008" y="4407408"/>
            <a:ext cx="45171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OCR 추출값을 별도 테이블로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분리해 읽기 전용 유지</a:t>
            </a:r>
          </a:p>
        </p:txBody>
      </p:sp>
      <p:sp>
        <p:nvSpPr>
          <p:cNvPr id="679" name="S680"/>
          <p:cNvSpPr/>
          <p:nvPr/>
        </p:nvSpPr>
        <p:spPr>
          <a:xfrm>
            <a:off x="950976" y="5522976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681" name="T682"/>
          <p:cNvSpPr txBox="1"/>
          <p:nvPr/>
        </p:nvSpPr>
        <p:spPr>
          <a:xfrm>
            <a:off x="1207008" y="5394960"/>
            <a:ext cx="45171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uploaded_by · reviewer_id 로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제출·검토 처리자를 모두 추적</a:t>
            </a:r>
          </a:p>
        </p:txBody>
      </p:sp>
      <p:sp>
        <p:nvSpPr>
          <p:cNvPr id="683" name="S684"/>
          <p:cNvSpPr/>
          <p:nvPr/>
        </p:nvSpPr>
        <p:spPr>
          <a:xfrm>
            <a:off x="950976" y="6510528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685" name="T686"/>
          <p:cNvSpPr txBox="1"/>
          <p:nvPr/>
        </p:nvSpPr>
        <p:spPr>
          <a:xfrm>
            <a:off x="1207008" y="6382512"/>
            <a:ext cx="45171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전부 1:N — M:N 중간 테이블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없이 단순하게 유지</a:t>
            </a:r>
          </a:p>
        </p:txBody>
      </p:sp>
      <p:sp>
        <p:nvSpPr>
          <p:cNvPr id="687" name="S688"/>
          <p:cNvSpPr/>
          <p:nvPr/>
        </p:nvSpPr>
        <p:spPr>
          <a:xfrm>
            <a:off x="914400" y="7406640"/>
            <a:ext cx="4846320" cy="1645920"/>
          </a:xfrm>
          <a:prstGeom prst="roundRect">
            <a:avLst>
              <a:gd name="adj" fmla="val 5000"/>
            </a:avLst>
          </a:prstGeom>
          <a:solidFill>
            <a:srgbClr val="FFF4EE"/>
          </a:solidFill>
          <a:ln w="19050">
            <a:solidFill>
              <a:srgbClr val="F47725"/>
            </a:solidFill>
          </a:ln>
        </p:spPr>
        <p:txBody>
          <a:bodyPr/>
          <a:lstStyle/>
          <a:p/>
        </p:txBody>
      </p:sp>
      <p:sp>
        <p:nvSpPr>
          <p:cNvPr id="689" name="T690"/>
          <p:cNvSpPr txBox="1"/>
          <p:nvPr/>
        </p:nvSpPr>
        <p:spPr>
          <a:xfrm>
            <a:off x="1170432" y="7552944"/>
            <a:ext cx="4334256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차단 오류의 근거 테이블</a:t>
            </a:r>
          </a:p>
        </p:txBody>
      </p:sp>
      <p:sp>
        <p:nvSpPr>
          <p:cNvPr id="691" name="T692"/>
          <p:cNvSpPr txBox="1"/>
          <p:nvPr/>
        </p:nvSpPr>
        <p:spPr>
          <a:xfrm>
            <a:off x="1170432" y="7991856"/>
            <a:ext cx="4334256" cy="9144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validation_issues 가 오류 유형·대상 문서·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해결 상태를 들고 있어, 제출 가능 여부를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is_resolved 한 컬럼으로 판정한다</a:t>
            </a:r>
          </a:p>
        </p:txBody>
      </p:sp>
      <p:sp>
        <p:nvSpPr>
          <p:cNvPr id="693" name="T694"/>
          <p:cNvSpPr txBox="1"/>
          <p:nvPr/>
        </p:nvSpPr>
        <p:spPr>
          <a:xfrm>
            <a:off x="914400" y="9189720"/>
            <a:ext cx="1645920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화면 · API 에서 쓰지 않는 미래 기능용 테이블은 만들지 않았다. 모든 테이블에 PK, 모든 관계에 FK 를 명시했다.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API 명세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695" name="P696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4462272" cy="3502152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pic>
        <p:nvPicPr>
          <p:cNvPr id="697" name="P698"/>
          <p:cNvPicPr/>
          <p:nvPr/>
        </p:nvPicPr>
        <p:blipFill>
          <a:blip r:embed="rId4"/>
          <a:stretch>
            <a:fillRect/>
          </a:stretch>
        </p:blipFill>
        <p:spPr>
          <a:xfrm>
            <a:off x="5833872" y="1965960"/>
            <a:ext cx="6153912" cy="3502152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699" name="T700"/>
          <p:cNvSpPr txBox="1"/>
          <p:nvPr/>
        </p:nvSpPr>
        <p:spPr>
          <a:xfrm>
            <a:off x="914400" y="1490472"/>
            <a:ext cx="11978640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판교5반-P172-홍은비-API.yml (OpenAPI 3.0.3)   —   좌 : 최종 제출 오퍼레이션 원문 / 우 : 엔드포인트 명세서</a:t>
            </a:r>
          </a:p>
        </p:txBody>
      </p:sp>
      <p:sp>
        <p:nvSpPr>
          <p:cNvPr id="701" name="T702"/>
          <p:cNvSpPr txBox="1"/>
          <p:nvPr/>
        </p:nvSpPr>
        <p:spPr>
          <a:xfrm>
            <a:off x="12298680" y="1920240"/>
            <a:ext cx="5074920" cy="4023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[ 핵심 설계 포인트 ]</a:t>
            </a:r>
          </a:p>
        </p:txBody>
      </p:sp>
      <p:sp>
        <p:nvSpPr>
          <p:cNvPr id="703" name="S704"/>
          <p:cNvSpPr/>
          <p:nvPr/>
        </p:nvSpPr>
        <p:spPr>
          <a:xfrm>
            <a:off x="12335256" y="2560320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705" name="T706"/>
          <p:cNvSpPr txBox="1"/>
          <p:nvPr/>
        </p:nvSpPr>
        <p:spPr>
          <a:xfrm>
            <a:off x="12591288" y="2432304"/>
            <a:ext cx="47457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엔드포인트 11개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auth 3 · company 5 · review 3</a:t>
            </a:r>
          </a:p>
        </p:txBody>
      </p:sp>
      <p:sp>
        <p:nvSpPr>
          <p:cNvPr id="707" name="S708"/>
          <p:cNvSpPr/>
          <p:nvPr/>
        </p:nvSpPr>
        <p:spPr>
          <a:xfrm>
            <a:off x="12335256" y="3547872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709" name="T710"/>
          <p:cNvSpPr txBox="1"/>
          <p:nvPr/>
        </p:nvSpPr>
        <p:spPr>
          <a:xfrm>
            <a:off x="12591288" y="3419856"/>
            <a:ext cx="47457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$ref 로 공통 응답·오류·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파라미터 재사용 (스키마 28개)</a:t>
            </a:r>
          </a:p>
        </p:txBody>
      </p:sp>
      <p:sp>
        <p:nvSpPr>
          <p:cNvPr id="711" name="S712"/>
          <p:cNvSpPr/>
          <p:nvPr/>
        </p:nvSpPr>
        <p:spPr>
          <a:xfrm>
            <a:off x="12335256" y="4535424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713" name="T714"/>
          <p:cNvSpPr txBox="1"/>
          <p:nvPr/>
        </p:nvSpPr>
        <p:spPr>
          <a:xfrm>
            <a:off x="12591288" y="4407408"/>
            <a:ext cx="47457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화면 디스크립션의 호출 API 만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정의 — 화면 없는 API 없음</a:t>
            </a:r>
          </a:p>
        </p:txBody>
      </p:sp>
      <p:sp>
        <p:nvSpPr>
          <p:cNvPr id="715" name="S716"/>
          <p:cNvSpPr/>
          <p:nvPr/>
        </p:nvSpPr>
        <p:spPr>
          <a:xfrm>
            <a:off x="12335256" y="5522976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717" name="T718"/>
          <p:cNvSpPr txBox="1"/>
          <p:nvPr/>
        </p:nvSpPr>
        <p:spPr>
          <a:xfrm>
            <a:off x="12591288" y="5394960"/>
            <a:ext cx="47457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외부 OCR 호출은 명세에 넣지 않고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연동 실패를 502 · 504 로 표현</a:t>
            </a:r>
          </a:p>
        </p:txBody>
      </p:sp>
      <p:sp>
        <p:nvSpPr>
          <p:cNvPr id="719" name="S720"/>
          <p:cNvSpPr/>
          <p:nvPr/>
        </p:nvSpPr>
        <p:spPr>
          <a:xfrm>
            <a:off x="914400" y="5760720"/>
            <a:ext cx="4462272" cy="233172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9050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721" name="T722"/>
          <p:cNvSpPr txBox="1"/>
          <p:nvPr/>
        </p:nvSpPr>
        <p:spPr>
          <a:xfrm>
            <a:off x="1170432" y="5907024"/>
            <a:ext cx="3950208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예외 처리 규격화</a:t>
            </a:r>
          </a:p>
        </p:txBody>
      </p:sp>
      <p:sp>
        <p:nvSpPr>
          <p:cNvPr id="723" name="T724"/>
          <p:cNvSpPr txBox="1"/>
          <p:nvPr/>
        </p:nvSpPr>
        <p:spPr>
          <a:xfrm>
            <a:off x="1170432" y="6345936"/>
            <a:ext cx="3950208" cy="1600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성공 200 · 201 과 함께 400 · 401 · 403 · 404 ·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409 · 422 · 500 · 502 · 504 를 오퍼레이션마다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명시했다. 요구사항정의서·화면설계서와 동일하다</a:t>
            </a:r>
          </a:p>
        </p:txBody>
      </p:sp>
      <p:sp>
        <p:nvSpPr>
          <p:cNvPr id="725" name="S726"/>
          <p:cNvSpPr/>
          <p:nvPr/>
        </p:nvSpPr>
        <p:spPr>
          <a:xfrm>
            <a:off x="5833872" y="5760720"/>
            <a:ext cx="6153912" cy="2331720"/>
          </a:xfrm>
          <a:prstGeom prst="roundRect">
            <a:avLst>
              <a:gd name="adj" fmla="val 5000"/>
            </a:avLst>
          </a:prstGeom>
          <a:solidFill>
            <a:srgbClr val="FFF4EE"/>
          </a:solidFill>
          <a:ln w="19050">
            <a:solidFill>
              <a:srgbClr val="F47725"/>
            </a:solidFill>
          </a:ln>
        </p:spPr>
        <p:txBody>
          <a:bodyPr/>
          <a:lstStyle/>
          <a:p/>
        </p:txBody>
      </p:sp>
      <p:sp>
        <p:nvSpPr>
          <p:cNvPr id="727" name="T728"/>
          <p:cNvSpPr txBox="1"/>
          <p:nvPr/>
        </p:nvSpPr>
        <p:spPr>
          <a:xfrm>
            <a:off x="6089904" y="5907024"/>
            <a:ext cx="5641848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추적성을 description 에</a:t>
            </a:r>
          </a:p>
        </p:txBody>
      </p:sp>
      <p:sp>
        <p:nvSpPr>
          <p:cNvPr id="729" name="T730"/>
          <p:cNvSpPr txBox="1"/>
          <p:nvPr/>
        </p:nvSpPr>
        <p:spPr>
          <a:xfrm>
            <a:off x="6089904" y="6345936"/>
            <a:ext cx="5641848" cy="1600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모든 오퍼레이션 description 에 REQ-FUNC-###,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SCR-###, 사용 테이블을 적어 요구사항 → 화면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→ API → DB 가 한 줄로 이어지게 했다</a:t>
            </a:r>
          </a:p>
        </p:txBody>
      </p:sp>
      <p:sp>
        <p:nvSpPr>
          <p:cNvPr id="731" name="S732"/>
          <p:cNvSpPr/>
          <p:nvPr/>
        </p:nvSpPr>
        <p:spPr>
          <a:xfrm>
            <a:off x="12298680" y="6583680"/>
            <a:ext cx="5074920" cy="1508760"/>
          </a:xfrm>
          <a:prstGeom prst="roundRect">
            <a:avLst>
              <a:gd name="adj" fmla="val 5000"/>
            </a:avLst>
          </a:prstGeom>
          <a:solidFill>
            <a:srgbClr val="E8EEFC"/>
          </a:solidFill>
          <a:ln w="19050">
            <a:solidFill>
              <a:srgbClr val="2B4FA8"/>
            </a:solidFill>
          </a:ln>
        </p:spPr>
        <p:txBody>
          <a:bodyPr/>
          <a:lstStyle/>
          <a:p/>
        </p:txBody>
      </p:sp>
      <p:sp>
        <p:nvSpPr>
          <p:cNvPr id="733" name="T734"/>
          <p:cNvSpPr txBox="1"/>
          <p:nvPr/>
        </p:nvSpPr>
        <p:spPr>
          <a:xfrm>
            <a:off x="12554712" y="6729984"/>
            <a:ext cx="4562856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2B4FA8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Bearer 인증</a:t>
            </a:r>
          </a:p>
        </p:txBody>
      </p:sp>
      <p:sp>
        <p:nvSpPr>
          <p:cNvPr id="735" name="T736"/>
          <p:cNvSpPr txBox="1"/>
          <p:nvPr/>
        </p:nvSpPr>
        <p:spPr>
          <a:xfrm>
            <a:off x="12554712" y="7168896"/>
            <a:ext cx="4562856" cy="7772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로그인 응답의 accessToken 을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이후 요청에 사용한다. 초대 조회와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로그인 2개만 공개 API 다</a:t>
            </a:r>
          </a:p>
        </p:txBody>
      </p:sp>
      <p:sp>
        <p:nvSpPr>
          <p:cNvPr id="737" name="S738"/>
          <p:cNvSpPr/>
          <p:nvPr/>
        </p:nvSpPr>
        <p:spPr>
          <a:xfrm>
            <a:off x="914400" y="8686800"/>
            <a:ext cx="16459200" cy="86868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739" name="T740"/>
          <p:cNvSpPr txBox="1"/>
          <p:nvPr/>
        </p:nvSpPr>
        <p:spPr>
          <a:xfrm>
            <a:off x="1371600" y="8686800"/>
            <a:ext cx="15544800" cy="8686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차단 오류가 남은 제출은 422 와 함께 blockingIssues 배열을 돌려주어, 화면이 해결할 항목을 그대로 그릴 수 있게 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화면 목록 · 예외 정책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423" name="S424"/>
          <p:cNvSpPr/>
          <p:nvPr/>
        </p:nvSpPr>
        <p:spPr>
          <a:xfrm>
            <a:off x="914400" y="1874520"/>
            <a:ext cx="329184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25" name="T426"/>
          <p:cNvSpPr txBox="1"/>
          <p:nvPr/>
        </p:nvSpPr>
        <p:spPr>
          <a:xfrm>
            <a:off x="1115568" y="1874520"/>
            <a:ext cx="2889504" cy="7315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화면 ID</a:t>
            </a:r>
          </a:p>
        </p:txBody>
      </p:sp>
      <p:sp>
        <p:nvSpPr>
          <p:cNvPr id="427" name="S428"/>
          <p:cNvSpPr/>
          <p:nvPr/>
        </p:nvSpPr>
        <p:spPr>
          <a:xfrm>
            <a:off x="4206240" y="1874520"/>
            <a:ext cx="512064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29" name="T430"/>
          <p:cNvSpPr txBox="1"/>
          <p:nvPr/>
        </p:nvSpPr>
        <p:spPr>
          <a:xfrm>
            <a:off x="4407408" y="1874520"/>
            <a:ext cx="4718304" cy="7315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화면명</a:t>
            </a:r>
          </a:p>
        </p:txBody>
      </p:sp>
      <p:sp>
        <p:nvSpPr>
          <p:cNvPr id="431" name="S432"/>
          <p:cNvSpPr/>
          <p:nvPr/>
        </p:nvSpPr>
        <p:spPr>
          <a:xfrm>
            <a:off x="9326880" y="1874520"/>
            <a:ext cx="173736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33" name="T434"/>
          <p:cNvSpPr txBox="1"/>
          <p:nvPr/>
        </p:nvSpPr>
        <p:spPr>
          <a:xfrm>
            <a:off x="9528048" y="1874520"/>
            <a:ext cx="1335024" cy="7315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사용자</a:t>
            </a:r>
          </a:p>
        </p:txBody>
      </p:sp>
      <p:sp>
        <p:nvSpPr>
          <p:cNvPr id="435" name="S436"/>
          <p:cNvSpPr/>
          <p:nvPr/>
        </p:nvSpPr>
        <p:spPr>
          <a:xfrm>
            <a:off x="11064240" y="1874520"/>
            <a:ext cx="6309360" cy="731520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37" name="T438"/>
          <p:cNvSpPr txBox="1"/>
          <p:nvPr/>
        </p:nvSpPr>
        <p:spPr>
          <a:xfrm>
            <a:off x="11265408" y="1874520"/>
            <a:ext cx="5907024" cy="7315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관련 요구사항 ID</a:t>
            </a:r>
          </a:p>
        </p:txBody>
      </p:sp>
      <p:sp>
        <p:nvSpPr>
          <p:cNvPr id="439" name="S440"/>
          <p:cNvSpPr/>
          <p:nvPr/>
        </p:nvSpPr>
        <p:spPr>
          <a:xfrm>
            <a:off x="914400" y="2606040"/>
            <a:ext cx="3291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41" name="T442"/>
          <p:cNvSpPr txBox="1"/>
          <p:nvPr/>
        </p:nvSpPr>
        <p:spPr>
          <a:xfrm>
            <a:off x="1115568" y="2606040"/>
            <a:ext cx="288950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SCR-AUTH-001</a:t>
            </a:r>
          </a:p>
        </p:txBody>
      </p:sp>
      <p:sp>
        <p:nvSpPr>
          <p:cNvPr id="443" name="S444"/>
          <p:cNvSpPr/>
          <p:nvPr/>
        </p:nvSpPr>
        <p:spPr>
          <a:xfrm>
            <a:off x="4206240" y="2606040"/>
            <a:ext cx="51206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45" name="T446"/>
          <p:cNvSpPr txBox="1"/>
          <p:nvPr/>
        </p:nvSpPr>
        <p:spPr>
          <a:xfrm>
            <a:off x="4407408" y="2606040"/>
            <a:ext cx="471830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로그인 · 초대 계정 활성화</a:t>
            </a:r>
          </a:p>
        </p:txBody>
      </p:sp>
      <p:sp>
        <p:nvSpPr>
          <p:cNvPr id="447" name="S448"/>
          <p:cNvSpPr/>
          <p:nvPr/>
        </p:nvSpPr>
        <p:spPr>
          <a:xfrm>
            <a:off x="9326880" y="2606040"/>
            <a:ext cx="1737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49" name="T450"/>
          <p:cNvSpPr txBox="1"/>
          <p:nvPr/>
        </p:nvSpPr>
        <p:spPr>
          <a:xfrm>
            <a:off x="9528048" y="2606040"/>
            <a:ext cx="13350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공통</a:t>
            </a:r>
          </a:p>
        </p:txBody>
      </p:sp>
      <p:sp>
        <p:nvSpPr>
          <p:cNvPr id="451" name="S452"/>
          <p:cNvSpPr/>
          <p:nvPr/>
        </p:nvSpPr>
        <p:spPr>
          <a:xfrm>
            <a:off x="11064240" y="2606040"/>
            <a:ext cx="6309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53" name="T454"/>
          <p:cNvSpPr txBox="1"/>
          <p:nvPr/>
        </p:nvSpPr>
        <p:spPr>
          <a:xfrm>
            <a:off x="11265408" y="2606040"/>
            <a:ext cx="59070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REQ-FUNC-001</a:t>
            </a:r>
          </a:p>
        </p:txBody>
      </p:sp>
      <p:sp>
        <p:nvSpPr>
          <p:cNvPr id="455" name="S456"/>
          <p:cNvSpPr/>
          <p:nvPr/>
        </p:nvSpPr>
        <p:spPr>
          <a:xfrm>
            <a:off x="914400" y="3392424"/>
            <a:ext cx="3291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57" name="T458"/>
          <p:cNvSpPr txBox="1"/>
          <p:nvPr/>
        </p:nvSpPr>
        <p:spPr>
          <a:xfrm>
            <a:off x="1115568" y="3392424"/>
            <a:ext cx="288950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SCR-COMP-001</a:t>
            </a:r>
          </a:p>
        </p:txBody>
      </p:sp>
      <p:sp>
        <p:nvSpPr>
          <p:cNvPr id="459" name="S460"/>
          <p:cNvSpPr/>
          <p:nvPr/>
        </p:nvSpPr>
        <p:spPr>
          <a:xfrm>
            <a:off x="4206240" y="3392424"/>
            <a:ext cx="51206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61" name="T462"/>
          <p:cNvSpPr txBox="1"/>
          <p:nvPr/>
        </p:nvSpPr>
        <p:spPr>
          <a:xfrm>
            <a:off x="4407408" y="3392424"/>
            <a:ext cx="471830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기업 서류 제출 현황 · 업로드</a:t>
            </a:r>
          </a:p>
        </p:txBody>
      </p:sp>
      <p:sp>
        <p:nvSpPr>
          <p:cNvPr id="463" name="S464"/>
          <p:cNvSpPr/>
          <p:nvPr/>
        </p:nvSpPr>
        <p:spPr>
          <a:xfrm>
            <a:off x="9326880" y="3392424"/>
            <a:ext cx="1737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65" name="T466"/>
          <p:cNvSpPr txBox="1"/>
          <p:nvPr/>
        </p:nvSpPr>
        <p:spPr>
          <a:xfrm>
            <a:off x="9528048" y="3392424"/>
            <a:ext cx="13350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기업</a:t>
            </a:r>
          </a:p>
        </p:txBody>
      </p:sp>
      <p:sp>
        <p:nvSpPr>
          <p:cNvPr id="467" name="S468"/>
          <p:cNvSpPr/>
          <p:nvPr/>
        </p:nvSpPr>
        <p:spPr>
          <a:xfrm>
            <a:off x="11064240" y="3392424"/>
            <a:ext cx="6309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69" name="T470"/>
          <p:cNvSpPr txBox="1"/>
          <p:nvPr/>
        </p:nvSpPr>
        <p:spPr>
          <a:xfrm>
            <a:off x="11265408" y="3392424"/>
            <a:ext cx="59070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REQ-FUNC-002, REQ-FUNC-003</a:t>
            </a:r>
          </a:p>
        </p:txBody>
      </p:sp>
      <p:sp>
        <p:nvSpPr>
          <p:cNvPr id="471" name="S472"/>
          <p:cNvSpPr/>
          <p:nvPr/>
        </p:nvSpPr>
        <p:spPr>
          <a:xfrm>
            <a:off x="914400" y="4178808"/>
            <a:ext cx="3291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73" name="T474"/>
          <p:cNvSpPr txBox="1"/>
          <p:nvPr/>
        </p:nvSpPr>
        <p:spPr>
          <a:xfrm>
            <a:off x="1115568" y="4178808"/>
            <a:ext cx="288950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SCR-COMP-002</a:t>
            </a:r>
          </a:p>
        </p:txBody>
      </p:sp>
      <p:sp>
        <p:nvSpPr>
          <p:cNvPr id="475" name="S476"/>
          <p:cNvSpPr/>
          <p:nvPr/>
        </p:nvSpPr>
        <p:spPr>
          <a:xfrm>
            <a:off x="4206240" y="4178808"/>
            <a:ext cx="51206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77" name="T478"/>
          <p:cNvSpPr txBox="1"/>
          <p:nvPr/>
        </p:nvSpPr>
        <p:spPr>
          <a:xfrm>
            <a:off x="4407408" y="4178808"/>
            <a:ext cx="471830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사전검증 결과 · 최종 제출</a:t>
            </a:r>
          </a:p>
        </p:txBody>
      </p:sp>
      <p:sp>
        <p:nvSpPr>
          <p:cNvPr id="479" name="S480"/>
          <p:cNvSpPr/>
          <p:nvPr/>
        </p:nvSpPr>
        <p:spPr>
          <a:xfrm>
            <a:off x="9326880" y="4178808"/>
            <a:ext cx="1737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81" name="T482"/>
          <p:cNvSpPr txBox="1"/>
          <p:nvPr/>
        </p:nvSpPr>
        <p:spPr>
          <a:xfrm>
            <a:off x="9528048" y="4178808"/>
            <a:ext cx="13350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기업</a:t>
            </a:r>
          </a:p>
        </p:txBody>
      </p:sp>
      <p:sp>
        <p:nvSpPr>
          <p:cNvPr id="483" name="S484"/>
          <p:cNvSpPr/>
          <p:nvPr/>
        </p:nvSpPr>
        <p:spPr>
          <a:xfrm>
            <a:off x="11064240" y="4178808"/>
            <a:ext cx="6309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85" name="T486"/>
          <p:cNvSpPr txBox="1"/>
          <p:nvPr/>
        </p:nvSpPr>
        <p:spPr>
          <a:xfrm>
            <a:off x="11265408" y="4178808"/>
            <a:ext cx="59070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REQ-FUNC-004</a:t>
            </a:r>
          </a:p>
        </p:txBody>
      </p:sp>
      <p:sp>
        <p:nvSpPr>
          <p:cNvPr id="487" name="S488"/>
          <p:cNvSpPr/>
          <p:nvPr/>
        </p:nvSpPr>
        <p:spPr>
          <a:xfrm>
            <a:off x="914400" y="4965192"/>
            <a:ext cx="3291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89" name="T490"/>
          <p:cNvSpPr txBox="1"/>
          <p:nvPr/>
        </p:nvSpPr>
        <p:spPr>
          <a:xfrm>
            <a:off x="1115568" y="4965192"/>
            <a:ext cx="288950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SCR-REV-001</a:t>
            </a:r>
          </a:p>
        </p:txBody>
      </p:sp>
      <p:sp>
        <p:nvSpPr>
          <p:cNvPr id="491" name="S492"/>
          <p:cNvSpPr/>
          <p:nvPr/>
        </p:nvSpPr>
        <p:spPr>
          <a:xfrm>
            <a:off x="4206240" y="4965192"/>
            <a:ext cx="51206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93" name="T494"/>
          <p:cNvSpPr txBox="1"/>
          <p:nvPr/>
        </p:nvSpPr>
        <p:spPr>
          <a:xfrm>
            <a:off x="4407408" y="4965192"/>
            <a:ext cx="471830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은행 검토 목록</a:t>
            </a:r>
          </a:p>
        </p:txBody>
      </p:sp>
      <p:sp>
        <p:nvSpPr>
          <p:cNvPr id="495" name="S496"/>
          <p:cNvSpPr/>
          <p:nvPr/>
        </p:nvSpPr>
        <p:spPr>
          <a:xfrm>
            <a:off x="9326880" y="4965192"/>
            <a:ext cx="1737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97" name="T498"/>
          <p:cNvSpPr txBox="1"/>
          <p:nvPr/>
        </p:nvSpPr>
        <p:spPr>
          <a:xfrm>
            <a:off x="9528048" y="4965192"/>
            <a:ext cx="13350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은행</a:t>
            </a:r>
          </a:p>
        </p:txBody>
      </p:sp>
      <p:sp>
        <p:nvSpPr>
          <p:cNvPr id="499" name="S500"/>
          <p:cNvSpPr/>
          <p:nvPr/>
        </p:nvSpPr>
        <p:spPr>
          <a:xfrm>
            <a:off x="11064240" y="4965192"/>
            <a:ext cx="6309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01" name="T502"/>
          <p:cNvSpPr txBox="1"/>
          <p:nvPr/>
        </p:nvSpPr>
        <p:spPr>
          <a:xfrm>
            <a:off x="11265408" y="4965192"/>
            <a:ext cx="59070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REQ-FUNC-005</a:t>
            </a:r>
          </a:p>
        </p:txBody>
      </p:sp>
      <p:sp>
        <p:nvSpPr>
          <p:cNvPr id="503" name="S504"/>
          <p:cNvSpPr/>
          <p:nvPr/>
        </p:nvSpPr>
        <p:spPr>
          <a:xfrm>
            <a:off x="914400" y="5751576"/>
            <a:ext cx="3291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05" name="T506"/>
          <p:cNvSpPr txBox="1"/>
          <p:nvPr/>
        </p:nvSpPr>
        <p:spPr>
          <a:xfrm>
            <a:off x="1115568" y="5751576"/>
            <a:ext cx="288950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SCR-REV-002</a:t>
            </a:r>
          </a:p>
        </p:txBody>
      </p:sp>
      <p:sp>
        <p:nvSpPr>
          <p:cNvPr id="507" name="S508"/>
          <p:cNvSpPr/>
          <p:nvPr/>
        </p:nvSpPr>
        <p:spPr>
          <a:xfrm>
            <a:off x="4206240" y="5751576"/>
            <a:ext cx="51206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09" name="T510"/>
          <p:cNvSpPr txBox="1"/>
          <p:nvPr/>
        </p:nvSpPr>
        <p:spPr>
          <a:xfrm>
            <a:off x="4407408" y="5751576"/>
            <a:ext cx="471830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은행 상세 검토</a:t>
            </a:r>
          </a:p>
        </p:txBody>
      </p:sp>
      <p:sp>
        <p:nvSpPr>
          <p:cNvPr id="511" name="S512"/>
          <p:cNvSpPr/>
          <p:nvPr/>
        </p:nvSpPr>
        <p:spPr>
          <a:xfrm>
            <a:off x="9326880" y="5751576"/>
            <a:ext cx="1737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13" name="T514"/>
          <p:cNvSpPr txBox="1"/>
          <p:nvPr/>
        </p:nvSpPr>
        <p:spPr>
          <a:xfrm>
            <a:off x="9528048" y="5751576"/>
            <a:ext cx="13350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은행</a:t>
            </a:r>
          </a:p>
        </p:txBody>
      </p:sp>
      <p:sp>
        <p:nvSpPr>
          <p:cNvPr id="515" name="S516"/>
          <p:cNvSpPr/>
          <p:nvPr/>
        </p:nvSpPr>
        <p:spPr>
          <a:xfrm>
            <a:off x="11064240" y="5751576"/>
            <a:ext cx="6309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17" name="T518"/>
          <p:cNvSpPr txBox="1"/>
          <p:nvPr/>
        </p:nvSpPr>
        <p:spPr>
          <a:xfrm>
            <a:off x="11265408" y="5751576"/>
            <a:ext cx="5907024" cy="786384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REQ-FUNC-006</a:t>
            </a:r>
          </a:p>
        </p:txBody>
      </p:sp>
      <p:sp>
        <p:nvSpPr>
          <p:cNvPr id="519" name="T520"/>
          <p:cNvSpPr txBox="1"/>
          <p:nvPr/>
        </p:nvSpPr>
        <p:spPr>
          <a:xfrm>
            <a:off x="914400" y="6684264"/>
            <a:ext cx="1645920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업로드 화면과 검증 결과 화면을 분리해 정보 과밀을 막았다. 화면 번호 ①②③ 과 디스크립션 표가 1:1로 대응한다.</a:t>
            </a:r>
          </a:p>
        </p:txBody>
      </p:sp>
      <p:sp>
        <p:nvSpPr>
          <p:cNvPr id="521" name="S522"/>
          <p:cNvSpPr/>
          <p:nvPr/>
        </p:nvSpPr>
        <p:spPr>
          <a:xfrm>
            <a:off x="914400" y="7159752"/>
            <a:ext cx="100584" cy="31089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523" name="T524"/>
          <p:cNvSpPr txBox="1"/>
          <p:nvPr/>
        </p:nvSpPr>
        <p:spPr>
          <a:xfrm>
            <a:off x="1170432" y="7104888"/>
            <a:ext cx="1097280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화면 공통 예외 처리</a:t>
            </a:r>
          </a:p>
        </p:txBody>
      </p:sp>
      <p:sp>
        <p:nvSpPr>
          <p:cNvPr id="525" name="S526"/>
          <p:cNvSpPr/>
          <p:nvPr/>
        </p:nvSpPr>
        <p:spPr>
          <a:xfrm>
            <a:off x="914400" y="7616952"/>
            <a:ext cx="2624328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27" name="T528"/>
          <p:cNvSpPr txBox="1"/>
          <p:nvPr/>
        </p:nvSpPr>
        <p:spPr>
          <a:xfrm>
            <a:off x="1005840" y="7726680"/>
            <a:ext cx="2441448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200 · 201</a:t>
            </a:r>
          </a:p>
        </p:txBody>
      </p:sp>
      <p:sp>
        <p:nvSpPr>
          <p:cNvPr id="529" name="T530"/>
          <p:cNvSpPr txBox="1"/>
          <p:nvPr/>
        </p:nvSpPr>
        <p:spPr>
          <a:xfrm>
            <a:off x="1005840" y="8092440"/>
            <a:ext cx="2441448" cy="49377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정상 조회 · 생성</a:t>
            </a:r>
          </a:p>
        </p:txBody>
      </p:sp>
      <p:sp>
        <p:nvSpPr>
          <p:cNvPr id="531" name="S532"/>
          <p:cNvSpPr/>
          <p:nvPr/>
        </p:nvSpPr>
        <p:spPr>
          <a:xfrm>
            <a:off x="3666744" y="7616952"/>
            <a:ext cx="2624328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33" name="T534"/>
          <p:cNvSpPr txBox="1"/>
          <p:nvPr/>
        </p:nvSpPr>
        <p:spPr>
          <a:xfrm>
            <a:off x="3758184" y="7726680"/>
            <a:ext cx="2441448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400</a:t>
            </a:r>
          </a:p>
        </p:txBody>
      </p:sp>
      <p:sp>
        <p:nvSpPr>
          <p:cNvPr id="535" name="T536"/>
          <p:cNvSpPr txBox="1"/>
          <p:nvPr/>
        </p:nvSpPr>
        <p:spPr>
          <a:xfrm>
            <a:off x="3758184" y="8092440"/>
            <a:ext cx="2441448" cy="49377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필수값 · 형식 오류</a:t>
            </a:r>
          </a:p>
        </p:txBody>
      </p:sp>
      <p:sp>
        <p:nvSpPr>
          <p:cNvPr id="537" name="S538"/>
          <p:cNvSpPr/>
          <p:nvPr/>
        </p:nvSpPr>
        <p:spPr>
          <a:xfrm>
            <a:off x="6419088" y="7616952"/>
            <a:ext cx="2624328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39" name="T540"/>
          <p:cNvSpPr txBox="1"/>
          <p:nvPr/>
        </p:nvSpPr>
        <p:spPr>
          <a:xfrm>
            <a:off x="6510528" y="7726680"/>
            <a:ext cx="2441448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401 · 403</a:t>
            </a:r>
          </a:p>
        </p:txBody>
      </p:sp>
      <p:sp>
        <p:nvSpPr>
          <p:cNvPr id="541" name="T542"/>
          <p:cNvSpPr txBox="1"/>
          <p:nvPr/>
        </p:nvSpPr>
        <p:spPr>
          <a:xfrm>
            <a:off x="6510528" y="8092440"/>
            <a:ext cx="2441448" cy="49377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인증 실패 · 만료 초대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타 기업 · 역할 위반</a:t>
            </a:r>
          </a:p>
        </p:txBody>
      </p:sp>
      <p:sp>
        <p:nvSpPr>
          <p:cNvPr id="543" name="S544"/>
          <p:cNvSpPr/>
          <p:nvPr/>
        </p:nvSpPr>
        <p:spPr>
          <a:xfrm>
            <a:off x="9171432" y="7616952"/>
            <a:ext cx="2624328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45" name="T546"/>
          <p:cNvSpPr txBox="1"/>
          <p:nvPr/>
        </p:nvSpPr>
        <p:spPr>
          <a:xfrm>
            <a:off x="9262872" y="7726680"/>
            <a:ext cx="2441448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404</a:t>
            </a:r>
          </a:p>
        </p:txBody>
      </p:sp>
      <p:sp>
        <p:nvSpPr>
          <p:cNvPr id="547" name="T548"/>
          <p:cNvSpPr txBox="1"/>
          <p:nvPr/>
        </p:nvSpPr>
        <p:spPr>
          <a:xfrm>
            <a:off x="9262872" y="8092440"/>
            <a:ext cx="2441448" cy="49377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없는 신청 · 문서</a:t>
            </a:r>
          </a:p>
        </p:txBody>
      </p:sp>
      <p:sp>
        <p:nvSpPr>
          <p:cNvPr id="549" name="S550"/>
          <p:cNvSpPr/>
          <p:nvPr/>
        </p:nvSpPr>
        <p:spPr>
          <a:xfrm>
            <a:off x="11923776" y="7616952"/>
            <a:ext cx="2624328" cy="100584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551" name="T552"/>
          <p:cNvSpPr txBox="1"/>
          <p:nvPr/>
        </p:nvSpPr>
        <p:spPr>
          <a:xfrm>
            <a:off x="12015216" y="7726680"/>
            <a:ext cx="2441448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409 · 422</a:t>
            </a:r>
          </a:p>
        </p:txBody>
      </p:sp>
      <p:sp>
        <p:nvSpPr>
          <p:cNvPr id="553" name="T554"/>
          <p:cNvSpPr txBox="1"/>
          <p:nvPr/>
        </p:nvSpPr>
        <p:spPr>
          <a:xfrm>
            <a:off x="12015216" y="8092440"/>
            <a:ext cx="2441448" cy="49377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이미 처리된 건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차단 오류 미해결</a:t>
            </a:r>
          </a:p>
        </p:txBody>
      </p:sp>
      <p:sp>
        <p:nvSpPr>
          <p:cNvPr id="555" name="S556"/>
          <p:cNvSpPr/>
          <p:nvPr/>
        </p:nvSpPr>
        <p:spPr>
          <a:xfrm>
            <a:off x="14676120" y="7616952"/>
            <a:ext cx="2624328" cy="100584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557" name="T558"/>
          <p:cNvSpPr txBox="1"/>
          <p:nvPr/>
        </p:nvSpPr>
        <p:spPr>
          <a:xfrm>
            <a:off x="14767560" y="7726680"/>
            <a:ext cx="2441448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500 · 502 · 504</a:t>
            </a:r>
          </a:p>
        </p:txBody>
      </p:sp>
      <p:sp>
        <p:nvSpPr>
          <p:cNvPr id="559" name="T560"/>
          <p:cNvSpPr txBox="1"/>
          <p:nvPr/>
        </p:nvSpPr>
        <p:spPr>
          <a:xfrm>
            <a:off x="14767560" y="8092440"/>
            <a:ext cx="2441448" cy="49377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서버 내부 오류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외부 OCR 연동 실패</a:t>
            </a:r>
          </a:p>
        </p:txBody>
      </p:sp>
      <p:sp>
        <p:nvSpPr>
          <p:cNvPr id="561" name="S562"/>
          <p:cNvSpPr/>
          <p:nvPr/>
        </p:nvSpPr>
        <p:spPr>
          <a:xfrm>
            <a:off x="914400" y="8778240"/>
            <a:ext cx="16459200" cy="777240"/>
          </a:xfrm>
          <a:prstGeom prst="roundRect">
            <a:avLst>
              <a:gd name="adj" fmla="val 6000"/>
            </a:avLst>
          </a:prstGeom>
          <a:solidFill>
            <a:srgbClr val="F3F0EA"/>
          </a:solidFill>
          <a:ln w="15875">
            <a:solidFill>
              <a:srgbClr val="E5E0D6"/>
            </a:solidFill>
            <a:prstDash val="dash"/>
          </a:ln>
        </p:spPr>
        <p:txBody>
          <a:bodyPr/>
          <a:lstStyle/>
          <a:p/>
        </p:txBody>
      </p:sp>
      <p:sp>
        <p:nvSpPr>
          <p:cNvPr id="563" name="T564"/>
          <p:cNvSpPr txBox="1"/>
          <p:nvPr/>
        </p:nvSpPr>
        <p:spPr>
          <a:xfrm>
            <a:off x="914400" y="8778240"/>
            <a:ext cx="16459200" cy="77724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화면 5장의 와이어프레임 · 사용자 흐름 · 디스크립션 · 예외 처리는 화면설계서에 수록 — 발표 시 SCR-COMP-002 와 SCR-REV-002 를 시연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UI 흐름 — 서류 업로드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565" name="P566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9950860" cy="6309360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567" name="T568"/>
          <p:cNvSpPr txBox="1"/>
          <p:nvPr/>
        </p:nvSpPr>
        <p:spPr>
          <a:xfrm>
            <a:off x="914400" y="1490472"/>
            <a:ext cx="16459200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SCR-COMP-001 · 기업 서류 제출 현황 · 업로드   —   대표 상태 : 보완 요청 후 재업로드 분석 중</a:t>
            </a:r>
          </a:p>
        </p:txBody>
      </p:sp>
      <p:sp>
        <p:nvSpPr>
          <p:cNvPr id="569" name="S570"/>
          <p:cNvSpPr/>
          <p:nvPr/>
        </p:nvSpPr>
        <p:spPr>
          <a:xfrm>
            <a:off x="11276740" y="1965960"/>
            <a:ext cx="6096860" cy="1591056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9050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571" name="T572"/>
          <p:cNvSpPr txBox="1"/>
          <p:nvPr/>
        </p:nvSpPr>
        <p:spPr>
          <a:xfrm>
            <a:off x="11532772" y="2112264"/>
            <a:ext cx="5584796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POST /documents</a:t>
            </a:r>
          </a:p>
        </p:txBody>
      </p:sp>
      <p:sp>
        <p:nvSpPr>
          <p:cNvPr id="573" name="T574"/>
          <p:cNvSpPr txBox="1"/>
          <p:nvPr/>
        </p:nvSpPr>
        <p:spPr>
          <a:xfrm>
            <a:off x="11532772" y="2551176"/>
            <a:ext cx="5584796" cy="8595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문서 유형과 원본을 함께 올린다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같은 유형 재업로드 시 version_no +1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이전 파일을 덮어쓰지 않는다</a:t>
            </a:r>
          </a:p>
        </p:txBody>
      </p:sp>
      <p:cxnSp>
        <p:nvCxnSpPr>
          <p:cNvPr id="575" name="C576"/>
          <p:cNvCxnSpPr/>
          <p:nvPr/>
        </p:nvCxnSpPr>
        <p:spPr>
          <a:xfrm flipH="1">
            <a:off x="9472140" y="2761488"/>
            <a:ext cx="1731448" cy="3116275"/>
          </a:xfrm>
          <a:prstGeom prst="straightConnector1">
            <a:avLst/>
          </a:prstGeom>
          <a:ln w="22225">
            <a:solidFill>
              <a:srgbClr val="EA002C"/>
            </a:solidFill>
            <a:tailEnd type="triangle" w="med" len="med"/>
          </a:ln>
        </p:spPr>
      </p:cxnSp>
      <p:sp>
        <p:nvSpPr>
          <p:cNvPr id="577" name="S578"/>
          <p:cNvSpPr/>
          <p:nvPr/>
        </p:nvSpPr>
        <p:spPr>
          <a:xfrm>
            <a:off x="11276740" y="3813048"/>
            <a:ext cx="6096860" cy="1591056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9050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579" name="T580"/>
          <p:cNvSpPr txBox="1"/>
          <p:nvPr/>
        </p:nvSpPr>
        <p:spPr>
          <a:xfrm>
            <a:off x="11532772" y="3959352"/>
            <a:ext cx="5584796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POST /documents/{id}/retry</a:t>
            </a:r>
          </a:p>
        </p:txBody>
      </p:sp>
      <p:sp>
        <p:nvSpPr>
          <p:cNvPr id="581" name="T582"/>
          <p:cNvSpPr txBox="1"/>
          <p:nvPr/>
        </p:nvSpPr>
        <p:spPr>
          <a:xfrm>
            <a:off x="11532772" y="4398264"/>
            <a:ext cx="5584796" cy="8595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OCR 실패 시 재업로드 없이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분석만 최대 3회 재시도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원본과 신청 상태는 보존</a:t>
            </a:r>
          </a:p>
        </p:txBody>
      </p:sp>
      <p:cxnSp>
        <p:nvCxnSpPr>
          <p:cNvPr id="583" name="C584"/>
          <p:cNvCxnSpPr/>
          <p:nvPr/>
        </p:nvCxnSpPr>
        <p:spPr>
          <a:xfrm flipH="1">
            <a:off x="7880002" y="4608576"/>
            <a:ext cx="3323586" cy="2783434"/>
          </a:xfrm>
          <a:prstGeom prst="straightConnector1">
            <a:avLst/>
          </a:prstGeom>
          <a:ln w="22225">
            <a:solidFill>
              <a:srgbClr val="EA002C"/>
            </a:solidFill>
            <a:tailEnd type="triangle" w="med" len="med"/>
          </a:ln>
        </p:spPr>
      </p:cxnSp>
      <p:sp>
        <p:nvSpPr>
          <p:cNvPr id="585" name="S586"/>
          <p:cNvSpPr/>
          <p:nvPr/>
        </p:nvSpPr>
        <p:spPr>
          <a:xfrm>
            <a:off x="11276740" y="5660136"/>
            <a:ext cx="6096860" cy="1591056"/>
          </a:xfrm>
          <a:prstGeom prst="roundRect">
            <a:avLst>
              <a:gd name="adj" fmla="val 5000"/>
            </a:avLst>
          </a:prstGeom>
          <a:solidFill>
            <a:srgbClr val="EAF4EC"/>
          </a:solidFill>
          <a:ln w="19050">
            <a:solidFill>
              <a:srgbClr val="1F7A45"/>
            </a:solidFill>
          </a:ln>
        </p:spPr>
        <p:txBody>
          <a:bodyPr/>
          <a:lstStyle/>
          <a:p/>
        </p:txBody>
      </p:sp>
      <p:sp>
        <p:nvSpPr>
          <p:cNvPr id="587" name="T588"/>
          <p:cNvSpPr txBox="1"/>
          <p:nvPr/>
        </p:nvSpPr>
        <p:spPr>
          <a:xfrm>
            <a:off x="11532772" y="5806440"/>
            <a:ext cx="5584796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F7A4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⑨ 사전검증 결과 확인</a:t>
            </a:r>
          </a:p>
        </p:txBody>
      </p:sp>
      <p:sp>
        <p:nvSpPr>
          <p:cNvPr id="589" name="T590"/>
          <p:cNvSpPr txBox="1"/>
          <p:nvPr/>
        </p:nvSpPr>
        <p:spPr>
          <a:xfrm>
            <a:off x="11532772" y="6245352"/>
            <a:ext cx="5584796" cy="8595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분석 중인 문서가 없으면 활성화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미제출이 있어도 진입해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MISSING_DOCUMENT 를 확인</a:t>
            </a:r>
          </a:p>
        </p:txBody>
      </p:sp>
      <p:cxnSp>
        <p:nvCxnSpPr>
          <p:cNvPr id="591" name="C592"/>
          <p:cNvCxnSpPr/>
          <p:nvPr/>
        </p:nvCxnSpPr>
        <p:spPr>
          <a:xfrm flipH="1">
            <a:off x="9671157" y="6455664"/>
            <a:ext cx="1532431" cy="1188720"/>
          </a:xfrm>
          <a:prstGeom prst="straightConnector1">
            <a:avLst/>
          </a:prstGeom>
          <a:ln w="22225">
            <a:solidFill>
              <a:srgbClr val="1F7A45"/>
            </a:solidFill>
            <a:tailEnd type="triangle" w="med" len="med"/>
          </a:ln>
        </p:spPr>
      </p:cxnSp>
      <p:sp>
        <p:nvSpPr>
          <p:cNvPr id="593" name="S594"/>
          <p:cNvSpPr/>
          <p:nvPr/>
        </p:nvSpPr>
        <p:spPr>
          <a:xfrm>
            <a:off x="914400" y="8686800"/>
            <a:ext cx="16459200" cy="86868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95" name="T596"/>
          <p:cNvSpPr txBox="1"/>
          <p:nvPr/>
        </p:nvSpPr>
        <p:spPr>
          <a:xfrm>
            <a:off x="1371600" y="8686800"/>
            <a:ext cx="15544800" cy="8686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이 화면은 처리 상태만 보여준다. OCR 추출값과 교차검증 결과는 다음 화면에서 확인한다.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④ 보완 요청 배너는 REVISION_REQUESTED 상태에서만 나타나며 클릭하면 대상 카드로 이동한다.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UI 흐름 — 사전검증 결과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597" name="P598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8448177" cy="6309360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599" name="T600"/>
          <p:cNvSpPr txBox="1"/>
          <p:nvPr/>
        </p:nvSpPr>
        <p:spPr>
          <a:xfrm>
            <a:off x="914400" y="1490472"/>
            <a:ext cx="16459200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SCR-COMP-002 · 사전검증 결과 · 최종 제출   —   대표 상태 : 차단 오류 2건 (제출 불가)</a:t>
            </a:r>
          </a:p>
        </p:txBody>
      </p:sp>
      <p:sp>
        <p:nvSpPr>
          <p:cNvPr id="601" name="S602"/>
          <p:cNvSpPr/>
          <p:nvPr/>
        </p:nvSpPr>
        <p:spPr>
          <a:xfrm>
            <a:off x="9774057" y="1965960"/>
            <a:ext cx="7599543" cy="1591056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9050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603" name="T604"/>
          <p:cNvSpPr txBox="1"/>
          <p:nvPr/>
        </p:nvSpPr>
        <p:spPr>
          <a:xfrm>
            <a:off x="10030089" y="2112264"/>
            <a:ext cx="7087479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GET /validation</a:t>
            </a:r>
          </a:p>
        </p:txBody>
      </p:sp>
      <p:sp>
        <p:nvSpPr>
          <p:cNvPr id="605" name="T606"/>
          <p:cNvSpPr txBox="1"/>
          <p:nvPr/>
        </p:nvSpPr>
        <p:spPr>
          <a:xfrm>
            <a:off x="10030089" y="2551176"/>
            <a:ext cx="7087479" cy="8595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companies 기준값과 문서별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추출값을 교차검증한 결과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오류마다 대상·원인·해결 행동</a:t>
            </a:r>
          </a:p>
        </p:txBody>
      </p:sp>
      <p:cxnSp>
        <p:nvCxnSpPr>
          <p:cNvPr id="607" name="C608"/>
          <p:cNvCxnSpPr/>
          <p:nvPr/>
        </p:nvCxnSpPr>
        <p:spPr>
          <a:xfrm flipH="1">
            <a:off x="5476415" y="2761488"/>
            <a:ext cx="4224489" cy="1286561"/>
          </a:xfrm>
          <a:prstGeom prst="straightConnector1">
            <a:avLst/>
          </a:prstGeom>
          <a:ln w="22225">
            <a:solidFill>
              <a:srgbClr val="EA002C"/>
            </a:solidFill>
            <a:tailEnd type="triangle" w="med" len="med"/>
          </a:ln>
        </p:spPr>
      </p:cxnSp>
      <p:sp>
        <p:nvSpPr>
          <p:cNvPr id="609" name="S610"/>
          <p:cNvSpPr/>
          <p:nvPr/>
        </p:nvSpPr>
        <p:spPr>
          <a:xfrm>
            <a:off x="9774057" y="3813048"/>
            <a:ext cx="7599543" cy="1280160"/>
          </a:xfrm>
          <a:prstGeom prst="roundRect">
            <a:avLst>
              <a:gd name="adj" fmla="val 5000"/>
            </a:avLst>
          </a:prstGeom>
          <a:solidFill>
            <a:srgbClr val="EAF4EC"/>
          </a:solidFill>
          <a:ln w="19050">
            <a:solidFill>
              <a:srgbClr val="1F7A45"/>
            </a:solidFill>
          </a:ln>
        </p:spPr>
        <p:txBody>
          <a:bodyPr/>
          <a:lstStyle/>
          <a:p/>
        </p:txBody>
      </p:sp>
      <p:sp>
        <p:nvSpPr>
          <p:cNvPr id="611" name="T612"/>
          <p:cNvSpPr txBox="1"/>
          <p:nvPr/>
        </p:nvSpPr>
        <p:spPr>
          <a:xfrm>
            <a:off x="10030089" y="3959352"/>
            <a:ext cx="7087479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F7A4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⑤ 해결 행동 클릭</a:t>
            </a:r>
          </a:p>
        </p:txBody>
      </p:sp>
      <p:sp>
        <p:nvSpPr>
          <p:cNvPr id="613" name="T614"/>
          <p:cNvSpPr txBox="1"/>
          <p:nvPr/>
        </p:nvSpPr>
        <p:spPr>
          <a:xfrm>
            <a:off x="10030089" y="4398264"/>
            <a:ext cx="7087479" cy="5486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SCR-COMP-001 의 해당 문서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카드로 바로 이동시킨다</a:t>
            </a:r>
          </a:p>
        </p:txBody>
      </p:sp>
      <p:cxnSp>
        <p:nvCxnSpPr>
          <p:cNvPr id="615" name="C616"/>
          <p:cNvCxnSpPr/>
          <p:nvPr/>
        </p:nvCxnSpPr>
        <p:spPr>
          <a:xfrm flipH="1">
            <a:off x="6490197" y="4453128"/>
            <a:ext cx="3210708" cy="1109167"/>
          </a:xfrm>
          <a:prstGeom prst="straightConnector1">
            <a:avLst/>
          </a:prstGeom>
          <a:ln w="22225">
            <a:solidFill>
              <a:srgbClr val="1F7A45"/>
            </a:solidFill>
            <a:tailEnd type="triangle" w="med" len="med"/>
          </a:ln>
        </p:spPr>
      </p:cxnSp>
      <p:sp>
        <p:nvSpPr>
          <p:cNvPr id="617" name="S618"/>
          <p:cNvSpPr/>
          <p:nvPr/>
        </p:nvSpPr>
        <p:spPr>
          <a:xfrm>
            <a:off x="9774057" y="5349240"/>
            <a:ext cx="7599543" cy="1591056"/>
          </a:xfrm>
          <a:prstGeom prst="roundRect">
            <a:avLst>
              <a:gd name="adj" fmla="val 5000"/>
            </a:avLst>
          </a:prstGeom>
          <a:solidFill>
            <a:srgbClr val="E8EEFC"/>
          </a:solidFill>
          <a:ln w="19050">
            <a:solidFill>
              <a:srgbClr val="2B4FA8"/>
            </a:solidFill>
          </a:ln>
        </p:spPr>
        <p:txBody>
          <a:bodyPr/>
          <a:lstStyle/>
          <a:p/>
        </p:txBody>
      </p:sp>
      <p:sp>
        <p:nvSpPr>
          <p:cNvPr id="619" name="T620"/>
          <p:cNvSpPr txBox="1"/>
          <p:nvPr/>
        </p:nvSpPr>
        <p:spPr>
          <a:xfrm>
            <a:off x="10030089" y="5495544"/>
            <a:ext cx="7087479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2B4FA8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⑧⑨ 최종 제출</a:t>
            </a:r>
          </a:p>
        </p:txBody>
      </p:sp>
      <p:sp>
        <p:nvSpPr>
          <p:cNvPr id="621" name="T622"/>
          <p:cNvSpPr txBox="1"/>
          <p:nvPr/>
        </p:nvSpPr>
        <p:spPr>
          <a:xfrm>
            <a:off x="10030089" y="5934456"/>
            <a:ext cx="7087479" cy="8595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차단 오류 0건일 때만 활성화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확인 모달 후 REVIEW_PENDING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(보완 후면 RESUBMITTED)</a:t>
            </a:r>
          </a:p>
        </p:txBody>
      </p:sp>
      <p:cxnSp>
        <p:nvCxnSpPr>
          <p:cNvPr id="623" name="C624"/>
          <p:cNvCxnSpPr/>
          <p:nvPr/>
        </p:nvCxnSpPr>
        <p:spPr>
          <a:xfrm flipH="1">
            <a:off x="6321233" y="6144768"/>
            <a:ext cx="3379672" cy="1499616"/>
          </a:xfrm>
          <a:prstGeom prst="straightConnector1">
            <a:avLst/>
          </a:prstGeom>
          <a:ln w="22225">
            <a:solidFill>
              <a:srgbClr val="2B4FA8"/>
            </a:solidFill>
            <a:tailEnd type="triangle" w="med" len="med"/>
          </a:ln>
        </p:spPr>
      </p:cxnSp>
      <p:sp>
        <p:nvSpPr>
          <p:cNvPr id="625" name="S626"/>
          <p:cNvSpPr/>
          <p:nvPr/>
        </p:nvSpPr>
        <p:spPr>
          <a:xfrm>
            <a:off x="914400" y="8686800"/>
            <a:ext cx="16459200" cy="86868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27" name="T628"/>
          <p:cNvSpPr txBox="1"/>
          <p:nvPr/>
        </p:nvSpPr>
        <p:spPr>
          <a:xfrm>
            <a:off x="1371600" y="8686800"/>
            <a:ext cx="15544800" cy="8686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검증 오류 6종은 전부 차단 오류다. 하나라도 남으면 최종 제출이 422 로 막힌다.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⑥ 비교표에서 기준값과 다른 값을 붉게 표시해 어느 문서가 잘못됐는지 즉시 보이게 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UI 흐름 — 은행 상세 검토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629" name="P630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9802216" cy="6309360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631" name="T632"/>
          <p:cNvSpPr txBox="1"/>
          <p:nvPr/>
        </p:nvSpPr>
        <p:spPr>
          <a:xfrm>
            <a:off x="914400" y="1490472"/>
            <a:ext cx="16459200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SCR-REV-002 · 은행 상세 검토   —   대표 상태 : 재제출 건 검토 (RESUBMITTED)</a:t>
            </a:r>
          </a:p>
        </p:txBody>
      </p:sp>
      <p:sp>
        <p:nvSpPr>
          <p:cNvPr id="633" name="S634"/>
          <p:cNvSpPr/>
          <p:nvPr/>
        </p:nvSpPr>
        <p:spPr>
          <a:xfrm>
            <a:off x="11128096" y="1965960"/>
            <a:ext cx="6245504" cy="1591056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9050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635" name="T636"/>
          <p:cNvSpPr txBox="1"/>
          <p:nvPr/>
        </p:nvSpPr>
        <p:spPr>
          <a:xfrm>
            <a:off x="11384128" y="2112264"/>
            <a:ext cx="573344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GET /review/{id}</a:t>
            </a:r>
          </a:p>
        </p:txBody>
      </p:sp>
      <p:sp>
        <p:nvSpPr>
          <p:cNvPr id="637" name="T638"/>
          <p:cNvSpPr txBox="1"/>
          <p:nvPr/>
        </p:nvSpPr>
        <p:spPr>
          <a:xfrm>
            <a:off x="11384128" y="2551176"/>
            <a:ext cx="5733440" cy="8595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최신 원본·OCR 추출값·검증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결과·버전 이력을 한 번에 조회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원본은 만료 URL 로 제공</a:t>
            </a:r>
          </a:p>
        </p:txBody>
      </p:sp>
      <p:cxnSp>
        <p:nvCxnSpPr>
          <p:cNvPr id="639" name="C640"/>
          <p:cNvCxnSpPr/>
          <p:nvPr/>
        </p:nvCxnSpPr>
        <p:spPr>
          <a:xfrm flipH="1">
            <a:off x="6599686" y="2761488"/>
            <a:ext cx="4455259" cy="2043684"/>
          </a:xfrm>
          <a:prstGeom prst="straightConnector1">
            <a:avLst/>
          </a:prstGeom>
          <a:ln w="22225">
            <a:solidFill>
              <a:srgbClr val="EA002C"/>
            </a:solidFill>
            <a:tailEnd type="triangle" w="med" len="med"/>
          </a:ln>
        </p:spPr>
      </p:cxnSp>
      <p:sp>
        <p:nvSpPr>
          <p:cNvPr id="641" name="S642"/>
          <p:cNvSpPr/>
          <p:nvPr/>
        </p:nvSpPr>
        <p:spPr>
          <a:xfrm>
            <a:off x="11128096" y="3813048"/>
            <a:ext cx="6245504" cy="1591056"/>
          </a:xfrm>
          <a:prstGeom prst="roundRect">
            <a:avLst>
              <a:gd name="adj" fmla="val 5000"/>
            </a:avLst>
          </a:prstGeom>
          <a:solidFill>
            <a:srgbClr val="E8EEFC"/>
          </a:solidFill>
          <a:ln w="19050">
            <a:solidFill>
              <a:srgbClr val="2B4FA8"/>
            </a:solidFill>
          </a:ln>
        </p:spPr>
        <p:txBody>
          <a:bodyPr/>
          <a:lstStyle/>
          <a:p/>
        </p:txBody>
      </p:sp>
      <p:sp>
        <p:nvSpPr>
          <p:cNvPr id="643" name="T644"/>
          <p:cNvSpPr txBox="1"/>
          <p:nvPr/>
        </p:nvSpPr>
        <p:spPr>
          <a:xfrm>
            <a:off x="11384128" y="3959352"/>
            <a:ext cx="573344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2B4FA8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⑩ 보완 요청 모달</a:t>
            </a:r>
          </a:p>
        </p:txBody>
      </p:sp>
      <p:sp>
        <p:nvSpPr>
          <p:cNvPr id="645" name="T646"/>
          <p:cNvSpPr txBox="1"/>
          <p:nvPr/>
        </p:nvSpPr>
        <p:spPr>
          <a:xfrm>
            <a:off x="11384128" y="4398264"/>
            <a:ext cx="5733440" cy="8595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라디오 단일 선택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reviews.target_doc_type 과 일치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두 건이면 요청을 두 번 등록</a:t>
            </a:r>
          </a:p>
        </p:txBody>
      </p:sp>
      <p:cxnSp>
        <p:nvCxnSpPr>
          <p:cNvPr id="647" name="C648"/>
          <p:cNvCxnSpPr/>
          <p:nvPr/>
        </p:nvCxnSpPr>
        <p:spPr>
          <a:xfrm flipH="1">
            <a:off x="9540350" y="4608576"/>
            <a:ext cx="1514594" cy="1269187"/>
          </a:xfrm>
          <a:prstGeom prst="straightConnector1">
            <a:avLst/>
          </a:prstGeom>
          <a:ln w="22225">
            <a:solidFill>
              <a:srgbClr val="2B4FA8"/>
            </a:solidFill>
            <a:tailEnd type="triangle" w="med" len="med"/>
          </a:ln>
        </p:spPr>
      </p:cxnSp>
      <p:sp>
        <p:nvSpPr>
          <p:cNvPr id="649" name="S650"/>
          <p:cNvSpPr/>
          <p:nvPr/>
        </p:nvSpPr>
        <p:spPr>
          <a:xfrm>
            <a:off x="11128096" y="5660136"/>
            <a:ext cx="6245504" cy="1591056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9050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651" name="T652"/>
          <p:cNvSpPr txBox="1"/>
          <p:nvPr/>
        </p:nvSpPr>
        <p:spPr>
          <a:xfrm>
            <a:off x="11384128" y="5806440"/>
            <a:ext cx="573344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POST /decision</a:t>
            </a:r>
          </a:p>
        </p:txBody>
      </p:sp>
      <p:sp>
        <p:nvSpPr>
          <p:cNvPr id="653" name="T654"/>
          <p:cNvSpPr txBox="1"/>
          <p:nvPr/>
        </p:nvSpPr>
        <p:spPr>
          <a:xfrm>
            <a:off x="11384128" y="6245352"/>
            <a:ext cx="5733440" cy="8595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확인 완료 또는 보완 요청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보완은 대상 문서 1건 + 사유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타 담당자 선처리 시 409</a:t>
            </a:r>
          </a:p>
        </p:txBody>
      </p:sp>
      <p:cxnSp>
        <p:nvCxnSpPr>
          <p:cNvPr id="655" name="C656"/>
          <p:cNvCxnSpPr/>
          <p:nvPr/>
        </p:nvCxnSpPr>
        <p:spPr>
          <a:xfrm flipH="1">
            <a:off x="6991774" y="6455664"/>
            <a:ext cx="4063170" cy="1188720"/>
          </a:xfrm>
          <a:prstGeom prst="straightConnector1">
            <a:avLst/>
          </a:prstGeom>
          <a:ln w="22225">
            <a:solidFill>
              <a:srgbClr val="EA002C"/>
            </a:solidFill>
            <a:tailEnd type="triangle" w="med" len="med"/>
          </a:ln>
        </p:spPr>
      </p:cxnSp>
      <p:sp>
        <p:nvSpPr>
          <p:cNvPr id="657" name="S658"/>
          <p:cNvSpPr/>
          <p:nvPr/>
        </p:nvSpPr>
        <p:spPr>
          <a:xfrm>
            <a:off x="914400" y="8686800"/>
            <a:ext cx="16459200" cy="86868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659" name="T660"/>
          <p:cNvSpPr txBox="1"/>
          <p:nvPr/>
        </p:nvSpPr>
        <p:spPr>
          <a:xfrm>
            <a:off x="1371600" y="8686800"/>
            <a:ext cx="15544800" cy="8686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⑦ 이력은 업로드 처리자(submitted_documents.uploaded_by)와 검토 처리자(reviews.reviewer_id)를 각각 보여준다.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⑧ 서류 확인 완료가 대출 승인이 아님을 결정 버튼 옆에 상시 표시한다.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Macintosh PowerPoint</Application>
  <PresentationFormat>사용자 지정</PresentationFormat>
  <Paragraphs>34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Montserrat Bold</vt:lpstr>
      <vt:lpstr>Arial</vt:lpstr>
      <vt:lpstr>윤고딕 Medium</vt:lpstr>
      <vt:lpstr>Calibri</vt:lpstr>
      <vt:lpstr>윤고딕</vt:lpstr>
      <vt:lpstr>Montserrat Semi-Bold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#F47725</dc:title>
  <cp:lastModifiedBy>홍은비</cp:lastModifiedBy>
  <cp:revision>2</cp:revision>
  <dcterms:created xsi:type="dcterms:W3CDTF">2006-08-16T00:00:00Z</dcterms:created>
  <dcterms:modified xsi:type="dcterms:W3CDTF">2026-09-08T05:00:06Z</dcterms:modified>
  <dc:identifier>DAHUkV5Z42o</dc:identifier>
</cp:coreProperties>
</file>