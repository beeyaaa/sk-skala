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DTD한강고딕" charset="1" panose="02000503000000000000"/>
      <p:regular r:id="rId18"/>
    </p:embeddedFont>
    <p:embeddedFont>
      <p:font typeface="윤고딕 Light" charset="1" panose="020B0503000000000000"/>
      <p:regular r:id="rId19"/>
    </p:embeddedFont>
    <p:embeddedFont>
      <p:font typeface="윤고딕" charset="1" panose="020B0503000000000000"/>
      <p:regular r:id="rId20"/>
    </p:embeddedFont>
    <p:embeddedFont>
      <p:font typeface="윤고딕 Semi-Bold" charset="1" panose="020B0603000000000000"/>
      <p:regular r:id="rId21"/>
    </p:embeddedFont>
    <p:embeddedFont>
      <p:font typeface="각진펜" charset="1" panose="020B0500000000000000"/>
      <p:regular r:id="rId22"/>
    </p:embeddedFont>
    <p:embeddedFont>
      <p:font typeface="각진펜 Bold" charset="1" panose="020B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76300" y="73037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AutoShape 6" id="6"/>
          <p:cNvSpPr/>
          <p:nvPr/>
        </p:nvSpPr>
        <p:spPr>
          <a:xfrm>
            <a:off x="1875196" y="4211267"/>
            <a:ext cx="14537608" cy="0"/>
          </a:xfrm>
          <a:prstGeom prst="line">
            <a:avLst/>
          </a:prstGeom>
          <a:ln cap="flat" w="9525">
            <a:solidFill>
              <a:srgbClr val="7F90D4"/>
            </a:solidFill>
            <a:prstDash val="solid"/>
            <a:headEnd type="none" len="sm" w="sm"/>
            <a:tailEnd type="none" len="sm" w="sm"/>
          </a:ln>
        </p:spPr>
      </p:sp>
      <p:sp>
        <p:nvSpPr>
          <p:cNvPr name="TextBox 7" id="7"/>
          <p:cNvSpPr txBox="true"/>
          <p:nvPr/>
        </p:nvSpPr>
        <p:spPr>
          <a:xfrm rot="0">
            <a:off x="1824304" y="2541737"/>
            <a:ext cx="6735940" cy="1503053"/>
          </a:xfrm>
          <a:prstGeom prst="rect">
            <a:avLst/>
          </a:prstGeom>
        </p:spPr>
        <p:txBody>
          <a:bodyPr anchor="t" rtlCol="false" tIns="0" lIns="0" bIns="0" rIns="0">
            <a:spAutoFit/>
          </a:bodyPr>
          <a:lstStyle/>
          <a:p>
            <a:pPr algn="l">
              <a:lnSpc>
                <a:spcPts val="12179"/>
              </a:lnSpc>
              <a:spcBef>
                <a:spcPct val="0"/>
              </a:spcBef>
            </a:pPr>
            <a:r>
              <a:rPr lang="en-US" sz="8699">
                <a:solidFill>
                  <a:srgbClr val="7F90D4"/>
                </a:solidFill>
                <a:latin typeface="TDTD한강고딕"/>
                <a:ea typeface="TDTD한강고딕"/>
                <a:cs typeface="TDTD한강고딕"/>
                <a:sym typeface="TDTD한강고딕"/>
              </a:rPr>
              <a:t>SK SKALA</a:t>
            </a:r>
          </a:p>
        </p:txBody>
      </p:sp>
      <p:sp>
        <p:nvSpPr>
          <p:cNvPr name="TextBox 8" id="8"/>
          <p:cNvSpPr txBox="true"/>
          <p:nvPr/>
        </p:nvSpPr>
        <p:spPr>
          <a:xfrm rot="0">
            <a:off x="1875196" y="4501780"/>
            <a:ext cx="14537608" cy="420049"/>
          </a:xfrm>
          <a:prstGeom prst="rect">
            <a:avLst/>
          </a:prstGeom>
        </p:spPr>
        <p:txBody>
          <a:bodyPr anchor="t" rtlCol="false" tIns="0" lIns="0" bIns="0" rIns="0">
            <a:spAutoFit/>
          </a:bodyPr>
          <a:lstStyle/>
          <a:p>
            <a:pPr algn="l">
              <a:lnSpc>
                <a:spcPts val="3360"/>
              </a:lnSpc>
              <a:spcBef>
                <a:spcPct val="0"/>
              </a:spcBef>
            </a:pPr>
            <a:r>
              <a:rPr lang="en-US" sz="2400">
                <a:solidFill>
                  <a:srgbClr val="545454"/>
                </a:solidFill>
                <a:latin typeface="윤고딕 Light"/>
                <a:ea typeface="윤고딕 Light"/>
                <a:cs typeface="윤고딕 Light"/>
                <a:sym typeface="윤고딕 Light"/>
              </a:rPr>
              <a:t>Prompt 설계 및 Context Engineering</a:t>
            </a:r>
          </a:p>
        </p:txBody>
      </p:sp>
      <p:sp>
        <p:nvSpPr>
          <p:cNvPr name="TextBox 9" id="9"/>
          <p:cNvSpPr txBox="true"/>
          <p:nvPr/>
        </p:nvSpPr>
        <p:spPr>
          <a:xfrm rot="0">
            <a:off x="9922391" y="7590549"/>
            <a:ext cx="3912583" cy="365770"/>
          </a:xfrm>
          <a:prstGeom prst="rect">
            <a:avLst/>
          </a:prstGeom>
        </p:spPr>
        <p:txBody>
          <a:bodyPr anchor="t" rtlCol="false" tIns="0" lIns="0" bIns="0" rIns="0">
            <a:spAutoFit/>
          </a:bodyPr>
          <a:lstStyle/>
          <a:p>
            <a:pPr algn="r">
              <a:lnSpc>
                <a:spcPts val="2939"/>
              </a:lnSpc>
              <a:spcBef>
                <a:spcPct val="0"/>
              </a:spcBef>
            </a:pPr>
            <a:r>
              <a:rPr lang="en-US" sz="2099">
                <a:solidFill>
                  <a:srgbClr val="545454"/>
                </a:solidFill>
                <a:latin typeface="윤고딕"/>
                <a:ea typeface="윤고딕"/>
                <a:cs typeface="윤고딕"/>
                <a:sym typeface="윤고딕"/>
              </a:rPr>
              <a:t>불4조팀</a:t>
            </a:r>
          </a:p>
        </p:txBody>
      </p:sp>
      <p:sp>
        <p:nvSpPr>
          <p:cNvPr name="TextBox 10" id="10"/>
          <p:cNvSpPr txBox="true"/>
          <p:nvPr/>
        </p:nvSpPr>
        <p:spPr>
          <a:xfrm rot="0">
            <a:off x="12986604" y="8116141"/>
            <a:ext cx="3912583" cy="921999"/>
          </a:xfrm>
          <a:prstGeom prst="rect">
            <a:avLst/>
          </a:prstGeom>
        </p:spPr>
        <p:txBody>
          <a:bodyPr anchor="t" rtlCol="false" tIns="0" lIns="0" bIns="0" rIns="0">
            <a:spAutoFit/>
          </a:bodyPr>
          <a:lstStyle/>
          <a:p>
            <a:pPr algn="just">
              <a:lnSpc>
                <a:spcPts val="2468"/>
              </a:lnSpc>
            </a:pPr>
            <a:r>
              <a:rPr lang="en-US" sz="1763">
                <a:solidFill>
                  <a:srgbClr val="545454"/>
                </a:solidFill>
                <a:latin typeface="윤고딕 Semi-Bold"/>
                <a:ea typeface="윤고딕 Semi-Bold"/>
                <a:cs typeface="윤고딕 Semi-Bold"/>
                <a:sym typeface="윤고딕 Semi-Bold"/>
              </a:rPr>
              <a:t>박지훈 - 서비스 설계 및 발표|</a:t>
            </a:r>
          </a:p>
          <a:p>
            <a:pPr algn="just">
              <a:lnSpc>
                <a:spcPts val="2468"/>
              </a:lnSpc>
            </a:pPr>
            <a:r>
              <a:rPr lang="en-US" sz="1763">
                <a:solidFill>
                  <a:srgbClr val="545454"/>
                </a:solidFill>
                <a:latin typeface="윤고딕 Semi-Bold"/>
                <a:ea typeface="윤고딕 Semi-Bold"/>
                <a:cs typeface="윤고딕 Semi-Bold"/>
                <a:sym typeface="윤고딕 Semi-Bold"/>
              </a:rPr>
              <a:t>윤명진 - 서비스 설계 및 WORD 작성|</a:t>
            </a:r>
          </a:p>
          <a:p>
            <a:pPr algn="just">
              <a:lnSpc>
                <a:spcPts val="2468"/>
              </a:lnSpc>
              <a:spcBef>
                <a:spcPct val="0"/>
              </a:spcBef>
            </a:pPr>
            <a:r>
              <a:rPr lang="en-US" sz="1763">
                <a:solidFill>
                  <a:srgbClr val="545454"/>
                </a:solidFill>
                <a:latin typeface="윤고딕 Semi-Bold"/>
                <a:ea typeface="윤고딕 Semi-Bold"/>
                <a:cs typeface="윤고딕 Semi-Bold"/>
                <a:sym typeface="윤고딕 Semi-Bold"/>
              </a:rPr>
              <a:t>홍은비 - 서비스 설계 및 PPT 작성</a:t>
            </a:r>
          </a:p>
        </p:txBody>
      </p:sp>
      <p:sp>
        <p:nvSpPr>
          <p:cNvPr name="TextBox 11" id="11"/>
          <p:cNvSpPr txBox="true"/>
          <p:nvPr/>
        </p:nvSpPr>
        <p:spPr>
          <a:xfrm rot="0">
            <a:off x="1871929" y="2022124"/>
            <a:ext cx="5591266" cy="523375"/>
          </a:xfrm>
          <a:prstGeom prst="rect">
            <a:avLst/>
          </a:prstGeom>
        </p:spPr>
        <p:txBody>
          <a:bodyPr anchor="t" rtlCol="false" tIns="0" lIns="0" bIns="0" rIns="0">
            <a:spAutoFit/>
          </a:bodyPr>
          <a:lstStyle/>
          <a:p>
            <a:pPr algn="l">
              <a:lnSpc>
                <a:spcPts val="4226"/>
              </a:lnSpc>
              <a:spcBef>
                <a:spcPct val="0"/>
              </a:spcBef>
            </a:pPr>
            <a:r>
              <a:rPr lang="en-US" sz="3019">
                <a:solidFill>
                  <a:srgbClr val="000000"/>
                </a:solidFill>
                <a:latin typeface="TDTD한강고딕"/>
                <a:ea typeface="TDTD한강고딕"/>
                <a:cs typeface="TDTD한강고딕"/>
                <a:sym typeface="TDTD한강고딕"/>
              </a:rPr>
              <a:t>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76300" y="73037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AutoShape 6" id="6"/>
          <p:cNvSpPr/>
          <p:nvPr/>
        </p:nvSpPr>
        <p:spPr>
          <a:xfrm>
            <a:off x="1875196" y="3192092"/>
            <a:ext cx="14537608" cy="0"/>
          </a:xfrm>
          <a:prstGeom prst="line">
            <a:avLst/>
          </a:prstGeom>
          <a:ln cap="flat" w="9525">
            <a:solidFill>
              <a:srgbClr val="7F90D4"/>
            </a:solidFill>
            <a:prstDash val="solid"/>
            <a:headEnd type="none" len="sm" w="sm"/>
            <a:tailEnd type="none" len="sm" w="sm"/>
          </a:ln>
        </p:spPr>
      </p:sp>
      <p:sp>
        <p:nvSpPr>
          <p:cNvPr name="TextBox 7" id="7"/>
          <p:cNvSpPr txBox="true"/>
          <p:nvPr/>
        </p:nvSpPr>
        <p:spPr>
          <a:xfrm rot="0">
            <a:off x="2014804" y="1694012"/>
            <a:ext cx="2525890" cy="1278841"/>
          </a:xfrm>
          <a:prstGeom prst="rect">
            <a:avLst/>
          </a:prstGeom>
        </p:spPr>
        <p:txBody>
          <a:bodyPr anchor="t" rtlCol="false" tIns="0" lIns="0" bIns="0" rIns="0">
            <a:spAutoFit/>
          </a:bodyPr>
          <a:lstStyle/>
          <a:p>
            <a:pPr algn="l">
              <a:lnSpc>
                <a:spcPts val="10359"/>
              </a:lnSpc>
              <a:spcBef>
                <a:spcPct val="0"/>
              </a:spcBef>
            </a:pPr>
            <a:r>
              <a:rPr lang="en-US" sz="7399">
                <a:solidFill>
                  <a:srgbClr val="000000"/>
                </a:solidFill>
                <a:latin typeface="TDTD한강고딕"/>
                <a:ea typeface="TDTD한강고딕"/>
                <a:cs typeface="TDTD한강고딕"/>
                <a:sym typeface="TDTD한강고딕"/>
              </a:rPr>
              <a:t>목차</a:t>
            </a:r>
          </a:p>
        </p:txBody>
      </p:sp>
      <p:sp>
        <p:nvSpPr>
          <p:cNvPr name="TextBox 8" id="8"/>
          <p:cNvSpPr txBox="true"/>
          <p:nvPr/>
        </p:nvSpPr>
        <p:spPr>
          <a:xfrm rot="0">
            <a:off x="3010233" y="4195250"/>
            <a:ext cx="4722758" cy="3577588"/>
          </a:xfrm>
          <a:prstGeom prst="rect">
            <a:avLst/>
          </a:prstGeom>
        </p:spPr>
        <p:txBody>
          <a:bodyPr anchor="t" rtlCol="false" tIns="0" lIns="0" bIns="0" rIns="0">
            <a:spAutoFit/>
          </a:bodyPr>
          <a:lstStyle/>
          <a:p>
            <a:pPr algn="l">
              <a:lnSpc>
                <a:spcPts val="7200"/>
              </a:lnSpc>
            </a:pPr>
            <a:r>
              <a:rPr lang="en-US" sz="3600">
                <a:solidFill>
                  <a:srgbClr val="000000"/>
                </a:solidFill>
                <a:latin typeface="윤고딕"/>
                <a:ea typeface="윤고딕"/>
                <a:cs typeface="윤고딕"/>
                <a:sym typeface="윤고딕"/>
              </a:rPr>
              <a:t>문제상황</a:t>
            </a:r>
          </a:p>
          <a:p>
            <a:pPr algn="l">
              <a:lnSpc>
                <a:spcPts val="7200"/>
              </a:lnSpc>
            </a:pPr>
            <a:r>
              <a:rPr lang="en-US" sz="3600">
                <a:solidFill>
                  <a:srgbClr val="000000"/>
                </a:solidFill>
                <a:latin typeface="윤고딕"/>
                <a:ea typeface="윤고딕"/>
                <a:cs typeface="윤고딕"/>
                <a:sym typeface="윤고딕"/>
              </a:rPr>
              <a:t>Framework / 프롬프트</a:t>
            </a:r>
          </a:p>
          <a:p>
            <a:pPr algn="l">
              <a:lnSpc>
                <a:spcPts val="7200"/>
              </a:lnSpc>
            </a:pPr>
            <a:r>
              <a:rPr lang="en-US" sz="3600">
                <a:solidFill>
                  <a:srgbClr val="000000"/>
                </a:solidFill>
                <a:latin typeface="윤고딕"/>
                <a:ea typeface="윤고딕"/>
                <a:cs typeface="윤고딕"/>
                <a:sym typeface="윤고딕"/>
              </a:rPr>
              <a:t>프롬프트 결과</a:t>
            </a:r>
          </a:p>
          <a:p>
            <a:pPr algn="l">
              <a:lnSpc>
                <a:spcPts val="7200"/>
              </a:lnSpc>
            </a:pPr>
            <a:r>
              <a:rPr lang="en-US" sz="3600">
                <a:solidFill>
                  <a:srgbClr val="000000"/>
                </a:solidFill>
                <a:latin typeface="윤고딕"/>
                <a:ea typeface="윤고딕"/>
                <a:cs typeface="윤고딕"/>
                <a:sym typeface="윤고딕"/>
              </a:rPr>
              <a:t>기대 효과</a:t>
            </a:r>
          </a:p>
        </p:txBody>
      </p:sp>
      <p:sp>
        <p:nvSpPr>
          <p:cNvPr name="TextBox 9" id="9"/>
          <p:cNvSpPr txBox="true"/>
          <p:nvPr/>
        </p:nvSpPr>
        <p:spPr>
          <a:xfrm rot="0">
            <a:off x="2014804" y="4195250"/>
            <a:ext cx="1136015" cy="3577588"/>
          </a:xfrm>
          <a:prstGeom prst="rect">
            <a:avLst/>
          </a:prstGeom>
        </p:spPr>
        <p:txBody>
          <a:bodyPr anchor="t" rtlCol="false" tIns="0" lIns="0" bIns="0" rIns="0">
            <a:spAutoFit/>
          </a:bodyPr>
          <a:lstStyle/>
          <a:p>
            <a:pPr algn="l">
              <a:lnSpc>
                <a:spcPts val="7200"/>
              </a:lnSpc>
            </a:pPr>
            <a:r>
              <a:rPr lang="en-US" sz="3600">
                <a:solidFill>
                  <a:srgbClr val="7F90D4"/>
                </a:solidFill>
                <a:latin typeface="TDTD한강고딕"/>
                <a:ea typeface="TDTD한강고딕"/>
                <a:cs typeface="TDTD한강고딕"/>
                <a:sym typeface="TDTD한강고딕"/>
              </a:rPr>
              <a:t>01</a:t>
            </a:r>
          </a:p>
          <a:p>
            <a:pPr algn="l">
              <a:lnSpc>
                <a:spcPts val="7200"/>
              </a:lnSpc>
            </a:pPr>
            <a:r>
              <a:rPr lang="en-US" sz="3600">
                <a:solidFill>
                  <a:srgbClr val="7F90D4"/>
                </a:solidFill>
                <a:latin typeface="TDTD한강고딕"/>
                <a:ea typeface="TDTD한강고딕"/>
                <a:cs typeface="TDTD한강고딕"/>
                <a:sym typeface="TDTD한강고딕"/>
              </a:rPr>
              <a:t>02</a:t>
            </a:r>
          </a:p>
          <a:p>
            <a:pPr algn="l">
              <a:lnSpc>
                <a:spcPts val="7200"/>
              </a:lnSpc>
            </a:pPr>
            <a:r>
              <a:rPr lang="en-US" sz="3600">
                <a:solidFill>
                  <a:srgbClr val="7F90D4"/>
                </a:solidFill>
                <a:latin typeface="TDTD한강고딕"/>
                <a:ea typeface="TDTD한강고딕"/>
                <a:cs typeface="TDTD한강고딕"/>
                <a:sym typeface="TDTD한강고딕"/>
              </a:rPr>
              <a:t>03</a:t>
            </a:r>
          </a:p>
          <a:p>
            <a:pPr algn="l">
              <a:lnSpc>
                <a:spcPts val="7200"/>
              </a:lnSpc>
            </a:pPr>
            <a:r>
              <a:rPr lang="en-US" sz="3600">
                <a:solidFill>
                  <a:srgbClr val="7F90D4"/>
                </a:solidFill>
                <a:latin typeface="TDTD한강고딕"/>
                <a:ea typeface="TDTD한강고딕"/>
                <a:cs typeface="TDTD한강고딕"/>
                <a:sym typeface="TDTD한강고딕"/>
              </a:rPr>
              <a:t>04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1645"/>
            <a:chOff x="0" y="0"/>
            <a:chExt cx="24384000" cy="13708860"/>
          </a:xfrm>
        </p:grpSpPr>
        <p:sp>
          <p:nvSpPr>
            <p:cNvPr name="Freeform 3" id="3"/>
            <p:cNvSpPr/>
            <p:nvPr/>
          </p:nvSpPr>
          <p:spPr>
            <a:xfrm flipH="false" flipV="false" rot="0">
              <a:off x="0" y="0"/>
              <a:ext cx="24384000" cy="13708860"/>
            </a:xfrm>
            <a:custGeom>
              <a:avLst/>
              <a:gdLst/>
              <a:ahLst/>
              <a:cxnLst/>
              <a:rect r="r" b="b" t="t" l="l"/>
              <a:pathLst>
                <a:path h="13708860" w="24384000">
                  <a:moveTo>
                    <a:pt x="0" y="0"/>
                  </a:moveTo>
                  <a:lnTo>
                    <a:pt x="24384000" y="0"/>
                  </a:lnTo>
                  <a:lnTo>
                    <a:pt x="24384000" y="13708860"/>
                  </a:lnTo>
                  <a:lnTo>
                    <a:pt x="0" y="13708860"/>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168400" y="900789"/>
              <a:ext cx="22047200" cy="11768341"/>
              <a:chOff x="0" y="0"/>
              <a:chExt cx="4355002" cy="2324611"/>
            </a:xfrm>
          </p:grpSpPr>
          <p:sp>
            <p:nvSpPr>
              <p:cNvPr name="Freeform 5" id="5"/>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6" id="6"/>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grpSp>
      <p:sp>
        <p:nvSpPr>
          <p:cNvPr name="AutoShape 7" id="7"/>
          <p:cNvSpPr/>
          <p:nvPr/>
        </p:nvSpPr>
        <p:spPr>
          <a:xfrm>
            <a:off x="1855413" y="2131448"/>
            <a:ext cx="14537608" cy="0"/>
          </a:xfrm>
          <a:prstGeom prst="line">
            <a:avLst/>
          </a:prstGeom>
          <a:ln cap="flat" w="9525">
            <a:solidFill>
              <a:srgbClr val="7F90D4"/>
            </a:solidFill>
            <a:prstDash val="solid"/>
            <a:headEnd type="none" len="sm" w="sm"/>
            <a:tailEnd type="none" len="sm" w="sm"/>
          </a:ln>
        </p:spPr>
      </p:sp>
      <p:sp>
        <p:nvSpPr>
          <p:cNvPr name="Freeform 8" id="8"/>
          <p:cNvSpPr/>
          <p:nvPr/>
        </p:nvSpPr>
        <p:spPr>
          <a:xfrm flipH="false" flipV="false" rot="0">
            <a:off x="2227913" y="2467484"/>
            <a:ext cx="10054681" cy="1561063"/>
          </a:xfrm>
          <a:custGeom>
            <a:avLst/>
            <a:gdLst/>
            <a:ahLst/>
            <a:cxnLst/>
            <a:rect r="r" b="b" t="t" l="l"/>
            <a:pathLst>
              <a:path h="1561063" w="10054681">
                <a:moveTo>
                  <a:pt x="0" y="0"/>
                </a:moveTo>
                <a:lnTo>
                  <a:pt x="10054681" y="0"/>
                </a:lnTo>
                <a:lnTo>
                  <a:pt x="10054681" y="1561063"/>
                </a:lnTo>
                <a:lnTo>
                  <a:pt x="0" y="1561063"/>
                </a:lnTo>
                <a:lnTo>
                  <a:pt x="0" y="0"/>
                </a:lnTo>
                <a:close/>
              </a:path>
            </a:pathLst>
          </a:custGeom>
          <a:blipFill>
            <a:blip r:embed="rId4"/>
            <a:stretch>
              <a:fillRect l="0" t="0" r="-2469" b="0"/>
            </a:stretch>
          </a:blipFill>
          <a:ln cap="sq">
            <a:noFill/>
            <a:prstDash val="solid"/>
            <a:miter/>
          </a:ln>
        </p:spPr>
      </p:sp>
      <p:sp>
        <p:nvSpPr>
          <p:cNvPr name="TextBox 9" id="9"/>
          <p:cNvSpPr txBox="true"/>
          <p:nvPr/>
        </p:nvSpPr>
        <p:spPr>
          <a:xfrm rot="0">
            <a:off x="1992073" y="4121695"/>
            <a:ext cx="14303854" cy="4524373"/>
          </a:xfrm>
          <a:prstGeom prst="rect">
            <a:avLst/>
          </a:prstGeom>
        </p:spPr>
        <p:txBody>
          <a:bodyPr anchor="t" rtlCol="false" tIns="0" lIns="0" bIns="0" rIns="0">
            <a:spAutoFit/>
          </a:bodyPr>
          <a:lstStyle/>
          <a:p>
            <a:pPr algn="l" marL="647703" indent="-323852" lvl="1">
              <a:lnSpc>
                <a:spcPts val="6000"/>
              </a:lnSpc>
              <a:buFont typeface="Arial"/>
              <a:buChar char="•"/>
            </a:pPr>
            <a:r>
              <a:rPr lang="en-US" sz="3000">
                <a:solidFill>
                  <a:srgbClr val="000000"/>
                </a:solidFill>
                <a:latin typeface="윤고딕 Light"/>
                <a:ea typeface="윤고딕 Light"/>
                <a:cs typeface="윤고딕 Light"/>
                <a:sym typeface="윤고딕 Light"/>
              </a:rPr>
              <a:t>크레딧 구간 오판(98.7%→30%를 5%로 오판) → </a:t>
            </a:r>
            <a:r>
              <a:rPr lang="en-US" sz="3000">
                <a:solidFill>
                  <a:srgbClr val="FF3131"/>
                </a:solidFill>
                <a:latin typeface="윤고딕 Light"/>
                <a:ea typeface="윤고딕 Light"/>
                <a:cs typeface="윤고딕 Light"/>
                <a:sym typeface="윤고딕 Light"/>
              </a:rPr>
              <a:t>약 6배 금액 차이</a:t>
            </a:r>
          </a:p>
          <a:p>
            <a:pPr algn="l" marL="647703" indent="-323852" lvl="1">
              <a:lnSpc>
                <a:spcPts val="6000"/>
              </a:lnSpc>
              <a:buFont typeface="Arial"/>
              <a:buChar char="•"/>
            </a:pPr>
            <a:r>
              <a:rPr lang="en-US" sz="3000">
                <a:solidFill>
                  <a:srgbClr val="000000"/>
                </a:solidFill>
                <a:latin typeface="윤고딕 Light"/>
                <a:ea typeface="윤고딕 Light"/>
                <a:cs typeface="윤고딕 Light"/>
                <a:sym typeface="윤고딕 Light"/>
              </a:rPr>
              <a:t>담당자 오인 → 응답 오류, 고객 신뢰 저하</a:t>
            </a:r>
          </a:p>
          <a:p>
            <a:pPr algn="l">
              <a:lnSpc>
                <a:spcPts val="6000"/>
              </a:lnSpc>
            </a:pPr>
          </a:p>
          <a:p>
            <a:pPr algn="l" marL="647703" indent="-323852" lvl="1">
              <a:lnSpc>
                <a:spcPts val="6000"/>
              </a:lnSpc>
              <a:buFont typeface="Arial"/>
              <a:buChar char="•"/>
            </a:pPr>
            <a:r>
              <a:rPr lang="en-US" sz="3000">
                <a:solidFill>
                  <a:srgbClr val="000000"/>
                </a:solidFill>
                <a:latin typeface="윤고딕 Light"/>
                <a:ea typeface="윤고딕 Light"/>
                <a:cs typeface="윤고딕 Light"/>
                <a:sym typeface="윤고딕 Light"/>
              </a:rPr>
              <a:t>장애</a:t>
            </a:r>
            <a:r>
              <a:rPr lang="en-US" sz="3000">
                <a:solidFill>
                  <a:srgbClr val="000000"/>
                </a:solidFill>
                <a:latin typeface="윤고딕 Light"/>
                <a:ea typeface="윤고딕 Light"/>
                <a:cs typeface="윤고딕 Light"/>
                <a:sym typeface="윤고딕 Light"/>
              </a:rPr>
              <a:t> 중복 지급 → 재무 손실</a:t>
            </a:r>
          </a:p>
          <a:p>
            <a:pPr algn="l" marL="647703" indent="-323852" lvl="1">
              <a:lnSpc>
                <a:spcPts val="6000"/>
              </a:lnSpc>
              <a:buFont typeface="Arial"/>
              <a:buChar char="•"/>
            </a:pPr>
            <a:r>
              <a:rPr lang="en-US" sz="3000">
                <a:solidFill>
                  <a:srgbClr val="000000"/>
                </a:solidFill>
                <a:latin typeface="윤고딕 Light"/>
                <a:ea typeface="윤고딕 Light"/>
                <a:cs typeface="윤고딕 Light"/>
                <a:sym typeface="윤고딕 Light"/>
              </a:rPr>
              <a:t>환불 오안내 → 고객 분쟁</a:t>
            </a:r>
          </a:p>
          <a:p>
            <a:pPr algn="l">
              <a:lnSpc>
                <a:spcPts val="6000"/>
              </a:lnSpc>
            </a:pPr>
          </a:p>
        </p:txBody>
      </p:sp>
      <p:sp>
        <p:nvSpPr>
          <p:cNvPr name="TextBox 10" id="10"/>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01</a:t>
            </a:r>
          </a:p>
        </p:txBody>
      </p:sp>
      <p:sp>
        <p:nvSpPr>
          <p:cNvPr name="TextBox 11" id="11"/>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문제상황</a:t>
            </a:r>
          </a:p>
        </p:txBody>
      </p:sp>
      <p:sp>
        <p:nvSpPr>
          <p:cNvPr name="AutoShape 12" id="12"/>
          <p:cNvSpPr/>
          <p:nvPr/>
        </p:nvSpPr>
        <p:spPr>
          <a:xfrm>
            <a:off x="6499322" y="2830121"/>
            <a:ext cx="4019938" cy="0"/>
          </a:xfrm>
          <a:prstGeom prst="line">
            <a:avLst/>
          </a:prstGeom>
          <a:ln cap="flat" w="38100">
            <a:solidFill>
              <a:srgbClr val="FF3131"/>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3763" y="80621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5400000">
            <a:off x="4014333" y="5333187"/>
            <a:ext cx="418974" cy="294474"/>
            <a:chOff x="0" y="0"/>
            <a:chExt cx="812800" cy="571273"/>
          </a:xfrm>
        </p:grpSpPr>
        <p:sp>
          <p:nvSpPr>
            <p:cNvPr name="Freeform 7" id="7"/>
            <p:cNvSpPr/>
            <p:nvPr/>
          </p:nvSpPr>
          <p:spPr>
            <a:xfrm flipH="false" flipV="false" rot="0">
              <a:off x="0" y="0"/>
              <a:ext cx="812800" cy="571273"/>
            </a:xfrm>
            <a:custGeom>
              <a:avLst/>
              <a:gdLst/>
              <a:ahLst/>
              <a:cxnLst/>
              <a:rect r="r" b="b" t="t" l="l"/>
              <a:pathLst>
                <a:path h="571273" w="812800">
                  <a:moveTo>
                    <a:pt x="406400" y="0"/>
                  </a:moveTo>
                  <a:lnTo>
                    <a:pt x="812800" y="571273"/>
                  </a:lnTo>
                  <a:lnTo>
                    <a:pt x="0" y="571273"/>
                  </a:lnTo>
                  <a:lnTo>
                    <a:pt x="406400" y="0"/>
                  </a:lnTo>
                  <a:close/>
                </a:path>
              </a:pathLst>
            </a:custGeom>
            <a:solidFill>
              <a:srgbClr val="7F90D4"/>
            </a:solidFill>
          </p:spPr>
        </p:sp>
        <p:sp>
          <p:nvSpPr>
            <p:cNvPr name="TextBox 8" id="8"/>
            <p:cNvSpPr txBox="true"/>
            <p:nvPr/>
          </p:nvSpPr>
          <p:spPr>
            <a:xfrm>
              <a:off x="127000" y="227134"/>
              <a:ext cx="558800" cy="303334"/>
            </a:xfrm>
            <a:prstGeom prst="rect">
              <a:avLst/>
            </a:prstGeom>
          </p:spPr>
          <p:txBody>
            <a:bodyPr anchor="ctr" rtlCol="false" tIns="50800" lIns="50800" bIns="50800" rIns="50800"/>
            <a:lstStyle/>
            <a:p>
              <a:pPr algn="ctr">
                <a:lnSpc>
                  <a:spcPts val="2520"/>
                </a:lnSpc>
              </a:pPr>
            </a:p>
          </p:txBody>
        </p:sp>
      </p:grpSp>
      <p:sp>
        <p:nvSpPr>
          <p:cNvPr name="AutoShape 9" id="9"/>
          <p:cNvSpPr/>
          <p:nvPr/>
        </p:nvSpPr>
        <p:spPr>
          <a:xfrm>
            <a:off x="1855413" y="2131448"/>
            <a:ext cx="14537608" cy="0"/>
          </a:xfrm>
          <a:prstGeom prst="line">
            <a:avLst/>
          </a:prstGeom>
          <a:ln cap="flat" w="9525">
            <a:solidFill>
              <a:srgbClr val="7F90D4"/>
            </a:solidFill>
            <a:prstDash val="solid"/>
            <a:headEnd type="none" len="sm" w="sm"/>
            <a:tailEnd type="none" len="sm" w="sm"/>
          </a:ln>
        </p:spPr>
      </p:sp>
      <p:grpSp>
        <p:nvGrpSpPr>
          <p:cNvPr name="Group 10" id="10"/>
          <p:cNvGrpSpPr/>
          <p:nvPr/>
        </p:nvGrpSpPr>
        <p:grpSpPr>
          <a:xfrm rot="0">
            <a:off x="1217555" y="4261348"/>
            <a:ext cx="2665738" cy="2438152"/>
            <a:chOff x="0" y="0"/>
            <a:chExt cx="3554317" cy="3250869"/>
          </a:xfrm>
        </p:grpSpPr>
        <p:grpSp>
          <p:nvGrpSpPr>
            <p:cNvPr name="Group 11" id="11"/>
            <p:cNvGrpSpPr/>
            <p:nvPr/>
          </p:nvGrpSpPr>
          <p:grpSpPr>
            <a:xfrm rot="0">
              <a:off x="189417" y="0"/>
              <a:ext cx="3250869" cy="325086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EAEB"/>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263811" y="645876"/>
              <a:ext cx="3087026" cy="404072"/>
            </a:xfrm>
            <a:prstGeom prst="rect">
              <a:avLst/>
            </a:prstGeom>
          </p:spPr>
          <p:txBody>
            <a:bodyPr anchor="t" rtlCol="false" tIns="0" lIns="0" bIns="0" rIns="0">
              <a:spAutoFit/>
            </a:bodyPr>
            <a:lstStyle/>
            <a:p>
              <a:pPr algn="ctr">
                <a:lnSpc>
                  <a:spcPts val="2320"/>
                </a:lnSpc>
              </a:pPr>
              <a:r>
                <a:rPr lang="en-US" sz="2000">
                  <a:solidFill>
                    <a:srgbClr val="545454"/>
                  </a:solidFill>
                  <a:latin typeface="TDTD한강고딕"/>
                  <a:ea typeface="TDTD한강고딕"/>
                  <a:cs typeface="TDTD한강고딕"/>
                  <a:sym typeface="TDTD한강고딕"/>
                </a:rPr>
                <a:t>STEP 01</a:t>
              </a:r>
            </a:p>
          </p:txBody>
        </p:sp>
        <p:sp>
          <p:nvSpPr>
            <p:cNvPr name="TextBox 15" id="15"/>
            <p:cNvSpPr txBox="true"/>
            <p:nvPr/>
          </p:nvSpPr>
          <p:spPr>
            <a:xfrm rot="0">
              <a:off x="0" y="1508498"/>
              <a:ext cx="3554317" cy="59499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기억 정제</a:t>
              </a:r>
            </a:p>
          </p:txBody>
        </p:sp>
      </p:grpSp>
      <p:sp>
        <p:nvSpPr>
          <p:cNvPr name="TextBox 16" id="16"/>
          <p:cNvSpPr txBox="true"/>
          <p:nvPr/>
        </p:nvSpPr>
        <p:spPr>
          <a:xfrm rot="0">
            <a:off x="8618420" y="4946811"/>
            <a:ext cx="55141"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각진펜"/>
                <a:ea typeface="각진펜"/>
                <a:cs typeface="각진펜"/>
                <a:sym typeface="각진펜"/>
              </a:rPr>
              <a:t>·</a:t>
            </a:r>
          </a:p>
        </p:txBody>
      </p:sp>
      <p:sp>
        <p:nvSpPr>
          <p:cNvPr name="TextBox 17" id="17"/>
          <p:cNvSpPr txBox="true"/>
          <p:nvPr/>
        </p:nvSpPr>
        <p:spPr>
          <a:xfrm rot="0">
            <a:off x="8618420" y="4946811"/>
            <a:ext cx="55141"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각진펜"/>
                <a:ea typeface="각진펜"/>
                <a:cs typeface="각진펜"/>
                <a:sym typeface="각진펜"/>
              </a:rPr>
              <a:t>·</a:t>
            </a:r>
          </a:p>
        </p:txBody>
      </p:sp>
      <p:grpSp>
        <p:nvGrpSpPr>
          <p:cNvPr name="Group 18" id="18"/>
          <p:cNvGrpSpPr/>
          <p:nvPr/>
        </p:nvGrpSpPr>
        <p:grpSpPr>
          <a:xfrm rot="5400000">
            <a:off x="7358335" y="5333187"/>
            <a:ext cx="418974" cy="294474"/>
            <a:chOff x="0" y="0"/>
            <a:chExt cx="812800" cy="571273"/>
          </a:xfrm>
        </p:grpSpPr>
        <p:sp>
          <p:nvSpPr>
            <p:cNvPr name="Freeform 19" id="19"/>
            <p:cNvSpPr/>
            <p:nvPr/>
          </p:nvSpPr>
          <p:spPr>
            <a:xfrm flipH="false" flipV="false" rot="0">
              <a:off x="0" y="0"/>
              <a:ext cx="812800" cy="571273"/>
            </a:xfrm>
            <a:custGeom>
              <a:avLst/>
              <a:gdLst/>
              <a:ahLst/>
              <a:cxnLst/>
              <a:rect r="r" b="b" t="t" l="l"/>
              <a:pathLst>
                <a:path h="571273" w="812800">
                  <a:moveTo>
                    <a:pt x="406400" y="0"/>
                  </a:moveTo>
                  <a:lnTo>
                    <a:pt x="812800" y="571273"/>
                  </a:lnTo>
                  <a:lnTo>
                    <a:pt x="0" y="571273"/>
                  </a:lnTo>
                  <a:lnTo>
                    <a:pt x="406400" y="0"/>
                  </a:lnTo>
                  <a:close/>
                </a:path>
              </a:pathLst>
            </a:custGeom>
            <a:solidFill>
              <a:srgbClr val="7F90D4"/>
            </a:solidFill>
          </p:spPr>
        </p:sp>
        <p:sp>
          <p:nvSpPr>
            <p:cNvPr name="TextBox 20" id="20"/>
            <p:cNvSpPr txBox="true"/>
            <p:nvPr/>
          </p:nvSpPr>
          <p:spPr>
            <a:xfrm>
              <a:off x="127000" y="227134"/>
              <a:ext cx="558800" cy="303334"/>
            </a:xfrm>
            <a:prstGeom prst="rect">
              <a:avLst/>
            </a:prstGeom>
          </p:spPr>
          <p:txBody>
            <a:bodyPr anchor="ctr" rtlCol="false" tIns="50800" lIns="50800" bIns="50800" rIns="50800"/>
            <a:lstStyle/>
            <a:p>
              <a:pPr algn="ctr">
                <a:lnSpc>
                  <a:spcPts val="2520"/>
                </a:lnSpc>
              </a:pPr>
            </a:p>
          </p:txBody>
        </p:sp>
      </p:grpSp>
      <p:grpSp>
        <p:nvGrpSpPr>
          <p:cNvPr name="Group 21" id="21"/>
          <p:cNvGrpSpPr/>
          <p:nvPr/>
        </p:nvGrpSpPr>
        <p:grpSpPr>
          <a:xfrm rot="0">
            <a:off x="4561557" y="4261348"/>
            <a:ext cx="2665738" cy="2438152"/>
            <a:chOff x="0" y="0"/>
            <a:chExt cx="3554317" cy="3250869"/>
          </a:xfrm>
        </p:grpSpPr>
        <p:grpSp>
          <p:nvGrpSpPr>
            <p:cNvPr name="Group 22" id="22"/>
            <p:cNvGrpSpPr/>
            <p:nvPr/>
          </p:nvGrpSpPr>
          <p:grpSpPr>
            <a:xfrm rot="0">
              <a:off x="189417" y="0"/>
              <a:ext cx="3250869" cy="325086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EAEB"/>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25" id="25"/>
            <p:cNvSpPr txBox="true"/>
            <p:nvPr/>
          </p:nvSpPr>
          <p:spPr>
            <a:xfrm rot="0">
              <a:off x="263811" y="645876"/>
              <a:ext cx="3087026" cy="404072"/>
            </a:xfrm>
            <a:prstGeom prst="rect">
              <a:avLst/>
            </a:prstGeom>
          </p:spPr>
          <p:txBody>
            <a:bodyPr anchor="t" rtlCol="false" tIns="0" lIns="0" bIns="0" rIns="0">
              <a:spAutoFit/>
            </a:bodyPr>
            <a:lstStyle/>
            <a:p>
              <a:pPr algn="ctr">
                <a:lnSpc>
                  <a:spcPts val="2320"/>
                </a:lnSpc>
              </a:pPr>
              <a:r>
                <a:rPr lang="en-US" sz="2000">
                  <a:solidFill>
                    <a:srgbClr val="545454"/>
                  </a:solidFill>
                  <a:latin typeface="TDTD한강고딕"/>
                  <a:ea typeface="TDTD한강고딕"/>
                  <a:cs typeface="TDTD한강고딕"/>
                  <a:sym typeface="TDTD한강고딕"/>
                </a:rPr>
                <a:t>STEP 02</a:t>
              </a:r>
            </a:p>
          </p:txBody>
        </p:sp>
        <p:sp>
          <p:nvSpPr>
            <p:cNvPr name="TextBox 26" id="26"/>
            <p:cNvSpPr txBox="true"/>
            <p:nvPr/>
          </p:nvSpPr>
          <p:spPr>
            <a:xfrm rot="0">
              <a:off x="0" y="1508498"/>
              <a:ext cx="3554317" cy="59499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정책 검색</a:t>
              </a:r>
            </a:p>
          </p:txBody>
        </p:sp>
      </p:grpSp>
      <p:grpSp>
        <p:nvGrpSpPr>
          <p:cNvPr name="Group 27" id="27"/>
          <p:cNvGrpSpPr/>
          <p:nvPr/>
        </p:nvGrpSpPr>
        <p:grpSpPr>
          <a:xfrm rot="5400000">
            <a:off x="10702336" y="5333187"/>
            <a:ext cx="418974" cy="294474"/>
            <a:chOff x="0" y="0"/>
            <a:chExt cx="812800" cy="571273"/>
          </a:xfrm>
        </p:grpSpPr>
        <p:sp>
          <p:nvSpPr>
            <p:cNvPr name="Freeform 28" id="28"/>
            <p:cNvSpPr/>
            <p:nvPr/>
          </p:nvSpPr>
          <p:spPr>
            <a:xfrm flipH="false" flipV="false" rot="0">
              <a:off x="0" y="0"/>
              <a:ext cx="812800" cy="571273"/>
            </a:xfrm>
            <a:custGeom>
              <a:avLst/>
              <a:gdLst/>
              <a:ahLst/>
              <a:cxnLst/>
              <a:rect r="r" b="b" t="t" l="l"/>
              <a:pathLst>
                <a:path h="571273" w="812800">
                  <a:moveTo>
                    <a:pt x="406400" y="0"/>
                  </a:moveTo>
                  <a:lnTo>
                    <a:pt x="812800" y="571273"/>
                  </a:lnTo>
                  <a:lnTo>
                    <a:pt x="0" y="571273"/>
                  </a:lnTo>
                  <a:lnTo>
                    <a:pt x="406400" y="0"/>
                  </a:lnTo>
                  <a:close/>
                </a:path>
              </a:pathLst>
            </a:custGeom>
            <a:solidFill>
              <a:srgbClr val="7F90D4"/>
            </a:solidFill>
          </p:spPr>
        </p:sp>
        <p:sp>
          <p:nvSpPr>
            <p:cNvPr name="TextBox 29" id="29"/>
            <p:cNvSpPr txBox="true"/>
            <p:nvPr/>
          </p:nvSpPr>
          <p:spPr>
            <a:xfrm>
              <a:off x="127000" y="227134"/>
              <a:ext cx="558800" cy="303334"/>
            </a:xfrm>
            <a:prstGeom prst="rect">
              <a:avLst/>
            </a:prstGeom>
          </p:spPr>
          <p:txBody>
            <a:bodyPr anchor="ctr" rtlCol="false" tIns="50800" lIns="50800" bIns="50800" rIns="50800"/>
            <a:lstStyle/>
            <a:p>
              <a:pPr algn="ctr">
                <a:lnSpc>
                  <a:spcPts val="2520"/>
                </a:lnSpc>
              </a:pPr>
            </a:p>
          </p:txBody>
        </p:sp>
      </p:grpSp>
      <p:grpSp>
        <p:nvGrpSpPr>
          <p:cNvPr name="Group 30" id="30"/>
          <p:cNvGrpSpPr/>
          <p:nvPr/>
        </p:nvGrpSpPr>
        <p:grpSpPr>
          <a:xfrm rot="0">
            <a:off x="7905558" y="4261348"/>
            <a:ext cx="2665738" cy="2438152"/>
            <a:chOff x="0" y="0"/>
            <a:chExt cx="3554317" cy="3250869"/>
          </a:xfrm>
        </p:grpSpPr>
        <p:grpSp>
          <p:nvGrpSpPr>
            <p:cNvPr name="Group 31" id="31"/>
            <p:cNvGrpSpPr/>
            <p:nvPr/>
          </p:nvGrpSpPr>
          <p:grpSpPr>
            <a:xfrm rot="0">
              <a:off x="189417" y="0"/>
              <a:ext cx="3250869" cy="3250869"/>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EAEB"/>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34" id="34"/>
            <p:cNvSpPr txBox="true"/>
            <p:nvPr/>
          </p:nvSpPr>
          <p:spPr>
            <a:xfrm rot="0">
              <a:off x="263811" y="645876"/>
              <a:ext cx="3087026" cy="404072"/>
            </a:xfrm>
            <a:prstGeom prst="rect">
              <a:avLst/>
            </a:prstGeom>
          </p:spPr>
          <p:txBody>
            <a:bodyPr anchor="t" rtlCol="false" tIns="0" lIns="0" bIns="0" rIns="0">
              <a:spAutoFit/>
            </a:bodyPr>
            <a:lstStyle/>
            <a:p>
              <a:pPr algn="ctr">
                <a:lnSpc>
                  <a:spcPts val="2320"/>
                </a:lnSpc>
              </a:pPr>
              <a:r>
                <a:rPr lang="en-US" sz="2000">
                  <a:solidFill>
                    <a:srgbClr val="545454"/>
                  </a:solidFill>
                  <a:latin typeface="TDTD한강고딕"/>
                  <a:ea typeface="TDTD한강고딕"/>
                  <a:cs typeface="TDTD한강고딕"/>
                  <a:sym typeface="TDTD한강고딕"/>
                </a:rPr>
                <a:t>STEP 03</a:t>
              </a:r>
            </a:p>
          </p:txBody>
        </p:sp>
        <p:sp>
          <p:nvSpPr>
            <p:cNvPr name="TextBox 35" id="35"/>
            <p:cNvSpPr txBox="true"/>
            <p:nvPr/>
          </p:nvSpPr>
          <p:spPr>
            <a:xfrm rot="0">
              <a:off x="0" y="1508498"/>
              <a:ext cx="3554317" cy="59499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판단·계산</a:t>
              </a:r>
            </a:p>
          </p:txBody>
        </p:sp>
      </p:grpSp>
      <p:grpSp>
        <p:nvGrpSpPr>
          <p:cNvPr name="Group 36" id="36"/>
          <p:cNvGrpSpPr/>
          <p:nvPr/>
        </p:nvGrpSpPr>
        <p:grpSpPr>
          <a:xfrm rot="5400000">
            <a:off x="14046338" y="5333187"/>
            <a:ext cx="418974" cy="294474"/>
            <a:chOff x="0" y="0"/>
            <a:chExt cx="812800" cy="571273"/>
          </a:xfrm>
        </p:grpSpPr>
        <p:sp>
          <p:nvSpPr>
            <p:cNvPr name="Freeform 37" id="37"/>
            <p:cNvSpPr/>
            <p:nvPr/>
          </p:nvSpPr>
          <p:spPr>
            <a:xfrm flipH="false" flipV="false" rot="0">
              <a:off x="0" y="0"/>
              <a:ext cx="812800" cy="571273"/>
            </a:xfrm>
            <a:custGeom>
              <a:avLst/>
              <a:gdLst/>
              <a:ahLst/>
              <a:cxnLst/>
              <a:rect r="r" b="b" t="t" l="l"/>
              <a:pathLst>
                <a:path h="571273" w="812800">
                  <a:moveTo>
                    <a:pt x="406400" y="0"/>
                  </a:moveTo>
                  <a:lnTo>
                    <a:pt x="812800" y="571273"/>
                  </a:lnTo>
                  <a:lnTo>
                    <a:pt x="0" y="571273"/>
                  </a:lnTo>
                  <a:lnTo>
                    <a:pt x="406400" y="0"/>
                  </a:lnTo>
                  <a:close/>
                </a:path>
              </a:pathLst>
            </a:custGeom>
            <a:solidFill>
              <a:srgbClr val="7F90D4"/>
            </a:solidFill>
          </p:spPr>
        </p:sp>
        <p:sp>
          <p:nvSpPr>
            <p:cNvPr name="TextBox 38" id="38"/>
            <p:cNvSpPr txBox="true"/>
            <p:nvPr/>
          </p:nvSpPr>
          <p:spPr>
            <a:xfrm>
              <a:off x="127000" y="227134"/>
              <a:ext cx="558800" cy="303334"/>
            </a:xfrm>
            <a:prstGeom prst="rect">
              <a:avLst/>
            </a:prstGeom>
          </p:spPr>
          <p:txBody>
            <a:bodyPr anchor="ctr" rtlCol="false" tIns="50800" lIns="50800" bIns="50800" rIns="50800"/>
            <a:lstStyle/>
            <a:p>
              <a:pPr algn="ctr">
                <a:lnSpc>
                  <a:spcPts val="2520"/>
                </a:lnSpc>
              </a:pPr>
            </a:p>
          </p:txBody>
        </p:sp>
      </p:grpSp>
      <p:grpSp>
        <p:nvGrpSpPr>
          <p:cNvPr name="Group 39" id="39"/>
          <p:cNvGrpSpPr/>
          <p:nvPr/>
        </p:nvGrpSpPr>
        <p:grpSpPr>
          <a:xfrm rot="0">
            <a:off x="11249560" y="4261348"/>
            <a:ext cx="2665738" cy="2438152"/>
            <a:chOff x="0" y="0"/>
            <a:chExt cx="3554317" cy="3250869"/>
          </a:xfrm>
        </p:grpSpPr>
        <p:grpSp>
          <p:nvGrpSpPr>
            <p:cNvPr name="Group 40" id="40"/>
            <p:cNvGrpSpPr/>
            <p:nvPr/>
          </p:nvGrpSpPr>
          <p:grpSpPr>
            <a:xfrm rot="0">
              <a:off x="189417" y="0"/>
              <a:ext cx="3250869" cy="3250869"/>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EAEB"/>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43" id="43"/>
            <p:cNvSpPr txBox="true"/>
            <p:nvPr/>
          </p:nvSpPr>
          <p:spPr>
            <a:xfrm rot="0">
              <a:off x="263811" y="645876"/>
              <a:ext cx="3087026" cy="404072"/>
            </a:xfrm>
            <a:prstGeom prst="rect">
              <a:avLst/>
            </a:prstGeom>
          </p:spPr>
          <p:txBody>
            <a:bodyPr anchor="t" rtlCol="false" tIns="0" lIns="0" bIns="0" rIns="0">
              <a:spAutoFit/>
            </a:bodyPr>
            <a:lstStyle/>
            <a:p>
              <a:pPr algn="ctr">
                <a:lnSpc>
                  <a:spcPts val="2320"/>
                </a:lnSpc>
              </a:pPr>
              <a:r>
                <a:rPr lang="en-US" sz="2000">
                  <a:solidFill>
                    <a:srgbClr val="545454"/>
                  </a:solidFill>
                  <a:latin typeface="TDTD한강고딕"/>
                  <a:ea typeface="TDTD한강고딕"/>
                  <a:cs typeface="TDTD한강고딕"/>
                  <a:sym typeface="TDTD한강고딕"/>
                </a:rPr>
                <a:t>STEP 04</a:t>
              </a:r>
            </a:p>
          </p:txBody>
        </p:sp>
        <p:sp>
          <p:nvSpPr>
            <p:cNvPr name="TextBox 44" id="44"/>
            <p:cNvSpPr txBox="true"/>
            <p:nvPr/>
          </p:nvSpPr>
          <p:spPr>
            <a:xfrm rot="0">
              <a:off x="0" y="1508498"/>
              <a:ext cx="3554317" cy="59499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독립 검증</a:t>
              </a:r>
            </a:p>
          </p:txBody>
        </p:sp>
      </p:grpSp>
      <p:grpSp>
        <p:nvGrpSpPr>
          <p:cNvPr name="Group 45" id="45"/>
          <p:cNvGrpSpPr/>
          <p:nvPr/>
        </p:nvGrpSpPr>
        <p:grpSpPr>
          <a:xfrm rot="0">
            <a:off x="14593562" y="4261348"/>
            <a:ext cx="2665738" cy="2438152"/>
            <a:chOff x="0" y="0"/>
            <a:chExt cx="3554317" cy="3250869"/>
          </a:xfrm>
        </p:grpSpPr>
        <p:grpSp>
          <p:nvGrpSpPr>
            <p:cNvPr name="Group 46" id="46"/>
            <p:cNvGrpSpPr/>
            <p:nvPr/>
          </p:nvGrpSpPr>
          <p:grpSpPr>
            <a:xfrm rot="0">
              <a:off x="189417" y="0"/>
              <a:ext cx="3250869" cy="3250869"/>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EAEB"/>
              </a:solidFill>
            </p:spPr>
          </p:sp>
          <p:sp>
            <p:nvSpPr>
              <p:cNvPr name="TextBox 48" id="4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49" id="49"/>
            <p:cNvSpPr txBox="true"/>
            <p:nvPr/>
          </p:nvSpPr>
          <p:spPr>
            <a:xfrm rot="0">
              <a:off x="263811" y="645876"/>
              <a:ext cx="3087026" cy="404072"/>
            </a:xfrm>
            <a:prstGeom prst="rect">
              <a:avLst/>
            </a:prstGeom>
          </p:spPr>
          <p:txBody>
            <a:bodyPr anchor="t" rtlCol="false" tIns="0" lIns="0" bIns="0" rIns="0">
              <a:spAutoFit/>
            </a:bodyPr>
            <a:lstStyle/>
            <a:p>
              <a:pPr algn="ctr">
                <a:lnSpc>
                  <a:spcPts val="2320"/>
                </a:lnSpc>
              </a:pPr>
              <a:r>
                <a:rPr lang="en-US" sz="2000">
                  <a:solidFill>
                    <a:srgbClr val="545454"/>
                  </a:solidFill>
                  <a:latin typeface="TDTD한강고딕"/>
                  <a:ea typeface="TDTD한강고딕"/>
                  <a:cs typeface="TDTD한강고딕"/>
                  <a:sym typeface="TDTD한강고딕"/>
                </a:rPr>
                <a:t>STEP 05</a:t>
              </a:r>
            </a:p>
          </p:txBody>
        </p:sp>
        <p:sp>
          <p:nvSpPr>
            <p:cNvPr name="TextBox 50" id="50"/>
            <p:cNvSpPr txBox="true"/>
            <p:nvPr/>
          </p:nvSpPr>
          <p:spPr>
            <a:xfrm rot="0">
              <a:off x="0" y="1508498"/>
              <a:ext cx="3554317" cy="59499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고객 답변</a:t>
              </a:r>
            </a:p>
          </p:txBody>
        </p:sp>
      </p:grpSp>
      <p:sp>
        <p:nvSpPr>
          <p:cNvPr name="TextBox 51" id="51"/>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02</a:t>
            </a:r>
          </a:p>
        </p:txBody>
      </p:sp>
      <p:sp>
        <p:nvSpPr>
          <p:cNvPr name="TextBox 52" id="52"/>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Framework</a:t>
            </a:r>
          </a:p>
        </p:txBody>
      </p:sp>
      <p:grpSp>
        <p:nvGrpSpPr>
          <p:cNvPr name="Group 53" id="53"/>
          <p:cNvGrpSpPr/>
          <p:nvPr/>
        </p:nvGrpSpPr>
        <p:grpSpPr>
          <a:xfrm rot="0">
            <a:off x="1646931" y="2314136"/>
            <a:ext cx="1471427" cy="1412245"/>
            <a:chOff x="0" y="0"/>
            <a:chExt cx="1961903" cy="1882993"/>
          </a:xfrm>
        </p:grpSpPr>
        <p:grpSp>
          <p:nvGrpSpPr>
            <p:cNvPr name="Group 54" id="54"/>
            <p:cNvGrpSpPr/>
            <p:nvPr/>
          </p:nvGrpSpPr>
          <p:grpSpPr>
            <a:xfrm rot="0">
              <a:off x="0" y="0"/>
              <a:ext cx="1961903" cy="1882993"/>
              <a:chOff x="0" y="0"/>
              <a:chExt cx="812800" cy="780109"/>
            </a:xfrm>
          </p:grpSpPr>
          <p:sp>
            <p:nvSpPr>
              <p:cNvPr name="Freeform 55" id="55"/>
              <p:cNvSpPr/>
              <p:nvPr/>
            </p:nvSpPr>
            <p:spPr>
              <a:xfrm flipH="false" flipV="false" rot="0">
                <a:off x="0" y="0"/>
                <a:ext cx="812800" cy="780109"/>
              </a:xfrm>
              <a:custGeom>
                <a:avLst/>
                <a:gdLst/>
                <a:ahLst/>
                <a:cxnLst/>
                <a:rect r="r" b="b" t="t" l="l"/>
                <a:pathLst>
                  <a:path h="780109" w="812800">
                    <a:moveTo>
                      <a:pt x="406400" y="0"/>
                    </a:moveTo>
                    <a:cubicBezTo>
                      <a:pt x="181951" y="0"/>
                      <a:pt x="0" y="174633"/>
                      <a:pt x="0" y="390054"/>
                    </a:cubicBezTo>
                    <a:cubicBezTo>
                      <a:pt x="0" y="605475"/>
                      <a:pt x="181951" y="780109"/>
                      <a:pt x="406400" y="780109"/>
                    </a:cubicBezTo>
                    <a:cubicBezTo>
                      <a:pt x="630849" y="780109"/>
                      <a:pt x="812800" y="605475"/>
                      <a:pt x="812800" y="390054"/>
                    </a:cubicBezTo>
                    <a:cubicBezTo>
                      <a:pt x="812800" y="174633"/>
                      <a:pt x="630849" y="0"/>
                      <a:pt x="406400" y="0"/>
                    </a:cubicBezTo>
                    <a:close/>
                  </a:path>
                </a:pathLst>
              </a:custGeom>
              <a:solidFill>
                <a:srgbClr val="7F90D4"/>
              </a:solidFill>
            </p:spPr>
          </p:sp>
          <p:sp>
            <p:nvSpPr>
              <p:cNvPr name="TextBox 56" id="56"/>
              <p:cNvSpPr txBox="true"/>
              <p:nvPr/>
            </p:nvSpPr>
            <p:spPr>
              <a:xfrm>
                <a:off x="76200" y="35035"/>
                <a:ext cx="660400" cy="671938"/>
              </a:xfrm>
              <a:prstGeom prst="rect">
                <a:avLst/>
              </a:prstGeom>
            </p:spPr>
            <p:txBody>
              <a:bodyPr anchor="ctr" rtlCol="false" tIns="50800" lIns="50800" bIns="50800" rIns="50800"/>
              <a:lstStyle/>
              <a:p>
                <a:pPr algn="ctr">
                  <a:lnSpc>
                    <a:spcPts val="2520"/>
                  </a:lnSpc>
                </a:pPr>
              </a:p>
            </p:txBody>
          </p:sp>
        </p:grpSp>
        <p:sp>
          <p:nvSpPr>
            <p:cNvPr name="TextBox 57" id="57"/>
            <p:cNvSpPr txBox="true"/>
            <p:nvPr/>
          </p:nvSpPr>
          <p:spPr>
            <a:xfrm rot="0">
              <a:off x="212102" y="678691"/>
              <a:ext cx="1740899" cy="525611"/>
            </a:xfrm>
            <a:prstGeom prst="rect">
              <a:avLst/>
            </a:prstGeom>
          </p:spPr>
          <p:txBody>
            <a:bodyPr anchor="t" rtlCol="false" tIns="0" lIns="0" bIns="0" rIns="0">
              <a:spAutoFit/>
            </a:bodyPr>
            <a:lstStyle/>
            <a:p>
              <a:pPr algn="l">
                <a:lnSpc>
                  <a:spcPts val="3016"/>
                </a:lnSpc>
              </a:pPr>
              <a:r>
                <a:rPr lang="en-US" sz="2600">
                  <a:solidFill>
                    <a:srgbClr val="000000"/>
                  </a:solidFill>
                  <a:latin typeface="TDTD한강고딕"/>
                  <a:ea typeface="TDTD한강고딕"/>
                  <a:cs typeface="TDTD한강고딕"/>
                  <a:sym typeface="TDTD한강고딕"/>
                </a:rPr>
                <a:t>INPUT</a:t>
              </a:r>
            </a:p>
          </p:txBody>
        </p:sp>
      </p:grpSp>
      <p:sp>
        <p:nvSpPr>
          <p:cNvPr name="TextBox 58" id="58"/>
          <p:cNvSpPr txBox="true"/>
          <p:nvPr/>
        </p:nvSpPr>
        <p:spPr>
          <a:xfrm rot="0">
            <a:off x="3369380" y="7609527"/>
            <a:ext cx="13473387" cy="1156208"/>
          </a:xfrm>
          <a:prstGeom prst="rect">
            <a:avLst/>
          </a:prstGeom>
        </p:spPr>
        <p:txBody>
          <a:bodyPr anchor="t" rtlCol="false" tIns="0" lIns="0" bIns="0" rIns="0">
            <a:spAutoFit/>
          </a:bodyPr>
          <a:lstStyle/>
          <a:p>
            <a:pPr algn="l" marL="561341" indent="-280670" lvl="1">
              <a:lnSpc>
                <a:spcPts val="3016"/>
              </a:lnSpc>
              <a:buFont typeface="Arial"/>
              <a:buChar char="•"/>
            </a:pPr>
            <a:r>
              <a:rPr lang="en-US" sz="2600">
                <a:solidFill>
                  <a:srgbClr val="000000"/>
                </a:solidFill>
                <a:latin typeface="TDTD한강고딕"/>
                <a:ea typeface="TDTD한강고딕"/>
                <a:cs typeface="TDTD한강고딕"/>
                <a:sym typeface="TDTD한강고딕"/>
              </a:rPr>
              <a:t>담당자·계약 정보 유지</a:t>
            </a:r>
          </a:p>
          <a:p>
            <a:pPr algn="l" marL="561341" indent="-280670" lvl="1">
              <a:lnSpc>
                <a:spcPts val="3016"/>
              </a:lnSpc>
              <a:buFont typeface="Arial"/>
              <a:buChar char="•"/>
            </a:pPr>
            <a:r>
              <a:rPr lang="en-US" sz="2600">
                <a:solidFill>
                  <a:srgbClr val="000000"/>
                </a:solidFill>
                <a:latin typeface="TDTD한강고딕"/>
                <a:ea typeface="TDTD한강고딕"/>
                <a:cs typeface="TDTD한강고딕"/>
                <a:sym typeface="TDTD한강고딕"/>
              </a:rPr>
              <a:t>정책 근거 포함</a:t>
            </a:r>
          </a:p>
          <a:p>
            <a:pPr algn="l" marL="561341" indent="-280670" lvl="1">
              <a:lnSpc>
                <a:spcPts val="3016"/>
              </a:lnSpc>
              <a:buFont typeface="Arial"/>
              <a:buChar char="•"/>
            </a:pPr>
            <a:r>
              <a:rPr lang="en-US" sz="2600">
                <a:solidFill>
                  <a:srgbClr val="000000"/>
                </a:solidFill>
                <a:latin typeface="TDTD한강고딕"/>
                <a:ea typeface="TDTD한강고딕"/>
                <a:cs typeface="TDTD한강고딕"/>
                <a:sym typeface="TDTD한강고딕"/>
              </a:rPr>
              <a:t>계산 및 중복 지급 검증</a:t>
            </a:r>
          </a:p>
        </p:txBody>
      </p:sp>
      <p:sp>
        <p:nvSpPr>
          <p:cNvPr name="TextBox 59" id="59"/>
          <p:cNvSpPr txBox="true"/>
          <p:nvPr/>
        </p:nvSpPr>
        <p:spPr>
          <a:xfrm rot="0">
            <a:off x="3369380" y="2420054"/>
            <a:ext cx="9538917" cy="1156208"/>
          </a:xfrm>
          <a:prstGeom prst="rect">
            <a:avLst/>
          </a:prstGeom>
        </p:spPr>
        <p:txBody>
          <a:bodyPr anchor="t" rtlCol="false" tIns="0" lIns="0" bIns="0" rIns="0">
            <a:spAutoFit/>
          </a:bodyPr>
          <a:lstStyle/>
          <a:p>
            <a:pPr algn="l" marL="561341" indent="-280670" lvl="1">
              <a:lnSpc>
                <a:spcPts val="3016"/>
              </a:lnSpc>
              <a:buFont typeface="Arial"/>
              <a:buChar char="•"/>
            </a:pPr>
            <a:r>
              <a:rPr lang="en-US" sz="2600">
                <a:solidFill>
                  <a:srgbClr val="000000"/>
                </a:solidFill>
                <a:latin typeface="TDTD한강고딕"/>
                <a:ea typeface="TDTD한강고딕"/>
                <a:cs typeface="TDTD한강고딕"/>
                <a:sym typeface="TDTD한강고딕"/>
              </a:rPr>
              <a:t>상담 이력</a:t>
            </a:r>
          </a:p>
          <a:p>
            <a:pPr algn="l" marL="561341" indent="-280670" lvl="1">
              <a:lnSpc>
                <a:spcPts val="3016"/>
              </a:lnSpc>
              <a:buFont typeface="Arial"/>
              <a:buChar char="•"/>
            </a:pPr>
            <a:r>
              <a:rPr lang="en-US" sz="2600">
                <a:solidFill>
                  <a:srgbClr val="000000"/>
                </a:solidFill>
                <a:latin typeface="TDTD한강고딕"/>
                <a:ea typeface="TDTD한강고딕"/>
                <a:cs typeface="TDTD한강고딕"/>
                <a:sym typeface="TDTD한강고딕"/>
              </a:rPr>
              <a:t>사내 FAQ</a:t>
            </a:r>
          </a:p>
          <a:p>
            <a:pPr algn="l" marL="561341" indent="-280670" lvl="1">
              <a:lnSpc>
                <a:spcPts val="3016"/>
              </a:lnSpc>
              <a:buFont typeface="Arial"/>
              <a:buChar char="•"/>
            </a:pPr>
            <a:r>
              <a:rPr lang="en-US" sz="2600">
                <a:solidFill>
                  <a:srgbClr val="000000"/>
                </a:solidFill>
                <a:latin typeface="TDTD한강고딕"/>
                <a:ea typeface="TDTD한강고딕"/>
                <a:cs typeface="TDTD한강고딕"/>
                <a:sym typeface="TDTD한강고딕"/>
              </a:rPr>
              <a:t>계약·장애 정보</a:t>
            </a:r>
          </a:p>
        </p:txBody>
      </p:sp>
      <p:grpSp>
        <p:nvGrpSpPr>
          <p:cNvPr name="Group 60" id="60"/>
          <p:cNvGrpSpPr/>
          <p:nvPr/>
        </p:nvGrpSpPr>
        <p:grpSpPr>
          <a:xfrm rot="0">
            <a:off x="1662931" y="7373132"/>
            <a:ext cx="2108329" cy="1628998"/>
            <a:chOff x="0" y="0"/>
            <a:chExt cx="2811105" cy="2171997"/>
          </a:xfrm>
        </p:grpSpPr>
        <p:grpSp>
          <p:nvGrpSpPr>
            <p:cNvPr name="Group 61" id="61"/>
            <p:cNvGrpSpPr/>
            <p:nvPr/>
          </p:nvGrpSpPr>
          <p:grpSpPr>
            <a:xfrm rot="0">
              <a:off x="5066" y="0"/>
              <a:ext cx="2100967" cy="2171997"/>
              <a:chOff x="0" y="0"/>
              <a:chExt cx="1020333" cy="1054829"/>
            </a:xfrm>
          </p:grpSpPr>
          <p:sp>
            <p:nvSpPr>
              <p:cNvPr name="Freeform 62" id="62"/>
              <p:cNvSpPr/>
              <p:nvPr/>
            </p:nvSpPr>
            <p:spPr>
              <a:xfrm flipH="false" flipV="false" rot="0">
                <a:off x="0" y="0"/>
                <a:ext cx="1020333" cy="1054829"/>
              </a:xfrm>
              <a:custGeom>
                <a:avLst/>
                <a:gdLst/>
                <a:ahLst/>
                <a:cxnLst/>
                <a:rect r="r" b="b" t="t" l="l"/>
                <a:pathLst>
                  <a:path h="1054829" w="1020333">
                    <a:moveTo>
                      <a:pt x="510167" y="0"/>
                    </a:moveTo>
                    <a:cubicBezTo>
                      <a:pt x="228409" y="0"/>
                      <a:pt x="0" y="236132"/>
                      <a:pt x="0" y="527415"/>
                    </a:cubicBezTo>
                    <a:cubicBezTo>
                      <a:pt x="0" y="818698"/>
                      <a:pt x="228409" y="1054829"/>
                      <a:pt x="510167" y="1054829"/>
                    </a:cubicBezTo>
                    <a:cubicBezTo>
                      <a:pt x="791924" y="1054829"/>
                      <a:pt x="1020333" y="818698"/>
                      <a:pt x="1020333" y="527415"/>
                    </a:cubicBezTo>
                    <a:cubicBezTo>
                      <a:pt x="1020333" y="236132"/>
                      <a:pt x="791924" y="0"/>
                      <a:pt x="510167" y="0"/>
                    </a:cubicBezTo>
                    <a:close/>
                  </a:path>
                </a:pathLst>
              </a:custGeom>
              <a:solidFill>
                <a:srgbClr val="7F90D4"/>
              </a:solidFill>
            </p:spPr>
          </p:sp>
          <p:sp>
            <p:nvSpPr>
              <p:cNvPr name="TextBox 63" id="63"/>
              <p:cNvSpPr txBox="true"/>
              <p:nvPr/>
            </p:nvSpPr>
            <p:spPr>
              <a:xfrm>
                <a:off x="95656" y="60790"/>
                <a:ext cx="829021" cy="895149"/>
              </a:xfrm>
              <a:prstGeom prst="rect">
                <a:avLst/>
              </a:prstGeom>
            </p:spPr>
            <p:txBody>
              <a:bodyPr anchor="ctr" rtlCol="false" tIns="50800" lIns="50800" bIns="50800" rIns="50800"/>
              <a:lstStyle/>
              <a:p>
                <a:pPr algn="ctr">
                  <a:lnSpc>
                    <a:spcPts val="2520"/>
                  </a:lnSpc>
                </a:pPr>
              </a:p>
            </p:txBody>
          </p:sp>
        </p:grpSp>
        <p:sp>
          <p:nvSpPr>
            <p:cNvPr name="TextBox 64" id="64"/>
            <p:cNvSpPr txBox="true"/>
            <p:nvPr/>
          </p:nvSpPr>
          <p:spPr>
            <a:xfrm rot="0">
              <a:off x="0" y="825524"/>
              <a:ext cx="2811105" cy="525611"/>
            </a:xfrm>
            <a:prstGeom prst="rect">
              <a:avLst/>
            </a:prstGeom>
          </p:spPr>
          <p:txBody>
            <a:bodyPr anchor="t" rtlCol="false" tIns="0" lIns="0" bIns="0" rIns="0">
              <a:spAutoFit/>
            </a:bodyPr>
            <a:lstStyle/>
            <a:p>
              <a:pPr algn="l">
                <a:lnSpc>
                  <a:spcPts val="3016"/>
                </a:lnSpc>
              </a:pPr>
              <a:r>
                <a:rPr lang="en-US" sz="2600">
                  <a:solidFill>
                    <a:srgbClr val="000000"/>
                  </a:solidFill>
                  <a:latin typeface="TDTD한강고딕"/>
                  <a:ea typeface="TDTD한강고딕"/>
                  <a:cs typeface="TDTD한강고딕"/>
                  <a:sym typeface="TDTD한강고딕"/>
                </a:rPr>
                <a:t>OUTPUT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3763" y="80621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AutoShape 6" id="6"/>
          <p:cNvSpPr/>
          <p:nvPr/>
        </p:nvSpPr>
        <p:spPr>
          <a:xfrm>
            <a:off x="1836363" y="2131448"/>
            <a:ext cx="14537608" cy="0"/>
          </a:xfrm>
          <a:prstGeom prst="line">
            <a:avLst/>
          </a:prstGeom>
          <a:ln cap="flat" w="9525">
            <a:solidFill>
              <a:srgbClr val="7F90D4"/>
            </a:solidFill>
            <a:prstDash val="solid"/>
            <a:headEnd type="none" len="sm" w="sm"/>
            <a:tailEnd type="none" len="sm" w="sm"/>
          </a:ln>
        </p:spPr>
      </p:sp>
      <p:sp>
        <p:nvSpPr>
          <p:cNvPr name="TextBox 7" id="7"/>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02</a:t>
            </a:r>
          </a:p>
        </p:txBody>
      </p:sp>
      <p:sp>
        <p:nvSpPr>
          <p:cNvPr name="TextBox 8" id="8"/>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프롬프트</a:t>
            </a:r>
          </a:p>
        </p:txBody>
      </p:sp>
      <p:sp>
        <p:nvSpPr>
          <p:cNvPr name="TextBox 9" id="9"/>
          <p:cNvSpPr txBox="true"/>
          <p:nvPr/>
        </p:nvSpPr>
        <p:spPr>
          <a:xfrm rot="0">
            <a:off x="1680614" y="2361761"/>
            <a:ext cx="2315270" cy="394208"/>
          </a:xfrm>
          <a:prstGeom prst="rect">
            <a:avLst/>
          </a:prstGeom>
        </p:spPr>
        <p:txBody>
          <a:bodyPr anchor="t" rtlCol="false" tIns="0" lIns="0" bIns="0" rIns="0">
            <a:spAutoFit/>
          </a:bodyPr>
          <a:lstStyle/>
          <a:p>
            <a:pPr algn="ctr">
              <a:lnSpc>
                <a:spcPts val="3016"/>
              </a:lnSpc>
            </a:pPr>
            <a:r>
              <a:rPr lang="en-US" sz="2600">
                <a:solidFill>
                  <a:srgbClr val="545454"/>
                </a:solidFill>
                <a:latin typeface="TDTD한강고딕"/>
                <a:ea typeface="TDTD한강고딕"/>
                <a:cs typeface="TDTD한강고딕"/>
                <a:sym typeface="TDTD한강고딕"/>
              </a:rPr>
              <a:t>STEP 01</a:t>
            </a:r>
          </a:p>
        </p:txBody>
      </p:sp>
      <p:sp>
        <p:nvSpPr>
          <p:cNvPr name="TextBox 10" id="10"/>
          <p:cNvSpPr txBox="true"/>
          <p:nvPr/>
        </p:nvSpPr>
        <p:spPr>
          <a:xfrm rot="0">
            <a:off x="3251708" y="2341695"/>
            <a:ext cx="2665738" cy="44386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기억 정제</a:t>
            </a:r>
          </a:p>
        </p:txBody>
      </p:sp>
      <p:sp>
        <p:nvSpPr>
          <p:cNvPr name="TextBox 11" id="11"/>
          <p:cNvSpPr txBox="true"/>
          <p:nvPr/>
        </p:nvSpPr>
        <p:spPr>
          <a:xfrm rot="0">
            <a:off x="2047253" y="3042735"/>
            <a:ext cx="5074648" cy="443865"/>
          </a:xfrm>
          <a:prstGeom prst="rect">
            <a:avLst/>
          </a:prstGeom>
        </p:spPr>
        <p:txBody>
          <a:bodyPr anchor="t" rtlCol="false" tIns="0" lIns="0" bIns="0" rIns="0">
            <a:spAutoFit/>
          </a:bodyPr>
          <a:lstStyle/>
          <a:p>
            <a:pPr algn="l">
              <a:lnSpc>
                <a:spcPts val="3479"/>
              </a:lnSpc>
            </a:pPr>
            <a:r>
              <a:rPr lang="en-US" sz="3000">
                <a:solidFill>
                  <a:srgbClr val="000000"/>
                </a:solidFill>
                <a:latin typeface="TDTD한강고딕"/>
                <a:ea typeface="TDTD한강고딕"/>
                <a:cs typeface="TDTD한강고딕"/>
                <a:sym typeface="TDTD한강고딕"/>
              </a:rPr>
              <a:t>Memory &amp; Compaction</a:t>
            </a:r>
          </a:p>
        </p:txBody>
      </p:sp>
      <p:sp>
        <p:nvSpPr>
          <p:cNvPr name="TextBox 12" id="12"/>
          <p:cNvSpPr txBox="true"/>
          <p:nvPr/>
        </p:nvSpPr>
        <p:spPr>
          <a:xfrm rot="0">
            <a:off x="2032213" y="3900724"/>
            <a:ext cx="14341757" cy="156400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첨부된 고객상담이력 전체를 읽고 최신 문의 처리에 필요한 기억을 구조화하라. 반드시 보존할 정보: - 고객사명 - 현재 담당자명 - 현재 플랜 - 자료에서 확인되는 월 기본 구독료와 VAT 여부 - 별도 API 확장 요금 정보와 확인되지 않은 부분 - 이전 장애의 발생 월, 티켓 번호, 가동률, 크레딧 비율, 반영 월 - 현재 미처리 문의 - 최신 문의의 기준 월과 가동률 담당자 변경 이전 정보는 이력으로 보존하되 현재 담당자와 혼동하지 마라. 인사, 완료된 일반 문의 등은 한 줄로 압축하라. 아직 정책을 적용하거나 고객 답변을 작성하지 마라. 출력: { "customer": {}, "current_contract": {}, "prior_sla_credits": [], "unresolved_requests": [], "latest_questions": [], "compacted_history": "", "uncertainties": [] }</a:t>
            </a:r>
          </a:p>
        </p:txBody>
      </p:sp>
      <p:grpSp>
        <p:nvGrpSpPr>
          <p:cNvPr name="Group 13" id="13"/>
          <p:cNvGrpSpPr/>
          <p:nvPr/>
        </p:nvGrpSpPr>
        <p:grpSpPr>
          <a:xfrm rot="0">
            <a:off x="1967915" y="7574163"/>
            <a:ext cx="14507553" cy="1226936"/>
            <a:chOff x="0" y="0"/>
            <a:chExt cx="19343404" cy="1635914"/>
          </a:xfrm>
        </p:grpSpPr>
        <p:sp>
          <p:nvSpPr>
            <p:cNvPr name="TextBox 14" id="14"/>
            <p:cNvSpPr txBox="true"/>
            <p:nvPr/>
          </p:nvSpPr>
          <p:spPr>
            <a:xfrm rot="0">
              <a:off x="2089130" y="391237"/>
              <a:ext cx="17254274" cy="39624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현재 담당자, 플랜, 구독료, 이전 장애, 미처리 문의는 보존하고 인사/완료 문의는 압축해 장문 상담의 핵심 정보 유실을 막는다.</a:t>
              </a:r>
            </a:p>
          </p:txBody>
        </p:sp>
        <p:grpSp>
          <p:nvGrpSpPr>
            <p:cNvPr name="Group 15" id="15"/>
            <p:cNvGrpSpPr/>
            <p:nvPr/>
          </p:nvGrpSpPr>
          <p:grpSpPr>
            <a:xfrm rot="0">
              <a:off x="0" y="0"/>
              <a:ext cx="1582415" cy="1635914"/>
              <a:chOff x="0" y="0"/>
              <a:chExt cx="1020333" cy="1054829"/>
            </a:xfrm>
          </p:grpSpPr>
          <p:sp>
            <p:nvSpPr>
              <p:cNvPr name="Freeform 16" id="16"/>
              <p:cNvSpPr/>
              <p:nvPr/>
            </p:nvSpPr>
            <p:spPr>
              <a:xfrm flipH="false" flipV="false" rot="0">
                <a:off x="0" y="0"/>
                <a:ext cx="1020333" cy="1054829"/>
              </a:xfrm>
              <a:custGeom>
                <a:avLst/>
                <a:gdLst/>
                <a:ahLst/>
                <a:cxnLst/>
                <a:rect r="r" b="b" t="t" l="l"/>
                <a:pathLst>
                  <a:path h="1054829" w="1020333">
                    <a:moveTo>
                      <a:pt x="510167" y="0"/>
                    </a:moveTo>
                    <a:cubicBezTo>
                      <a:pt x="228409" y="0"/>
                      <a:pt x="0" y="236132"/>
                      <a:pt x="0" y="527415"/>
                    </a:cubicBezTo>
                    <a:cubicBezTo>
                      <a:pt x="0" y="818698"/>
                      <a:pt x="228409" y="1054829"/>
                      <a:pt x="510167" y="1054829"/>
                    </a:cubicBezTo>
                    <a:cubicBezTo>
                      <a:pt x="791924" y="1054829"/>
                      <a:pt x="1020333" y="818698"/>
                      <a:pt x="1020333" y="527415"/>
                    </a:cubicBezTo>
                    <a:cubicBezTo>
                      <a:pt x="1020333" y="236132"/>
                      <a:pt x="791924" y="0"/>
                      <a:pt x="510167" y="0"/>
                    </a:cubicBezTo>
                    <a:close/>
                  </a:path>
                </a:pathLst>
              </a:custGeom>
              <a:solidFill>
                <a:srgbClr val="7F90D4"/>
              </a:solidFill>
            </p:spPr>
          </p:sp>
          <p:sp>
            <p:nvSpPr>
              <p:cNvPr name="TextBox 17" id="17"/>
              <p:cNvSpPr txBox="true"/>
              <p:nvPr/>
            </p:nvSpPr>
            <p:spPr>
              <a:xfrm>
                <a:off x="95656" y="60790"/>
                <a:ext cx="829021" cy="895149"/>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303583" y="555152"/>
              <a:ext cx="1278832" cy="525611"/>
            </a:xfrm>
            <a:prstGeom prst="rect">
              <a:avLst/>
            </a:prstGeom>
          </p:spPr>
          <p:txBody>
            <a:bodyPr anchor="t" rtlCol="false" tIns="0" lIns="0" bIns="0" rIns="0">
              <a:spAutoFit/>
            </a:bodyPr>
            <a:lstStyle/>
            <a:p>
              <a:pPr algn="l">
                <a:lnSpc>
                  <a:spcPts val="3016"/>
                </a:lnSpc>
              </a:pPr>
              <a:r>
                <a:rPr lang="en-US" sz="2600">
                  <a:solidFill>
                    <a:srgbClr val="000000"/>
                  </a:solidFill>
                  <a:latin typeface="TDTD한강고딕"/>
                  <a:ea typeface="TDTD한강고딕"/>
                  <a:cs typeface="TDTD한강고딕"/>
                  <a:sym typeface="TDTD한강고딕"/>
                </a:rPr>
                <a:t>근거</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3763" y="80621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02</a:t>
            </a:r>
          </a:p>
        </p:txBody>
      </p:sp>
      <p:sp>
        <p:nvSpPr>
          <p:cNvPr name="TextBox 7" id="7"/>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프롬프트</a:t>
            </a:r>
          </a:p>
        </p:txBody>
      </p:sp>
      <p:sp>
        <p:nvSpPr>
          <p:cNvPr name="AutoShape 8" id="8"/>
          <p:cNvSpPr/>
          <p:nvPr/>
        </p:nvSpPr>
        <p:spPr>
          <a:xfrm>
            <a:off x="1836363" y="2131448"/>
            <a:ext cx="14537608" cy="0"/>
          </a:xfrm>
          <a:prstGeom prst="line">
            <a:avLst/>
          </a:prstGeom>
          <a:ln cap="flat" w="9525">
            <a:solidFill>
              <a:srgbClr val="7F90D4"/>
            </a:solidFill>
            <a:prstDash val="solid"/>
            <a:headEnd type="none" len="sm" w="sm"/>
            <a:tailEnd type="none" len="sm" w="sm"/>
          </a:ln>
        </p:spPr>
      </p:sp>
      <p:sp>
        <p:nvSpPr>
          <p:cNvPr name="TextBox 9" id="9"/>
          <p:cNvSpPr txBox="true"/>
          <p:nvPr/>
        </p:nvSpPr>
        <p:spPr>
          <a:xfrm rot="0">
            <a:off x="1680614" y="2361761"/>
            <a:ext cx="2315270" cy="394208"/>
          </a:xfrm>
          <a:prstGeom prst="rect">
            <a:avLst/>
          </a:prstGeom>
        </p:spPr>
        <p:txBody>
          <a:bodyPr anchor="t" rtlCol="false" tIns="0" lIns="0" bIns="0" rIns="0">
            <a:spAutoFit/>
          </a:bodyPr>
          <a:lstStyle/>
          <a:p>
            <a:pPr algn="ctr">
              <a:lnSpc>
                <a:spcPts val="3016"/>
              </a:lnSpc>
            </a:pPr>
            <a:r>
              <a:rPr lang="en-US" sz="2600">
                <a:solidFill>
                  <a:srgbClr val="545454"/>
                </a:solidFill>
                <a:latin typeface="TDTD한강고딕"/>
                <a:ea typeface="TDTD한강고딕"/>
                <a:cs typeface="TDTD한강고딕"/>
                <a:sym typeface="TDTD한강고딕"/>
              </a:rPr>
              <a:t>STEP 02</a:t>
            </a:r>
          </a:p>
        </p:txBody>
      </p:sp>
      <p:sp>
        <p:nvSpPr>
          <p:cNvPr name="TextBox 10" id="10"/>
          <p:cNvSpPr txBox="true"/>
          <p:nvPr/>
        </p:nvSpPr>
        <p:spPr>
          <a:xfrm rot="0">
            <a:off x="3251708" y="2341695"/>
            <a:ext cx="2665738" cy="44386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정책 검색</a:t>
            </a:r>
          </a:p>
        </p:txBody>
      </p:sp>
      <p:sp>
        <p:nvSpPr>
          <p:cNvPr name="TextBox 11" id="11"/>
          <p:cNvSpPr txBox="true"/>
          <p:nvPr/>
        </p:nvSpPr>
        <p:spPr>
          <a:xfrm rot="0">
            <a:off x="2047253" y="3886650"/>
            <a:ext cx="14406055" cy="156400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입력</a:t>
            </a:r>
            <a:r>
              <a:rPr lang="en-US" sz="1800">
                <a:solidFill>
                  <a:srgbClr val="000000"/>
                </a:solidFill>
                <a:latin typeface="각진펜"/>
                <a:ea typeface="각진펜"/>
                <a:cs typeface="각진펜"/>
                <a:sym typeface="각진펜"/>
              </a:rPr>
              <a:t>된 MEMORY_JSON의 최신 문의를 해결하기 위해 첨부된 사내정책 FAQ를 조회하라. 검색 루프: 1. Thought: 지금 필요한 정책 사실을 한 문장으로 정의 2. Action: FAQ_SEARCH("검색어") 3. Observation: FAQ 항목 번호, 제목, 확인된 정책을 기록 4. 필요한 근거가 모두 모이면 즉시 종료 조회 대상: - Enterprise SLA 보장 가동률 - 가동률 구간별 크레딧 비율 - 크레딧 반영 시점 - 동일 장애와 서로 다른 장애의 처리 - 다운그레이드 적용 시점 - 당월 잔여기간 환불 여부 최대 조회 횟수는 3회다. 근거를 못 찾으면 추측하지 말고 NOT_FOUND로 표시하라. 출력 표: | policy_id | 문의 | FAQ 근거 | 확인된 규칙 | 상태 |</a:t>
            </a:r>
          </a:p>
        </p:txBody>
      </p:sp>
      <p:grpSp>
        <p:nvGrpSpPr>
          <p:cNvPr name="Group 12" id="12"/>
          <p:cNvGrpSpPr/>
          <p:nvPr/>
        </p:nvGrpSpPr>
        <p:grpSpPr>
          <a:xfrm rot="0">
            <a:off x="1967915" y="7574163"/>
            <a:ext cx="14764614" cy="1226936"/>
            <a:chOff x="0" y="0"/>
            <a:chExt cx="19686152" cy="1635914"/>
          </a:xfrm>
        </p:grpSpPr>
        <p:sp>
          <p:nvSpPr>
            <p:cNvPr name="TextBox 13" id="13"/>
            <p:cNvSpPr txBox="true"/>
            <p:nvPr/>
          </p:nvSpPr>
          <p:spPr>
            <a:xfrm rot="0">
              <a:off x="2089130" y="391237"/>
              <a:ext cx="17597022" cy="81534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모델</a:t>
              </a:r>
              <a:r>
                <a:rPr lang="en-US" sz="1800">
                  <a:solidFill>
                    <a:srgbClr val="000000"/>
                  </a:solidFill>
                  <a:latin typeface="각진펜"/>
                  <a:ea typeface="각진펜"/>
                  <a:cs typeface="각진펜"/>
                  <a:sym typeface="각진펜"/>
                </a:rPr>
                <a:t> 기억에 의존하지 않고 필요한 정책을 검색-관찰-추론 루프로 수집한다. 최대 3회 및 NOT_FOUND로 무한 조회와 추측을 방지한다.</a:t>
              </a:r>
            </a:p>
            <a:p>
              <a:pPr algn="l">
                <a:lnSpc>
                  <a:spcPts val="2520"/>
                </a:lnSpc>
                <a:spcBef>
                  <a:spcPct val="0"/>
                </a:spcBef>
              </a:pPr>
            </a:p>
          </p:txBody>
        </p:sp>
        <p:grpSp>
          <p:nvGrpSpPr>
            <p:cNvPr name="Group 14" id="14"/>
            <p:cNvGrpSpPr/>
            <p:nvPr/>
          </p:nvGrpSpPr>
          <p:grpSpPr>
            <a:xfrm rot="0">
              <a:off x="0" y="0"/>
              <a:ext cx="1582415" cy="1635914"/>
              <a:chOff x="0" y="0"/>
              <a:chExt cx="1020333" cy="1054829"/>
            </a:xfrm>
          </p:grpSpPr>
          <p:sp>
            <p:nvSpPr>
              <p:cNvPr name="Freeform 15" id="15"/>
              <p:cNvSpPr/>
              <p:nvPr/>
            </p:nvSpPr>
            <p:spPr>
              <a:xfrm flipH="false" flipV="false" rot="0">
                <a:off x="0" y="0"/>
                <a:ext cx="1020333" cy="1054829"/>
              </a:xfrm>
              <a:custGeom>
                <a:avLst/>
                <a:gdLst/>
                <a:ahLst/>
                <a:cxnLst/>
                <a:rect r="r" b="b" t="t" l="l"/>
                <a:pathLst>
                  <a:path h="1054829" w="1020333">
                    <a:moveTo>
                      <a:pt x="510167" y="0"/>
                    </a:moveTo>
                    <a:cubicBezTo>
                      <a:pt x="228409" y="0"/>
                      <a:pt x="0" y="236132"/>
                      <a:pt x="0" y="527415"/>
                    </a:cubicBezTo>
                    <a:cubicBezTo>
                      <a:pt x="0" y="818698"/>
                      <a:pt x="228409" y="1054829"/>
                      <a:pt x="510167" y="1054829"/>
                    </a:cubicBezTo>
                    <a:cubicBezTo>
                      <a:pt x="791924" y="1054829"/>
                      <a:pt x="1020333" y="818698"/>
                      <a:pt x="1020333" y="527415"/>
                    </a:cubicBezTo>
                    <a:cubicBezTo>
                      <a:pt x="1020333" y="236132"/>
                      <a:pt x="791924" y="0"/>
                      <a:pt x="510167" y="0"/>
                    </a:cubicBezTo>
                    <a:close/>
                  </a:path>
                </a:pathLst>
              </a:custGeom>
              <a:solidFill>
                <a:srgbClr val="7F90D4"/>
              </a:solidFill>
            </p:spPr>
          </p:sp>
          <p:sp>
            <p:nvSpPr>
              <p:cNvPr name="TextBox 16" id="16"/>
              <p:cNvSpPr txBox="true"/>
              <p:nvPr/>
            </p:nvSpPr>
            <p:spPr>
              <a:xfrm>
                <a:off x="95656" y="60790"/>
                <a:ext cx="829021" cy="895149"/>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303583" y="555152"/>
              <a:ext cx="1278832" cy="525611"/>
            </a:xfrm>
            <a:prstGeom prst="rect">
              <a:avLst/>
            </a:prstGeom>
          </p:spPr>
          <p:txBody>
            <a:bodyPr anchor="t" rtlCol="false" tIns="0" lIns="0" bIns="0" rIns="0">
              <a:spAutoFit/>
            </a:bodyPr>
            <a:lstStyle/>
            <a:p>
              <a:pPr algn="l">
                <a:lnSpc>
                  <a:spcPts val="3016"/>
                </a:lnSpc>
              </a:pPr>
              <a:r>
                <a:rPr lang="en-US" sz="2600">
                  <a:solidFill>
                    <a:srgbClr val="000000"/>
                  </a:solidFill>
                  <a:latin typeface="TDTD한강고딕"/>
                  <a:ea typeface="TDTD한강고딕"/>
                  <a:cs typeface="TDTD한강고딕"/>
                  <a:sym typeface="TDTD한강고딕"/>
                </a:rPr>
                <a:t>근거</a:t>
              </a:r>
            </a:p>
          </p:txBody>
        </p:sp>
      </p:grpSp>
      <p:sp>
        <p:nvSpPr>
          <p:cNvPr name="TextBox 18" id="18"/>
          <p:cNvSpPr txBox="true"/>
          <p:nvPr/>
        </p:nvSpPr>
        <p:spPr>
          <a:xfrm rot="0">
            <a:off x="2047253" y="3023685"/>
            <a:ext cx="5074648" cy="443865"/>
          </a:xfrm>
          <a:prstGeom prst="rect">
            <a:avLst/>
          </a:prstGeom>
        </p:spPr>
        <p:txBody>
          <a:bodyPr anchor="t" rtlCol="false" tIns="0" lIns="0" bIns="0" rIns="0">
            <a:spAutoFit/>
          </a:bodyPr>
          <a:lstStyle/>
          <a:p>
            <a:pPr algn="l">
              <a:lnSpc>
                <a:spcPts val="3479"/>
              </a:lnSpc>
            </a:pPr>
            <a:r>
              <a:rPr lang="en-US" sz="3000">
                <a:solidFill>
                  <a:srgbClr val="000000"/>
                </a:solidFill>
                <a:latin typeface="TDTD한강고딕"/>
                <a:ea typeface="TDTD한강고딕"/>
                <a:cs typeface="TDTD한강고딕"/>
                <a:sym typeface="TDTD한강고딕"/>
              </a:rPr>
              <a:t>ReAct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3763" y="80621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02</a:t>
            </a:r>
          </a:p>
        </p:txBody>
      </p:sp>
      <p:sp>
        <p:nvSpPr>
          <p:cNvPr name="TextBox 7" id="7"/>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프롬프트</a:t>
            </a:r>
          </a:p>
        </p:txBody>
      </p:sp>
      <p:sp>
        <p:nvSpPr>
          <p:cNvPr name="AutoShape 8" id="8"/>
          <p:cNvSpPr/>
          <p:nvPr/>
        </p:nvSpPr>
        <p:spPr>
          <a:xfrm>
            <a:off x="1836363" y="2131448"/>
            <a:ext cx="14537608" cy="0"/>
          </a:xfrm>
          <a:prstGeom prst="line">
            <a:avLst/>
          </a:prstGeom>
          <a:ln cap="flat" w="9525">
            <a:solidFill>
              <a:srgbClr val="7F90D4"/>
            </a:solidFill>
            <a:prstDash val="solid"/>
            <a:headEnd type="none" len="sm" w="sm"/>
            <a:tailEnd type="none" len="sm" w="sm"/>
          </a:ln>
        </p:spPr>
      </p:sp>
      <p:sp>
        <p:nvSpPr>
          <p:cNvPr name="TextBox 9" id="9"/>
          <p:cNvSpPr txBox="true"/>
          <p:nvPr/>
        </p:nvSpPr>
        <p:spPr>
          <a:xfrm rot="0">
            <a:off x="1680614" y="2361761"/>
            <a:ext cx="2315270" cy="394208"/>
          </a:xfrm>
          <a:prstGeom prst="rect">
            <a:avLst/>
          </a:prstGeom>
        </p:spPr>
        <p:txBody>
          <a:bodyPr anchor="t" rtlCol="false" tIns="0" lIns="0" bIns="0" rIns="0">
            <a:spAutoFit/>
          </a:bodyPr>
          <a:lstStyle/>
          <a:p>
            <a:pPr algn="ctr">
              <a:lnSpc>
                <a:spcPts val="3016"/>
              </a:lnSpc>
            </a:pPr>
            <a:r>
              <a:rPr lang="en-US" sz="2600">
                <a:solidFill>
                  <a:srgbClr val="545454"/>
                </a:solidFill>
                <a:latin typeface="TDTD한강고딕"/>
                <a:ea typeface="TDTD한강고딕"/>
                <a:cs typeface="TDTD한강고딕"/>
                <a:sym typeface="TDTD한강고딕"/>
              </a:rPr>
              <a:t>STEP 03</a:t>
            </a:r>
          </a:p>
        </p:txBody>
      </p:sp>
      <p:sp>
        <p:nvSpPr>
          <p:cNvPr name="TextBox 10" id="10"/>
          <p:cNvSpPr txBox="true"/>
          <p:nvPr/>
        </p:nvSpPr>
        <p:spPr>
          <a:xfrm rot="0">
            <a:off x="3251708" y="2341695"/>
            <a:ext cx="2665738" cy="44386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판단·계산</a:t>
            </a:r>
          </a:p>
        </p:txBody>
      </p:sp>
      <p:sp>
        <p:nvSpPr>
          <p:cNvPr name="TextBox 11" id="11"/>
          <p:cNvSpPr txBox="true"/>
          <p:nvPr/>
        </p:nvSpPr>
        <p:spPr>
          <a:xfrm rot="0">
            <a:off x="1967915" y="3900724"/>
            <a:ext cx="14406055" cy="156400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MEMORY_JSON과 POLICY_TABLE만 이용하여 최신 문의를 판단하라. 다음 순서로 검증 가능한 판단 요약을 작성한다. SLA 문의: 1. 현재 플랜과 보장 가동률 확인 2. 실제 가동률과 보장 가동률 비교 3. FAQ의 해당 크레딧 구간 선택 4. 월 기본 구독료 × 크레딧 비율 계산 5. 이전 장애와 동일한 장애인지 확인 6. 크레딧 반영 시점 확인 다운그레이드 문의: 1. 적용 시점 확인 2. 당월 환불 가능 여부 확인 3. FAQ에 없는 절차나 일정을 추가하지 않았는지 확인 출력: { "sla": { "eligibility": "", "plan": "", "guaranteed_uptime": "", "actual_uptime": "", "credit_rate": "", "calculation": "", "credit_timing": "", "duplicate_check": "", "sources": [] }, "downgrade": { "effective_timing": "", "current_month_refund": "", "sources": [] }, "uncertainties": [] }</a:t>
            </a:r>
          </a:p>
        </p:txBody>
      </p:sp>
      <p:grpSp>
        <p:nvGrpSpPr>
          <p:cNvPr name="Group 12" id="12"/>
          <p:cNvGrpSpPr/>
          <p:nvPr/>
        </p:nvGrpSpPr>
        <p:grpSpPr>
          <a:xfrm rot="0">
            <a:off x="1967915" y="7574163"/>
            <a:ext cx="14336175" cy="1226936"/>
            <a:chOff x="0" y="0"/>
            <a:chExt cx="19114901" cy="1635914"/>
          </a:xfrm>
        </p:grpSpPr>
        <p:sp>
          <p:nvSpPr>
            <p:cNvPr name="TextBox 13" id="13"/>
            <p:cNvSpPr txBox="true"/>
            <p:nvPr/>
          </p:nvSpPr>
          <p:spPr>
            <a:xfrm rot="0">
              <a:off x="2089130" y="391237"/>
              <a:ext cx="17025771" cy="81534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보장률</a:t>
              </a:r>
              <a:r>
                <a:rPr lang="en-US" sz="1800">
                  <a:solidFill>
                    <a:srgbClr val="000000"/>
                  </a:solidFill>
                  <a:latin typeface="각진펜"/>
                  <a:ea typeface="각진펜"/>
                  <a:cs typeface="각진펜"/>
                  <a:sym typeface="각진펜"/>
                </a:rPr>
                <a:t> 비교 → 구간 선택 → 계산 → 적용 시점 순으로 검증 가능한 판단을 강제해 조건 분기 누락을 방지한다.</a:t>
              </a:r>
            </a:p>
            <a:p>
              <a:pPr algn="l">
                <a:lnSpc>
                  <a:spcPts val="2520"/>
                </a:lnSpc>
                <a:spcBef>
                  <a:spcPct val="0"/>
                </a:spcBef>
              </a:pPr>
            </a:p>
          </p:txBody>
        </p:sp>
        <p:grpSp>
          <p:nvGrpSpPr>
            <p:cNvPr name="Group 14" id="14"/>
            <p:cNvGrpSpPr/>
            <p:nvPr/>
          </p:nvGrpSpPr>
          <p:grpSpPr>
            <a:xfrm rot="0">
              <a:off x="0" y="0"/>
              <a:ext cx="1582415" cy="1635914"/>
              <a:chOff x="0" y="0"/>
              <a:chExt cx="1020333" cy="1054829"/>
            </a:xfrm>
          </p:grpSpPr>
          <p:sp>
            <p:nvSpPr>
              <p:cNvPr name="Freeform 15" id="15"/>
              <p:cNvSpPr/>
              <p:nvPr/>
            </p:nvSpPr>
            <p:spPr>
              <a:xfrm flipH="false" flipV="false" rot="0">
                <a:off x="0" y="0"/>
                <a:ext cx="1020333" cy="1054829"/>
              </a:xfrm>
              <a:custGeom>
                <a:avLst/>
                <a:gdLst/>
                <a:ahLst/>
                <a:cxnLst/>
                <a:rect r="r" b="b" t="t" l="l"/>
                <a:pathLst>
                  <a:path h="1054829" w="1020333">
                    <a:moveTo>
                      <a:pt x="510167" y="0"/>
                    </a:moveTo>
                    <a:cubicBezTo>
                      <a:pt x="228409" y="0"/>
                      <a:pt x="0" y="236132"/>
                      <a:pt x="0" y="527415"/>
                    </a:cubicBezTo>
                    <a:cubicBezTo>
                      <a:pt x="0" y="818698"/>
                      <a:pt x="228409" y="1054829"/>
                      <a:pt x="510167" y="1054829"/>
                    </a:cubicBezTo>
                    <a:cubicBezTo>
                      <a:pt x="791924" y="1054829"/>
                      <a:pt x="1020333" y="818698"/>
                      <a:pt x="1020333" y="527415"/>
                    </a:cubicBezTo>
                    <a:cubicBezTo>
                      <a:pt x="1020333" y="236132"/>
                      <a:pt x="791924" y="0"/>
                      <a:pt x="510167" y="0"/>
                    </a:cubicBezTo>
                    <a:close/>
                  </a:path>
                </a:pathLst>
              </a:custGeom>
              <a:solidFill>
                <a:srgbClr val="7F90D4"/>
              </a:solidFill>
            </p:spPr>
          </p:sp>
          <p:sp>
            <p:nvSpPr>
              <p:cNvPr name="TextBox 16" id="16"/>
              <p:cNvSpPr txBox="true"/>
              <p:nvPr/>
            </p:nvSpPr>
            <p:spPr>
              <a:xfrm>
                <a:off x="95656" y="60790"/>
                <a:ext cx="829021" cy="895149"/>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303583" y="555152"/>
              <a:ext cx="1278832" cy="525611"/>
            </a:xfrm>
            <a:prstGeom prst="rect">
              <a:avLst/>
            </a:prstGeom>
          </p:spPr>
          <p:txBody>
            <a:bodyPr anchor="t" rtlCol="false" tIns="0" lIns="0" bIns="0" rIns="0">
              <a:spAutoFit/>
            </a:bodyPr>
            <a:lstStyle/>
            <a:p>
              <a:pPr algn="l">
                <a:lnSpc>
                  <a:spcPts val="3016"/>
                </a:lnSpc>
              </a:pPr>
              <a:r>
                <a:rPr lang="en-US" sz="2600">
                  <a:solidFill>
                    <a:srgbClr val="000000"/>
                  </a:solidFill>
                  <a:latin typeface="TDTD한강고딕"/>
                  <a:ea typeface="TDTD한강고딕"/>
                  <a:cs typeface="TDTD한강고딕"/>
                  <a:sym typeface="TDTD한강고딕"/>
                </a:rPr>
                <a:t>근거</a:t>
              </a:r>
            </a:p>
          </p:txBody>
        </p:sp>
      </p:grpSp>
      <p:sp>
        <p:nvSpPr>
          <p:cNvPr name="TextBox 18" id="18"/>
          <p:cNvSpPr txBox="true"/>
          <p:nvPr/>
        </p:nvSpPr>
        <p:spPr>
          <a:xfrm rot="0">
            <a:off x="2047253" y="3042735"/>
            <a:ext cx="5074648" cy="443865"/>
          </a:xfrm>
          <a:prstGeom prst="rect">
            <a:avLst/>
          </a:prstGeom>
        </p:spPr>
        <p:txBody>
          <a:bodyPr anchor="t" rtlCol="false" tIns="0" lIns="0" bIns="0" rIns="0">
            <a:spAutoFit/>
          </a:bodyPr>
          <a:lstStyle/>
          <a:p>
            <a:pPr algn="l">
              <a:lnSpc>
                <a:spcPts val="3479"/>
              </a:lnSpc>
            </a:pPr>
            <a:r>
              <a:rPr lang="en-US" sz="3000">
                <a:solidFill>
                  <a:srgbClr val="000000"/>
                </a:solidFill>
                <a:latin typeface="TDTD한강고딕"/>
                <a:ea typeface="TDTD한강고딕"/>
                <a:cs typeface="TDTD한강고딕"/>
                <a:sym typeface="TDTD한강고딕"/>
              </a:rPr>
              <a:t>CoT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3763" y="80621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02</a:t>
            </a:r>
          </a:p>
        </p:txBody>
      </p:sp>
      <p:sp>
        <p:nvSpPr>
          <p:cNvPr name="TextBox 7" id="7"/>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프롬프트</a:t>
            </a:r>
          </a:p>
        </p:txBody>
      </p:sp>
      <p:sp>
        <p:nvSpPr>
          <p:cNvPr name="AutoShape 8" id="8"/>
          <p:cNvSpPr/>
          <p:nvPr/>
        </p:nvSpPr>
        <p:spPr>
          <a:xfrm>
            <a:off x="1836363" y="2131448"/>
            <a:ext cx="14537608" cy="0"/>
          </a:xfrm>
          <a:prstGeom prst="line">
            <a:avLst/>
          </a:prstGeom>
          <a:ln cap="flat" w="9525">
            <a:solidFill>
              <a:srgbClr val="7F90D4"/>
            </a:solidFill>
            <a:prstDash val="solid"/>
            <a:headEnd type="none" len="sm" w="sm"/>
            <a:tailEnd type="none" len="sm" w="sm"/>
          </a:ln>
        </p:spPr>
      </p:sp>
      <p:sp>
        <p:nvSpPr>
          <p:cNvPr name="TextBox 9" id="9"/>
          <p:cNvSpPr txBox="true"/>
          <p:nvPr/>
        </p:nvSpPr>
        <p:spPr>
          <a:xfrm rot="0">
            <a:off x="1680614" y="2361761"/>
            <a:ext cx="2315270" cy="394208"/>
          </a:xfrm>
          <a:prstGeom prst="rect">
            <a:avLst/>
          </a:prstGeom>
        </p:spPr>
        <p:txBody>
          <a:bodyPr anchor="t" rtlCol="false" tIns="0" lIns="0" bIns="0" rIns="0">
            <a:spAutoFit/>
          </a:bodyPr>
          <a:lstStyle/>
          <a:p>
            <a:pPr algn="ctr">
              <a:lnSpc>
                <a:spcPts val="3016"/>
              </a:lnSpc>
            </a:pPr>
            <a:r>
              <a:rPr lang="en-US" sz="2600">
                <a:solidFill>
                  <a:srgbClr val="545454"/>
                </a:solidFill>
                <a:latin typeface="TDTD한강고딕"/>
                <a:ea typeface="TDTD한강고딕"/>
                <a:cs typeface="TDTD한강고딕"/>
                <a:sym typeface="TDTD한강고딕"/>
              </a:rPr>
              <a:t>STEP 04</a:t>
            </a:r>
          </a:p>
        </p:txBody>
      </p:sp>
      <p:sp>
        <p:nvSpPr>
          <p:cNvPr name="TextBox 10" id="10"/>
          <p:cNvSpPr txBox="true"/>
          <p:nvPr/>
        </p:nvSpPr>
        <p:spPr>
          <a:xfrm rot="0">
            <a:off x="3251708" y="2341695"/>
            <a:ext cx="2665738" cy="44386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독립 검증</a:t>
            </a:r>
          </a:p>
        </p:txBody>
      </p:sp>
      <p:sp>
        <p:nvSpPr>
          <p:cNvPr name="TextBox 11" id="11"/>
          <p:cNvSpPr txBox="true"/>
          <p:nvPr/>
        </p:nvSpPr>
        <p:spPr>
          <a:xfrm rot="0">
            <a:off x="1967915" y="3638433"/>
            <a:ext cx="14839909" cy="43929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DECISION_JSON을 제공된 실습자료만을 기준으로 검증하라. # 검증 목적 모든 현실 업무 정보를 완벽하게 확인하는 것이 아니라, 고객의 두 가지 질문에 실습자료만으로 답할 수 있는지를 판정한다. # FAIL 조건 다음 중 하나에 해당할 때만 FAIL로 판정한다. 1. 결론이 상담이력 또는 FAQ와 직접 충돌한다. 2. 플랜, 가동률, 크레딧 비율 또는 계산식이 틀렸다. 3. 고객 질문의 핵심 결론을 내릴 근거가 없다. 4. 자료에 없는 사실을 만들어서 결론을 변경했다. 5. 동일 장애에 크레딧을 중복 지급했다. 6. 다운그레이드 또는 환불 정책을 반대로 적용했다. # FAIL로 처리하지 않을 항목 다음은 고객 질문의 핵심 결론을 변경하지 않으므로 정보가 없더라도 FAIL로 처리하지 않는다. - 차기 결제주기의 구체적인 날짜 - 세금계산서의 구체적인 VAT 처리 절차 - 자료에 금액이 없는 API 확장 요금 - FAQ에 없는 신청 방법이나 내부 처리 기간 # 실습자료 해석 규칙 1. 계산 가능한 월 구독료는 상담이력에 명시된 Enterprise 기본 월 구독료 8,000,000원(VAT 별도)을 사용한다. 2. 금액이 제시되지 않은 API 확장 요금은 크레딧 계산에 포함하지 않는다. 3. 계산 결과는 "자료에서 확인되는 기본 월 구독료 기준"이라고 표현한다. 4. 2026년 5월 티켓 CW-88213과 새로 통지된 2026년 7월 장애는 발생 월과 문의가 다르므로 실습자료상 서로 다른 장애로 판단한다. 5. 7월 문의에서 FAQ가 말하는 "익월"은 8월 청구서를 의미한다. 6. 다운그레이드의 정확한 적용일이 없어도 "차기 결제주기부터 적용"이라는 답변은 완전한 답변으로 인정한다. # 검증 항목 - 현재 담당자가 박서준인지 - 현재 플랜이 Enterprise인지 - 보장 가동률이 99.95%인지 - 실제 가동률 98.7%가 99.0% 미만인지 - 크레딧 비율이 30%인지 - 8,000,000원 × 30% = 2,400,000원인지 - 5월 장애와 7월 장애가 별도 산정되는지 - 크레딧이 8월 청구서에 반영되는지 - 다운그레이드가 차기 결제주기부터 적용되는지 - 당월 잔여기간 환불이 불가능한지 # 출력 형식 { "status": "PASS 또는 FAIL", "verified_values": {}, "blocking_errors": [], "non_blocking_notes": [], "reason": "" } blocking_errors가 없으면 반드시 PASS로 판정한다. 비핵심 확인사항은 non_blocking_notes에만 기록하고 PASS를 FAIL로 변경하지 않는다.</a:t>
            </a:r>
          </a:p>
        </p:txBody>
      </p:sp>
      <p:grpSp>
        <p:nvGrpSpPr>
          <p:cNvPr name="Group 12" id="12"/>
          <p:cNvGrpSpPr/>
          <p:nvPr/>
        </p:nvGrpSpPr>
        <p:grpSpPr>
          <a:xfrm rot="0">
            <a:off x="1967915" y="8221863"/>
            <a:ext cx="15070641" cy="1226936"/>
            <a:chOff x="0" y="0"/>
            <a:chExt cx="20094188" cy="1635914"/>
          </a:xfrm>
        </p:grpSpPr>
        <p:sp>
          <p:nvSpPr>
            <p:cNvPr name="TextBox 13" id="13"/>
            <p:cNvSpPr txBox="true"/>
            <p:nvPr/>
          </p:nvSpPr>
          <p:spPr>
            <a:xfrm rot="0">
              <a:off x="2089130" y="391237"/>
              <a:ext cx="18005058" cy="81534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정책</a:t>
              </a:r>
              <a:r>
                <a:rPr lang="en-US" sz="1800">
                  <a:solidFill>
                    <a:srgbClr val="000000"/>
                  </a:solidFill>
                  <a:latin typeface="각진펜"/>
                  <a:ea typeface="각진펜"/>
                  <a:cs typeface="각진펜"/>
                  <a:sym typeface="각진펜"/>
                </a:rPr>
                <a:t> 우선/이력 우선/반례 관점으로 독립 재검증해 우연한 계산 오류를 줄인다. 모든 상담에 사용하지 않아 비용과 응답시간을 통제한다.</a:t>
              </a:r>
            </a:p>
            <a:p>
              <a:pPr algn="l">
                <a:lnSpc>
                  <a:spcPts val="2520"/>
                </a:lnSpc>
                <a:spcBef>
                  <a:spcPct val="0"/>
                </a:spcBef>
              </a:pPr>
            </a:p>
          </p:txBody>
        </p:sp>
        <p:grpSp>
          <p:nvGrpSpPr>
            <p:cNvPr name="Group 14" id="14"/>
            <p:cNvGrpSpPr/>
            <p:nvPr/>
          </p:nvGrpSpPr>
          <p:grpSpPr>
            <a:xfrm rot="0">
              <a:off x="0" y="0"/>
              <a:ext cx="1582415" cy="1635914"/>
              <a:chOff x="0" y="0"/>
              <a:chExt cx="1020333" cy="1054829"/>
            </a:xfrm>
          </p:grpSpPr>
          <p:sp>
            <p:nvSpPr>
              <p:cNvPr name="Freeform 15" id="15"/>
              <p:cNvSpPr/>
              <p:nvPr/>
            </p:nvSpPr>
            <p:spPr>
              <a:xfrm flipH="false" flipV="false" rot="0">
                <a:off x="0" y="0"/>
                <a:ext cx="1020333" cy="1054829"/>
              </a:xfrm>
              <a:custGeom>
                <a:avLst/>
                <a:gdLst/>
                <a:ahLst/>
                <a:cxnLst/>
                <a:rect r="r" b="b" t="t" l="l"/>
                <a:pathLst>
                  <a:path h="1054829" w="1020333">
                    <a:moveTo>
                      <a:pt x="510167" y="0"/>
                    </a:moveTo>
                    <a:cubicBezTo>
                      <a:pt x="228409" y="0"/>
                      <a:pt x="0" y="236132"/>
                      <a:pt x="0" y="527415"/>
                    </a:cubicBezTo>
                    <a:cubicBezTo>
                      <a:pt x="0" y="818698"/>
                      <a:pt x="228409" y="1054829"/>
                      <a:pt x="510167" y="1054829"/>
                    </a:cubicBezTo>
                    <a:cubicBezTo>
                      <a:pt x="791924" y="1054829"/>
                      <a:pt x="1020333" y="818698"/>
                      <a:pt x="1020333" y="527415"/>
                    </a:cubicBezTo>
                    <a:cubicBezTo>
                      <a:pt x="1020333" y="236132"/>
                      <a:pt x="791924" y="0"/>
                      <a:pt x="510167" y="0"/>
                    </a:cubicBezTo>
                    <a:close/>
                  </a:path>
                </a:pathLst>
              </a:custGeom>
              <a:solidFill>
                <a:srgbClr val="7F90D4"/>
              </a:solidFill>
            </p:spPr>
          </p:sp>
          <p:sp>
            <p:nvSpPr>
              <p:cNvPr name="TextBox 16" id="16"/>
              <p:cNvSpPr txBox="true"/>
              <p:nvPr/>
            </p:nvSpPr>
            <p:spPr>
              <a:xfrm>
                <a:off x="95656" y="60790"/>
                <a:ext cx="829021" cy="895149"/>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303583" y="555152"/>
              <a:ext cx="1278832" cy="525611"/>
            </a:xfrm>
            <a:prstGeom prst="rect">
              <a:avLst/>
            </a:prstGeom>
          </p:spPr>
          <p:txBody>
            <a:bodyPr anchor="t" rtlCol="false" tIns="0" lIns="0" bIns="0" rIns="0">
              <a:spAutoFit/>
            </a:bodyPr>
            <a:lstStyle/>
            <a:p>
              <a:pPr algn="l">
                <a:lnSpc>
                  <a:spcPts val="3016"/>
                </a:lnSpc>
              </a:pPr>
              <a:r>
                <a:rPr lang="en-US" sz="2600">
                  <a:solidFill>
                    <a:srgbClr val="000000"/>
                  </a:solidFill>
                  <a:latin typeface="TDTD한강고딕"/>
                  <a:ea typeface="TDTD한강고딕"/>
                  <a:cs typeface="TDTD한강고딕"/>
                  <a:sym typeface="TDTD한강고딕"/>
                </a:rPr>
                <a:t>근거</a:t>
              </a:r>
            </a:p>
          </p:txBody>
        </p:sp>
      </p:grpSp>
      <p:sp>
        <p:nvSpPr>
          <p:cNvPr name="TextBox 18" id="18"/>
          <p:cNvSpPr txBox="true"/>
          <p:nvPr/>
        </p:nvSpPr>
        <p:spPr>
          <a:xfrm rot="0">
            <a:off x="2047253" y="3042735"/>
            <a:ext cx="5074648" cy="443865"/>
          </a:xfrm>
          <a:prstGeom prst="rect">
            <a:avLst/>
          </a:prstGeom>
        </p:spPr>
        <p:txBody>
          <a:bodyPr anchor="t" rtlCol="false" tIns="0" lIns="0" bIns="0" rIns="0">
            <a:spAutoFit/>
          </a:bodyPr>
          <a:lstStyle/>
          <a:p>
            <a:pPr algn="l">
              <a:lnSpc>
                <a:spcPts val="3479"/>
              </a:lnSpc>
            </a:pPr>
            <a:r>
              <a:rPr lang="en-US" sz="3000">
                <a:solidFill>
                  <a:srgbClr val="000000"/>
                </a:solidFill>
                <a:latin typeface="TDTD한강고딕"/>
                <a:ea typeface="TDTD한강고딕"/>
                <a:cs typeface="TDTD한강고딕"/>
                <a:sym typeface="TDTD한강고딕"/>
              </a:rPr>
              <a:t>Self-Consistency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3763" y="80621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02</a:t>
            </a:r>
          </a:p>
        </p:txBody>
      </p:sp>
      <p:sp>
        <p:nvSpPr>
          <p:cNvPr name="TextBox 7" id="7"/>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프롬프트</a:t>
            </a:r>
          </a:p>
        </p:txBody>
      </p:sp>
      <p:sp>
        <p:nvSpPr>
          <p:cNvPr name="AutoShape 8" id="8"/>
          <p:cNvSpPr/>
          <p:nvPr/>
        </p:nvSpPr>
        <p:spPr>
          <a:xfrm>
            <a:off x="1836363" y="2131448"/>
            <a:ext cx="14537608" cy="0"/>
          </a:xfrm>
          <a:prstGeom prst="line">
            <a:avLst/>
          </a:prstGeom>
          <a:ln cap="flat" w="9525">
            <a:solidFill>
              <a:srgbClr val="7F90D4"/>
            </a:solidFill>
            <a:prstDash val="solid"/>
            <a:headEnd type="none" len="sm" w="sm"/>
            <a:tailEnd type="none" len="sm" w="sm"/>
          </a:ln>
        </p:spPr>
      </p:sp>
      <p:sp>
        <p:nvSpPr>
          <p:cNvPr name="TextBox 9" id="9"/>
          <p:cNvSpPr txBox="true"/>
          <p:nvPr/>
        </p:nvSpPr>
        <p:spPr>
          <a:xfrm rot="0">
            <a:off x="1680614" y="2361761"/>
            <a:ext cx="2315270" cy="394208"/>
          </a:xfrm>
          <a:prstGeom prst="rect">
            <a:avLst/>
          </a:prstGeom>
        </p:spPr>
        <p:txBody>
          <a:bodyPr anchor="t" rtlCol="false" tIns="0" lIns="0" bIns="0" rIns="0">
            <a:spAutoFit/>
          </a:bodyPr>
          <a:lstStyle/>
          <a:p>
            <a:pPr algn="ctr">
              <a:lnSpc>
                <a:spcPts val="3016"/>
              </a:lnSpc>
            </a:pPr>
            <a:r>
              <a:rPr lang="en-US" sz="2600">
                <a:solidFill>
                  <a:srgbClr val="545454"/>
                </a:solidFill>
                <a:latin typeface="TDTD한강고딕"/>
                <a:ea typeface="TDTD한강고딕"/>
                <a:cs typeface="TDTD한강고딕"/>
                <a:sym typeface="TDTD한강고딕"/>
              </a:rPr>
              <a:t>STEP 05</a:t>
            </a:r>
          </a:p>
        </p:txBody>
      </p:sp>
      <p:sp>
        <p:nvSpPr>
          <p:cNvPr name="TextBox 10" id="10"/>
          <p:cNvSpPr txBox="true"/>
          <p:nvPr/>
        </p:nvSpPr>
        <p:spPr>
          <a:xfrm rot="0">
            <a:off x="3251708" y="2341695"/>
            <a:ext cx="2665738" cy="443865"/>
          </a:xfrm>
          <a:prstGeom prst="rect">
            <a:avLst/>
          </a:prstGeom>
        </p:spPr>
        <p:txBody>
          <a:bodyPr anchor="t" rtlCol="false" tIns="0" lIns="0" bIns="0" rIns="0">
            <a:spAutoFit/>
          </a:bodyPr>
          <a:lstStyle/>
          <a:p>
            <a:pPr algn="ctr">
              <a:lnSpc>
                <a:spcPts val="3479"/>
              </a:lnSpc>
            </a:pPr>
            <a:r>
              <a:rPr lang="en-US" sz="3000">
                <a:solidFill>
                  <a:srgbClr val="000000"/>
                </a:solidFill>
                <a:latin typeface="TDTD한강고딕"/>
                <a:ea typeface="TDTD한강고딕"/>
                <a:cs typeface="TDTD한강고딕"/>
                <a:sym typeface="TDTD한강고딕"/>
              </a:rPr>
              <a:t>고객 답변</a:t>
            </a:r>
          </a:p>
        </p:txBody>
      </p:sp>
      <p:sp>
        <p:nvSpPr>
          <p:cNvPr name="TextBox 11" id="11"/>
          <p:cNvSpPr txBox="true"/>
          <p:nvPr/>
        </p:nvSpPr>
        <p:spPr>
          <a:xfrm rot="0">
            <a:off x="2047253" y="3648525"/>
            <a:ext cx="14326718" cy="9353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VALIDATION_STATUS가 PASS인 </a:t>
            </a:r>
            <a:r>
              <a:rPr lang="en-US" sz="1800">
                <a:solidFill>
                  <a:srgbClr val="000000"/>
                </a:solidFill>
                <a:latin typeface="각진펜"/>
                <a:ea typeface="각진펜"/>
                <a:cs typeface="각진펜"/>
                <a:sym typeface="각진펜"/>
              </a:rPr>
              <a:t>DECISION_JSON만 사용해 고객 답변을 작성하라. 형식: - 현재 담당자명을 사용한 인사 - 1) SLA 크레딧 - 2) 다운그레이드와 환불 - 각 항목에 정책 근거, 계산식, 적용 시점 포함 - 자료 기준이라는 표현 사용 - 내부 JSON, 검색 로그, 상세 사고과정은 출력하지 않음 - 250~400자 내외의 정중한 고객지원 문체 검증이 FAIL이면 고객 답변을 만들지 말고 확인이 필요한 항목만 제시하라.</a:t>
            </a:r>
          </a:p>
        </p:txBody>
      </p:sp>
      <p:sp>
        <p:nvSpPr>
          <p:cNvPr name="TextBox 12" id="12"/>
          <p:cNvSpPr txBox="true"/>
          <p:nvPr/>
        </p:nvSpPr>
        <p:spPr>
          <a:xfrm rot="0">
            <a:off x="2047253" y="3042735"/>
            <a:ext cx="5074648" cy="443865"/>
          </a:xfrm>
          <a:prstGeom prst="rect">
            <a:avLst/>
          </a:prstGeom>
        </p:spPr>
        <p:txBody>
          <a:bodyPr anchor="t" rtlCol="false" tIns="0" lIns="0" bIns="0" rIns="0">
            <a:spAutoFit/>
          </a:bodyPr>
          <a:lstStyle/>
          <a:p>
            <a:pPr algn="l">
              <a:lnSpc>
                <a:spcPts val="3479"/>
              </a:lnSpc>
            </a:pPr>
            <a:r>
              <a:rPr lang="en-US" sz="3000">
                <a:solidFill>
                  <a:srgbClr val="000000"/>
                </a:solidFill>
                <a:latin typeface="TDTD한강고딕"/>
                <a:ea typeface="TDTD한강고딕"/>
                <a:cs typeface="TDTD한강고딕"/>
                <a:sym typeface="TDTD한강고딕"/>
              </a:rPr>
              <a:t>Harness Engineering</a:t>
            </a:r>
          </a:p>
        </p:txBody>
      </p:sp>
      <p:grpSp>
        <p:nvGrpSpPr>
          <p:cNvPr name="Group 13" id="13"/>
          <p:cNvGrpSpPr/>
          <p:nvPr/>
        </p:nvGrpSpPr>
        <p:grpSpPr>
          <a:xfrm rot="0">
            <a:off x="1967915" y="7574163"/>
            <a:ext cx="16111134" cy="1226936"/>
            <a:chOff x="0" y="0"/>
            <a:chExt cx="21481512" cy="1635914"/>
          </a:xfrm>
        </p:grpSpPr>
        <p:sp>
          <p:nvSpPr>
            <p:cNvPr name="TextBox 14" id="14"/>
            <p:cNvSpPr txBox="true"/>
            <p:nvPr/>
          </p:nvSpPr>
          <p:spPr>
            <a:xfrm rot="0">
              <a:off x="2089130" y="391237"/>
              <a:ext cx="19392382" cy="39624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Memory</a:t>
              </a:r>
              <a:r>
                <a:rPr lang="en-US" sz="1800">
                  <a:solidFill>
                    <a:srgbClr val="000000"/>
                  </a:solidFill>
                  <a:latin typeface="각진펜"/>
                  <a:ea typeface="각진펜"/>
                  <a:cs typeface="각진펜"/>
                  <a:sym typeface="각진펜"/>
                </a:rPr>
                <a:t> → 조회 → 판단 → 검증 → 답변으로 역할과 입출력을 분리한다. 각 단계가 한 작업에 집중하고 PASS 결과만 다음 단계로 전달한다.</a:t>
              </a:r>
            </a:p>
          </p:txBody>
        </p:sp>
        <p:grpSp>
          <p:nvGrpSpPr>
            <p:cNvPr name="Group 15" id="15"/>
            <p:cNvGrpSpPr/>
            <p:nvPr/>
          </p:nvGrpSpPr>
          <p:grpSpPr>
            <a:xfrm rot="0">
              <a:off x="0" y="0"/>
              <a:ext cx="1582415" cy="1635914"/>
              <a:chOff x="0" y="0"/>
              <a:chExt cx="1020333" cy="1054829"/>
            </a:xfrm>
          </p:grpSpPr>
          <p:sp>
            <p:nvSpPr>
              <p:cNvPr name="Freeform 16" id="16"/>
              <p:cNvSpPr/>
              <p:nvPr/>
            </p:nvSpPr>
            <p:spPr>
              <a:xfrm flipH="false" flipV="false" rot="0">
                <a:off x="0" y="0"/>
                <a:ext cx="1020333" cy="1054829"/>
              </a:xfrm>
              <a:custGeom>
                <a:avLst/>
                <a:gdLst/>
                <a:ahLst/>
                <a:cxnLst/>
                <a:rect r="r" b="b" t="t" l="l"/>
                <a:pathLst>
                  <a:path h="1054829" w="1020333">
                    <a:moveTo>
                      <a:pt x="510167" y="0"/>
                    </a:moveTo>
                    <a:cubicBezTo>
                      <a:pt x="228409" y="0"/>
                      <a:pt x="0" y="236132"/>
                      <a:pt x="0" y="527415"/>
                    </a:cubicBezTo>
                    <a:cubicBezTo>
                      <a:pt x="0" y="818698"/>
                      <a:pt x="228409" y="1054829"/>
                      <a:pt x="510167" y="1054829"/>
                    </a:cubicBezTo>
                    <a:cubicBezTo>
                      <a:pt x="791924" y="1054829"/>
                      <a:pt x="1020333" y="818698"/>
                      <a:pt x="1020333" y="527415"/>
                    </a:cubicBezTo>
                    <a:cubicBezTo>
                      <a:pt x="1020333" y="236132"/>
                      <a:pt x="791924" y="0"/>
                      <a:pt x="510167" y="0"/>
                    </a:cubicBezTo>
                    <a:close/>
                  </a:path>
                </a:pathLst>
              </a:custGeom>
              <a:solidFill>
                <a:srgbClr val="7F90D4"/>
              </a:solidFill>
            </p:spPr>
          </p:sp>
          <p:sp>
            <p:nvSpPr>
              <p:cNvPr name="TextBox 17" id="17"/>
              <p:cNvSpPr txBox="true"/>
              <p:nvPr/>
            </p:nvSpPr>
            <p:spPr>
              <a:xfrm>
                <a:off x="95656" y="60790"/>
                <a:ext cx="829021" cy="895149"/>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303583" y="555152"/>
              <a:ext cx="1278832" cy="525611"/>
            </a:xfrm>
            <a:prstGeom prst="rect">
              <a:avLst/>
            </a:prstGeom>
          </p:spPr>
          <p:txBody>
            <a:bodyPr anchor="t" rtlCol="false" tIns="0" lIns="0" bIns="0" rIns="0">
              <a:spAutoFit/>
            </a:bodyPr>
            <a:lstStyle/>
            <a:p>
              <a:pPr algn="l">
                <a:lnSpc>
                  <a:spcPts val="3016"/>
                </a:lnSpc>
              </a:pPr>
              <a:r>
                <a:rPr lang="en-US" sz="2600">
                  <a:solidFill>
                    <a:srgbClr val="000000"/>
                  </a:solidFill>
                  <a:latin typeface="TDTD한강고딕"/>
                  <a:ea typeface="TDTD한강고딕"/>
                  <a:cs typeface="TDTD한강고딕"/>
                  <a:sym typeface="TDTD한강고딕"/>
                </a:rPr>
                <a:t>근거</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5355"/>
            <a:ext cx="18288000" cy="10281645"/>
          </a:xfrm>
          <a:custGeom>
            <a:avLst/>
            <a:gdLst/>
            <a:ahLst/>
            <a:cxnLst/>
            <a:rect r="r" b="b" t="t" l="l"/>
            <a:pathLst>
              <a:path h="10281645" w="18288000">
                <a:moveTo>
                  <a:pt x="0" y="0"/>
                </a:moveTo>
                <a:lnTo>
                  <a:pt x="18288000" y="0"/>
                </a:lnTo>
                <a:lnTo>
                  <a:pt x="18288000" y="10281645"/>
                </a:lnTo>
                <a:lnTo>
                  <a:pt x="0" y="10281645"/>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36692" y="747428"/>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735588" y="2956889"/>
            <a:ext cx="14537608" cy="5657850"/>
            <a:chOff x="0" y="0"/>
            <a:chExt cx="3828835" cy="1490133"/>
          </a:xfrm>
        </p:grpSpPr>
        <p:sp>
          <p:nvSpPr>
            <p:cNvPr name="Freeform 7" id="7"/>
            <p:cNvSpPr/>
            <p:nvPr/>
          </p:nvSpPr>
          <p:spPr>
            <a:xfrm flipH="false" flipV="false" rot="0">
              <a:off x="0" y="0"/>
              <a:ext cx="3828835" cy="1490133"/>
            </a:xfrm>
            <a:custGeom>
              <a:avLst/>
              <a:gdLst/>
              <a:ahLst/>
              <a:cxnLst/>
              <a:rect r="r" b="b" t="t" l="l"/>
              <a:pathLst>
                <a:path h="1490133" w="3828835">
                  <a:moveTo>
                    <a:pt x="0" y="0"/>
                  </a:moveTo>
                  <a:lnTo>
                    <a:pt x="3828835" y="0"/>
                  </a:lnTo>
                  <a:lnTo>
                    <a:pt x="3828835" y="1490133"/>
                  </a:lnTo>
                  <a:lnTo>
                    <a:pt x="0" y="1490133"/>
                  </a:lnTo>
                  <a:close/>
                </a:path>
              </a:pathLst>
            </a:custGeom>
            <a:solidFill>
              <a:srgbClr val="FFFFFF"/>
            </a:solidFill>
            <a:ln w="38100" cap="sq">
              <a:solidFill>
                <a:srgbClr val="7F90D4"/>
              </a:solidFill>
              <a:prstDash val="solid"/>
              <a:miter/>
            </a:ln>
          </p:spPr>
        </p:sp>
        <p:sp>
          <p:nvSpPr>
            <p:cNvPr name="TextBox 8" id="8"/>
            <p:cNvSpPr txBox="true"/>
            <p:nvPr/>
          </p:nvSpPr>
          <p:spPr>
            <a:xfrm>
              <a:off x="0" y="-38100"/>
              <a:ext cx="3828835" cy="1528233"/>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2017101" y="3304273"/>
            <a:ext cx="697117" cy="741614"/>
          </a:xfrm>
          <a:custGeom>
            <a:avLst/>
            <a:gdLst/>
            <a:ahLst/>
            <a:cxnLst/>
            <a:rect r="r" b="b" t="t" l="l"/>
            <a:pathLst>
              <a:path h="741614" w="697117">
                <a:moveTo>
                  <a:pt x="0" y="0"/>
                </a:moveTo>
                <a:lnTo>
                  <a:pt x="697117" y="0"/>
                </a:lnTo>
                <a:lnTo>
                  <a:pt x="697117" y="741614"/>
                </a:lnTo>
                <a:lnTo>
                  <a:pt x="0" y="7416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979997" y="5668555"/>
            <a:ext cx="949119" cy="844716"/>
          </a:xfrm>
          <a:custGeom>
            <a:avLst/>
            <a:gdLst/>
            <a:ahLst/>
            <a:cxnLst/>
            <a:rect r="r" b="b" t="t" l="l"/>
            <a:pathLst>
              <a:path h="844716" w="949119">
                <a:moveTo>
                  <a:pt x="0" y="0"/>
                </a:moveTo>
                <a:lnTo>
                  <a:pt x="949119" y="0"/>
                </a:lnTo>
                <a:lnTo>
                  <a:pt x="949119" y="844715"/>
                </a:lnTo>
                <a:lnTo>
                  <a:pt x="0" y="8447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927033" y="3843015"/>
            <a:ext cx="10239003" cy="6210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1) 이번 달(7월) 가동률이 98.7%였다고 알림을 받았습니다. 지난번처럼 </a:t>
            </a:r>
            <a:r>
              <a:rPr lang="en-US" b="true" sz="1800">
                <a:solidFill>
                  <a:srgbClr val="000000"/>
                </a:solidFill>
                <a:latin typeface="각진펜 Bold"/>
                <a:ea typeface="각진펜 Bold"/>
                <a:cs typeface="각진펜 Bold"/>
                <a:sym typeface="각진펜 Bold"/>
              </a:rPr>
              <a:t>크레딧을 받을 수 있는지</a:t>
            </a:r>
            <a:r>
              <a:rPr lang="en-US" sz="1800">
                <a:solidFill>
                  <a:srgbClr val="000000"/>
                </a:solidFill>
                <a:latin typeface="각진펜"/>
                <a:ea typeface="각진펜"/>
                <a:cs typeface="각진펜"/>
                <a:sym typeface="각진펜"/>
              </a:rPr>
              <a:t>, </a:t>
            </a:r>
          </a:p>
          <a:p>
            <a:pPr algn="l">
              <a:lnSpc>
                <a:spcPts val="2520"/>
              </a:lnSpc>
              <a:spcBef>
                <a:spcPct val="0"/>
              </a:spcBef>
            </a:pPr>
            <a:r>
              <a:rPr lang="en-US" sz="1800">
                <a:solidFill>
                  <a:srgbClr val="000000"/>
                </a:solidFill>
                <a:latin typeface="각진펜"/>
                <a:ea typeface="각진펜"/>
                <a:cs typeface="각진펜"/>
                <a:sym typeface="각진펜"/>
              </a:rPr>
              <a:t>받는다면 </a:t>
            </a:r>
            <a:r>
              <a:rPr lang="en-US" b="true" sz="1800">
                <a:solidFill>
                  <a:srgbClr val="000000"/>
                </a:solidFill>
                <a:latin typeface="각진펜 Bold"/>
                <a:ea typeface="각진펜 Bold"/>
                <a:cs typeface="각진펜 Bold"/>
                <a:sym typeface="각진펜 Bold"/>
              </a:rPr>
              <a:t>얼마나 받을 수 있는지 알고 싶습니다</a:t>
            </a:r>
            <a:r>
              <a:rPr lang="en-US" sz="1800">
                <a:solidFill>
                  <a:srgbClr val="000000"/>
                </a:solidFill>
                <a:latin typeface="각진펜"/>
                <a:ea typeface="각진펜"/>
                <a:cs typeface="각진펜"/>
                <a:sym typeface="각진펜"/>
              </a:rPr>
              <a:t>. </a:t>
            </a:r>
          </a:p>
        </p:txBody>
      </p:sp>
      <p:sp>
        <p:nvSpPr>
          <p:cNvPr name="TextBox 12" id="12"/>
          <p:cNvSpPr txBox="true"/>
          <p:nvPr/>
        </p:nvSpPr>
        <p:spPr>
          <a:xfrm rot="0">
            <a:off x="2927033" y="4631981"/>
            <a:ext cx="10150423" cy="6210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각진펜"/>
                <a:ea typeface="각진펜"/>
                <a:cs typeface="각진펜"/>
                <a:sym typeface="각진펜"/>
              </a:rPr>
              <a:t>2) 저희가 다음 분기부터 사용량이 줄어들 것 같아 Business 플랜으로 다운그레이드를 검토 중인데, 지금 바로 다운그레이드 하면 </a:t>
            </a:r>
            <a:r>
              <a:rPr lang="en-US" b="true" sz="1800">
                <a:solidFill>
                  <a:srgbClr val="000000"/>
                </a:solidFill>
                <a:latin typeface="각진펜 Bold"/>
                <a:ea typeface="각진펜 Bold"/>
                <a:cs typeface="각진펜 Bold"/>
                <a:sym typeface="각진펜 Bold"/>
              </a:rPr>
              <a:t>이번 달 남은 기간에 대해 환불을 받을 수 있나요?</a:t>
            </a:r>
          </a:p>
        </p:txBody>
      </p:sp>
      <p:sp>
        <p:nvSpPr>
          <p:cNvPr name="TextBox 13" id="13"/>
          <p:cNvSpPr txBox="true"/>
          <p:nvPr/>
        </p:nvSpPr>
        <p:spPr>
          <a:xfrm rot="0">
            <a:off x="2927033" y="3368375"/>
            <a:ext cx="484844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각진펜"/>
                <a:ea typeface="각진펜"/>
                <a:cs typeface="각진펜"/>
                <a:sym typeface="각진펜"/>
              </a:rPr>
              <a:t>안녕하세요, 박서준입니다. 두 가지 문의드립니다.</a:t>
            </a:r>
          </a:p>
        </p:txBody>
      </p:sp>
      <p:sp>
        <p:nvSpPr>
          <p:cNvPr name="TextBox 14" id="14"/>
          <p:cNvSpPr txBox="true"/>
          <p:nvPr/>
        </p:nvSpPr>
        <p:spPr>
          <a:xfrm rot="0">
            <a:off x="3549657" y="6026543"/>
            <a:ext cx="11135335" cy="935355"/>
          </a:xfrm>
          <a:prstGeom prst="rect">
            <a:avLst/>
          </a:prstGeom>
        </p:spPr>
        <p:txBody>
          <a:bodyPr anchor="t" rtlCol="false" tIns="0" lIns="0" bIns="0" rIns="0">
            <a:spAutoFit/>
          </a:bodyPr>
          <a:lstStyle/>
          <a:p>
            <a:pPr algn="r">
              <a:lnSpc>
                <a:spcPts val="2520"/>
              </a:lnSpc>
              <a:spcBef>
                <a:spcPct val="0"/>
              </a:spcBef>
            </a:pPr>
            <a:r>
              <a:rPr lang="en-US" sz="1800">
                <a:solidFill>
                  <a:srgbClr val="000000"/>
                </a:solidFill>
                <a:latin typeface="각진펜"/>
                <a:ea typeface="각진펜"/>
                <a:cs typeface="각진펜"/>
                <a:sym typeface="각진펜"/>
              </a:rPr>
              <a:t>자료 기준 Enterprise 플랜의 보장 가동률은 99.95%이며, 7월 가동률 98.7%는 99.0% 미만 구간에</a:t>
            </a:r>
          </a:p>
          <a:p>
            <a:pPr algn="r">
              <a:lnSpc>
                <a:spcPts val="2520"/>
              </a:lnSpc>
              <a:spcBef>
                <a:spcPct val="0"/>
              </a:spcBef>
            </a:pPr>
            <a:r>
              <a:rPr lang="en-US" sz="1800">
                <a:solidFill>
                  <a:srgbClr val="000000"/>
                </a:solidFill>
                <a:latin typeface="각진펜"/>
                <a:ea typeface="각진펜"/>
                <a:cs typeface="각진펜"/>
                <a:sym typeface="각진펜"/>
              </a:rPr>
              <a:t>해당해 30% </a:t>
            </a:r>
            <a:r>
              <a:rPr lang="en-US" b="true" sz="1800">
                <a:solidFill>
                  <a:srgbClr val="000000"/>
                </a:solidFill>
                <a:latin typeface="각진펜 Bold"/>
                <a:ea typeface="각진펜 Bold"/>
                <a:cs typeface="각진펜 Bold"/>
                <a:sym typeface="각진펜 Bold"/>
              </a:rPr>
              <a:t>크레딧이 적용</a:t>
            </a:r>
            <a:r>
              <a:rPr lang="en-US" sz="1800">
                <a:solidFill>
                  <a:srgbClr val="000000"/>
                </a:solidFill>
                <a:latin typeface="각진펜"/>
                <a:ea typeface="각진펜"/>
                <a:cs typeface="각진펜"/>
                <a:sym typeface="각진펜"/>
              </a:rPr>
              <a:t>됩니다. 기본 월 구독료 기준 계산식은 </a:t>
            </a:r>
          </a:p>
          <a:p>
            <a:pPr algn="r">
              <a:lnSpc>
                <a:spcPts val="2520"/>
              </a:lnSpc>
              <a:spcBef>
                <a:spcPct val="0"/>
              </a:spcBef>
            </a:pPr>
            <a:r>
              <a:rPr lang="en-US" sz="1800">
                <a:solidFill>
                  <a:srgbClr val="000000"/>
                </a:solidFill>
                <a:latin typeface="각진펜"/>
                <a:ea typeface="각진펜"/>
                <a:cs typeface="각진펜"/>
                <a:sym typeface="각진펜"/>
              </a:rPr>
              <a:t>8,000,000원 × 30% = </a:t>
            </a:r>
            <a:r>
              <a:rPr lang="en-US" b="true" sz="1800">
                <a:solidFill>
                  <a:srgbClr val="000000"/>
                </a:solidFill>
                <a:latin typeface="각진펜 Bold"/>
                <a:ea typeface="각진펜 Bold"/>
                <a:cs typeface="각진펜 Bold"/>
                <a:sym typeface="각진펜 Bold"/>
              </a:rPr>
              <a:t>2,400,000원</a:t>
            </a:r>
            <a:r>
              <a:rPr lang="en-US" sz="1800">
                <a:solidFill>
                  <a:srgbClr val="000000"/>
                </a:solidFill>
                <a:latin typeface="각진펜"/>
                <a:ea typeface="각진펜"/>
                <a:cs typeface="각진펜"/>
                <a:sym typeface="각진펜"/>
              </a:rPr>
              <a:t>이며, 5월 장애와 별도 산정되어 8월 청구서에서 차감됩니다.</a:t>
            </a:r>
          </a:p>
        </p:txBody>
      </p:sp>
      <p:sp>
        <p:nvSpPr>
          <p:cNvPr name="TextBox 15" id="15"/>
          <p:cNvSpPr txBox="true"/>
          <p:nvPr/>
        </p:nvSpPr>
        <p:spPr>
          <a:xfrm rot="0">
            <a:off x="11847565" y="5613411"/>
            <a:ext cx="2837427" cy="339725"/>
          </a:xfrm>
          <a:prstGeom prst="rect">
            <a:avLst/>
          </a:prstGeom>
        </p:spPr>
        <p:txBody>
          <a:bodyPr anchor="t" rtlCol="false" tIns="0" lIns="0" bIns="0" rIns="0">
            <a:spAutoFit/>
          </a:bodyPr>
          <a:lstStyle/>
          <a:p>
            <a:pPr algn="r">
              <a:lnSpc>
                <a:spcPts val="2799"/>
              </a:lnSpc>
              <a:spcBef>
                <a:spcPct val="0"/>
              </a:spcBef>
            </a:pPr>
            <a:r>
              <a:rPr lang="en-US" b="true" sz="1999">
                <a:solidFill>
                  <a:srgbClr val="547F55"/>
                </a:solidFill>
                <a:latin typeface="각진펜 Bold"/>
                <a:ea typeface="각진펜 Bold"/>
                <a:cs typeface="각진펜 Bold"/>
                <a:sym typeface="각진펜 Bold"/>
              </a:rPr>
              <a:t>다운그레이드와 환불</a:t>
            </a:r>
          </a:p>
        </p:txBody>
      </p:sp>
      <p:sp>
        <p:nvSpPr>
          <p:cNvPr name="TextBox 16" id="16"/>
          <p:cNvSpPr txBox="true"/>
          <p:nvPr/>
        </p:nvSpPr>
        <p:spPr>
          <a:xfrm rot="0">
            <a:off x="12272253" y="7323848"/>
            <a:ext cx="2412739" cy="339725"/>
          </a:xfrm>
          <a:prstGeom prst="rect">
            <a:avLst/>
          </a:prstGeom>
        </p:spPr>
        <p:txBody>
          <a:bodyPr anchor="t" rtlCol="false" tIns="0" lIns="0" bIns="0" rIns="0">
            <a:spAutoFit/>
          </a:bodyPr>
          <a:lstStyle/>
          <a:p>
            <a:pPr algn="r">
              <a:lnSpc>
                <a:spcPts val="2799"/>
              </a:lnSpc>
              <a:spcBef>
                <a:spcPct val="0"/>
              </a:spcBef>
            </a:pPr>
            <a:r>
              <a:rPr lang="en-US" b="true" sz="1999">
                <a:solidFill>
                  <a:srgbClr val="547F55"/>
                </a:solidFill>
                <a:latin typeface="각진펜 Bold"/>
                <a:ea typeface="각진펜 Bold"/>
                <a:cs typeface="각진펜 Bold"/>
                <a:sym typeface="각진펜 Bold"/>
              </a:rPr>
              <a:t>SLA 크레딧</a:t>
            </a:r>
          </a:p>
        </p:txBody>
      </p:sp>
      <p:sp>
        <p:nvSpPr>
          <p:cNvPr name="TextBox 17" id="17"/>
          <p:cNvSpPr txBox="true"/>
          <p:nvPr/>
        </p:nvSpPr>
        <p:spPr>
          <a:xfrm rot="0">
            <a:off x="5917132" y="7739773"/>
            <a:ext cx="8767860" cy="621030"/>
          </a:xfrm>
          <a:prstGeom prst="rect">
            <a:avLst/>
          </a:prstGeom>
        </p:spPr>
        <p:txBody>
          <a:bodyPr anchor="t" rtlCol="false" tIns="0" lIns="0" bIns="0" rIns="0">
            <a:spAutoFit/>
          </a:bodyPr>
          <a:lstStyle/>
          <a:p>
            <a:pPr algn="r">
              <a:lnSpc>
                <a:spcPts val="2520"/>
              </a:lnSpc>
              <a:spcBef>
                <a:spcPct val="0"/>
              </a:spcBef>
            </a:pPr>
            <a:r>
              <a:rPr lang="en-US" sz="1800">
                <a:solidFill>
                  <a:srgbClr val="000000"/>
                </a:solidFill>
                <a:latin typeface="각진펜"/>
                <a:ea typeface="각진펜"/>
                <a:cs typeface="각진펜"/>
                <a:sym typeface="각진펜"/>
              </a:rPr>
              <a:t>정책상 Business 플랜 다운그레이드는 차기 결제주기부터 적용되며, </a:t>
            </a:r>
          </a:p>
          <a:p>
            <a:pPr algn="r">
              <a:lnSpc>
                <a:spcPts val="2520"/>
              </a:lnSpc>
              <a:spcBef>
                <a:spcPct val="0"/>
              </a:spcBef>
            </a:pPr>
            <a:r>
              <a:rPr lang="en-US" sz="1800">
                <a:solidFill>
                  <a:srgbClr val="000000"/>
                </a:solidFill>
                <a:latin typeface="각진펜"/>
                <a:ea typeface="각진펜"/>
                <a:cs typeface="각진펜"/>
                <a:sym typeface="각진펜"/>
              </a:rPr>
              <a:t>이미 결제된 7월 잔여기간에 대한 </a:t>
            </a:r>
            <a:r>
              <a:rPr lang="en-US" b="true" sz="1800">
                <a:solidFill>
                  <a:srgbClr val="000000"/>
                </a:solidFill>
                <a:latin typeface="각진펜 Bold"/>
                <a:ea typeface="각진펜 Bold"/>
                <a:cs typeface="각진펜 Bold"/>
                <a:sym typeface="각진펜 Bold"/>
              </a:rPr>
              <a:t>환불은 제공되지 않습니다</a:t>
            </a:r>
            <a:r>
              <a:rPr lang="en-US" sz="1800">
                <a:solidFill>
                  <a:srgbClr val="000000"/>
                </a:solidFill>
                <a:latin typeface="각진펜"/>
                <a:ea typeface="각진펜"/>
                <a:cs typeface="각진펜"/>
                <a:sym typeface="각진펜"/>
              </a:rPr>
              <a:t>.</a:t>
            </a:r>
          </a:p>
        </p:txBody>
      </p:sp>
      <p:sp>
        <p:nvSpPr>
          <p:cNvPr name="TextBox 18" id="18"/>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03</a:t>
            </a:r>
          </a:p>
        </p:txBody>
      </p:sp>
      <p:sp>
        <p:nvSpPr>
          <p:cNvPr name="TextBox 19" id="19"/>
          <p:cNvSpPr txBox="true"/>
          <p:nvPr/>
        </p:nvSpPr>
        <p:spPr>
          <a:xfrm rot="0">
            <a:off x="3251708"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프롬프트 결과</a:t>
            </a:r>
          </a:p>
        </p:txBody>
      </p:sp>
      <p:sp>
        <p:nvSpPr>
          <p:cNvPr name="AutoShape 20" id="20"/>
          <p:cNvSpPr/>
          <p:nvPr/>
        </p:nvSpPr>
        <p:spPr>
          <a:xfrm>
            <a:off x="1855413" y="2131448"/>
            <a:ext cx="14537608" cy="0"/>
          </a:xfrm>
          <a:prstGeom prst="line">
            <a:avLst/>
          </a:prstGeom>
          <a:ln cap="flat" w="9525">
            <a:solidFill>
              <a:srgbClr val="7F90D4"/>
            </a:solidFill>
            <a:prstDash val="solid"/>
            <a:headEnd type="none" len="sm" w="sm"/>
            <a:tailEnd type="none" len="sm" w="sm"/>
          </a:ln>
        </p:spPr>
      </p:sp>
      <p:sp>
        <p:nvSpPr>
          <p:cNvPr name="TextBox 21" id="21"/>
          <p:cNvSpPr txBox="true"/>
          <p:nvPr/>
        </p:nvSpPr>
        <p:spPr>
          <a:xfrm rot="0">
            <a:off x="7747526" y="8776664"/>
            <a:ext cx="2513733" cy="438786"/>
          </a:xfrm>
          <a:prstGeom prst="rect">
            <a:avLst/>
          </a:prstGeom>
        </p:spPr>
        <p:txBody>
          <a:bodyPr anchor="t" rtlCol="false" tIns="0" lIns="0" bIns="0" rIns="0">
            <a:spAutoFit/>
          </a:bodyPr>
          <a:lstStyle/>
          <a:p>
            <a:pPr algn="ctr">
              <a:lnSpc>
                <a:spcPts val="3639"/>
              </a:lnSpc>
              <a:spcBef>
                <a:spcPct val="0"/>
              </a:spcBef>
            </a:pPr>
            <a:r>
              <a:rPr lang="en-US" b="true" sz="2599">
                <a:solidFill>
                  <a:srgbClr val="7F90D4"/>
                </a:solidFill>
                <a:latin typeface="각진펜 Bold"/>
                <a:ea typeface="각진펜 Bold"/>
                <a:cs typeface="각진펜 Bold"/>
                <a:sym typeface="각진펜 Bold"/>
              </a:rPr>
              <a:t>최종 결과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5355"/>
            <a:ext cx="18288000" cy="10281645"/>
          </a:xfrm>
          <a:custGeom>
            <a:avLst/>
            <a:gdLst/>
            <a:ahLst/>
            <a:cxnLst/>
            <a:rect r="r" b="b" t="t" l="l"/>
            <a:pathLst>
              <a:path h="10281645" w="18288000">
                <a:moveTo>
                  <a:pt x="0" y="0"/>
                </a:moveTo>
                <a:lnTo>
                  <a:pt x="18288000" y="0"/>
                </a:lnTo>
                <a:lnTo>
                  <a:pt x="18288000" y="10281645"/>
                </a:lnTo>
                <a:lnTo>
                  <a:pt x="0" y="10281645"/>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36692" y="747428"/>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855413" y="904875"/>
            <a:ext cx="2525890" cy="972185"/>
          </a:xfrm>
          <a:prstGeom prst="rect">
            <a:avLst/>
          </a:prstGeom>
        </p:spPr>
        <p:txBody>
          <a:bodyPr anchor="t" rtlCol="false" tIns="0" lIns="0" bIns="0" rIns="0">
            <a:spAutoFit/>
          </a:bodyPr>
          <a:lstStyle/>
          <a:p>
            <a:pPr algn="l">
              <a:lnSpc>
                <a:spcPts val="7840"/>
              </a:lnSpc>
              <a:spcBef>
                <a:spcPct val="0"/>
              </a:spcBef>
            </a:pPr>
            <a:r>
              <a:rPr lang="en-US" sz="5600">
                <a:solidFill>
                  <a:srgbClr val="7F90D4"/>
                </a:solidFill>
                <a:latin typeface="TDTD한강고딕"/>
                <a:ea typeface="TDTD한강고딕"/>
                <a:cs typeface="TDTD한강고딕"/>
                <a:sym typeface="TDTD한강고딕"/>
              </a:rPr>
              <a:t>04</a:t>
            </a:r>
          </a:p>
        </p:txBody>
      </p:sp>
      <p:sp>
        <p:nvSpPr>
          <p:cNvPr name="TextBox 7" id="7"/>
          <p:cNvSpPr txBox="true"/>
          <p:nvPr/>
        </p:nvSpPr>
        <p:spPr>
          <a:xfrm rot="0">
            <a:off x="3242183" y="904875"/>
            <a:ext cx="6967659" cy="972185"/>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TDTD한강고딕"/>
                <a:ea typeface="TDTD한강고딕"/>
                <a:cs typeface="TDTD한강고딕"/>
                <a:sym typeface="TDTD한강고딕"/>
              </a:rPr>
              <a:t>기대효과</a:t>
            </a:r>
          </a:p>
        </p:txBody>
      </p:sp>
      <p:sp>
        <p:nvSpPr>
          <p:cNvPr name="AutoShape 8" id="8"/>
          <p:cNvSpPr/>
          <p:nvPr/>
        </p:nvSpPr>
        <p:spPr>
          <a:xfrm>
            <a:off x="1855413" y="2131448"/>
            <a:ext cx="14537608" cy="0"/>
          </a:xfrm>
          <a:prstGeom prst="line">
            <a:avLst/>
          </a:prstGeom>
          <a:ln cap="flat" w="9525">
            <a:solidFill>
              <a:srgbClr val="7F90D4"/>
            </a:solidFill>
            <a:prstDash val="solid"/>
            <a:headEnd type="none" len="sm" w="sm"/>
            <a:tailEnd type="none" len="sm" w="sm"/>
          </a:ln>
        </p:spPr>
      </p:sp>
      <p:grpSp>
        <p:nvGrpSpPr>
          <p:cNvPr name="Group 9" id="9"/>
          <p:cNvGrpSpPr/>
          <p:nvPr/>
        </p:nvGrpSpPr>
        <p:grpSpPr>
          <a:xfrm rot="0">
            <a:off x="1787506" y="2922639"/>
            <a:ext cx="14433772" cy="5158620"/>
            <a:chOff x="0" y="0"/>
            <a:chExt cx="19245029" cy="6878160"/>
          </a:xfrm>
        </p:grpSpPr>
        <p:sp>
          <p:nvSpPr>
            <p:cNvPr name="AutoShape 10" id="10"/>
            <p:cNvSpPr/>
            <p:nvPr/>
          </p:nvSpPr>
          <p:spPr>
            <a:xfrm>
              <a:off x="0" y="5995631"/>
              <a:ext cx="3519358" cy="0"/>
            </a:xfrm>
            <a:prstGeom prst="line">
              <a:avLst/>
            </a:prstGeom>
            <a:ln cap="flat" w="41605">
              <a:solidFill>
                <a:srgbClr val="D9D9D9"/>
              </a:solidFill>
              <a:prstDash val="solid"/>
              <a:headEnd type="none" len="sm" w="sm"/>
              <a:tailEnd type="none" len="sm" w="sm"/>
            </a:ln>
          </p:spPr>
        </p:sp>
        <p:grpSp>
          <p:nvGrpSpPr>
            <p:cNvPr name="Group 11" id="11"/>
            <p:cNvGrpSpPr/>
            <p:nvPr/>
          </p:nvGrpSpPr>
          <p:grpSpPr>
            <a:xfrm rot="0">
              <a:off x="2042725" y="4184972"/>
              <a:ext cx="900575" cy="1810658"/>
              <a:chOff x="0" y="0"/>
              <a:chExt cx="162906" cy="327531"/>
            </a:xfrm>
          </p:grpSpPr>
          <p:sp>
            <p:nvSpPr>
              <p:cNvPr name="Freeform 12" id="12"/>
              <p:cNvSpPr/>
              <p:nvPr/>
            </p:nvSpPr>
            <p:spPr>
              <a:xfrm flipH="false" flipV="false" rot="0">
                <a:off x="0" y="0"/>
                <a:ext cx="162906" cy="327531"/>
              </a:xfrm>
              <a:custGeom>
                <a:avLst/>
                <a:gdLst/>
                <a:ahLst/>
                <a:cxnLst/>
                <a:rect r="r" b="b" t="t" l="l"/>
                <a:pathLst>
                  <a:path h="327531" w="162906">
                    <a:moveTo>
                      <a:pt x="0" y="0"/>
                    </a:moveTo>
                    <a:lnTo>
                      <a:pt x="162906" y="0"/>
                    </a:lnTo>
                    <a:lnTo>
                      <a:pt x="162906" y="327531"/>
                    </a:lnTo>
                    <a:lnTo>
                      <a:pt x="0" y="327531"/>
                    </a:lnTo>
                    <a:close/>
                  </a:path>
                </a:pathLst>
              </a:custGeom>
              <a:solidFill>
                <a:srgbClr val="7F90D4"/>
              </a:solidFill>
            </p:spPr>
          </p:sp>
          <p:sp>
            <p:nvSpPr>
              <p:cNvPr name="TextBox 13" id="13"/>
              <p:cNvSpPr txBox="true"/>
              <p:nvPr/>
            </p:nvSpPr>
            <p:spPr>
              <a:xfrm>
                <a:off x="0" y="-38100"/>
                <a:ext cx="162906" cy="365631"/>
              </a:xfrm>
              <a:prstGeom prst="rect">
                <a:avLst/>
              </a:prstGeom>
            </p:spPr>
            <p:txBody>
              <a:bodyPr anchor="ctr" rtlCol="false" tIns="50800" lIns="50800" bIns="50800" rIns="50800"/>
              <a:lstStyle/>
              <a:p>
                <a:pPr algn="ctr">
                  <a:lnSpc>
                    <a:spcPts val="2519"/>
                  </a:lnSpc>
                </a:pPr>
              </a:p>
            </p:txBody>
          </p:sp>
        </p:grpSp>
        <p:grpSp>
          <p:nvGrpSpPr>
            <p:cNvPr name="Group 14" id="14"/>
            <p:cNvGrpSpPr/>
            <p:nvPr/>
          </p:nvGrpSpPr>
          <p:grpSpPr>
            <a:xfrm rot="0">
              <a:off x="588668" y="737792"/>
              <a:ext cx="900575" cy="5257839"/>
              <a:chOff x="0" y="0"/>
              <a:chExt cx="162906" cy="951095"/>
            </a:xfrm>
          </p:grpSpPr>
          <p:sp>
            <p:nvSpPr>
              <p:cNvPr name="Freeform 15" id="15"/>
              <p:cNvSpPr/>
              <p:nvPr/>
            </p:nvSpPr>
            <p:spPr>
              <a:xfrm flipH="false" flipV="false" rot="0">
                <a:off x="0" y="0"/>
                <a:ext cx="162906" cy="951095"/>
              </a:xfrm>
              <a:custGeom>
                <a:avLst/>
                <a:gdLst/>
                <a:ahLst/>
                <a:cxnLst/>
                <a:rect r="r" b="b" t="t" l="l"/>
                <a:pathLst>
                  <a:path h="951095" w="162906">
                    <a:moveTo>
                      <a:pt x="0" y="0"/>
                    </a:moveTo>
                    <a:lnTo>
                      <a:pt x="162906" y="0"/>
                    </a:lnTo>
                    <a:lnTo>
                      <a:pt x="162906" y="951095"/>
                    </a:lnTo>
                    <a:lnTo>
                      <a:pt x="0" y="951095"/>
                    </a:lnTo>
                    <a:close/>
                  </a:path>
                </a:pathLst>
              </a:custGeom>
              <a:solidFill>
                <a:srgbClr val="A6A6A6"/>
              </a:solidFill>
            </p:spPr>
          </p:sp>
          <p:sp>
            <p:nvSpPr>
              <p:cNvPr name="TextBox 16" id="16"/>
              <p:cNvSpPr txBox="true"/>
              <p:nvPr/>
            </p:nvSpPr>
            <p:spPr>
              <a:xfrm>
                <a:off x="0" y="-38100"/>
                <a:ext cx="162906" cy="989195"/>
              </a:xfrm>
              <a:prstGeom prst="rect">
                <a:avLst/>
              </a:prstGeom>
            </p:spPr>
            <p:txBody>
              <a:bodyPr anchor="ctr" rtlCol="false" tIns="50800" lIns="50800" bIns="50800" rIns="50800"/>
              <a:lstStyle/>
              <a:p>
                <a:pPr algn="ctr">
                  <a:lnSpc>
                    <a:spcPts val="2519"/>
                  </a:lnSpc>
                </a:pPr>
              </a:p>
            </p:txBody>
          </p:sp>
        </p:grpSp>
        <p:sp>
          <p:nvSpPr>
            <p:cNvPr name="TextBox 17" id="17"/>
            <p:cNvSpPr txBox="true"/>
            <p:nvPr/>
          </p:nvSpPr>
          <p:spPr>
            <a:xfrm rot="0">
              <a:off x="889987" y="6309087"/>
              <a:ext cx="1739384" cy="569072"/>
            </a:xfrm>
            <a:prstGeom prst="rect">
              <a:avLst/>
            </a:prstGeom>
          </p:spPr>
          <p:txBody>
            <a:bodyPr anchor="t" rtlCol="false" tIns="0" lIns="0" bIns="0" rIns="0">
              <a:spAutoFit/>
            </a:bodyPr>
            <a:lstStyle/>
            <a:p>
              <a:pPr algn="ctr">
                <a:lnSpc>
                  <a:spcPts val="3669"/>
                </a:lnSpc>
                <a:spcBef>
                  <a:spcPct val="0"/>
                </a:spcBef>
              </a:pPr>
              <a:r>
                <a:rPr lang="en-US" b="true" sz="2620">
                  <a:solidFill>
                    <a:srgbClr val="7F90D4"/>
                  </a:solidFill>
                  <a:latin typeface="각진펜 Bold"/>
                  <a:ea typeface="각진펜 Bold"/>
                  <a:cs typeface="각진펜 Bold"/>
                  <a:sym typeface="각진펜 Bold"/>
                </a:rPr>
                <a:t>처리시간</a:t>
              </a:r>
            </a:p>
          </p:txBody>
        </p:sp>
        <p:sp>
          <p:nvSpPr>
            <p:cNvPr name="TextBox 18" id="18"/>
            <p:cNvSpPr txBox="true"/>
            <p:nvPr/>
          </p:nvSpPr>
          <p:spPr>
            <a:xfrm rot="0">
              <a:off x="2116728" y="3409080"/>
              <a:ext cx="752570" cy="429185"/>
            </a:xfrm>
            <a:prstGeom prst="rect">
              <a:avLst/>
            </a:prstGeom>
          </p:spPr>
          <p:txBody>
            <a:bodyPr anchor="t" rtlCol="false" tIns="0" lIns="0" bIns="0" rIns="0">
              <a:spAutoFit/>
            </a:bodyPr>
            <a:lstStyle/>
            <a:p>
              <a:pPr algn="l">
                <a:lnSpc>
                  <a:spcPts val="2751"/>
                </a:lnSpc>
                <a:spcBef>
                  <a:spcPct val="0"/>
                </a:spcBef>
              </a:pPr>
              <a:r>
                <a:rPr lang="en-US" b="true" sz="1965">
                  <a:solidFill>
                    <a:srgbClr val="7F90D4"/>
                  </a:solidFill>
                  <a:latin typeface="각진펜 Bold"/>
                  <a:ea typeface="각진펜 Bold"/>
                  <a:cs typeface="각진펜 Bold"/>
                  <a:sym typeface="각진펜 Bold"/>
                </a:rPr>
                <a:t>-70%</a:t>
              </a:r>
            </a:p>
          </p:txBody>
        </p:sp>
        <p:sp>
          <p:nvSpPr>
            <p:cNvPr name="AutoShape 19" id="19"/>
            <p:cNvSpPr/>
            <p:nvPr/>
          </p:nvSpPr>
          <p:spPr>
            <a:xfrm>
              <a:off x="5241891" y="5995631"/>
              <a:ext cx="3519358" cy="0"/>
            </a:xfrm>
            <a:prstGeom prst="line">
              <a:avLst/>
            </a:prstGeom>
            <a:ln cap="flat" w="41605">
              <a:solidFill>
                <a:srgbClr val="D9D9D9"/>
              </a:solidFill>
              <a:prstDash val="solid"/>
              <a:headEnd type="none" len="sm" w="sm"/>
              <a:tailEnd type="none" len="sm" w="sm"/>
            </a:ln>
          </p:spPr>
        </p:sp>
        <p:grpSp>
          <p:nvGrpSpPr>
            <p:cNvPr name="Group 20" id="20"/>
            <p:cNvGrpSpPr/>
            <p:nvPr/>
          </p:nvGrpSpPr>
          <p:grpSpPr>
            <a:xfrm rot="0">
              <a:off x="7284616" y="737792"/>
              <a:ext cx="900575" cy="5257839"/>
              <a:chOff x="0" y="0"/>
              <a:chExt cx="162906" cy="951095"/>
            </a:xfrm>
          </p:grpSpPr>
          <p:sp>
            <p:nvSpPr>
              <p:cNvPr name="Freeform 21" id="21"/>
              <p:cNvSpPr/>
              <p:nvPr/>
            </p:nvSpPr>
            <p:spPr>
              <a:xfrm flipH="false" flipV="false" rot="0">
                <a:off x="0" y="0"/>
                <a:ext cx="162906" cy="951095"/>
              </a:xfrm>
              <a:custGeom>
                <a:avLst/>
                <a:gdLst/>
                <a:ahLst/>
                <a:cxnLst/>
                <a:rect r="r" b="b" t="t" l="l"/>
                <a:pathLst>
                  <a:path h="951095" w="162906">
                    <a:moveTo>
                      <a:pt x="0" y="0"/>
                    </a:moveTo>
                    <a:lnTo>
                      <a:pt x="162906" y="0"/>
                    </a:lnTo>
                    <a:lnTo>
                      <a:pt x="162906" y="951095"/>
                    </a:lnTo>
                    <a:lnTo>
                      <a:pt x="0" y="951095"/>
                    </a:lnTo>
                    <a:close/>
                  </a:path>
                </a:pathLst>
              </a:custGeom>
              <a:solidFill>
                <a:srgbClr val="7F90D4"/>
              </a:solidFill>
            </p:spPr>
          </p:sp>
          <p:sp>
            <p:nvSpPr>
              <p:cNvPr name="TextBox 22" id="22"/>
              <p:cNvSpPr txBox="true"/>
              <p:nvPr/>
            </p:nvSpPr>
            <p:spPr>
              <a:xfrm>
                <a:off x="0" y="-38100"/>
                <a:ext cx="162906" cy="989195"/>
              </a:xfrm>
              <a:prstGeom prst="rect">
                <a:avLst/>
              </a:prstGeom>
            </p:spPr>
            <p:txBody>
              <a:bodyPr anchor="ctr" rtlCol="false" tIns="50800" lIns="50800" bIns="50800" rIns="50800"/>
              <a:lstStyle/>
              <a:p>
                <a:pPr algn="ctr">
                  <a:lnSpc>
                    <a:spcPts val="2519"/>
                  </a:lnSpc>
                </a:pPr>
              </a:p>
            </p:txBody>
          </p:sp>
        </p:grpSp>
        <p:grpSp>
          <p:nvGrpSpPr>
            <p:cNvPr name="Group 23" id="23"/>
            <p:cNvGrpSpPr/>
            <p:nvPr/>
          </p:nvGrpSpPr>
          <p:grpSpPr>
            <a:xfrm rot="0">
              <a:off x="5830559" y="4456801"/>
              <a:ext cx="900575" cy="1538830"/>
              <a:chOff x="0" y="0"/>
              <a:chExt cx="162906" cy="278360"/>
            </a:xfrm>
          </p:grpSpPr>
          <p:sp>
            <p:nvSpPr>
              <p:cNvPr name="Freeform 24" id="24"/>
              <p:cNvSpPr/>
              <p:nvPr/>
            </p:nvSpPr>
            <p:spPr>
              <a:xfrm flipH="false" flipV="false" rot="0">
                <a:off x="0" y="0"/>
                <a:ext cx="162906" cy="278360"/>
              </a:xfrm>
              <a:custGeom>
                <a:avLst/>
                <a:gdLst/>
                <a:ahLst/>
                <a:cxnLst/>
                <a:rect r="r" b="b" t="t" l="l"/>
                <a:pathLst>
                  <a:path h="278360" w="162906">
                    <a:moveTo>
                      <a:pt x="0" y="0"/>
                    </a:moveTo>
                    <a:lnTo>
                      <a:pt x="162906" y="0"/>
                    </a:lnTo>
                    <a:lnTo>
                      <a:pt x="162906" y="278360"/>
                    </a:lnTo>
                    <a:lnTo>
                      <a:pt x="0" y="278360"/>
                    </a:lnTo>
                    <a:close/>
                  </a:path>
                </a:pathLst>
              </a:custGeom>
              <a:solidFill>
                <a:srgbClr val="A6A6A6"/>
              </a:solidFill>
            </p:spPr>
          </p:sp>
          <p:sp>
            <p:nvSpPr>
              <p:cNvPr name="TextBox 25" id="25"/>
              <p:cNvSpPr txBox="true"/>
              <p:nvPr/>
            </p:nvSpPr>
            <p:spPr>
              <a:xfrm>
                <a:off x="0" y="-38100"/>
                <a:ext cx="162906" cy="316460"/>
              </a:xfrm>
              <a:prstGeom prst="rect">
                <a:avLst/>
              </a:prstGeom>
            </p:spPr>
            <p:txBody>
              <a:bodyPr anchor="ctr" rtlCol="false" tIns="50800" lIns="50800" bIns="50800" rIns="50800"/>
              <a:lstStyle/>
              <a:p>
                <a:pPr algn="ctr">
                  <a:lnSpc>
                    <a:spcPts val="2519"/>
                  </a:lnSpc>
                </a:pPr>
              </a:p>
            </p:txBody>
          </p:sp>
        </p:grpSp>
        <p:sp>
          <p:nvSpPr>
            <p:cNvPr name="TextBox 26" id="26"/>
            <p:cNvSpPr txBox="true"/>
            <p:nvPr/>
          </p:nvSpPr>
          <p:spPr>
            <a:xfrm rot="0">
              <a:off x="5346478" y="6309087"/>
              <a:ext cx="3310182" cy="569072"/>
            </a:xfrm>
            <a:prstGeom prst="rect">
              <a:avLst/>
            </a:prstGeom>
          </p:spPr>
          <p:txBody>
            <a:bodyPr anchor="t" rtlCol="false" tIns="0" lIns="0" bIns="0" rIns="0">
              <a:spAutoFit/>
            </a:bodyPr>
            <a:lstStyle/>
            <a:p>
              <a:pPr algn="ctr">
                <a:lnSpc>
                  <a:spcPts val="3669"/>
                </a:lnSpc>
                <a:spcBef>
                  <a:spcPct val="0"/>
                </a:spcBef>
              </a:pPr>
              <a:r>
                <a:rPr lang="en-US" b="true" sz="2620">
                  <a:solidFill>
                    <a:srgbClr val="7F90D4"/>
                  </a:solidFill>
                  <a:latin typeface="각진펜 Bold"/>
                  <a:ea typeface="각진펜 Bold"/>
                  <a:cs typeface="각진펜 Bold"/>
                  <a:sym typeface="각진펜 Bold"/>
                </a:rPr>
                <a:t>핵심 정보 보존율</a:t>
              </a:r>
            </a:p>
          </p:txBody>
        </p:sp>
        <p:sp>
          <p:nvSpPr>
            <p:cNvPr name="TextBox 27" id="27"/>
            <p:cNvSpPr txBox="true"/>
            <p:nvPr/>
          </p:nvSpPr>
          <p:spPr>
            <a:xfrm rot="0">
              <a:off x="7227847" y="-38100"/>
              <a:ext cx="957344" cy="429185"/>
            </a:xfrm>
            <a:prstGeom prst="rect">
              <a:avLst/>
            </a:prstGeom>
          </p:spPr>
          <p:txBody>
            <a:bodyPr anchor="t" rtlCol="false" tIns="0" lIns="0" bIns="0" rIns="0">
              <a:spAutoFit/>
            </a:bodyPr>
            <a:lstStyle/>
            <a:p>
              <a:pPr algn="l">
                <a:lnSpc>
                  <a:spcPts val="2751"/>
                </a:lnSpc>
                <a:spcBef>
                  <a:spcPct val="0"/>
                </a:spcBef>
              </a:pPr>
              <a:r>
                <a:rPr lang="en-US" b="true" sz="1965">
                  <a:solidFill>
                    <a:srgbClr val="7F90D4"/>
                  </a:solidFill>
                  <a:latin typeface="각진펜 Bold"/>
                  <a:ea typeface="각진펜 Bold"/>
                  <a:cs typeface="각진펜 Bold"/>
                  <a:sym typeface="각진펜 Bold"/>
                </a:rPr>
                <a:t>+100%</a:t>
              </a:r>
            </a:p>
          </p:txBody>
        </p:sp>
        <p:sp>
          <p:nvSpPr>
            <p:cNvPr name="AutoShape 28" id="28"/>
            <p:cNvSpPr/>
            <p:nvPr/>
          </p:nvSpPr>
          <p:spPr>
            <a:xfrm>
              <a:off x="10483781" y="5995631"/>
              <a:ext cx="3519358" cy="0"/>
            </a:xfrm>
            <a:prstGeom prst="line">
              <a:avLst/>
            </a:prstGeom>
            <a:ln cap="flat" w="41605">
              <a:solidFill>
                <a:srgbClr val="D9D9D9"/>
              </a:solidFill>
              <a:prstDash val="solid"/>
              <a:headEnd type="none" len="sm" w="sm"/>
              <a:tailEnd type="none" len="sm" w="sm"/>
            </a:ln>
          </p:spPr>
        </p:sp>
        <p:grpSp>
          <p:nvGrpSpPr>
            <p:cNvPr name="Group 29" id="29"/>
            <p:cNvGrpSpPr/>
            <p:nvPr/>
          </p:nvGrpSpPr>
          <p:grpSpPr>
            <a:xfrm rot="0">
              <a:off x="12526507" y="737792"/>
              <a:ext cx="900575" cy="5257839"/>
              <a:chOff x="0" y="0"/>
              <a:chExt cx="162906" cy="951095"/>
            </a:xfrm>
          </p:grpSpPr>
          <p:sp>
            <p:nvSpPr>
              <p:cNvPr name="Freeform 30" id="30"/>
              <p:cNvSpPr/>
              <p:nvPr/>
            </p:nvSpPr>
            <p:spPr>
              <a:xfrm flipH="false" flipV="false" rot="0">
                <a:off x="0" y="0"/>
                <a:ext cx="162906" cy="951095"/>
              </a:xfrm>
              <a:custGeom>
                <a:avLst/>
                <a:gdLst/>
                <a:ahLst/>
                <a:cxnLst/>
                <a:rect r="r" b="b" t="t" l="l"/>
                <a:pathLst>
                  <a:path h="951095" w="162906">
                    <a:moveTo>
                      <a:pt x="0" y="0"/>
                    </a:moveTo>
                    <a:lnTo>
                      <a:pt x="162906" y="0"/>
                    </a:lnTo>
                    <a:lnTo>
                      <a:pt x="162906" y="951095"/>
                    </a:lnTo>
                    <a:lnTo>
                      <a:pt x="0" y="951095"/>
                    </a:lnTo>
                    <a:close/>
                  </a:path>
                </a:pathLst>
              </a:custGeom>
              <a:solidFill>
                <a:srgbClr val="7F90D4"/>
              </a:solidFill>
            </p:spPr>
          </p:sp>
          <p:sp>
            <p:nvSpPr>
              <p:cNvPr name="TextBox 31" id="31"/>
              <p:cNvSpPr txBox="true"/>
              <p:nvPr/>
            </p:nvSpPr>
            <p:spPr>
              <a:xfrm>
                <a:off x="0" y="-38100"/>
                <a:ext cx="162906" cy="989195"/>
              </a:xfrm>
              <a:prstGeom prst="rect">
                <a:avLst/>
              </a:prstGeom>
            </p:spPr>
            <p:txBody>
              <a:bodyPr anchor="ctr" rtlCol="false" tIns="50800" lIns="50800" bIns="50800" rIns="50800"/>
              <a:lstStyle/>
              <a:p>
                <a:pPr algn="ctr">
                  <a:lnSpc>
                    <a:spcPts val="2519"/>
                  </a:lnSpc>
                </a:pPr>
              </a:p>
            </p:txBody>
          </p:sp>
        </p:grpSp>
        <p:grpSp>
          <p:nvGrpSpPr>
            <p:cNvPr name="Group 32" id="32"/>
            <p:cNvGrpSpPr/>
            <p:nvPr/>
          </p:nvGrpSpPr>
          <p:grpSpPr>
            <a:xfrm rot="0">
              <a:off x="11072450" y="4534280"/>
              <a:ext cx="900575" cy="1461350"/>
              <a:chOff x="0" y="0"/>
              <a:chExt cx="162906" cy="264345"/>
            </a:xfrm>
          </p:grpSpPr>
          <p:sp>
            <p:nvSpPr>
              <p:cNvPr name="Freeform 33" id="33"/>
              <p:cNvSpPr/>
              <p:nvPr/>
            </p:nvSpPr>
            <p:spPr>
              <a:xfrm flipH="false" flipV="false" rot="0">
                <a:off x="0" y="0"/>
                <a:ext cx="162906" cy="264345"/>
              </a:xfrm>
              <a:custGeom>
                <a:avLst/>
                <a:gdLst/>
                <a:ahLst/>
                <a:cxnLst/>
                <a:rect r="r" b="b" t="t" l="l"/>
                <a:pathLst>
                  <a:path h="264345" w="162906">
                    <a:moveTo>
                      <a:pt x="0" y="0"/>
                    </a:moveTo>
                    <a:lnTo>
                      <a:pt x="162906" y="0"/>
                    </a:lnTo>
                    <a:lnTo>
                      <a:pt x="162906" y="264345"/>
                    </a:lnTo>
                    <a:lnTo>
                      <a:pt x="0" y="264345"/>
                    </a:lnTo>
                    <a:close/>
                  </a:path>
                </a:pathLst>
              </a:custGeom>
              <a:solidFill>
                <a:srgbClr val="A6A6A6"/>
              </a:solidFill>
            </p:spPr>
          </p:sp>
          <p:sp>
            <p:nvSpPr>
              <p:cNvPr name="TextBox 34" id="34"/>
              <p:cNvSpPr txBox="true"/>
              <p:nvPr/>
            </p:nvSpPr>
            <p:spPr>
              <a:xfrm>
                <a:off x="0" y="-38100"/>
                <a:ext cx="162906" cy="302445"/>
              </a:xfrm>
              <a:prstGeom prst="rect">
                <a:avLst/>
              </a:prstGeom>
            </p:spPr>
            <p:txBody>
              <a:bodyPr anchor="ctr" rtlCol="false" tIns="50800" lIns="50800" bIns="50800" rIns="50800"/>
              <a:lstStyle/>
              <a:p>
                <a:pPr algn="ctr">
                  <a:lnSpc>
                    <a:spcPts val="2519"/>
                  </a:lnSpc>
                </a:pPr>
              </a:p>
            </p:txBody>
          </p:sp>
        </p:grpSp>
        <p:sp>
          <p:nvSpPr>
            <p:cNvPr name="TextBox 35" id="35"/>
            <p:cNvSpPr txBox="true"/>
            <p:nvPr/>
          </p:nvSpPr>
          <p:spPr>
            <a:xfrm rot="0">
              <a:off x="10588369" y="6309087"/>
              <a:ext cx="3310182" cy="569072"/>
            </a:xfrm>
            <a:prstGeom prst="rect">
              <a:avLst/>
            </a:prstGeom>
          </p:spPr>
          <p:txBody>
            <a:bodyPr anchor="t" rtlCol="false" tIns="0" lIns="0" bIns="0" rIns="0">
              <a:spAutoFit/>
            </a:bodyPr>
            <a:lstStyle/>
            <a:p>
              <a:pPr algn="ctr">
                <a:lnSpc>
                  <a:spcPts val="3669"/>
                </a:lnSpc>
                <a:spcBef>
                  <a:spcPct val="0"/>
                </a:spcBef>
              </a:pPr>
              <a:r>
                <a:rPr lang="en-US" b="true" sz="2620">
                  <a:solidFill>
                    <a:srgbClr val="7F90D4"/>
                  </a:solidFill>
                  <a:latin typeface="각진펜 Bold"/>
                  <a:ea typeface="각진펜 Bold"/>
                  <a:cs typeface="각진펜 Bold"/>
                  <a:sym typeface="각진펜 Bold"/>
                </a:rPr>
                <a:t>정책 근거 제시율</a:t>
              </a:r>
            </a:p>
          </p:txBody>
        </p:sp>
        <p:sp>
          <p:nvSpPr>
            <p:cNvPr name="TextBox 36" id="36"/>
            <p:cNvSpPr txBox="true"/>
            <p:nvPr/>
          </p:nvSpPr>
          <p:spPr>
            <a:xfrm rot="0">
              <a:off x="12498122" y="-38100"/>
              <a:ext cx="957344" cy="429185"/>
            </a:xfrm>
            <a:prstGeom prst="rect">
              <a:avLst/>
            </a:prstGeom>
          </p:spPr>
          <p:txBody>
            <a:bodyPr anchor="t" rtlCol="false" tIns="0" lIns="0" bIns="0" rIns="0">
              <a:spAutoFit/>
            </a:bodyPr>
            <a:lstStyle/>
            <a:p>
              <a:pPr algn="l">
                <a:lnSpc>
                  <a:spcPts val="2751"/>
                </a:lnSpc>
                <a:spcBef>
                  <a:spcPct val="0"/>
                </a:spcBef>
              </a:pPr>
              <a:r>
                <a:rPr lang="en-US" b="true" sz="1965">
                  <a:solidFill>
                    <a:srgbClr val="7F90D4"/>
                  </a:solidFill>
                  <a:latin typeface="각진펜 Bold"/>
                  <a:ea typeface="각진펜 Bold"/>
                  <a:cs typeface="각진펜 Bold"/>
                  <a:sym typeface="각진펜 Bold"/>
                </a:rPr>
                <a:t>+100%</a:t>
              </a:r>
            </a:p>
          </p:txBody>
        </p:sp>
        <p:sp>
          <p:nvSpPr>
            <p:cNvPr name="AutoShape 37" id="37"/>
            <p:cNvSpPr/>
            <p:nvPr/>
          </p:nvSpPr>
          <p:spPr>
            <a:xfrm>
              <a:off x="15725672" y="5995631"/>
              <a:ext cx="3519358" cy="0"/>
            </a:xfrm>
            <a:prstGeom prst="line">
              <a:avLst/>
            </a:prstGeom>
            <a:ln cap="flat" w="41605">
              <a:solidFill>
                <a:srgbClr val="D9D9D9"/>
              </a:solidFill>
              <a:prstDash val="solid"/>
              <a:headEnd type="none" len="sm" w="sm"/>
              <a:tailEnd type="none" len="sm" w="sm"/>
            </a:ln>
          </p:spPr>
        </p:sp>
        <p:grpSp>
          <p:nvGrpSpPr>
            <p:cNvPr name="Group 38" id="38"/>
            <p:cNvGrpSpPr/>
            <p:nvPr/>
          </p:nvGrpSpPr>
          <p:grpSpPr>
            <a:xfrm rot="0">
              <a:off x="17768397" y="5926289"/>
              <a:ext cx="900575" cy="69341"/>
              <a:chOff x="0" y="0"/>
              <a:chExt cx="162906" cy="12543"/>
            </a:xfrm>
          </p:grpSpPr>
          <p:sp>
            <p:nvSpPr>
              <p:cNvPr name="Freeform 39" id="39"/>
              <p:cNvSpPr/>
              <p:nvPr/>
            </p:nvSpPr>
            <p:spPr>
              <a:xfrm flipH="false" flipV="false" rot="0">
                <a:off x="0" y="0"/>
                <a:ext cx="162906" cy="12543"/>
              </a:xfrm>
              <a:custGeom>
                <a:avLst/>
                <a:gdLst/>
                <a:ahLst/>
                <a:cxnLst/>
                <a:rect r="r" b="b" t="t" l="l"/>
                <a:pathLst>
                  <a:path h="12543" w="162906">
                    <a:moveTo>
                      <a:pt x="0" y="0"/>
                    </a:moveTo>
                    <a:lnTo>
                      <a:pt x="162906" y="0"/>
                    </a:lnTo>
                    <a:lnTo>
                      <a:pt x="162906" y="12543"/>
                    </a:lnTo>
                    <a:lnTo>
                      <a:pt x="0" y="12543"/>
                    </a:lnTo>
                    <a:close/>
                  </a:path>
                </a:pathLst>
              </a:custGeom>
              <a:solidFill>
                <a:srgbClr val="7F90D4"/>
              </a:solidFill>
            </p:spPr>
          </p:sp>
          <p:sp>
            <p:nvSpPr>
              <p:cNvPr name="TextBox 40" id="40"/>
              <p:cNvSpPr txBox="true"/>
              <p:nvPr/>
            </p:nvSpPr>
            <p:spPr>
              <a:xfrm>
                <a:off x="0" y="-38100"/>
                <a:ext cx="162906" cy="50643"/>
              </a:xfrm>
              <a:prstGeom prst="rect">
                <a:avLst/>
              </a:prstGeom>
            </p:spPr>
            <p:txBody>
              <a:bodyPr anchor="ctr" rtlCol="false" tIns="50800" lIns="50800" bIns="50800" rIns="50800"/>
              <a:lstStyle/>
              <a:p>
                <a:pPr algn="ctr">
                  <a:lnSpc>
                    <a:spcPts val="2519"/>
                  </a:lnSpc>
                </a:pPr>
              </a:p>
            </p:txBody>
          </p:sp>
        </p:grpSp>
        <p:grpSp>
          <p:nvGrpSpPr>
            <p:cNvPr name="Group 41" id="41"/>
            <p:cNvGrpSpPr/>
            <p:nvPr/>
          </p:nvGrpSpPr>
          <p:grpSpPr>
            <a:xfrm rot="0">
              <a:off x="16314340" y="737792"/>
              <a:ext cx="900575" cy="5257839"/>
              <a:chOff x="0" y="0"/>
              <a:chExt cx="162906" cy="951095"/>
            </a:xfrm>
          </p:grpSpPr>
          <p:sp>
            <p:nvSpPr>
              <p:cNvPr name="Freeform 42" id="42"/>
              <p:cNvSpPr/>
              <p:nvPr/>
            </p:nvSpPr>
            <p:spPr>
              <a:xfrm flipH="false" flipV="false" rot="0">
                <a:off x="0" y="0"/>
                <a:ext cx="162906" cy="951095"/>
              </a:xfrm>
              <a:custGeom>
                <a:avLst/>
                <a:gdLst/>
                <a:ahLst/>
                <a:cxnLst/>
                <a:rect r="r" b="b" t="t" l="l"/>
                <a:pathLst>
                  <a:path h="951095" w="162906">
                    <a:moveTo>
                      <a:pt x="0" y="0"/>
                    </a:moveTo>
                    <a:lnTo>
                      <a:pt x="162906" y="0"/>
                    </a:lnTo>
                    <a:lnTo>
                      <a:pt x="162906" y="951095"/>
                    </a:lnTo>
                    <a:lnTo>
                      <a:pt x="0" y="951095"/>
                    </a:lnTo>
                    <a:close/>
                  </a:path>
                </a:pathLst>
              </a:custGeom>
              <a:solidFill>
                <a:srgbClr val="A6A6A6"/>
              </a:solidFill>
            </p:spPr>
          </p:sp>
          <p:sp>
            <p:nvSpPr>
              <p:cNvPr name="TextBox 43" id="43"/>
              <p:cNvSpPr txBox="true"/>
              <p:nvPr/>
            </p:nvSpPr>
            <p:spPr>
              <a:xfrm>
                <a:off x="0" y="-38100"/>
                <a:ext cx="162906" cy="989195"/>
              </a:xfrm>
              <a:prstGeom prst="rect">
                <a:avLst/>
              </a:prstGeom>
            </p:spPr>
            <p:txBody>
              <a:bodyPr anchor="ctr" rtlCol="false" tIns="50800" lIns="50800" bIns="50800" rIns="50800"/>
              <a:lstStyle/>
              <a:p>
                <a:pPr algn="ctr">
                  <a:lnSpc>
                    <a:spcPts val="2519"/>
                  </a:lnSpc>
                </a:pPr>
              </a:p>
            </p:txBody>
          </p:sp>
        </p:grpSp>
        <p:sp>
          <p:nvSpPr>
            <p:cNvPr name="TextBox 44" id="44"/>
            <p:cNvSpPr txBox="true"/>
            <p:nvPr/>
          </p:nvSpPr>
          <p:spPr>
            <a:xfrm rot="0">
              <a:off x="16549080" y="6309087"/>
              <a:ext cx="1872541" cy="569072"/>
            </a:xfrm>
            <a:prstGeom prst="rect">
              <a:avLst/>
            </a:prstGeom>
          </p:spPr>
          <p:txBody>
            <a:bodyPr anchor="t" rtlCol="false" tIns="0" lIns="0" bIns="0" rIns="0">
              <a:spAutoFit/>
            </a:bodyPr>
            <a:lstStyle/>
            <a:p>
              <a:pPr algn="ctr">
                <a:lnSpc>
                  <a:spcPts val="3669"/>
                </a:lnSpc>
                <a:spcBef>
                  <a:spcPct val="0"/>
                </a:spcBef>
              </a:pPr>
              <a:r>
                <a:rPr lang="en-US" b="true" sz="2620">
                  <a:solidFill>
                    <a:srgbClr val="7F90D4"/>
                  </a:solidFill>
                  <a:latin typeface="각진펜 Bold"/>
                  <a:ea typeface="각진펜 Bold"/>
                  <a:cs typeface="각진펜 Bold"/>
                  <a:sym typeface="각진펜 Bold"/>
                </a:rPr>
                <a:t>계산 오류</a:t>
              </a:r>
            </a:p>
          </p:txBody>
        </p:sp>
        <p:sp>
          <p:nvSpPr>
            <p:cNvPr name="TextBox 45" id="45"/>
            <p:cNvSpPr txBox="true"/>
            <p:nvPr/>
          </p:nvSpPr>
          <p:spPr>
            <a:xfrm rot="0">
              <a:off x="17966672" y="5226855"/>
              <a:ext cx="504025" cy="429185"/>
            </a:xfrm>
            <a:prstGeom prst="rect">
              <a:avLst/>
            </a:prstGeom>
          </p:spPr>
          <p:txBody>
            <a:bodyPr anchor="t" rtlCol="false" tIns="0" lIns="0" bIns="0" rIns="0">
              <a:spAutoFit/>
            </a:bodyPr>
            <a:lstStyle/>
            <a:p>
              <a:pPr algn="l">
                <a:lnSpc>
                  <a:spcPts val="2751"/>
                </a:lnSpc>
                <a:spcBef>
                  <a:spcPct val="0"/>
                </a:spcBef>
              </a:pPr>
              <a:r>
                <a:rPr lang="en-US" b="true" sz="1965">
                  <a:solidFill>
                    <a:srgbClr val="7F90D4"/>
                  </a:solidFill>
                  <a:latin typeface="각진펜 Bold"/>
                  <a:ea typeface="각진펜 Bold"/>
                  <a:cs typeface="각진펜 Bold"/>
                  <a:sym typeface="각진펜 Bold"/>
                </a:rPr>
                <a:t>0건</a:t>
              </a:r>
            </a:p>
          </p:txBody>
        </p:sp>
      </p:grpSp>
      <p:sp>
        <p:nvSpPr>
          <p:cNvPr name="TextBox 46" id="46"/>
          <p:cNvSpPr txBox="true"/>
          <p:nvPr/>
        </p:nvSpPr>
        <p:spPr>
          <a:xfrm rot="0">
            <a:off x="6118226" y="1395730"/>
            <a:ext cx="6967659" cy="358773"/>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TDTD한강고딕"/>
                <a:ea typeface="TDTD한강고딕"/>
                <a:cs typeface="TDTD한강고딕"/>
                <a:sym typeface="TDTD한강고딕"/>
              </a:rPr>
              <a:t>(측정 방법 기준, 목표치)</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F90D4"/>
        </a:solidFill>
      </p:bgPr>
    </p:bg>
    <p:spTree>
      <p:nvGrpSpPr>
        <p:cNvPr id="1" name=""/>
        <p:cNvGrpSpPr/>
        <p:nvPr/>
      </p:nvGrpSpPr>
      <p:grpSpPr>
        <a:xfrm>
          <a:off x="0" y="0"/>
          <a:ext cx="0" cy="0"/>
          <a:chOff x="0" y="0"/>
          <a:chExt cx="0" cy="0"/>
        </a:xfrm>
      </p:grpSpPr>
      <p:sp>
        <p:nvSpPr>
          <p:cNvPr name="Freeform 2" id="2"/>
          <p:cNvSpPr/>
          <p:nvPr/>
        </p:nvSpPr>
        <p:spPr>
          <a:xfrm flipH="false" flipV="false" rot="0">
            <a:off x="0" y="-11700"/>
            <a:ext cx="18288000" cy="10281645"/>
          </a:xfrm>
          <a:custGeom>
            <a:avLst/>
            <a:gdLst/>
            <a:ahLst/>
            <a:cxnLst/>
            <a:rect r="r" b="b" t="t" l="l"/>
            <a:pathLst>
              <a:path h="10281645" w="18288000">
                <a:moveTo>
                  <a:pt x="0" y="0"/>
                </a:moveTo>
                <a:lnTo>
                  <a:pt x="18288000" y="0"/>
                </a:lnTo>
                <a:lnTo>
                  <a:pt x="18288000" y="10281644"/>
                </a:lnTo>
                <a:lnTo>
                  <a:pt x="0" y="10281644"/>
                </a:lnTo>
                <a:lnTo>
                  <a:pt x="0" y="0"/>
                </a:lnTo>
                <a:close/>
              </a:path>
            </a:pathLst>
          </a:custGeom>
          <a:blipFill>
            <a:blip r:embed="rId2">
              <a:alphaModFix amt="5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76300" y="730372"/>
            <a:ext cx="16535400" cy="8826256"/>
            <a:chOff x="0" y="0"/>
            <a:chExt cx="4355002" cy="2324611"/>
          </a:xfrm>
        </p:grpSpPr>
        <p:sp>
          <p:nvSpPr>
            <p:cNvPr name="Freeform 4" id="4"/>
            <p:cNvSpPr/>
            <p:nvPr/>
          </p:nvSpPr>
          <p:spPr>
            <a:xfrm flipH="false" flipV="false" rot="0">
              <a:off x="0" y="0"/>
              <a:ext cx="4355002" cy="2324611"/>
            </a:xfrm>
            <a:custGeom>
              <a:avLst/>
              <a:gdLst/>
              <a:ahLst/>
              <a:cxnLst/>
              <a:rect r="r" b="b" t="t" l="l"/>
              <a:pathLst>
                <a:path h="2324611" w="4355002">
                  <a:moveTo>
                    <a:pt x="0" y="0"/>
                  </a:moveTo>
                  <a:lnTo>
                    <a:pt x="4355002" y="0"/>
                  </a:lnTo>
                  <a:lnTo>
                    <a:pt x="4355002" y="2324611"/>
                  </a:lnTo>
                  <a:lnTo>
                    <a:pt x="0" y="2324611"/>
                  </a:lnTo>
                  <a:close/>
                </a:path>
              </a:pathLst>
            </a:custGeom>
            <a:solidFill>
              <a:srgbClr val="FFFFFF"/>
            </a:solidFill>
            <a:ln cap="sq">
              <a:noFill/>
              <a:prstDash val="solid"/>
              <a:miter/>
            </a:ln>
          </p:spPr>
        </p:sp>
        <p:sp>
          <p:nvSpPr>
            <p:cNvPr name="TextBox 5" id="5"/>
            <p:cNvSpPr txBox="true"/>
            <p:nvPr/>
          </p:nvSpPr>
          <p:spPr>
            <a:xfrm>
              <a:off x="0" y="-38100"/>
              <a:ext cx="4355002" cy="2362711"/>
            </a:xfrm>
            <a:prstGeom prst="rect">
              <a:avLst/>
            </a:prstGeom>
          </p:spPr>
          <p:txBody>
            <a:bodyPr anchor="ctr" rtlCol="false" tIns="50800" lIns="50800" bIns="50800" rIns="50800"/>
            <a:lstStyle/>
            <a:p>
              <a:pPr algn="ctr">
                <a:lnSpc>
                  <a:spcPts val="2520"/>
                </a:lnSpc>
              </a:pPr>
            </a:p>
          </p:txBody>
        </p:sp>
      </p:grpSp>
      <p:sp>
        <p:nvSpPr>
          <p:cNvPr name="AutoShape 6" id="6"/>
          <p:cNvSpPr/>
          <p:nvPr/>
        </p:nvSpPr>
        <p:spPr>
          <a:xfrm>
            <a:off x="1875196" y="4211267"/>
            <a:ext cx="14537608" cy="0"/>
          </a:xfrm>
          <a:prstGeom prst="line">
            <a:avLst/>
          </a:prstGeom>
          <a:ln cap="flat" w="9525">
            <a:solidFill>
              <a:srgbClr val="7F90D4"/>
            </a:solidFill>
            <a:prstDash val="solid"/>
            <a:headEnd type="none" len="sm" w="sm"/>
            <a:tailEnd type="none" len="sm" w="sm"/>
          </a:ln>
        </p:spPr>
      </p:sp>
      <p:sp>
        <p:nvSpPr>
          <p:cNvPr name="TextBox 7" id="7"/>
          <p:cNvSpPr txBox="true"/>
          <p:nvPr/>
        </p:nvSpPr>
        <p:spPr>
          <a:xfrm rot="0">
            <a:off x="1824304" y="2541737"/>
            <a:ext cx="9098140" cy="1503020"/>
          </a:xfrm>
          <a:prstGeom prst="rect">
            <a:avLst/>
          </a:prstGeom>
        </p:spPr>
        <p:txBody>
          <a:bodyPr anchor="t" rtlCol="false" tIns="0" lIns="0" bIns="0" rIns="0">
            <a:spAutoFit/>
          </a:bodyPr>
          <a:lstStyle/>
          <a:p>
            <a:pPr algn="l">
              <a:lnSpc>
                <a:spcPts val="12179"/>
              </a:lnSpc>
              <a:spcBef>
                <a:spcPct val="0"/>
              </a:spcBef>
            </a:pPr>
            <a:r>
              <a:rPr lang="en-US" sz="8699">
                <a:solidFill>
                  <a:srgbClr val="7F90D4"/>
                </a:solidFill>
                <a:latin typeface="TDTD한강고딕"/>
                <a:ea typeface="TDTD한강고딕"/>
                <a:cs typeface="TDTD한강고딕"/>
                <a:sym typeface="TDTD한강고딕"/>
              </a:rPr>
              <a:t>THANK YOU</a:t>
            </a:r>
          </a:p>
        </p:txBody>
      </p:sp>
      <p:sp>
        <p:nvSpPr>
          <p:cNvPr name="TextBox 8" id="8"/>
          <p:cNvSpPr txBox="true"/>
          <p:nvPr/>
        </p:nvSpPr>
        <p:spPr>
          <a:xfrm rot="0">
            <a:off x="1970446" y="4501780"/>
            <a:ext cx="14537608" cy="448257"/>
          </a:xfrm>
          <a:prstGeom prst="rect">
            <a:avLst/>
          </a:prstGeom>
        </p:spPr>
        <p:txBody>
          <a:bodyPr anchor="t" rtlCol="false" tIns="0" lIns="0" bIns="0" rIns="0">
            <a:spAutoFit/>
          </a:bodyPr>
          <a:lstStyle/>
          <a:p>
            <a:pPr algn="l">
              <a:lnSpc>
                <a:spcPts val="3640"/>
              </a:lnSpc>
              <a:spcBef>
                <a:spcPct val="0"/>
              </a:spcBef>
            </a:pPr>
            <a:r>
              <a:rPr lang="en-US" sz="2600">
                <a:solidFill>
                  <a:srgbClr val="545454"/>
                </a:solidFill>
                <a:latin typeface="윤고딕 Light"/>
                <a:ea typeface="윤고딕 Light"/>
                <a:cs typeface="윤고딕 Light"/>
                <a:sym typeface="윤고딕 Light"/>
              </a:rPr>
              <a:t>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DAHQF2zNvF0</dc:identifier>
  <dcterms:modified xsi:type="dcterms:W3CDTF">2011-08-01T06:04:30Z</dcterms:modified>
  <cp:revision>1</cp:revision>
  <dc:title>불4조</dc:title>
</cp:coreProperties>
</file>